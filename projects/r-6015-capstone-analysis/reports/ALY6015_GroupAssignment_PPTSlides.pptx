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9" r:id="rId4"/>
    <p:sldId id="279" r:id="rId5"/>
    <p:sldId id="294" r:id="rId6"/>
    <p:sldId id="295" r:id="rId7"/>
    <p:sldId id="296" r:id="rId8"/>
    <p:sldId id="282" r:id="rId9"/>
    <p:sldId id="306" r:id="rId10"/>
    <p:sldId id="307" r:id="rId11"/>
    <p:sldId id="309" r:id="rId12"/>
    <p:sldId id="310" r:id="rId13"/>
    <p:sldId id="311" r:id="rId14"/>
    <p:sldId id="275" r:id="rId15"/>
    <p:sldId id="260" r:id="rId16"/>
    <p:sldId id="289" r:id="rId17"/>
    <p:sldId id="290" r:id="rId18"/>
    <p:sldId id="291" r:id="rId19"/>
    <p:sldId id="292" r:id="rId20"/>
    <p:sldId id="293" r:id="rId21"/>
    <p:sldId id="297" r:id="rId22"/>
    <p:sldId id="298" r:id="rId23"/>
    <p:sldId id="299" r:id="rId24"/>
    <p:sldId id="300" r:id="rId25"/>
    <p:sldId id="301" r:id="rId26"/>
    <p:sldId id="303" r:id="rId27"/>
    <p:sldId id="272" r:id="rId28"/>
    <p:sldId id="274" r:id="rId29"/>
    <p:sldId id="270" r:id="rId30"/>
  </p:sldIdLst>
  <p:sldSz cx="9144000" cy="6858000" type="screen4x3"/>
  <p:notesSz cx="6858000" cy="9144000"/>
  <p:embeddedFontLst>
    <p:embeddedFont>
      <p:font typeface="Helvetica Neue" panose="020B0604020202020204" charset="-122"/>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39" roundtripDataSignature="AMtx7mgXUkuSzG6Asq/LLdI/zsp0r2+oo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135F9F-AE80-CEF8-F484-D9E52C361014}" v="5" dt="2025-06-24T18:57:26.771"/>
    <p1510:client id="{18B840B6-E225-5260-D00F-3F281FE0AD8E}" v="786" dt="2025-06-24T12:42:49.942"/>
    <p1510:client id="{23AB9703-C704-B5D0-8378-EB50E505C53D}" v="47" dt="2025-06-24T20:40:25.748"/>
    <p1510:client id="{29DDFACC-0564-B14C-BFD2-17BAF9AEAE99}" v="14" dt="2025-06-24T15:40:32.747"/>
    <p1510:client id="{4A62A893-0D75-2E2E-ACFF-BB3349E15D2C}" v="219" dt="2025-06-24T19:06:19.919"/>
    <p1510:client id="{5430ADC1-6A1C-0C8F-AB32-F4038CB2572E}" v="1604" dt="2025-06-23T21:47:06.862"/>
    <p1510:client id="{584EF9EC-751A-044B-2E15-7CE479145544}" v="120" dt="2025-06-24T20:31:36.214"/>
    <p1510:client id="{6D719C90-ACB1-BB3A-0E74-3C542671008B}" v="282" dt="2025-06-24T02:42:28.733"/>
    <p1510:client id="{C6B88399-F156-EEDD-4C75-3BCFF108D763}" v="2" dt="2025-06-23T22:02:41.492"/>
    <p1510:client id="{DD95E2BD-21EF-45D1-B03C-BCF22AF370B6}" v="578" dt="2025-06-24T18:18:23.0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 name="Google Shape;7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lang="en-US" dirty="0"/>
          </a:p>
          <a:p>
            <a:pPr marL="0" lvl="0" indent="0" algn="l">
              <a:spcBef>
                <a:spcPts val="0"/>
              </a:spcBef>
              <a:spcAft>
                <a:spcPts val="0"/>
              </a:spcAft>
              <a:buNone/>
            </a:pPr>
            <a:endParaRPr/>
          </a:p>
        </p:txBody>
      </p:sp>
      <p:sp>
        <p:nvSpPr>
          <p:cNvPr id="86" name="Google Shape;86;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buChar char="•"/>
            </a:pPr>
            <a:endParaRPr lang="en-US"/>
          </a:p>
        </p:txBody>
      </p:sp>
      <p:sp>
        <p:nvSpPr>
          <p:cNvPr id="99" name="Google Shape;99;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99726DD8-2065-C3D6-3115-63D2F01C87EC}"/>
            </a:ext>
          </a:extLst>
        </p:cNvPr>
        <p:cNvGrpSpPr/>
        <p:nvPr/>
      </p:nvGrpSpPr>
      <p:grpSpPr>
        <a:xfrm>
          <a:off x="0" y="0"/>
          <a:ext cx="0" cy="0"/>
          <a:chOff x="0" y="0"/>
          <a:chExt cx="0" cy="0"/>
        </a:xfrm>
      </p:grpSpPr>
      <p:sp>
        <p:nvSpPr>
          <p:cNvPr id="110" name="Google Shape;110;p6:notes">
            <a:extLst>
              <a:ext uri="{FF2B5EF4-FFF2-40B4-BE49-F238E27FC236}">
                <a16:creationId xmlns:a16="http://schemas.microsoft.com/office/drawing/2014/main" id="{702B5FDC-40DF-5383-626D-046FE4D587A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t>After exploring the dataset, we noticed that variables like </a:t>
            </a:r>
            <a:r>
              <a:rPr lang="en-US" altLang="zh-CN" b="0" dirty="0"/>
              <a:t>gender, region, year, and race </a:t>
            </a:r>
            <a:r>
              <a:rPr lang="en-US" altLang="zh-CN" dirty="0"/>
              <a:t>were </a:t>
            </a:r>
            <a:r>
              <a:rPr lang="en-US" altLang="zh-CN" b="1" dirty="0"/>
              <a:t>clearly categorized and relevant to public health questions.</a:t>
            </a:r>
          </a:p>
          <a:p>
            <a:pPr marL="0" indent="0"/>
            <a:r>
              <a:rPr lang="en-US" altLang="zh-CN" dirty="0"/>
              <a:t>These variables are also commonly studied in cancer, so we apply Chi-Square Test to examine whether these factors are associated with different risk levels of cancer</a:t>
            </a:r>
          </a:p>
          <a:p>
            <a:pPr marL="0" indent="0"/>
            <a:endParaRPr lang="en-US" altLang="zh-CN" dirty="0"/>
          </a:p>
          <a:p>
            <a:pPr marL="0" lvl="0" indent="0" algn="l" rtl="0">
              <a:spcBef>
                <a:spcPts val="0"/>
              </a:spcBef>
              <a:spcAft>
                <a:spcPts val="0"/>
              </a:spcAft>
              <a:buNone/>
            </a:pPr>
            <a:r>
              <a:rPr lang="en-US" altLang="zh-CN" dirty="0"/>
              <a:t>Why </a:t>
            </a:r>
            <a:r>
              <a:rPr lang="en-US" altLang="zh-CN" sz="1200" b="0" i="0" u="none" strike="noStrike" cap="none" dirty="0">
                <a:solidFill>
                  <a:schemeClr val="dk1"/>
                </a:solidFill>
                <a:latin typeface="Calibri"/>
                <a:ea typeface="Calibri"/>
                <a:cs typeface="Calibri"/>
                <a:sym typeface="Calibri"/>
              </a:rPr>
              <a:t>Age-adjusted rates : </a:t>
            </a:r>
            <a:r>
              <a:rPr lang="en-US" altLang="zh-CN" dirty="0"/>
              <a:t>Cancer risk is strongly age-dependent, so it meaningful comparisons of cancer incidence and mortality across different groups</a:t>
            </a:r>
          </a:p>
          <a:p>
            <a:pPr marL="0" indent="0"/>
            <a:r>
              <a:rPr lang="en-US" altLang="zh-CN" b="1" dirty="0"/>
              <a:t>Because Chi-square tests</a:t>
            </a:r>
            <a:r>
              <a:rPr lang="en-US" altLang="zh-CN" dirty="0"/>
              <a:t> require </a:t>
            </a:r>
            <a:r>
              <a:rPr lang="en-US" altLang="zh-CN" b="1" dirty="0"/>
              <a:t>categorical variables</a:t>
            </a:r>
            <a:r>
              <a:rPr lang="en-US" altLang="zh-CN" dirty="0"/>
              <a:t> rather than continuous variable, so we categorized the </a:t>
            </a:r>
            <a:r>
              <a:rPr lang="en-US" altLang="zh-CN" dirty="0" err="1"/>
              <a:t>datavalue</a:t>
            </a:r>
            <a:r>
              <a:rPr lang="en-US" altLang="zh-CN" dirty="0"/>
              <a:t> into high/low base on median</a:t>
            </a:r>
          </a:p>
          <a:p>
            <a:pPr marL="0" lvl="0" indent="0" algn="l" rtl="0">
              <a:spcBef>
                <a:spcPts val="0"/>
              </a:spcBef>
              <a:spcAft>
                <a:spcPts val="0"/>
              </a:spcAft>
              <a:buNone/>
            </a:pPr>
            <a:r>
              <a:rPr lang="en-US" altLang="zh-CN" dirty="0"/>
              <a:t>And Because Sample sizes at the individual state were often too small, to improve statistical power, we regroup the states to east and west</a:t>
            </a:r>
            <a:endParaRPr dirty="0"/>
          </a:p>
        </p:txBody>
      </p:sp>
      <p:sp>
        <p:nvSpPr>
          <p:cNvPr id="111" name="Google Shape;111;p6:notes">
            <a:extLst>
              <a:ext uri="{FF2B5EF4-FFF2-40B4-BE49-F238E27FC236}">
                <a16:creationId xmlns:a16="http://schemas.microsoft.com/office/drawing/2014/main" id="{B069D3BE-F17F-4F3A-C07E-E108E72B438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1536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43FF89AA-15CB-85DD-BCDC-7133C3820CB0}"/>
            </a:ext>
          </a:extLst>
        </p:cNvPr>
        <p:cNvGrpSpPr/>
        <p:nvPr/>
      </p:nvGrpSpPr>
      <p:grpSpPr>
        <a:xfrm>
          <a:off x="0" y="0"/>
          <a:ext cx="0" cy="0"/>
          <a:chOff x="0" y="0"/>
          <a:chExt cx="0" cy="0"/>
        </a:xfrm>
      </p:grpSpPr>
      <p:sp>
        <p:nvSpPr>
          <p:cNvPr id="110" name="Google Shape;110;p6:notes">
            <a:extLst>
              <a:ext uri="{FF2B5EF4-FFF2-40B4-BE49-F238E27FC236}">
                <a16:creationId xmlns:a16="http://schemas.microsoft.com/office/drawing/2014/main" id="{E705B5DA-82B4-32CC-259C-FAAAB5C1D3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t>The </a:t>
            </a:r>
            <a:r>
              <a:rPr lang="en-US" altLang="zh-CN" b="1" dirty="0"/>
              <a:t>x-axis</a:t>
            </a:r>
            <a:r>
              <a:rPr lang="en-US" altLang="zh-CN" dirty="0"/>
              <a:t> represents the possible Chi-Square values under the null hypothesis and The </a:t>
            </a:r>
            <a:r>
              <a:rPr lang="en-US" altLang="zh-CN" b="1" dirty="0"/>
              <a:t>red vertical line</a:t>
            </a:r>
            <a:r>
              <a:rPr lang="en-US" altLang="zh-CN" dirty="0"/>
              <a:t> shows our observed X² statistic. </a:t>
            </a:r>
          </a:p>
          <a:p>
            <a:pPr marL="0" lvl="0" indent="0" algn="l" rtl="0">
              <a:spcBef>
                <a:spcPts val="0"/>
              </a:spcBef>
              <a:spcAft>
                <a:spcPts val="0"/>
              </a:spcAft>
              <a:buNone/>
            </a:pPr>
            <a:r>
              <a:rPr lang="en-US" dirty="0"/>
              <a:t>T</a:t>
            </a:r>
            <a:r>
              <a:rPr lang="en-US" altLang="zh-CN" dirty="0"/>
              <a:t>he yellow </a:t>
            </a:r>
            <a:r>
              <a:rPr lang="en-US" altLang="zh-CN" b="0" dirty="0"/>
              <a:t>line </a:t>
            </a:r>
            <a:r>
              <a:rPr lang="en-US" altLang="zh-CN" dirty="0"/>
              <a:t>marks the </a:t>
            </a:r>
            <a:r>
              <a:rPr lang="en-US" altLang="zh-CN" b="1" dirty="0"/>
              <a:t>critical value </a:t>
            </a:r>
            <a:r>
              <a:rPr lang="en-US" altLang="zh-CN" dirty="0"/>
              <a:t>at </a:t>
            </a:r>
            <a:r>
              <a:rPr lang="en-US" altLang="zh-CN" sz="1200" b="0" i="0" u="none" strike="noStrike" cap="none" dirty="0">
                <a:solidFill>
                  <a:schemeClr val="dk1"/>
                </a:solidFill>
                <a:effectLst/>
                <a:latin typeface="Calibri"/>
                <a:ea typeface="Calibri"/>
                <a:cs typeface="Calibri"/>
                <a:sym typeface="Calibri"/>
              </a:rPr>
              <a:t>Statistical significance=0.05</a:t>
            </a:r>
            <a:endParaRPr lang="en-US" altLang="zh-CN" sz="1200" b="0" i="0" u="none" strike="noStrike" cap="none" dirty="0">
              <a:solidFill>
                <a:schemeClr val="dk1"/>
              </a:solidFill>
              <a:effectLst/>
              <a:latin typeface="Calibri"/>
              <a:ea typeface="Calibri"/>
              <a:cs typeface="Calibri"/>
            </a:endParaRPr>
          </a:p>
          <a:p>
            <a:pPr marL="0" lvl="0" indent="0" algn="l" rtl="0">
              <a:spcBef>
                <a:spcPts val="0"/>
              </a:spcBef>
              <a:spcAft>
                <a:spcPts val="0"/>
              </a:spcAft>
              <a:buNone/>
            </a:pPr>
            <a:endParaRPr lang="en-US"/>
          </a:p>
          <a:p>
            <a:pPr marL="0" lvl="0" indent="0" algn="l" rtl="0">
              <a:spcBef>
                <a:spcPts val="0"/>
              </a:spcBef>
              <a:spcAft>
                <a:spcPts val="0"/>
              </a:spcAft>
              <a:buNone/>
            </a:pPr>
            <a:r>
              <a:rPr lang="en-US" dirty="0"/>
              <a:t>We have </a:t>
            </a:r>
            <a:r>
              <a:rPr lang="en-US" altLang="zh-CN" dirty="0"/>
              <a:t>82 for females and 78 for males in the record, X square value is much higher than the critical value, we can say </a:t>
            </a:r>
            <a:r>
              <a:rPr lang="en-US" altLang="zh-CN" b="1" dirty="0"/>
              <a:t>Gender</a:t>
            </a:r>
            <a:r>
              <a:rPr lang="en-US" altLang="zh-CN" dirty="0"/>
              <a:t> have a strong association with invasive cancer</a:t>
            </a:r>
          </a:p>
          <a:p>
            <a:pPr marL="0" lvl="0" indent="0" algn="l" rtl="0">
              <a:spcBef>
                <a:spcPts val="0"/>
              </a:spcBef>
              <a:spcAft>
                <a:spcPts val="0"/>
              </a:spcAft>
              <a:buNone/>
            </a:pPr>
            <a:r>
              <a:rPr lang="en-US" dirty="0"/>
              <a:t>Region same</a:t>
            </a:r>
          </a:p>
          <a:p>
            <a:pPr marL="0" indent="0"/>
            <a:r>
              <a:rPr lang="en-US" altLang="zh-CN" b="1" dirty="0"/>
              <a:t>Year</a:t>
            </a:r>
            <a:r>
              <a:rPr lang="en-US" altLang="zh-CN" dirty="0"/>
              <a:t> does not seem to play a significant role in this case.</a:t>
            </a:r>
            <a:endParaRPr dirty="0"/>
          </a:p>
        </p:txBody>
      </p:sp>
      <p:sp>
        <p:nvSpPr>
          <p:cNvPr id="111" name="Google Shape;111;p6:notes">
            <a:extLst>
              <a:ext uri="{FF2B5EF4-FFF2-40B4-BE49-F238E27FC236}">
                <a16:creationId xmlns:a16="http://schemas.microsoft.com/office/drawing/2014/main" id="{F45C1098-8710-2B04-FC12-7A7EC266191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4891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0C9EB5D1-3B66-3AC6-2AEB-24BE7A2F66DC}"/>
            </a:ext>
          </a:extLst>
        </p:cNvPr>
        <p:cNvGrpSpPr/>
        <p:nvPr/>
      </p:nvGrpSpPr>
      <p:grpSpPr>
        <a:xfrm>
          <a:off x="0" y="0"/>
          <a:ext cx="0" cy="0"/>
          <a:chOff x="0" y="0"/>
          <a:chExt cx="0" cy="0"/>
        </a:xfrm>
      </p:grpSpPr>
      <p:sp>
        <p:nvSpPr>
          <p:cNvPr id="110" name="Google Shape;110;p6:notes">
            <a:extLst>
              <a:ext uri="{FF2B5EF4-FFF2-40B4-BE49-F238E27FC236}">
                <a16:creationId xmlns:a16="http://schemas.microsoft.com/office/drawing/2014/main" id="{8A634EC1-D270-2E81-CE8A-73111575511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altLang="zh-CN"/>
          </a:p>
          <a:p>
            <a:pPr marL="0" lvl="0" indent="0" algn="l" rtl="0">
              <a:spcBef>
                <a:spcPts val="0"/>
              </a:spcBef>
              <a:spcAft>
                <a:spcPts val="0"/>
              </a:spcAft>
              <a:buNone/>
            </a:pPr>
            <a:r>
              <a:rPr lang="en-US" altLang="zh-CN" dirty="0"/>
              <a:t>Would our results change with a larger dataset?</a:t>
            </a:r>
          </a:p>
          <a:p>
            <a:pPr marL="0" lvl="0" indent="0" algn="l" rtl="0">
              <a:spcBef>
                <a:spcPts val="0"/>
              </a:spcBef>
              <a:spcAft>
                <a:spcPts val="0"/>
              </a:spcAft>
              <a:buNone/>
            </a:pPr>
            <a:r>
              <a:rPr lang="en-US" altLang="zh-CN" dirty="0"/>
              <a:t>It depends. If the current trends are real and representative of the population, a larger sample size would likely have a smaller p-values, rather than change the direction of the result</a:t>
            </a:r>
          </a:p>
          <a:p>
            <a:pPr marL="0" lvl="0" indent="0" algn="l" rtl="0">
              <a:spcBef>
                <a:spcPts val="0"/>
              </a:spcBef>
              <a:spcAft>
                <a:spcPts val="0"/>
              </a:spcAft>
              <a:buNone/>
            </a:pPr>
            <a:r>
              <a:rPr lang="en-US" altLang="zh-CN" dirty="0"/>
              <a:t>However, if the current sample is biased a larger dataset might reverse some conclusions. </a:t>
            </a:r>
            <a:endParaRPr dirty="0"/>
          </a:p>
        </p:txBody>
      </p:sp>
      <p:sp>
        <p:nvSpPr>
          <p:cNvPr id="111" name="Google Shape;111;p6:notes">
            <a:extLst>
              <a:ext uri="{FF2B5EF4-FFF2-40B4-BE49-F238E27FC236}">
                <a16:creationId xmlns:a16="http://schemas.microsoft.com/office/drawing/2014/main" id="{51B323E4-A5AA-C57B-D088-3F7B0214DCB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3580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BD04B88A-66E2-397D-7E27-8601C2F99DBE}"/>
            </a:ext>
          </a:extLst>
        </p:cNvPr>
        <p:cNvGrpSpPr/>
        <p:nvPr/>
      </p:nvGrpSpPr>
      <p:grpSpPr>
        <a:xfrm>
          <a:off x="0" y="0"/>
          <a:ext cx="0" cy="0"/>
          <a:chOff x="0" y="0"/>
          <a:chExt cx="0" cy="0"/>
        </a:xfrm>
      </p:grpSpPr>
      <p:sp>
        <p:nvSpPr>
          <p:cNvPr id="110" name="Google Shape;110;p6:notes">
            <a:extLst>
              <a:ext uri="{FF2B5EF4-FFF2-40B4-BE49-F238E27FC236}">
                <a16:creationId xmlns:a16="http://schemas.microsoft.com/office/drawing/2014/main" id="{07EA2B51-5B51-72D0-3543-49BC3CC3F0D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r>
              <a:rPr lang="en-US" altLang="zh-CN" dirty="0"/>
              <a:t>Lastly, we analyzed </a:t>
            </a:r>
            <a:r>
              <a:rPr lang="en-US" altLang="zh-CN" b="1" dirty="0"/>
              <a:t>colorectal cancer mortality by race </a:t>
            </a:r>
            <a:endParaRPr lang="zh-CN" altLang="en-US" dirty="0"/>
          </a:p>
          <a:p>
            <a:pPr marL="0" lvl="0" indent="0" algn="l">
              <a:spcBef>
                <a:spcPts val="0"/>
              </a:spcBef>
              <a:spcAft>
                <a:spcPts val="0"/>
              </a:spcAft>
              <a:buNone/>
            </a:pPr>
            <a:r>
              <a:rPr lang="en-US" altLang="zh-CN" dirty="0"/>
              <a:t>We ran a Chi-Square test and found a </a:t>
            </a:r>
            <a:r>
              <a:rPr lang="en-US" altLang="zh-CN" b="1" dirty="0"/>
              <a:t>very strong association</a:t>
            </a:r>
            <a:r>
              <a:rPr lang="en-US" altLang="zh-CN" dirty="0"/>
              <a:t>, with a p-value effectively zero</a:t>
            </a:r>
            <a:endParaRPr lang="zh-CN"/>
          </a:p>
          <a:p>
            <a:pPr marL="0" lvl="0" indent="0" algn="l" rtl="0">
              <a:spcBef>
                <a:spcPts val="0"/>
              </a:spcBef>
              <a:spcAft>
                <a:spcPts val="0"/>
              </a:spcAft>
              <a:buNone/>
            </a:pPr>
            <a:endParaRPr lang="en-US" altLang="zh-CN"/>
          </a:p>
          <a:p>
            <a:pPr marL="0" lvl="0" indent="0" algn="l" rtl="0">
              <a:spcBef>
                <a:spcPts val="0"/>
              </a:spcBef>
              <a:spcAft>
                <a:spcPts val="0"/>
              </a:spcAft>
              <a:buNone/>
            </a:pPr>
            <a:r>
              <a:rPr lang="en-US" altLang="zh-CN" dirty="0"/>
              <a:t>Since we know there are many race and we wonder which of them has the high </a:t>
            </a:r>
            <a:r>
              <a:rPr lang="en-US" altLang="zh-CN" sz="1200" dirty="0"/>
              <a:t>Risk</a:t>
            </a:r>
            <a:endParaRPr lang="en-US" altLang="zh-CN"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Then we run a </a:t>
            </a:r>
            <a:r>
              <a:rPr lang="en-US" altLang="zh-CN" dirty="0"/>
              <a:t>contingency table to see which race has high </a:t>
            </a:r>
            <a:r>
              <a:rPr lang="en-US" altLang="zh-CN" sz="1200" dirty="0"/>
              <a:t>Dominant Risk Level</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altLang="zh-CN" sz="120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zh-CN" sz="1200" b="1" dirty="0"/>
              <a:t>Recommendation:</a:t>
            </a:r>
            <a:endParaRPr lang="en-US" altLang="zh-CN" sz="1200"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zh-CN" dirty="0"/>
              <a:t>Our analysis highlights that cancer risk is not evenly distributed. Public health strategies should shift from a one-size-fits-all model to focus more on </a:t>
            </a:r>
            <a:r>
              <a:rPr lang="en-US" altLang="zh-CN" b="1" dirty="0"/>
              <a:t>specific groups</a:t>
            </a:r>
            <a:endParaRPr lang="en-US" altLang="zh-CN" sz="1200" dirty="0"/>
          </a:p>
        </p:txBody>
      </p:sp>
      <p:sp>
        <p:nvSpPr>
          <p:cNvPr id="111" name="Google Shape;111;p6:notes">
            <a:extLst>
              <a:ext uri="{FF2B5EF4-FFF2-40B4-BE49-F238E27FC236}">
                <a16:creationId xmlns:a16="http://schemas.microsoft.com/office/drawing/2014/main" id="{DE79D06A-0BEA-B962-45F8-FE3946D8596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3930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418ABF51-A394-34B0-B8BD-B42B1AEC23C9}"/>
            </a:ext>
          </a:extLst>
        </p:cNvPr>
        <p:cNvGrpSpPr/>
        <p:nvPr/>
      </p:nvGrpSpPr>
      <p:grpSpPr>
        <a:xfrm>
          <a:off x="0" y="0"/>
          <a:ext cx="0" cy="0"/>
          <a:chOff x="0" y="0"/>
          <a:chExt cx="0" cy="0"/>
        </a:xfrm>
      </p:grpSpPr>
      <p:sp>
        <p:nvSpPr>
          <p:cNvPr id="110" name="Google Shape;110;p6:notes">
            <a:extLst>
              <a:ext uri="{FF2B5EF4-FFF2-40B4-BE49-F238E27FC236}">
                <a16:creationId xmlns:a16="http://schemas.microsoft.com/office/drawing/2014/main" id="{FDE4F5C7-CEF4-EAC6-BFEE-DA4F8EE9DB4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6:notes">
            <a:extLst>
              <a:ext uri="{FF2B5EF4-FFF2-40B4-BE49-F238E27FC236}">
                <a16:creationId xmlns:a16="http://schemas.microsoft.com/office/drawing/2014/main" id="{841BF493-9BED-3583-1652-62FC3A3AE69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1513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CA74FE7D-4CF4-A90D-5704-810070083320}"/>
            </a:ext>
          </a:extLst>
        </p:cNvPr>
        <p:cNvGrpSpPr/>
        <p:nvPr/>
      </p:nvGrpSpPr>
      <p:grpSpPr>
        <a:xfrm>
          <a:off x="0" y="0"/>
          <a:ext cx="0" cy="0"/>
          <a:chOff x="0" y="0"/>
          <a:chExt cx="0" cy="0"/>
        </a:xfrm>
      </p:grpSpPr>
      <p:sp>
        <p:nvSpPr>
          <p:cNvPr id="110" name="Google Shape;110;p6:notes">
            <a:extLst>
              <a:ext uri="{FF2B5EF4-FFF2-40B4-BE49-F238E27FC236}">
                <a16:creationId xmlns:a16="http://schemas.microsoft.com/office/drawing/2014/main" id="{2B1C3390-9241-7BFD-33DF-20DAEC89AEC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6:notes">
            <a:extLst>
              <a:ext uri="{FF2B5EF4-FFF2-40B4-BE49-F238E27FC236}">
                <a16:creationId xmlns:a16="http://schemas.microsoft.com/office/drawing/2014/main" id="{9D9EC9F3-B01E-6364-C664-4CD0910BF24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0890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6A21ADC3-ECE6-3BB1-6D5B-CC4B6EF951BF}"/>
            </a:ext>
          </a:extLst>
        </p:cNvPr>
        <p:cNvGrpSpPr/>
        <p:nvPr/>
      </p:nvGrpSpPr>
      <p:grpSpPr>
        <a:xfrm>
          <a:off x="0" y="0"/>
          <a:ext cx="0" cy="0"/>
          <a:chOff x="0" y="0"/>
          <a:chExt cx="0" cy="0"/>
        </a:xfrm>
      </p:grpSpPr>
      <p:sp>
        <p:nvSpPr>
          <p:cNvPr id="110" name="Google Shape;110;p6:notes">
            <a:extLst>
              <a:ext uri="{FF2B5EF4-FFF2-40B4-BE49-F238E27FC236}">
                <a16:creationId xmlns:a16="http://schemas.microsoft.com/office/drawing/2014/main" id="{F386397B-3D7D-BD52-BD49-2874A23A2F1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6:notes">
            <a:extLst>
              <a:ext uri="{FF2B5EF4-FFF2-40B4-BE49-F238E27FC236}">
                <a16:creationId xmlns:a16="http://schemas.microsoft.com/office/drawing/2014/main" id="{4D33EF8C-F643-8695-09B3-61E11772036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2050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0D33C913-E6C9-488A-5827-3CA706FCEA0B}"/>
            </a:ext>
          </a:extLst>
        </p:cNvPr>
        <p:cNvGrpSpPr/>
        <p:nvPr/>
      </p:nvGrpSpPr>
      <p:grpSpPr>
        <a:xfrm>
          <a:off x="0" y="0"/>
          <a:ext cx="0" cy="0"/>
          <a:chOff x="0" y="0"/>
          <a:chExt cx="0" cy="0"/>
        </a:xfrm>
      </p:grpSpPr>
      <p:sp>
        <p:nvSpPr>
          <p:cNvPr id="110" name="Google Shape;110;p6:notes">
            <a:extLst>
              <a:ext uri="{FF2B5EF4-FFF2-40B4-BE49-F238E27FC236}">
                <a16:creationId xmlns:a16="http://schemas.microsoft.com/office/drawing/2014/main" id="{1FCC0170-F078-E726-01A4-789141D2AEA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buAutoNum type="arabicPeriod"/>
            </a:pPr>
            <a:r>
              <a:rPr lang="ja-JP" altLang="en-US"/>
              <a:t>图中呈现明显的</a:t>
            </a:r>
            <a:r>
              <a:rPr lang="en-US" altLang="ja-JP"/>
              <a:t>“</a:t>
            </a:r>
            <a:r>
              <a:rPr lang="ja-JP" altLang="en-US"/>
              <a:t>漏斗形</a:t>
            </a:r>
            <a:r>
              <a:rPr lang="en-US" altLang="ja-JP"/>
              <a:t>”</a:t>
            </a:r>
            <a:r>
              <a:rPr lang="ja-JP" altLang="en-US"/>
              <a:t>图案，说明残差的波动（方差）随拟合值的增大而增大。</a:t>
            </a:r>
            <a:endParaRPr lang="en-US" altLang="ja-JP"/>
          </a:p>
          <a:p>
            <a:pPr marL="228600" indent="0"/>
            <a:r>
              <a:rPr lang="ja-JP" altLang="en-US" err="1"/>
              <a:t>这表示出现了</a:t>
            </a:r>
            <a:r>
              <a:rPr lang="ja-JP" altLang="en-US" b="1" err="1"/>
              <a:t>异方差性</a:t>
            </a:r>
            <a:r>
              <a:rPr lang="en-US" b="1" err="1"/>
              <a:t>（heteroscedasticity</a:t>
            </a:r>
            <a:r>
              <a:rPr lang="ja-JP" altLang="en-US" b="1"/>
              <a:t>）</a:t>
            </a:r>
            <a:r>
              <a:rPr lang="ja-JP" altLang="en-US"/>
              <a:t>，</a:t>
            </a:r>
            <a:r>
              <a:rPr lang="ja-JP" altLang="en-US" err="1"/>
              <a:t>即误差项的方差不是恒定的，违反了线性模型的基本假设之一</a:t>
            </a:r>
            <a:r>
              <a:rPr lang="ja-JP" altLang="en-US"/>
              <a:t>。</a:t>
            </a:r>
            <a:endParaRPr lang="en-US" altLang="ja-JP"/>
          </a:p>
          <a:p>
            <a:pPr marL="0" indent="0"/>
            <a:r>
              <a:rPr lang="ja-JP" altLang="en-US"/>
              <a:t>      点编号</a:t>
            </a:r>
            <a:r>
              <a:rPr lang="en-US"/>
              <a:t> </a:t>
            </a:r>
            <a:r>
              <a:rPr lang="en-US" b="1"/>
              <a:t>1024</a:t>
            </a:r>
            <a:r>
              <a:rPr lang="ja-JP" altLang="en-US" b="1"/>
              <a:t>、</a:t>
            </a:r>
            <a:r>
              <a:rPr lang="en-US" b="1"/>
              <a:t>772</a:t>
            </a:r>
            <a:r>
              <a:rPr lang="en-US" altLang="ja-JP" b="1"/>
              <a:t> </a:t>
            </a:r>
            <a:r>
              <a:rPr lang="ja-JP" altLang="en-US" b="1"/>
              <a:t>和</a:t>
            </a:r>
            <a:r>
              <a:rPr lang="en-US" b="1"/>
              <a:t> 1210</a:t>
            </a:r>
            <a:r>
              <a:rPr lang="en-US" altLang="ja-JP"/>
              <a:t> </a:t>
            </a:r>
            <a:r>
              <a:rPr lang="ja-JP" altLang="en-US"/>
              <a:t>明显偏离主群体，可能为异常值或高影响值</a:t>
            </a:r>
            <a:r>
              <a:rPr lang="en-US"/>
              <a:t>。</a:t>
            </a:r>
            <a:br>
              <a:rPr lang="en-US"/>
            </a:br>
            <a:r>
              <a:rPr lang="en-US"/>
              <a:t>    2.Q-Q Plot（</a:t>
            </a:r>
            <a:r>
              <a:rPr lang="ja-JP" altLang="en-US"/>
              <a:t>正态</a:t>
            </a:r>
            <a:r>
              <a:rPr lang="en-US"/>
              <a:t> Q-Q </a:t>
            </a:r>
            <a:r>
              <a:rPr lang="ja-JP" altLang="en-US"/>
              <a:t>图）</a:t>
            </a:r>
            <a:r>
              <a:rPr lang="en-US"/>
              <a:t>: </a:t>
            </a:r>
            <a:r>
              <a:rPr lang="ja-JP" altLang="en-US" b="1"/>
              <a:t>分析解释</a:t>
            </a:r>
            <a:r>
              <a:rPr lang="en-US" b="1"/>
              <a:t>：</a:t>
            </a:r>
            <a:endParaRPr lang="en-US"/>
          </a:p>
          <a:p>
            <a:pPr marL="0" indent="0"/>
            <a:r>
              <a:rPr lang="ja-JP" altLang="en-US" err="1"/>
              <a:t>大多数点都位于对角线附近</a:t>
            </a:r>
            <a:r>
              <a:rPr lang="en-US" err="1"/>
              <a:t>，</a:t>
            </a:r>
            <a:r>
              <a:rPr lang="ja-JP" altLang="en-US" err="1"/>
              <a:t>说明残差大致服从正态分布</a:t>
            </a:r>
            <a:r>
              <a:rPr lang="en-US"/>
              <a:t>。</a:t>
            </a:r>
          </a:p>
          <a:p>
            <a:pPr marL="0" indent="0"/>
            <a:r>
              <a:rPr lang="ja-JP" altLang="en-US"/>
              <a:t>但在两端尾部存在轻微偏离</a:t>
            </a:r>
            <a:r>
              <a:rPr lang="en-US"/>
              <a:t>，</a:t>
            </a:r>
            <a:r>
              <a:rPr lang="ja-JP" altLang="en-US"/>
              <a:t>尤其是编号为</a:t>
            </a:r>
            <a:r>
              <a:rPr lang="en-US"/>
              <a:t> </a:t>
            </a:r>
            <a:r>
              <a:rPr lang="en-US" b="1"/>
              <a:t>1024、772、1210</a:t>
            </a:r>
            <a:r>
              <a:rPr lang="en-US"/>
              <a:t> </a:t>
            </a:r>
            <a:r>
              <a:rPr lang="ja-JP" altLang="en-US"/>
              <a:t>的点明显偏离</a:t>
            </a:r>
            <a:r>
              <a:rPr lang="en-US"/>
              <a:t>。</a:t>
            </a:r>
            <a:r>
              <a:rPr lang="ja-JP" altLang="en-US" b="1"/>
              <a:t>结论</a:t>
            </a:r>
            <a:r>
              <a:rPr lang="en-US" b="1"/>
              <a:t>：</a:t>
            </a:r>
            <a:br>
              <a:rPr lang="en-US" b="1"/>
            </a:br>
            <a:r>
              <a:rPr lang="en-US" b="1"/>
              <a:t> </a:t>
            </a:r>
            <a:r>
              <a:rPr lang="ja-JP" altLang="en-US" b="1"/>
              <a:t>整体来看</a:t>
            </a:r>
            <a:r>
              <a:rPr lang="en-US" b="1"/>
              <a:t>，</a:t>
            </a:r>
            <a:r>
              <a:rPr lang="ja-JP" altLang="en-US" b="1"/>
              <a:t>残差分布基本满足正态性假设</a:t>
            </a:r>
            <a:r>
              <a:rPr lang="en-US"/>
              <a:t>，</a:t>
            </a:r>
            <a:r>
              <a:rPr lang="ja-JP" altLang="en-US"/>
              <a:t>只是少量极端值造成轻微偏差</a:t>
            </a:r>
            <a:r>
              <a:rPr lang="en-US"/>
              <a:t>，</a:t>
            </a:r>
            <a:r>
              <a:rPr lang="ja-JP" altLang="en-US"/>
              <a:t>可接受</a:t>
            </a:r>
            <a:r>
              <a:rPr lang="en-US"/>
              <a:t>。</a:t>
            </a:r>
            <a:r>
              <a:rPr lang="ja-JP" altLang="en-US"/>
              <a:t>如果要更严谨</a:t>
            </a:r>
            <a:r>
              <a:rPr lang="en-US"/>
              <a:t>，</a:t>
            </a:r>
            <a:r>
              <a:rPr lang="ja-JP" altLang="en-US"/>
              <a:t>可考虑进一步处理这些异常值</a:t>
            </a:r>
            <a:r>
              <a:rPr lang="en-US"/>
              <a:t>。</a:t>
            </a:r>
          </a:p>
          <a:p>
            <a:pPr marL="228600" indent="0"/>
            <a:endParaRPr lang="en-US"/>
          </a:p>
          <a:p>
            <a:pPr marL="228600">
              <a:buAutoNum type="arabicPeriod"/>
            </a:pPr>
            <a:endParaRPr lang="en-US"/>
          </a:p>
        </p:txBody>
      </p:sp>
      <p:sp>
        <p:nvSpPr>
          <p:cNvPr id="111" name="Google Shape;111;p6:notes">
            <a:extLst>
              <a:ext uri="{FF2B5EF4-FFF2-40B4-BE49-F238E27FC236}">
                <a16:creationId xmlns:a16="http://schemas.microsoft.com/office/drawing/2014/main" id="{9D499E50-836E-7B16-9E1D-5138646B4E9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151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70595B8-4D84-6F43-9234-C60C7971341A}"/>
            </a:ext>
          </a:extLst>
        </p:cNvPr>
        <p:cNvGrpSpPr/>
        <p:nvPr/>
      </p:nvGrpSpPr>
      <p:grpSpPr>
        <a:xfrm>
          <a:off x="0" y="0"/>
          <a:ext cx="0" cy="0"/>
          <a:chOff x="0" y="0"/>
          <a:chExt cx="0" cy="0"/>
        </a:xfrm>
      </p:grpSpPr>
      <p:sp>
        <p:nvSpPr>
          <p:cNvPr id="110" name="Google Shape;110;p6:notes">
            <a:extLst>
              <a:ext uri="{FF2B5EF4-FFF2-40B4-BE49-F238E27FC236}">
                <a16:creationId xmlns:a16="http://schemas.microsoft.com/office/drawing/2014/main" id="{C7D08DEF-78A4-F556-639F-58F0235B86B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ja-JP" altLang="en-US" err="1"/>
              <a:t>纵轴是残差的标准化平方根，横轴为拟合值</a:t>
            </a:r>
            <a:r>
              <a:rPr lang="ja-JP" altLang="en-US"/>
              <a:t>。</a:t>
            </a:r>
            <a:endParaRPr lang="en-US" altLang="ja-JP"/>
          </a:p>
          <a:p>
            <a:r>
              <a:rPr lang="ja-JP" altLang="en-US" b="1"/>
              <a:t>分析解释：</a:t>
            </a:r>
            <a:endParaRPr lang="ja-JP"/>
          </a:p>
          <a:p>
            <a:pPr marL="171450" indent="-171450">
              <a:buChar char="•"/>
            </a:pPr>
            <a:r>
              <a:rPr lang="ja-JP" altLang="en-US" err="1"/>
              <a:t>红色趋势线明显上升，说明标准化残差随拟合值增大而增大</a:t>
            </a:r>
            <a:r>
              <a:rPr lang="ja-JP" altLang="en-US"/>
              <a:t>。</a:t>
            </a:r>
            <a:endParaRPr lang="ja-JP"/>
          </a:p>
          <a:p>
            <a:pPr marL="171450" indent="-171450">
              <a:buChar char="•"/>
            </a:pPr>
            <a:r>
              <a:rPr lang="ja-JP" altLang="en-US" err="1"/>
              <a:t>这进一步验证了</a:t>
            </a:r>
            <a:r>
              <a:rPr lang="ja-JP" altLang="en-US" b="1" err="1"/>
              <a:t>异方差性</a:t>
            </a:r>
            <a:r>
              <a:rPr lang="ja-JP" altLang="en-US" err="1"/>
              <a:t>的存在</a:t>
            </a:r>
            <a:r>
              <a:rPr lang="ja-JP" altLang="en-US"/>
              <a:t>。</a:t>
            </a:r>
            <a:endParaRPr lang="ja-JP"/>
          </a:p>
          <a:p>
            <a:pPr marL="171450" indent="-171450">
              <a:buChar char="•"/>
            </a:pPr>
            <a:r>
              <a:rPr lang="ja-JP" altLang="en-US"/>
              <a:t>点</a:t>
            </a:r>
            <a:r>
              <a:rPr lang="en-US"/>
              <a:t> </a:t>
            </a:r>
            <a:r>
              <a:rPr lang="en-US" b="1"/>
              <a:t>1024</a:t>
            </a:r>
            <a:r>
              <a:rPr lang="en-US" altLang="ja-JP" b="1"/>
              <a:t> </a:t>
            </a:r>
            <a:r>
              <a:rPr lang="ja-JP" altLang="en-US" b="1"/>
              <a:t>和</a:t>
            </a:r>
            <a:r>
              <a:rPr lang="en-US" b="1"/>
              <a:t> 772</a:t>
            </a:r>
            <a:r>
              <a:rPr lang="en-US" altLang="ja-JP"/>
              <a:t> </a:t>
            </a:r>
            <a:r>
              <a:rPr lang="ja-JP" altLang="en-US" err="1"/>
              <a:t>再次表现异常</a:t>
            </a:r>
            <a:r>
              <a:rPr lang="ja-JP" altLang="en-US"/>
              <a:t>。</a:t>
            </a:r>
            <a:endParaRPr lang="ja-JP"/>
          </a:p>
          <a:p>
            <a:pPr indent="0"/>
            <a:r>
              <a:rPr lang="ja-JP" altLang="en-US" b="1" err="1"/>
              <a:t>结论</a:t>
            </a:r>
            <a:r>
              <a:rPr lang="en-US" b="1"/>
              <a:t>：</a:t>
            </a:r>
            <a:br>
              <a:rPr lang="en-US" b="1"/>
            </a:br>
            <a:r>
              <a:rPr lang="en-US" altLang="ja-JP" b="1"/>
              <a:t> </a:t>
            </a:r>
            <a:r>
              <a:rPr lang="ja-JP" altLang="en-US" b="1" err="1"/>
              <a:t>该图再次说明模型存在非恒定方差问题</a:t>
            </a:r>
            <a:r>
              <a:rPr lang="ja-JP" altLang="en-US" err="1"/>
              <a:t>，对数变换或使用</a:t>
            </a:r>
            <a:r>
              <a:rPr lang="en-US" altLang="ja-JP"/>
              <a:t>**</a:t>
            </a:r>
            <a:r>
              <a:rPr lang="ja-JP" altLang="en-US" err="1"/>
              <a:t>加权最小二乘法</a:t>
            </a:r>
            <a:r>
              <a:rPr lang="en-US" err="1"/>
              <a:t>（WLS</a:t>
            </a:r>
            <a:r>
              <a:rPr lang="ja-JP" altLang="en-US" err="1"/>
              <a:t>）</a:t>
            </a:r>
            <a:r>
              <a:rPr lang="ja-JP" altLang="en-US" b="1" err="1"/>
              <a:t>或</a:t>
            </a:r>
            <a:r>
              <a:rPr lang="ja-JP" altLang="en-US" err="1"/>
              <a:t>稳健估计</a:t>
            </a:r>
            <a:r>
              <a:rPr lang="en-US" err="1"/>
              <a:t>（robust</a:t>
            </a:r>
            <a:r>
              <a:rPr lang="en-US"/>
              <a:t> estimators</a:t>
            </a:r>
            <a:r>
              <a:rPr lang="ja-JP" altLang="en-US"/>
              <a:t>）**</a:t>
            </a:r>
            <a:r>
              <a:rPr lang="ja-JP" altLang="en-US" err="1"/>
              <a:t>是解决办法</a:t>
            </a:r>
            <a:r>
              <a:rPr lang="en-US"/>
              <a:t>。</a:t>
            </a:r>
          </a:p>
          <a:p>
            <a:pPr marL="0" lvl="0" indent="0" algn="l">
              <a:spcBef>
                <a:spcPts val="0"/>
              </a:spcBef>
              <a:spcAft>
                <a:spcPts val="0"/>
              </a:spcAft>
              <a:buNone/>
            </a:pPr>
            <a:endParaRPr/>
          </a:p>
        </p:txBody>
      </p:sp>
      <p:sp>
        <p:nvSpPr>
          <p:cNvPr id="111" name="Google Shape;111;p6:notes">
            <a:extLst>
              <a:ext uri="{FF2B5EF4-FFF2-40B4-BE49-F238E27FC236}">
                <a16:creationId xmlns:a16="http://schemas.microsoft.com/office/drawing/2014/main" id="{9736D5EC-AFE4-D202-2EF8-D2CC83BCB36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0113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85C9A8D-80BC-4007-8467-735A9212D7AB}"/>
            </a:ext>
          </a:extLst>
        </p:cNvPr>
        <p:cNvGrpSpPr/>
        <p:nvPr/>
      </p:nvGrpSpPr>
      <p:grpSpPr>
        <a:xfrm>
          <a:off x="0" y="0"/>
          <a:ext cx="0" cy="0"/>
          <a:chOff x="0" y="0"/>
          <a:chExt cx="0" cy="0"/>
        </a:xfrm>
      </p:grpSpPr>
      <p:sp>
        <p:nvSpPr>
          <p:cNvPr id="110" name="Google Shape;110;p6:notes">
            <a:extLst>
              <a:ext uri="{FF2B5EF4-FFF2-40B4-BE49-F238E27FC236}">
                <a16:creationId xmlns:a16="http://schemas.microsoft.com/office/drawing/2014/main" id="{27AD62CB-F6FE-A6CE-2E96-B7DA9E9A0F5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6:notes">
            <a:extLst>
              <a:ext uri="{FF2B5EF4-FFF2-40B4-BE49-F238E27FC236}">
                <a16:creationId xmlns:a16="http://schemas.microsoft.com/office/drawing/2014/main" id="{12B0FEBF-1F5B-860E-82C0-B0B07BA123C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0088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for the Health Status topic. We ranked the top six topics. And we chose the topic called health status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10020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Next, we grouped by </a:t>
            </a:r>
            <a:r>
              <a:rPr lang="en-US" err="1"/>
              <a:t>DatavalueType</a:t>
            </a:r>
            <a:r>
              <a:rPr lang="en-US"/>
              <a:t> and </a:t>
            </a:r>
            <a:r>
              <a:rPr lang="en-US" err="1"/>
              <a:t>DataValueUnit</a:t>
            </a:r>
            <a:r>
              <a:rPr lang="en-US"/>
              <a:t>, and we finally figured out the questions distribution.</a:t>
            </a:r>
          </a:p>
        </p:txBody>
      </p:sp>
      <p:sp>
        <p:nvSpPr>
          <p:cNvPr id="105" name="Google Shape;105;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DFD7CFCB-4217-48F4-E1A3-AC3F52D5EEEB}"/>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D80681FE-DC1F-CD95-F909-C4E3D934D9E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We determined that we focused on the crude prevalence measures—specifically, the percentage‐based metrics—because our model will include age as a covariate. One thing we need to mention is that for the data characteristics, smaller percentages mean better health.r health.</a:t>
            </a:r>
          </a:p>
          <a:p>
            <a:endParaRPr lang="en-US"/>
          </a:p>
          <a:p>
            <a:endParaRPr lang="en-US"/>
          </a:p>
        </p:txBody>
      </p:sp>
      <p:sp>
        <p:nvSpPr>
          <p:cNvPr id="105" name="Google Shape;105;p5:notes">
            <a:extLst>
              <a:ext uri="{FF2B5EF4-FFF2-40B4-BE49-F238E27FC236}">
                <a16:creationId xmlns:a16="http://schemas.microsoft.com/office/drawing/2014/main" id="{0DA5451B-EBB7-EEB4-FC22-716EB0B25EA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7756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7617FB20-CCFF-8BFA-C53F-339BA68AE7AF}"/>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53A1BA42-A2F5-6D0F-ED3F-DADD8E5DA79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Before our modeling part, we plotted histograms of those percentages and saw that each question is roughly unimodal with a right skew—most states cluster around 10–20%, it means most of the respondents are healthy. </a:t>
            </a:r>
          </a:p>
          <a:p>
            <a:endParaRPr lang="en-US"/>
          </a:p>
        </p:txBody>
      </p:sp>
      <p:sp>
        <p:nvSpPr>
          <p:cNvPr id="105" name="Google Shape;105;p5:notes">
            <a:extLst>
              <a:ext uri="{FF2B5EF4-FFF2-40B4-BE49-F238E27FC236}">
                <a16:creationId xmlns:a16="http://schemas.microsoft.com/office/drawing/2014/main" id="{5B39C471-B086-3C1E-3293-509396DE885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07503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4976ADED-376D-E484-D16F-C5DFBA5D616F}"/>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49F51A26-C88F-5FE5-F704-FE814DA4C07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When we checked missingness, about 25% of the values were blank.</a:t>
            </a:r>
          </a:p>
          <a:p>
            <a:r>
              <a:rPr lang="en-US"/>
              <a:t> We tried a few approaches</a:t>
            </a:r>
            <a:r>
              <a:rPr lang="en-US" altLang="zh-CN"/>
              <a:t>—</a:t>
            </a:r>
            <a:r>
              <a:rPr lang="en-US"/>
              <a:t>imputation, filling with the mode or the median value </a:t>
            </a:r>
            <a:r>
              <a:rPr lang="en-US" altLang="zh-CN"/>
              <a:t>—</a:t>
            </a:r>
            <a:r>
              <a:rPr lang="en-US"/>
              <a:t>but found that simply dropping rows with missing values preserved the original skew and </a:t>
            </a:r>
            <a:r>
              <a:rPr lang="en-US" err="1"/>
              <a:t>didn</a:t>
            </a:r>
            <a:r>
              <a:rPr lang="zh-CN" altLang="en-US"/>
              <a:t>’</a:t>
            </a:r>
            <a:r>
              <a:rPr lang="en-US"/>
              <a:t>t introduce bias. </a:t>
            </a:r>
          </a:p>
          <a:p>
            <a:r>
              <a:rPr lang="en-US"/>
              <a:t>Our before</a:t>
            </a:r>
            <a:r>
              <a:rPr lang="en-US" altLang="zh-CN"/>
              <a:t>‐</a:t>
            </a:r>
            <a:r>
              <a:rPr lang="en-US"/>
              <a:t>and</a:t>
            </a:r>
            <a:r>
              <a:rPr lang="en-US" altLang="zh-CN"/>
              <a:t>‐</a:t>
            </a:r>
            <a:r>
              <a:rPr lang="en-US"/>
              <a:t>after overlay plots confirmed that the distributions line up almost perfectly.</a:t>
            </a:r>
          </a:p>
          <a:p>
            <a:endParaRPr lang="en-US"/>
          </a:p>
        </p:txBody>
      </p:sp>
      <p:sp>
        <p:nvSpPr>
          <p:cNvPr id="105" name="Google Shape;105;p5:notes">
            <a:extLst>
              <a:ext uri="{FF2B5EF4-FFF2-40B4-BE49-F238E27FC236}">
                <a16:creationId xmlns:a16="http://schemas.microsoft.com/office/drawing/2014/main" id="{3945806E-89A6-9C0F-1F08-1902D5E3F74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1841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572B5186-ED64-5F60-C5B3-2CA6C853A678}"/>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5F0F15DD-27ED-FAA9-A04E-0CAF4408D21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For </a:t>
            </a:r>
            <a:r>
              <a:rPr lang="en-US" b="1"/>
              <a:t>model specification</a:t>
            </a:r>
            <a:r>
              <a:rPr lang="en-US"/>
              <a:t>, we stratified our data into three </a:t>
            </a:r>
            <a:r>
              <a:rPr lang="en-US" err="1"/>
              <a:t>democraphics</a:t>
            </a:r>
            <a:r>
              <a:rPr lang="en-US"/>
              <a:t> groups—age, gender, and race/ethnicity—and binned the Health Status percentages by the 1st and 3rd quartile​, we </a:t>
            </a:r>
            <a:r>
              <a:rPr lang="en-US" err="1"/>
              <a:t>seperated</a:t>
            </a:r>
            <a:r>
              <a:rPr lang="en-US"/>
              <a:t> the three classes by quartiles</a:t>
            </a:r>
          </a:p>
          <a:p>
            <a:endParaRPr lang="en-US"/>
          </a:p>
          <a:p>
            <a:r>
              <a:rPr lang="en-US"/>
              <a:t> After that, we used one-hot encoding of the demographic factors, using </a:t>
            </a:r>
            <a:r>
              <a:rPr lang="en-US" b="1"/>
              <a:t>Unhealthy</a:t>
            </a:r>
            <a:r>
              <a:rPr lang="en-US"/>
              <a:t> as our baseline.</a:t>
            </a:r>
          </a:p>
        </p:txBody>
      </p:sp>
      <p:sp>
        <p:nvSpPr>
          <p:cNvPr id="105" name="Google Shape;105;p5:notes">
            <a:extLst>
              <a:ext uri="{FF2B5EF4-FFF2-40B4-BE49-F238E27FC236}">
                <a16:creationId xmlns:a16="http://schemas.microsoft.com/office/drawing/2014/main" id="{D9373E74-503F-6B06-2615-65254C5FA3C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95698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C950DEF9-379B-C9BE-B2F8-39C7766639EF}"/>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5CF7E145-DE36-2071-4F33-A84B02AB9F0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We then filtered for subgroups with </a:t>
            </a:r>
            <a:r>
              <a:rPr lang="en-US" b="1"/>
              <a:t>p-values below our significance threshold</a:t>
            </a:r>
            <a:r>
              <a:rPr lang="en-US"/>
              <a:t>, so we only interpret statistically significant effects. This means all odds ratios you’ll see compare either </a:t>
            </a:r>
            <a:r>
              <a:rPr lang="en-US" b="1"/>
              <a:t>Moderately Healthy</a:t>
            </a:r>
            <a:r>
              <a:rPr lang="en-US"/>
              <a:t> or </a:t>
            </a:r>
            <a:r>
              <a:rPr lang="en-US" b="1"/>
              <a:t>Very Healthy</a:t>
            </a:r>
            <a:r>
              <a:rPr lang="en-US"/>
              <a:t> back to that Unhealthy reference. </a:t>
            </a:r>
          </a:p>
        </p:txBody>
      </p:sp>
      <p:sp>
        <p:nvSpPr>
          <p:cNvPr id="105" name="Google Shape;105;p5:notes">
            <a:extLst>
              <a:ext uri="{FF2B5EF4-FFF2-40B4-BE49-F238E27FC236}">
                <a16:creationId xmlns:a16="http://schemas.microsoft.com/office/drawing/2014/main" id="{4CA3F5B3-18CA-3385-CF3E-76626F3D8C3D}"/>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60084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0B2BBF59-4C6F-5E9D-A895-71071931A503}"/>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BCFF9BCF-D51B-2108-179C-81C3C4BF37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It‘s worth noting that the third column Odds Ratio compares the odds of an outcome occurring in one group versus a reference group. </a:t>
            </a:r>
          </a:p>
        </p:txBody>
      </p:sp>
      <p:sp>
        <p:nvSpPr>
          <p:cNvPr id="105" name="Google Shape;105;p5:notes">
            <a:extLst>
              <a:ext uri="{FF2B5EF4-FFF2-40B4-BE49-F238E27FC236}">
                <a16:creationId xmlns:a16="http://schemas.microsoft.com/office/drawing/2014/main" id="{93703AA5-3011-676A-C0A2-9908D6EB871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05203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50061FCD-E8E1-C6EF-944E-6A639816AD3A}"/>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3A72E3FC-258A-20A3-96DA-A253276ADC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First, comparing </a:t>
            </a:r>
            <a:r>
              <a:rPr lang="en-US" b="1"/>
              <a:t>18–44 year-olds</a:t>
            </a:r>
            <a:r>
              <a:rPr lang="en-US"/>
              <a:t> to those </a:t>
            </a:r>
            <a:r>
              <a:rPr lang="en-US" b="1"/>
              <a:t>65 and older</a:t>
            </a:r>
            <a:r>
              <a:rPr lang="en-US"/>
              <a:t>, the odds ratio is dramatically higher than the reference group</a:t>
            </a:r>
          </a:p>
          <a:p>
            <a:r>
              <a:rPr lang="en-US" err="1"/>
              <a:t>Pratically</a:t>
            </a:r>
            <a:r>
              <a:rPr lang="en-US"/>
              <a:t> speaking, young adults are overwhelmingly more likely to say they’re in good or very good health than seniors. </a:t>
            </a:r>
          </a:p>
          <a:p>
            <a:r>
              <a:rPr lang="en-US"/>
              <a:t>Even the </a:t>
            </a:r>
            <a:r>
              <a:rPr lang="en-US" b="1"/>
              <a:t>45–64</a:t>
            </a:r>
            <a:r>
              <a:rPr lang="en-US"/>
              <a:t> age group enjoys a major advantage compared to the 65+ group. </a:t>
            </a:r>
          </a:p>
        </p:txBody>
      </p:sp>
      <p:sp>
        <p:nvSpPr>
          <p:cNvPr id="105" name="Google Shape;105;p5:notes">
            <a:extLst>
              <a:ext uri="{FF2B5EF4-FFF2-40B4-BE49-F238E27FC236}">
                <a16:creationId xmlns:a16="http://schemas.microsoft.com/office/drawing/2014/main" id="{8B9EC0BF-6A79-4A7C-4F60-CF1EBA2B31D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0253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5D640334-3D9D-AC0F-2262-1194B35F8E6F}"/>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C17E9504-EF70-D106-C799-5A86470B700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Next, we see distinct patterns for </a:t>
            </a:r>
            <a:r>
              <a:rPr lang="en-US" b="1"/>
              <a:t>women</a:t>
            </a:r>
            <a:r>
              <a:rPr lang="en-US"/>
              <a:t> versus </a:t>
            </a:r>
            <a:r>
              <a:rPr lang="en-US" b="1"/>
              <a:t>men</a:t>
            </a:r>
            <a:r>
              <a:rPr lang="en-US"/>
              <a:t>. Women, compared to the Unhealthy baseline, meaning they tend to cluster in that middle category but also have room to move up. </a:t>
            </a:r>
          </a:p>
          <a:p>
            <a:r>
              <a:rPr lang="en-US"/>
              <a:t>Men, on the other hand, show an almost “all-or-nothing” profile: In other words, when men do report good health, they overwhelmingly land in the highest tier, but few sit in the middle.</a:t>
            </a:r>
          </a:p>
        </p:txBody>
      </p:sp>
      <p:sp>
        <p:nvSpPr>
          <p:cNvPr id="105" name="Google Shape;105;p5:notes">
            <a:extLst>
              <a:ext uri="{FF2B5EF4-FFF2-40B4-BE49-F238E27FC236}">
                <a16:creationId xmlns:a16="http://schemas.microsoft.com/office/drawing/2014/main" id="{E3D253A4-1122-422A-533F-573E329781C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91742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ECA8E7F1-93D8-8678-56ED-72084BDF2990}"/>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92BCE48C-EFE3-5BDC-C966-AC8F238CB8E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Finally, we observe clear stratification by race and ethnicity. </a:t>
            </a:r>
            <a:r>
              <a:rPr lang="en-US" b="1"/>
              <a:t>White non-Hispanics</a:t>
            </a:r>
            <a:r>
              <a:rPr lang="en-US"/>
              <a:t> and </a:t>
            </a:r>
            <a:r>
              <a:rPr lang="en-US" b="1"/>
              <a:t>Hawaiian/Pacific Islanders</a:t>
            </a:r>
            <a:r>
              <a:rPr lang="en-US"/>
              <a:t> top the chart, </a:t>
            </a:r>
            <a:r>
              <a:rPr lang="en-US">
                <a:solidFill>
                  <a:srgbClr val="FF0000"/>
                </a:solidFill>
              </a:rPr>
              <a:t>with the highest odds of both moderate and very good health</a:t>
            </a:r>
            <a:r>
              <a:rPr lang="en-US"/>
              <a:t>. </a:t>
            </a:r>
            <a:r>
              <a:rPr lang="en-US" b="1"/>
              <a:t>Asian non-Hispanics</a:t>
            </a:r>
            <a:r>
              <a:rPr lang="en-US"/>
              <a:t> and </a:t>
            </a:r>
            <a:r>
              <a:rPr lang="en-US" b="1"/>
              <a:t>multiracial </a:t>
            </a:r>
            <a:r>
              <a:rPr lang="en-US"/>
              <a:t>respondents show less dramatic rates than others. These differences hint at </a:t>
            </a:r>
            <a:r>
              <a:rPr lang="en-US">
                <a:solidFill>
                  <a:srgbClr val="FF0000"/>
                </a:solidFill>
              </a:rPr>
              <a:t>underlying cultural, socioeconomic, or access-related factors.</a:t>
            </a:r>
            <a:endParaRPr lang="en-US"/>
          </a:p>
          <a:p>
            <a:endParaRPr lang="en-US"/>
          </a:p>
        </p:txBody>
      </p:sp>
      <p:sp>
        <p:nvSpPr>
          <p:cNvPr id="105" name="Google Shape;105;p5:notes">
            <a:extLst>
              <a:ext uri="{FF2B5EF4-FFF2-40B4-BE49-F238E27FC236}">
                <a16:creationId xmlns:a16="http://schemas.microsoft.com/office/drawing/2014/main" id="{3C5DA16A-CC84-08D0-796A-30E1A5ECD82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20681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8F35FB61-7704-9275-BAC3-EBEEB4C2810F}"/>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123E2933-631A-FC84-03C4-92067454576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Now let’s turn to how well our model actually performs in classifying each health group.</a:t>
            </a:r>
          </a:p>
          <a:p>
            <a:r>
              <a:rPr lang="en-US"/>
              <a:t>We evaluated model performance with a </a:t>
            </a:r>
            <a:r>
              <a:rPr lang="en-US" b="1"/>
              <a:t>confusion-matrix heatmap</a:t>
            </a:r>
            <a:r>
              <a:rPr lang="en-US"/>
              <a:t>, calculating metrics like recall, precision, and specificity. </a:t>
            </a:r>
          </a:p>
        </p:txBody>
      </p:sp>
      <p:sp>
        <p:nvSpPr>
          <p:cNvPr id="105" name="Google Shape;105;p5:notes">
            <a:extLst>
              <a:ext uri="{FF2B5EF4-FFF2-40B4-BE49-F238E27FC236}">
                <a16:creationId xmlns:a16="http://schemas.microsoft.com/office/drawing/2014/main" id="{F844B163-9706-E18A-B0E6-EEEF2E36F04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74343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F105F4D6-6AF8-00F1-1F09-EF4AE54584AA}"/>
            </a:ext>
          </a:extLst>
        </p:cNvPr>
        <p:cNvGrpSpPr/>
        <p:nvPr/>
      </p:nvGrpSpPr>
      <p:grpSpPr>
        <a:xfrm>
          <a:off x="0" y="0"/>
          <a:ext cx="0" cy="0"/>
          <a:chOff x="0" y="0"/>
          <a:chExt cx="0" cy="0"/>
        </a:xfrm>
      </p:grpSpPr>
      <p:sp>
        <p:nvSpPr>
          <p:cNvPr id="104" name="Google Shape;104;p5:notes">
            <a:extLst>
              <a:ext uri="{FF2B5EF4-FFF2-40B4-BE49-F238E27FC236}">
                <a16:creationId xmlns:a16="http://schemas.microsoft.com/office/drawing/2014/main" id="{F2504652-F4B6-3E24-4AE1-6979319FE9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a:t>We also plotted </a:t>
            </a:r>
            <a:r>
              <a:rPr lang="en-US" b="1"/>
              <a:t>ROC curves</a:t>
            </a:r>
            <a:r>
              <a:rPr lang="en-US"/>
              <a:t> to visualize how well the model separates each class, and we confirmed that the model discriminates best at the extremes, with the middle category posing the greatest challenge.</a:t>
            </a:r>
          </a:p>
        </p:txBody>
      </p:sp>
      <p:sp>
        <p:nvSpPr>
          <p:cNvPr id="105" name="Google Shape;105;p5:notes">
            <a:extLst>
              <a:ext uri="{FF2B5EF4-FFF2-40B4-BE49-F238E27FC236}">
                <a16:creationId xmlns:a16="http://schemas.microsoft.com/office/drawing/2014/main" id="{70B7F1B5-F6CC-A9A7-43F2-4F334589D6F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5267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8F16CADB-1F3B-883E-79DD-F12FCF526213}"/>
            </a:ext>
          </a:extLst>
        </p:cNvPr>
        <p:cNvGrpSpPr/>
        <p:nvPr/>
      </p:nvGrpSpPr>
      <p:grpSpPr>
        <a:xfrm>
          <a:off x="0" y="0"/>
          <a:ext cx="0" cy="0"/>
          <a:chOff x="0" y="0"/>
          <a:chExt cx="0" cy="0"/>
        </a:xfrm>
      </p:grpSpPr>
      <p:sp>
        <p:nvSpPr>
          <p:cNvPr id="140" name="Google Shape;140;p11:notes">
            <a:extLst>
              <a:ext uri="{FF2B5EF4-FFF2-40B4-BE49-F238E27FC236}">
                <a16:creationId xmlns:a16="http://schemas.microsoft.com/office/drawing/2014/main" id="{93BE7948-0866-2F57-1A46-B40D63EC4C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indent="0"/>
            <a:r>
              <a:rPr lang="en-US"/>
              <a:t>Age: Young adults show dramatically higher odds of both Moderately Healthy and Very Healthy status compared to seniors.</a:t>
            </a:r>
          </a:p>
          <a:p>
            <a:pPr marL="0" indent="0"/>
            <a:endParaRPr lang="en-US"/>
          </a:p>
          <a:p>
            <a:pPr marL="0" indent="0"/>
            <a:r>
              <a:rPr lang="en-US"/>
              <a:t>It achieves </a:t>
            </a:r>
            <a:r>
              <a:rPr lang="en-US" b="1"/>
              <a:t>94% precision</a:t>
            </a:r>
            <a:r>
              <a:rPr lang="en-US"/>
              <a:t> for identifying Very Healthy individuals and </a:t>
            </a:r>
            <a:r>
              <a:rPr lang="en-US" b="1"/>
              <a:t>82% recall</a:t>
            </a:r>
            <a:r>
              <a:rPr lang="en-US"/>
              <a:t> for the Moderately Healthy group, demonstrating strong performance, especially at the extremes.</a:t>
            </a:r>
          </a:p>
        </p:txBody>
      </p:sp>
      <p:sp>
        <p:nvSpPr>
          <p:cNvPr id="141" name="Google Shape;141;p11:notes">
            <a:extLst>
              <a:ext uri="{FF2B5EF4-FFF2-40B4-BE49-F238E27FC236}">
                <a16:creationId xmlns:a16="http://schemas.microsoft.com/office/drawing/2014/main" id="{7CE8A67C-4FDA-7F1B-706D-8DC231C0639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43094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FD5B4285-032A-6AA6-9EBC-8BDFB01E398A}"/>
            </a:ext>
          </a:extLst>
        </p:cNvPr>
        <p:cNvGrpSpPr/>
        <p:nvPr/>
      </p:nvGrpSpPr>
      <p:grpSpPr>
        <a:xfrm>
          <a:off x="0" y="0"/>
          <a:ext cx="0" cy="0"/>
          <a:chOff x="0" y="0"/>
          <a:chExt cx="0" cy="0"/>
        </a:xfrm>
      </p:grpSpPr>
      <p:sp>
        <p:nvSpPr>
          <p:cNvPr id="140" name="Google Shape;140;p11:notes">
            <a:extLst>
              <a:ext uri="{FF2B5EF4-FFF2-40B4-BE49-F238E27FC236}">
                <a16:creationId xmlns:a16="http://schemas.microsoft.com/office/drawing/2014/main" id="{1BEC0C17-C1F7-4F4D-8922-58BFDAD6769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a:extLst>
              <a:ext uri="{FF2B5EF4-FFF2-40B4-BE49-F238E27FC236}">
                <a16:creationId xmlns:a16="http://schemas.microsoft.com/office/drawing/2014/main" id="{A4578A98-7111-4B5D-DF3A-D1C4581964F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1252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5C4468DC-DC4D-B510-2DAF-00451D894C1E}"/>
            </a:ext>
          </a:extLst>
        </p:cNvPr>
        <p:cNvGrpSpPr/>
        <p:nvPr/>
      </p:nvGrpSpPr>
      <p:grpSpPr>
        <a:xfrm>
          <a:off x="0" y="0"/>
          <a:ext cx="0" cy="0"/>
          <a:chOff x="0" y="0"/>
          <a:chExt cx="0" cy="0"/>
        </a:xfrm>
      </p:grpSpPr>
      <p:sp>
        <p:nvSpPr>
          <p:cNvPr id="140" name="Google Shape;140;p11:notes">
            <a:extLst>
              <a:ext uri="{FF2B5EF4-FFF2-40B4-BE49-F238E27FC236}">
                <a16:creationId xmlns:a16="http://schemas.microsoft.com/office/drawing/2014/main" id="{921C7B43-BBBB-7D83-623A-7F69988431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1:notes">
            <a:extLst>
              <a:ext uri="{FF2B5EF4-FFF2-40B4-BE49-F238E27FC236}">
                <a16:creationId xmlns:a16="http://schemas.microsoft.com/office/drawing/2014/main" id="{90A8DF92-79E7-044A-AF73-BB4EAE4F150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8701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7"/>
        <p:cNvGrpSpPr/>
        <p:nvPr/>
      </p:nvGrpSpPr>
      <p:grpSpPr>
        <a:xfrm>
          <a:off x="0" y="0"/>
          <a:ext cx="0" cy="0"/>
          <a:chOff x="0" y="0"/>
          <a:chExt cx="0" cy="0"/>
        </a:xfrm>
      </p:grpSpPr>
      <p:sp>
        <p:nvSpPr>
          <p:cNvPr id="18" name="Google Shape;18;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 name="Google Shape;19;p14"/>
          <p:cNvSpPr txBox="1">
            <a:spLocks noGrp="1"/>
          </p:cNvSpPr>
          <p:nvPr>
            <p:ph type="ctrTitle"/>
          </p:nvPr>
        </p:nvSpPr>
        <p:spPr>
          <a:xfrm>
            <a:off x="457200" y="838201"/>
            <a:ext cx="8229600" cy="7620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 name="Google Shape;2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16"/>
          <p:cNvSpPr txBox="1">
            <a:spLocks noGrp="1"/>
          </p:cNvSpPr>
          <p:nvPr>
            <p:ph type="title"/>
          </p:nvPr>
        </p:nvSpPr>
        <p:spPr>
          <a:xfrm>
            <a:off x="457200" y="4406900"/>
            <a:ext cx="8229600" cy="1304421"/>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 name="Google Shape;31;p16"/>
          <p:cNvSpPr txBox="1">
            <a:spLocks noGrp="1"/>
          </p:cNvSpPr>
          <p:nvPr>
            <p:ph type="body" idx="1"/>
          </p:nvPr>
        </p:nvSpPr>
        <p:spPr>
          <a:xfrm>
            <a:off x="457200" y="2906713"/>
            <a:ext cx="8229600" cy="14366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2" name="Google Shape;3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
        <p:cNvGrpSpPr/>
        <p:nvPr/>
      </p:nvGrpSpPr>
      <p:grpSpPr>
        <a:xfrm>
          <a:off x="0" y="0"/>
          <a:ext cx="0" cy="0"/>
          <a:chOff x="0" y="0"/>
          <a:chExt cx="0" cy="0"/>
        </a:xfrm>
      </p:grpSpPr>
      <p:sp>
        <p:nvSpPr>
          <p:cNvPr id="36" name="Google Shape;36;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8" name="Google Shape;38;p17"/>
          <p:cNvSpPr txBox="1">
            <a:spLocks noGrp="1"/>
          </p:cNvSpPr>
          <p:nvPr>
            <p:ph type="ctrTitle"/>
          </p:nvPr>
        </p:nvSpPr>
        <p:spPr>
          <a:xfrm>
            <a:off x="457200" y="838201"/>
            <a:ext cx="8229600" cy="7620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18"/>
          <p:cNvSpPr txBox="1">
            <a:spLocks noGrp="1"/>
          </p:cNvSpPr>
          <p:nvPr>
            <p:ph type="title"/>
          </p:nvPr>
        </p:nvSpPr>
        <p:spPr>
          <a:xfrm>
            <a:off x="457200" y="609600"/>
            <a:ext cx="8229600" cy="80803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 name="Google Shape;44;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19"/>
          <p:cNvSpPr txBox="1">
            <a:spLocks noGrp="1"/>
          </p:cNvSpPr>
          <p:nvPr>
            <p:ph type="title"/>
          </p:nvPr>
        </p:nvSpPr>
        <p:spPr>
          <a:xfrm>
            <a:off x="457200" y="792162"/>
            <a:ext cx="8229600" cy="96043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3" name="Google Shape;53;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21"/>
          <p:cNvSpPr txBox="1">
            <a:spLocks noGrp="1"/>
          </p:cNvSpPr>
          <p:nvPr>
            <p:ph type="title"/>
          </p:nvPr>
        </p:nvSpPr>
        <p:spPr>
          <a:xfrm>
            <a:off x="457200" y="762000"/>
            <a:ext cx="3008313" cy="673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21"/>
          <p:cNvSpPr txBox="1">
            <a:spLocks noGrp="1"/>
          </p:cNvSpPr>
          <p:nvPr>
            <p:ph type="body" idx="1"/>
          </p:nvPr>
        </p:nvSpPr>
        <p:spPr>
          <a:xfrm>
            <a:off x="3575050" y="762000"/>
            <a:ext cx="5111750" cy="536416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3" name="Google Shape;63;p21"/>
          <p:cNvSpPr txBox="1">
            <a:spLocks noGrp="1"/>
          </p:cNvSpPr>
          <p:nvPr>
            <p:ph type="body" idx="2"/>
          </p:nvPr>
        </p:nvSpPr>
        <p:spPr>
          <a:xfrm>
            <a:off x="457200" y="1524000"/>
            <a:ext cx="3008313" cy="46021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4" name="Google Shape;64;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2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 name="Google Shape;69;p22"/>
          <p:cNvSpPr>
            <a:spLocks noGrp="1"/>
          </p:cNvSpPr>
          <p:nvPr>
            <p:ph type="pic" idx="2"/>
          </p:nvPr>
        </p:nvSpPr>
        <p:spPr>
          <a:xfrm>
            <a:off x="1792288" y="838199"/>
            <a:ext cx="5486400" cy="3889375"/>
          </a:xfrm>
          <a:prstGeom prst="rect">
            <a:avLst/>
          </a:prstGeom>
          <a:noFill/>
          <a:ln>
            <a:noFill/>
          </a:ln>
        </p:spPr>
      </p:sp>
      <p:sp>
        <p:nvSpPr>
          <p:cNvPr id="70" name="Google Shape;70;p2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74"/>
        <p:cNvGrpSpPr/>
        <p:nvPr/>
      </p:nvGrpSpPr>
      <p:grpSpPr>
        <a:xfrm>
          <a:off x="0" y="0"/>
          <a:ext cx="0" cy="0"/>
          <a:chOff x="0" y="0"/>
          <a:chExt cx="0" cy="0"/>
        </a:xfrm>
      </p:grpSpPr>
      <p:pic>
        <p:nvPicPr>
          <p:cNvPr id="75" name="Google Shape;75;p23" descr="title.png"/>
          <p:cNvPicPr preferRelativeResize="0"/>
          <p:nvPr/>
        </p:nvPicPr>
        <p:blipFill rotWithShape="1">
          <a:blip r:embed="rId2">
            <a:alphaModFix/>
          </a:blip>
          <a:srcRect/>
          <a:stretch/>
        </p:blipFill>
        <p:spPr>
          <a:xfrm>
            <a:off x="0" y="-6350"/>
            <a:ext cx="9144000" cy="6858000"/>
          </a:xfrm>
          <a:prstGeom prst="rect">
            <a:avLst/>
          </a:prstGeom>
          <a:noFill/>
          <a:ln>
            <a:noFill/>
          </a:ln>
        </p:spPr>
      </p:pic>
      <p:pic>
        <p:nvPicPr>
          <p:cNvPr id="76" name="Google Shape;76;p23" descr="title.png"/>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Helvetica Neue"/>
                <a:ea typeface="Helvetica Neue"/>
                <a:cs typeface="Helvetica Neue"/>
                <a:sym typeface="Helvetica Neue"/>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 name="Google Shape;11;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 name="Google Shape;12;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3"/>
          <p:cNvSpPr txBox="1">
            <a:spLocks noGrp="1"/>
          </p:cNvSpPr>
          <p:nvPr>
            <p:ph type="title"/>
          </p:nvPr>
        </p:nvSpPr>
        <p:spPr>
          <a:xfrm>
            <a:off x="457200" y="762000"/>
            <a:ext cx="82296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1pPr>
            <a:lvl2pPr marR="0" lvl="1"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2pPr>
            <a:lvl3pPr marR="0" lvl="2"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3pPr>
            <a:lvl4pPr marR="0" lvl="3"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4pPr>
            <a:lvl5pPr marR="0" lvl="4"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5pPr>
            <a:lvl6pPr marR="0" lvl="5"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6pPr>
            <a:lvl7pPr marR="0" lvl="6"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7pPr>
            <a:lvl8pPr marR="0" lvl="7"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8pPr>
            <a:lvl9pPr marR="0" lvl="8"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9pPr>
          </a:lstStyle>
          <a:p>
            <a:endParaRPr/>
          </a:p>
        </p:txBody>
      </p:sp>
      <p:pic>
        <p:nvPicPr>
          <p:cNvPr id="15" name="Google Shape;15;p13" descr="red_neu_logo.png"/>
          <p:cNvPicPr preferRelativeResize="0"/>
          <p:nvPr/>
        </p:nvPicPr>
        <p:blipFill rotWithShape="1">
          <a:blip r:embed="rId11">
            <a:alphaModFix/>
          </a:blip>
          <a:srcRect/>
          <a:stretch/>
        </p:blipFill>
        <p:spPr>
          <a:xfrm>
            <a:off x="457200" y="274638"/>
            <a:ext cx="2743200" cy="258762"/>
          </a:xfrm>
          <a:prstGeom prst="rect">
            <a:avLst/>
          </a:prstGeom>
          <a:noFill/>
          <a:ln>
            <a:noFill/>
          </a:ln>
        </p:spPr>
      </p:pic>
      <p:cxnSp>
        <p:nvCxnSpPr>
          <p:cNvPr id="16" name="Google Shape;16;p13"/>
          <p:cNvCxnSpPr/>
          <p:nvPr/>
        </p:nvCxnSpPr>
        <p:spPr>
          <a:xfrm>
            <a:off x="457200" y="609600"/>
            <a:ext cx="8229600" cy="0"/>
          </a:xfrm>
          <a:prstGeom prst="straightConnector1">
            <a:avLst/>
          </a:prstGeom>
          <a:noFill/>
          <a:ln w="25400" cap="flat" cmpd="sng">
            <a:solidFill>
              <a:srgbClr val="D8D8D8"/>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 descr="Image result for neu logo"/>
          <p:cNvPicPr preferRelativeResize="0"/>
          <p:nvPr/>
        </p:nvPicPr>
        <p:blipFill rotWithShape="1">
          <a:blip r:embed="rId3">
            <a:alphaModFix/>
          </a:blip>
          <a:srcRect/>
          <a:stretch/>
        </p:blipFill>
        <p:spPr>
          <a:xfrm>
            <a:off x="3794160" y="996042"/>
            <a:ext cx="1555680" cy="1513241"/>
          </a:xfrm>
          <a:prstGeom prst="rect">
            <a:avLst/>
          </a:prstGeom>
          <a:noFill/>
          <a:ln>
            <a:noFill/>
          </a:ln>
        </p:spPr>
      </p:pic>
      <p:sp>
        <p:nvSpPr>
          <p:cNvPr id="82" name="Google Shape;82;p1"/>
          <p:cNvSpPr txBox="1">
            <a:spLocks noGrp="1"/>
          </p:cNvSpPr>
          <p:nvPr>
            <p:ph type="ctrTitle"/>
          </p:nvPr>
        </p:nvSpPr>
        <p:spPr>
          <a:xfrm>
            <a:off x="906543" y="2317562"/>
            <a:ext cx="7524413" cy="1946917"/>
          </a:xfrm>
          <a:prstGeom prst="rect">
            <a:avLst/>
          </a:prstGeom>
          <a:noFill/>
          <a:ln>
            <a:noFill/>
          </a:ln>
        </p:spPr>
        <p:txBody>
          <a:bodyPr spcFirstLastPara="1" wrap="square" lIns="91425" tIns="45700" rIns="91425" bIns="45700" anchor="t" anchorCtr="0">
            <a:normAutofit fontScale="90000"/>
          </a:bodyPr>
          <a:lstStyle/>
          <a:p>
            <a:br>
              <a:rPr lang="en-US" sz="4000" b="1">
                <a:latin typeface="Times New Roman" panose="02020603050405020304" pitchFamily="18" charset="0"/>
                <a:cs typeface="Times New Roman" panose="02020603050405020304" pitchFamily="18" charset="0"/>
              </a:rPr>
            </a:br>
            <a:r>
              <a:rPr lang="en-US" sz="4000" b="1">
                <a:solidFill>
                  <a:schemeClr val="dk1"/>
                </a:solidFill>
                <a:latin typeface="Times New Roman"/>
                <a:cs typeface="Times New Roman"/>
              </a:rPr>
              <a:t>Chronic Disease Indicators Analysis</a:t>
            </a:r>
            <a:br>
              <a:rPr lang="en-US" sz="4000" b="1">
                <a:latin typeface="Times New Roman" panose="02020603050405020304" pitchFamily="18" charset="0"/>
                <a:cs typeface="Times New Roman" panose="02020603050405020304" pitchFamily="18" charset="0"/>
              </a:rPr>
            </a:br>
            <a:r>
              <a:rPr lang="en-US" sz="4000" b="1">
                <a:solidFill>
                  <a:schemeClr val="dk1"/>
                </a:solidFill>
                <a:latin typeface="Times New Roman"/>
                <a:cs typeface="Times New Roman"/>
              </a:rPr>
              <a:t>(U.S)</a:t>
            </a:r>
            <a:br>
              <a:rPr lang="en-US" sz="4000" b="1">
                <a:latin typeface="Times New Roman" panose="02020603050405020304" pitchFamily="18" charset="0"/>
                <a:cs typeface="Times New Roman" panose="02020603050405020304" pitchFamily="18" charset="0"/>
              </a:rPr>
            </a:br>
            <a:endParaRPr sz="4000">
              <a:solidFill>
                <a:schemeClr val="dk1"/>
              </a:solidFill>
              <a:latin typeface="Times New Roman" panose="02020603050405020304" pitchFamily="18" charset="0"/>
              <a:cs typeface="Times New Roman" panose="02020603050405020304" pitchFamily="18" charset="0"/>
            </a:endParaRPr>
          </a:p>
        </p:txBody>
      </p:sp>
      <p:sp>
        <p:nvSpPr>
          <p:cNvPr id="83" name="Google Shape;83;p1"/>
          <p:cNvSpPr txBox="1"/>
          <p:nvPr/>
        </p:nvSpPr>
        <p:spPr>
          <a:xfrm>
            <a:off x="1243131" y="4419749"/>
            <a:ext cx="6858000" cy="1005293"/>
          </a:xfrm>
          <a:prstGeom prst="rect">
            <a:avLst/>
          </a:prstGeom>
          <a:noFill/>
          <a:ln>
            <a:noFill/>
          </a:ln>
        </p:spPr>
        <p:txBody>
          <a:bodyPr spcFirstLastPara="1" wrap="square" lIns="91425" tIns="45700" rIns="91425" bIns="45700" anchor="t" anchorCtr="0">
            <a:normAutofit/>
          </a:bodyPr>
          <a:lstStyle/>
          <a:p>
            <a:pPr algn="ctr" defTabSz="914400">
              <a:lnSpc>
                <a:spcPct val="90000"/>
              </a:lnSpc>
              <a:spcBef>
                <a:spcPct val="0"/>
              </a:spcBef>
              <a:spcAft>
                <a:spcPts val="600"/>
              </a:spcAft>
            </a:pPr>
            <a:r>
              <a:rPr lang="en-US" altLang="zh-CN" sz="2000" b="1">
                <a:latin typeface="Times New Roman"/>
                <a:ea typeface="宋体"/>
                <a:cs typeface="Times New Roman"/>
              </a:rPr>
              <a:t>ALY 6015</a:t>
            </a:r>
          </a:p>
          <a:p>
            <a:pPr algn="ctr"/>
            <a:r>
              <a:rPr lang="en-US" sz="2000" b="1">
                <a:latin typeface="Times New Roman"/>
                <a:ea typeface="+mj-ea"/>
                <a:cs typeface="Times New Roman"/>
              </a:rPr>
              <a:t>Intermediate</a:t>
            </a:r>
            <a:r>
              <a:rPr lang="zh-CN" altLang="en-US" sz="2000" b="1">
                <a:latin typeface="Times New Roman"/>
                <a:ea typeface="宋体"/>
                <a:cs typeface="Times New Roman"/>
              </a:rPr>
              <a:t> </a:t>
            </a:r>
            <a:r>
              <a:rPr lang="en-US" altLang="zh-CN" sz="2000" b="1">
                <a:latin typeface="Times New Roman"/>
                <a:ea typeface="宋体"/>
                <a:cs typeface="Times New Roman"/>
              </a:rPr>
              <a:t>Analytics</a:t>
            </a:r>
            <a:endParaRPr lang="en-US" sz="2000" b="1">
              <a:latin typeface="Times New Roman"/>
              <a:ea typeface="宋体"/>
              <a:cs typeface="Times New Roman"/>
            </a:endParaRPr>
          </a:p>
        </p:txBody>
      </p:sp>
      <p:sp>
        <p:nvSpPr>
          <p:cNvPr id="4" name="TextBox 3">
            <a:extLst>
              <a:ext uri="{FF2B5EF4-FFF2-40B4-BE49-F238E27FC236}">
                <a16:creationId xmlns:a16="http://schemas.microsoft.com/office/drawing/2014/main" id="{8E2B30A7-3FB7-AA33-72B5-2B580334814D}"/>
              </a:ext>
            </a:extLst>
          </p:cNvPr>
          <p:cNvSpPr txBox="1"/>
          <p:nvPr/>
        </p:nvSpPr>
        <p:spPr>
          <a:xfrm>
            <a:off x="603749" y="5426593"/>
            <a:ext cx="7941130" cy="994118"/>
          </a:xfrm>
          <a:prstGeom prst="rect">
            <a:avLst/>
          </a:prstGeom>
          <a:noFill/>
        </p:spPr>
        <p:txBody>
          <a:bodyPr wrap="square" lIns="91440" tIns="45720" rIns="91440" bIns="45720" anchor="t">
            <a:spAutoFit/>
          </a:bodyPr>
          <a:lstStyle/>
          <a:p>
            <a:pPr algn="ctr">
              <a:lnSpc>
                <a:spcPct val="90000"/>
              </a:lnSpc>
              <a:spcBef>
                <a:spcPct val="0"/>
              </a:spcBef>
              <a:spcAft>
                <a:spcPts val="600"/>
              </a:spcAft>
            </a:pPr>
            <a:r>
              <a:rPr lang="en-US" sz="1800" b="1">
                <a:latin typeface="Times New Roman"/>
                <a:ea typeface="+mj-ea"/>
                <a:cs typeface="Times New Roman"/>
              </a:rPr>
              <a:t>Team Member:</a:t>
            </a:r>
            <a:r>
              <a:rPr lang="zh-CN" altLang="en-US" sz="1800" b="1">
                <a:latin typeface="Times New Roman"/>
                <a:ea typeface="宋体"/>
                <a:cs typeface="Times New Roman"/>
              </a:rPr>
              <a:t> </a:t>
            </a:r>
            <a:r>
              <a:rPr lang="en-US" sz="1800" b="1" err="1">
                <a:latin typeface="Times New Roman"/>
                <a:ea typeface="+mj-ea"/>
                <a:cs typeface="Times New Roman"/>
              </a:rPr>
              <a:t>Zengyao</a:t>
            </a:r>
            <a:r>
              <a:rPr lang="en-US" sz="1800" b="1">
                <a:latin typeface="Times New Roman"/>
                <a:ea typeface="+mj-ea"/>
                <a:cs typeface="Times New Roman"/>
              </a:rPr>
              <a:t> </a:t>
            </a:r>
            <a:r>
              <a:rPr lang="en-US" altLang="zh-CN" sz="1800" b="1">
                <a:latin typeface="Times New Roman"/>
                <a:ea typeface="宋体"/>
                <a:cs typeface="Times New Roman"/>
              </a:rPr>
              <a:t>Ding, Junhui Hu, Yawen Diao</a:t>
            </a:r>
          </a:p>
          <a:p>
            <a:pPr algn="ctr">
              <a:lnSpc>
                <a:spcPct val="90000"/>
              </a:lnSpc>
              <a:spcBef>
                <a:spcPct val="0"/>
              </a:spcBef>
              <a:spcAft>
                <a:spcPts val="600"/>
              </a:spcAft>
            </a:pPr>
            <a:r>
              <a:rPr lang="en-US" sz="1800" b="1" kern="1200">
                <a:solidFill>
                  <a:schemeClr val="tx1"/>
                </a:solidFill>
                <a:effectLst/>
                <a:latin typeface="Times New Roman"/>
                <a:ea typeface="+mj-ea"/>
                <a:cs typeface="Times New Roman"/>
              </a:rPr>
              <a:t>Instructor</a:t>
            </a:r>
            <a:r>
              <a:rPr lang="en-US" sz="1800" b="1">
                <a:latin typeface="Times New Roman"/>
                <a:ea typeface="+mj-ea"/>
                <a:cs typeface="Times New Roman"/>
              </a:rPr>
              <a:t>: Zhi, He</a:t>
            </a:r>
          </a:p>
          <a:p>
            <a:pPr algn="ctr">
              <a:lnSpc>
                <a:spcPct val="90000"/>
              </a:lnSpc>
              <a:spcBef>
                <a:spcPct val="0"/>
              </a:spcBef>
              <a:spcAft>
                <a:spcPts val="600"/>
              </a:spcAft>
            </a:pPr>
            <a:r>
              <a:rPr lang="en-US" sz="1800" b="1">
                <a:solidFill>
                  <a:schemeClr val="tx1"/>
                </a:solidFill>
                <a:latin typeface="Times New Roman"/>
                <a:ea typeface="+mj-ea"/>
                <a:cs typeface="Times New Roman"/>
              </a:rPr>
              <a:t>06/24/2025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2"/>
          <p:cNvSpPr txBox="1">
            <a:spLocks noGrp="1"/>
          </p:cNvSpPr>
          <p:nvPr>
            <p:ph type="body" idx="1"/>
          </p:nvPr>
        </p:nvSpPr>
        <p:spPr>
          <a:xfrm>
            <a:off x="456151" y="1348410"/>
            <a:ext cx="8443732" cy="5240214"/>
          </a:xfrm>
          <a:prstGeom prst="rect">
            <a:avLst/>
          </a:prstGeom>
          <a:noFill/>
          <a:ln>
            <a:noFill/>
          </a:ln>
        </p:spPr>
        <p:txBody>
          <a:bodyPr spcFirstLastPara="1" wrap="square" lIns="91425" tIns="45700" rIns="91425" bIns="45700" anchor="t" anchorCtr="0">
            <a:noAutofit/>
          </a:bodyPr>
          <a:lstStyle/>
          <a:p>
            <a:pPr marL="342900">
              <a:lnSpc>
                <a:spcPct val="150000"/>
              </a:lnSpc>
              <a:spcBef>
                <a:spcPts val="0"/>
              </a:spcBef>
              <a:buSzPct val="100000"/>
            </a:pPr>
            <a:r>
              <a:rPr lang="en-US" sz="2800" b="1">
                <a:latin typeface="Times New Roman"/>
                <a:cs typeface="Times New Roman"/>
              </a:rPr>
              <a:t>Introduction</a:t>
            </a:r>
            <a:endParaRPr lang="en-US" sz="2800" b="1">
              <a:latin typeface="Times New Roman"/>
            </a:endParaRPr>
          </a:p>
          <a:p>
            <a:pPr marL="342900">
              <a:lnSpc>
                <a:spcPct val="150000"/>
              </a:lnSpc>
              <a:spcBef>
                <a:spcPts val="0"/>
              </a:spcBef>
              <a:buSzPct val="100000"/>
            </a:pPr>
            <a:r>
              <a:rPr lang="en-US" sz="2800" b="1">
                <a:latin typeface="Times New Roman"/>
                <a:cs typeface="Times New Roman"/>
              </a:rPr>
              <a:t>Data Summary</a:t>
            </a:r>
            <a:endParaRPr lang="en-US" sz="2800" b="1">
              <a:latin typeface="Times New Roman"/>
            </a:endParaRPr>
          </a:p>
          <a:p>
            <a:pPr marL="342900">
              <a:lnSpc>
                <a:spcPct val="150000"/>
              </a:lnSpc>
              <a:spcBef>
                <a:spcPts val="640"/>
              </a:spcBef>
              <a:buSzPct val="100000"/>
            </a:pPr>
            <a:r>
              <a:rPr lang="en-US" sz="2800" b="1">
                <a:latin typeface="Times New Roman"/>
                <a:cs typeface="Times New Roman"/>
              </a:rPr>
              <a:t>Method 1 - Chi-Square Test</a:t>
            </a:r>
          </a:p>
          <a:p>
            <a:pPr marL="342900">
              <a:lnSpc>
                <a:spcPct val="150000"/>
              </a:lnSpc>
              <a:spcBef>
                <a:spcPts val="640"/>
              </a:spcBef>
              <a:buSzPct val="100000"/>
            </a:pPr>
            <a:r>
              <a:rPr lang="en-US" sz="2800" b="1">
                <a:latin typeface="Times New Roman"/>
                <a:cs typeface="Times New Roman"/>
              </a:rPr>
              <a:t>Method 2 – ANOVA Analysis</a:t>
            </a:r>
            <a:endParaRPr lang="en-US" sz="2800" b="1">
              <a:latin typeface="Times New Roman"/>
            </a:endParaRPr>
          </a:p>
          <a:p>
            <a:pPr marL="342900">
              <a:lnSpc>
                <a:spcPct val="150000"/>
              </a:lnSpc>
              <a:spcBef>
                <a:spcPts val="640"/>
              </a:spcBef>
              <a:buSzPct val="100000"/>
            </a:pPr>
            <a:r>
              <a:rPr lang="en-US" sz="2800" b="1">
                <a:latin typeface="Times New Roman"/>
                <a:cs typeface="Times New Roman"/>
              </a:rPr>
              <a:t>Method 3 – Logistics Regression Analysis</a:t>
            </a:r>
            <a:endParaRPr lang="en-US" sz="2800" b="1">
              <a:latin typeface="Times New Roman" panose="02020603050405020304" pitchFamily="18" charset="0"/>
              <a:cs typeface="Times New Roman" panose="02020603050405020304" pitchFamily="18" charset="0"/>
            </a:endParaRPr>
          </a:p>
          <a:p>
            <a:pPr marL="342900">
              <a:lnSpc>
                <a:spcPct val="150000"/>
              </a:lnSpc>
              <a:spcBef>
                <a:spcPts val="640"/>
              </a:spcBef>
              <a:buSzPct val="100000"/>
            </a:pPr>
            <a:r>
              <a:rPr lang="en-US" sz="2800" b="1">
                <a:latin typeface="Times New Roman"/>
                <a:cs typeface="Times New Roman"/>
              </a:rPr>
              <a:t>Conclusion &amp; Recommendation</a:t>
            </a:r>
          </a:p>
          <a:p>
            <a:pPr marL="342900">
              <a:lnSpc>
                <a:spcPct val="150000"/>
              </a:lnSpc>
              <a:spcBef>
                <a:spcPts val="640"/>
              </a:spcBef>
              <a:buSzPct val="100000"/>
            </a:pPr>
            <a:r>
              <a:rPr lang="en-US" sz="2800" b="1">
                <a:latin typeface="Times New Roman"/>
                <a:cs typeface="Times New Roman"/>
              </a:rPr>
              <a:t>Reference</a:t>
            </a:r>
            <a:endParaRPr lang="en-US" sz="2800" b="1"/>
          </a:p>
          <a:p>
            <a:pPr marL="0" indent="0">
              <a:spcBef>
                <a:spcPts val="640"/>
              </a:spcBef>
              <a:buSzPct val="100000"/>
              <a:buNone/>
            </a:pPr>
            <a:endParaRPr lang="en-US" sz="2400">
              <a:latin typeface="Times New Roman" panose="02020603050405020304" pitchFamily="18" charset="0"/>
              <a:cs typeface="Times New Roman" panose="02020603050405020304" pitchFamily="18" charset="0"/>
            </a:endParaRPr>
          </a:p>
        </p:txBody>
      </p:sp>
      <p:sp>
        <p:nvSpPr>
          <p:cNvPr id="89" name="Google Shape;89;p2"/>
          <p:cNvSpPr txBox="1">
            <a:spLocks noGrp="1"/>
          </p:cNvSpPr>
          <p:nvPr>
            <p:ph type="ctrTitle"/>
          </p:nvPr>
        </p:nvSpPr>
        <p:spPr>
          <a:xfrm>
            <a:off x="457200" y="679175"/>
            <a:ext cx="8229600" cy="762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latin typeface="Times New Roman"/>
              </a:rPr>
              <a:t>Overview</a:t>
            </a:r>
            <a:endParaRPr>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2" name="Google Shape;102;p4"/>
          <p:cNvSpPr txBox="1">
            <a:spLocks noGrp="1"/>
          </p:cNvSpPr>
          <p:nvPr>
            <p:ph type="title"/>
          </p:nvPr>
        </p:nvSpPr>
        <p:spPr>
          <a:xfrm>
            <a:off x="457200" y="762000"/>
            <a:ext cx="8229600" cy="609600"/>
          </a:xfrm>
        </p:spPr>
        <p:txBody>
          <a:bodyPr spcFirstLastPara="1" wrap="square" lIns="91425" tIns="45700" rIns="91425" bIns="45700" anchor="ctr" anchorCtr="0">
            <a:normAutofit/>
          </a:bodyPr>
          <a:lstStyle/>
          <a:p>
            <a:r>
              <a:rPr lang="en-US">
                <a:latin typeface="Times New Roman"/>
                <a:cs typeface="Times New Roman"/>
              </a:rPr>
              <a:t>Data Summary</a:t>
            </a:r>
            <a:endParaRPr lang="en-US">
              <a:latin typeface="Times New Roman" panose="02020603050405020304" pitchFamily="18" charset="0"/>
              <a:cs typeface="Times New Roman" panose="02020603050405020304" pitchFamily="18" charset="0"/>
            </a:endParaRPr>
          </a:p>
        </p:txBody>
      </p:sp>
      <p:sp>
        <p:nvSpPr>
          <p:cNvPr id="101" name="Google Shape;101;p4"/>
          <p:cNvSpPr txBox="1">
            <a:spLocks noGrp="1"/>
          </p:cNvSpPr>
          <p:nvPr>
            <p:ph type="body" idx="4294967295"/>
          </p:nvPr>
        </p:nvSpPr>
        <p:spPr>
          <a:xfrm>
            <a:off x="463928" y="4355343"/>
            <a:ext cx="8080744" cy="1238244"/>
          </a:xfrm>
        </p:spPr>
        <p:txBody>
          <a:bodyPr spcFirstLastPara="1" lIns="91425" tIns="45700" rIns="91425" bIns="45700" anchor="t" anchorCtr="0">
            <a:normAutofit/>
          </a:bodyPr>
          <a:lstStyle/>
          <a:p>
            <a:pPr>
              <a:buNone/>
            </a:pPr>
            <a:endParaRPr lang="en-US" sz="2000" b="1">
              <a:latin typeface="Arial"/>
              <a:cs typeface="Times New Roman"/>
            </a:endParaRPr>
          </a:p>
          <a:p>
            <a:pPr>
              <a:buNone/>
            </a:pPr>
            <a:r>
              <a:rPr lang="en-US" sz="2000" b="1">
                <a:latin typeface="Arial"/>
                <a:cs typeface="Times New Roman"/>
              </a:rPr>
              <a:t>Source: </a:t>
            </a:r>
            <a:endParaRPr lang="en-US"/>
          </a:p>
          <a:p>
            <a:pPr>
              <a:buNone/>
            </a:pPr>
            <a:r>
              <a:rPr lang="en-US" sz="1800">
                <a:solidFill>
                  <a:srgbClr val="000000"/>
                </a:solidFill>
                <a:latin typeface="Arial"/>
                <a:cs typeface="Arial"/>
                <a:sym typeface="Arial"/>
              </a:rPr>
              <a:t>https://catalog.data.gov/dataset/u-s-chronic-disease-indicators</a:t>
            </a:r>
            <a:endParaRPr lang="en-US" sz="1800">
              <a:solidFill>
                <a:srgbClr val="000000"/>
              </a:solidFill>
              <a:latin typeface="Arial"/>
              <a:cs typeface="Arial"/>
            </a:endParaRPr>
          </a:p>
          <a:p>
            <a:pPr>
              <a:buNone/>
            </a:pPr>
            <a:endParaRPr lang="en-US">
              <a:latin typeface="Arial"/>
            </a:endParaRPr>
          </a:p>
        </p:txBody>
      </p:sp>
      <p:sp>
        <p:nvSpPr>
          <p:cNvPr id="2" name="TextBox 1">
            <a:extLst>
              <a:ext uri="{FF2B5EF4-FFF2-40B4-BE49-F238E27FC236}">
                <a16:creationId xmlns:a16="http://schemas.microsoft.com/office/drawing/2014/main" id="{4C681242-8552-D2A9-CD0C-B120F4773701}"/>
              </a:ext>
            </a:extLst>
          </p:cNvPr>
          <p:cNvSpPr txBox="1"/>
          <p:nvPr/>
        </p:nvSpPr>
        <p:spPr>
          <a:xfrm>
            <a:off x="463928" y="1370396"/>
            <a:ext cx="8233048" cy="3149580"/>
          </a:xfrm>
          <a:prstGeom prst="rect">
            <a:avLst/>
          </a:prstGeom>
          <a:noFill/>
        </p:spPr>
        <p:txBody>
          <a:bodyPr wrap="square" lIns="91440" tIns="45720" rIns="91440" bIns="45720" rtlCol="0" anchor="t">
            <a:spAutoFit/>
          </a:bodyPr>
          <a:lstStyle/>
          <a:p>
            <a:r>
              <a:rPr lang="en-US" sz="2000" b="1"/>
              <a:t>Why Analyze The Chronic Disease Indicators in the U.S?</a:t>
            </a:r>
            <a:endParaRPr lang="en-US" b="1"/>
          </a:p>
          <a:p>
            <a:endParaRPr lang="en-US" sz="2000" b="1"/>
          </a:p>
          <a:p>
            <a:pPr marL="285750" indent="-285750">
              <a:lnSpc>
                <a:spcPct val="150000"/>
              </a:lnSpc>
              <a:buFont typeface="Arial" panose="020B0604020202020204" pitchFamily="34" charset="0"/>
              <a:buChar char="•"/>
            </a:pPr>
            <a:r>
              <a:rPr lang="en-US" altLang="zh-CN" sz="1800"/>
              <a:t>Over 200,000+ records before filtering include multiple health topics</a:t>
            </a:r>
          </a:p>
          <a:p>
            <a:pPr marL="285750" indent="-285750">
              <a:lnSpc>
                <a:spcPct val="150000"/>
              </a:lnSpc>
              <a:buFont typeface="Arial" panose="020B0604020202020204" pitchFamily="34" charset="0"/>
              <a:buChar char="•"/>
            </a:pPr>
            <a:r>
              <a:rPr lang="en-US" altLang="zh-CN" sz="1800"/>
              <a:t>It is nationally standardized, enabling cross-state and cross-group comparisons.</a:t>
            </a:r>
          </a:p>
          <a:p>
            <a:pPr marL="285750" indent="-285750">
              <a:lnSpc>
                <a:spcPct val="150000"/>
              </a:lnSpc>
              <a:buFont typeface="Arial" panose="020B0604020202020204" pitchFamily="34" charset="0"/>
              <a:buChar char="•"/>
            </a:pPr>
            <a:r>
              <a:rPr lang="en-US" altLang="zh-CN" sz="1800"/>
              <a:t>It enables exploration of health disparities by gender, region, race, and time.</a:t>
            </a:r>
          </a:p>
          <a:p>
            <a:pPr marL="285750" indent="-285750">
              <a:lnSpc>
                <a:spcPct val="150000"/>
              </a:lnSpc>
              <a:buFont typeface="Arial" panose="020B0604020202020204" pitchFamily="34" charset="0"/>
              <a:buChar char="•"/>
            </a:pPr>
            <a:r>
              <a:rPr lang="en-US" altLang="zh-CN" sz="1800"/>
              <a:t>It supports public health planning, policy evaluation, and targeted interventions.</a:t>
            </a:r>
            <a:endParaRPr lang="en-US" sz="1800"/>
          </a:p>
        </p:txBody>
      </p:sp>
      <p:pic>
        <p:nvPicPr>
          <p:cNvPr id="3" name="Picture 2">
            <a:extLst>
              <a:ext uri="{FF2B5EF4-FFF2-40B4-BE49-F238E27FC236}">
                <a16:creationId xmlns:a16="http://schemas.microsoft.com/office/drawing/2014/main" id="{AF2B98AD-FD6A-87D4-82AE-797BCD72F0E5}"/>
              </a:ext>
            </a:extLst>
          </p:cNvPr>
          <p:cNvPicPr>
            <a:picLocks noChangeAspect="1"/>
          </p:cNvPicPr>
          <p:nvPr/>
        </p:nvPicPr>
        <p:blipFill>
          <a:blip r:embed="rId3"/>
          <a:stretch>
            <a:fillRect/>
          </a:stretch>
        </p:blipFill>
        <p:spPr>
          <a:xfrm>
            <a:off x="7148454" y="4800227"/>
            <a:ext cx="1546276" cy="15462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9A03332D-563E-104E-2EA7-0BEECC7D2D8B}"/>
            </a:ext>
          </a:extLst>
        </p:cNvPr>
        <p:cNvGrpSpPr/>
        <p:nvPr/>
      </p:nvGrpSpPr>
      <p:grpSpPr>
        <a:xfrm>
          <a:off x="0" y="0"/>
          <a:ext cx="0" cy="0"/>
          <a:chOff x="0" y="0"/>
          <a:chExt cx="0" cy="0"/>
        </a:xfrm>
      </p:grpSpPr>
      <p:sp>
        <p:nvSpPr>
          <p:cNvPr id="114" name="Google Shape;114;p6">
            <a:extLst>
              <a:ext uri="{FF2B5EF4-FFF2-40B4-BE49-F238E27FC236}">
                <a16:creationId xmlns:a16="http://schemas.microsoft.com/office/drawing/2014/main" id="{1F185221-28AB-65DF-006F-A0785DE55274}"/>
              </a:ext>
            </a:extLst>
          </p:cNvPr>
          <p:cNvSpPr txBox="1">
            <a:spLocks noGrp="1"/>
          </p:cNvSpPr>
          <p:nvPr>
            <p:ph type="ctrTitle"/>
          </p:nvPr>
        </p:nvSpPr>
        <p:spPr>
          <a:xfrm>
            <a:off x="457200" y="838201"/>
            <a:ext cx="8229600" cy="516853"/>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Method 1: Chi-Square Test </a:t>
            </a:r>
            <a:r>
              <a:rPr lang="en-US" altLang="zh-CN" sz="3200">
                <a:latin typeface="Times New Roman"/>
                <a:cs typeface="Times New Roman"/>
              </a:rPr>
              <a:t>of Independence</a:t>
            </a:r>
            <a:endParaRPr lang="en-US" sz="3200">
              <a:latin typeface="Times New Roman"/>
              <a:cs typeface="Times New Roman"/>
            </a:endParaRPr>
          </a:p>
          <a:p>
            <a:endParaRPr lang="en-US"/>
          </a:p>
        </p:txBody>
      </p:sp>
      <p:sp>
        <p:nvSpPr>
          <p:cNvPr id="3" name="TextBox 2">
            <a:extLst>
              <a:ext uri="{FF2B5EF4-FFF2-40B4-BE49-F238E27FC236}">
                <a16:creationId xmlns:a16="http://schemas.microsoft.com/office/drawing/2014/main" id="{C1108A0B-567F-067B-98DD-60578AEDB31F}"/>
              </a:ext>
            </a:extLst>
          </p:cNvPr>
          <p:cNvSpPr txBox="1"/>
          <p:nvPr/>
        </p:nvSpPr>
        <p:spPr>
          <a:xfrm>
            <a:off x="735442" y="1652330"/>
            <a:ext cx="8175667" cy="13336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Objective</a:t>
            </a:r>
          </a:p>
          <a:p>
            <a:pPr marL="400050" indent="-285750">
              <a:spcBef>
                <a:spcPts val="360"/>
              </a:spcBef>
              <a:buClr>
                <a:schemeClr val="dk1"/>
              </a:buClr>
              <a:buSzPts val="1800"/>
              <a:buFont typeface="Arial" panose="020B0604020202020204" pitchFamily="34" charset="0"/>
              <a:buChar char="•"/>
            </a:pPr>
            <a:r>
              <a:rPr lang="en-US" altLang="zh-CN" sz="1800">
                <a:solidFill>
                  <a:schemeClr val="dk1"/>
                </a:solidFill>
                <a:latin typeface="+mn-lt"/>
                <a:sym typeface="Helvetica Neue"/>
              </a:rPr>
              <a:t>Association between </a:t>
            </a:r>
            <a:r>
              <a:rPr lang="en-US" altLang="zh-CN" sz="1800" b="1">
                <a:solidFill>
                  <a:schemeClr val="dk1"/>
                </a:solidFill>
                <a:latin typeface="+mn-lt"/>
                <a:sym typeface="Helvetica Neue"/>
              </a:rPr>
              <a:t>gender, region, year</a:t>
            </a:r>
            <a:r>
              <a:rPr lang="en-US" altLang="zh-CN" sz="1800">
                <a:solidFill>
                  <a:schemeClr val="dk1"/>
                </a:solidFill>
                <a:latin typeface="+mn-lt"/>
                <a:sym typeface="Helvetica Neue"/>
              </a:rPr>
              <a:t> and risk level of cancer (incidence/mortality)</a:t>
            </a:r>
          </a:p>
          <a:p>
            <a:pPr marL="400050" indent="-285750">
              <a:spcBef>
                <a:spcPts val="360"/>
              </a:spcBef>
              <a:buClr>
                <a:schemeClr val="dk1"/>
              </a:buClr>
              <a:buSzPts val="1800"/>
              <a:buFont typeface="Arial" panose="020B0604020202020204" pitchFamily="34" charset="0"/>
              <a:buChar char="•"/>
            </a:pPr>
            <a:r>
              <a:rPr lang="en-US" altLang="zh-CN" sz="1800"/>
              <a:t>Association between </a:t>
            </a:r>
            <a:r>
              <a:rPr lang="en-US" altLang="zh-CN" sz="1800" b="1"/>
              <a:t>race </a:t>
            </a:r>
            <a:r>
              <a:rPr lang="en-US" altLang="zh-CN" sz="1800"/>
              <a:t>and risk level for colorectal cancer mortality.</a:t>
            </a:r>
            <a:endParaRPr lang="en-US" altLang="zh-CN" sz="1800">
              <a:solidFill>
                <a:schemeClr val="dk1"/>
              </a:solidFill>
              <a:latin typeface="+mn-lt"/>
              <a:sym typeface="Helvetica Neue"/>
            </a:endParaRPr>
          </a:p>
        </p:txBody>
      </p:sp>
      <p:sp>
        <p:nvSpPr>
          <p:cNvPr id="2" name="TextBox 1">
            <a:extLst>
              <a:ext uri="{FF2B5EF4-FFF2-40B4-BE49-F238E27FC236}">
                <a16:creationId xmlns:a16="http://schemas.microsoft.com/office/drawing/2014/main" id="{6EC346F4-1A56-37FF-7B7E-B6F949CF9E49}"/>
              </a:ext>
            </a:extLst>
          </p:cNvPr>
          <p:cNvSpPr txBox="1"/>
          <p:nvPr/>
        </p:nvSpPr>
        <p:spPr>
          <a:xfrm>
            <a:off x="741792" y="3429000"/>
            <a:ext cx="8175667" cy="17132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zh-CN" sz="2000" b="1" dirty="0"/>
              <a:t>Data </a:t>
            </a:r>
            <a:r>
              <a:rPr lang="en-US" sz="2000" b="1" dirty="0"/>
              <a:t>preparation</a:t>
            </a:r>
            <a:endParaRPr lang="en-US" altLang="zh-CN" sz="2000" b="1" dirty="0"/>
          </a:p>
          <a:p>
            <a:pPr marL="400050" lvl="1" indent="-285750">
              <a:spcBef>
                <a:spcPts val="360"/>
              </a:spcBef>
              <a:buClr>
                <a:schemeClr val="dk1"/>
              </a:buClr>
              <a:buSzPts val="1800"/>
              <a:buFont typeface="Arial" panose="020B0604020202020204" pitchFamily="34" charset="0"/>
              <a:buChar char="•"/>
            </a:pPr>
            <a:r>
              <a:rPr lang="en-US" altLang="zh-CN" sz="1800" dirty="0">
                <a:solidFill>
                  <a:schemeClr val="dk1"/>
                </a:solidFill>
                <a:latin typeface="+mn-lt"/>
              </a:rPr>
              <a:t>Age-adjusted rates used for fairness</a:t>
            </a:r>
          </a:p>
          <a:p>
            <a:pPr marL="400050" lvl="1" indent="-285750">
              <a:spcBef>
                <a:spcPts val="360"/>
              </a:spcBef>
              <a:buClr>
                <a:schemeClr val="dk1"/>
              </a:buClr>
              <a:buSzPts val="1800"/>
              <a:buFont typeface="Arial" panose="020B0604020202020204" pitchFamily="34" charset="0"/>
              <a:buChar char="•"/>
            </a:pPr>
            <a:r>
              <a:rPr lang="en-US" altLang="zh-CN" sz="1800" dirty="0">
                <a:solidFill>
                  <a:schemeClr val="dk1"/>
                </a:solidFill>
                <a:latin typeface="+mn-lt"/>
              </a:rPr>
              <a:t>Remove rows that data value is missing</a:t>
            </a:r>
          </a:p>
          <a:p>
            <a:pPr marL="400050" lvl="1" indent="-285750">
              <a:spcBef>
                <a:spcPts val="360"/>
              </a:spcBef>
              <a:buClr>
                <a:schemeClr val="dk1"/>
              </a:buClr>
              <a:buSzPts val="1800"/>
              <a:buFont typeface="Arial" panose="020B0604020202020204" pitchFamily="34" charset="0"/>
              <a:buChar char="•"/>
            </a:pPr>
            <a:r>
              <a:rPr lang="en-US" altLang="zh-CN" sz="1800" dirty="0">
                <a:solidFill>
                  <a:schemeClr val="dk1"/>
                </a:solidFill>
                <a:latin typeface="+mn-lt"/>
              </a:rPr>
              <a:t>Risk categorized as High (&gt; median) or Low (≤ median)</a:t>
            </a:r>
          </a:p>
          <a:p>
            <a:pPr marL="400050" lvl="1" indent="-285750">
              <a:spcBef>
                <a:spcPts val="360"/>
              </a:spcBef>
              <a:buClr>
                <a:schemeClr val="dk1"/>
              </a:buClr>
              <a:buSzPts val="1800"/>
              <a:buFont typeface="Arial" panose="020B0604020202020204" pitchFamily="34" charset="0"/>
              <a:buChar char="•"/>
            </a:pPr>
            <a:r>
              <a:rPr lang="en-US" altLang="zh-CN" sz="1800" dirty="0">
                <a:solidFill>
                  <a:schemeClr val="dk1"/>
                </a:solidFill>
                <a:latin typeface="+mn-lt"/>
              </a:rPr>
              <a:t>Regions regrouped (East vs. West) for better statistical power</a:t>
            </a:r>
          </a:p>
        </p:txBody>
      </p:sp>
    </p:spTree>
    <p:extLst>
      <p:ext uri="{BB962C8B-B14F-4D97-AF65-F5344CB8AC3E}">
        <p14:creationId xmlns:p14="http://schemas.microsoft.com/office/powerpoint/2010/main" val="1602460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0CAB4ECB-C6F6-821B-758F-9814212691E6}"/>
            </a:ext>
          </a:extLst>
        </p:cNvPr>
        <p:cNvGrpSpPr/>
        <p:nvPr/>
      </p:nvGrpSpPr>
      <p:grpSpPr>
        <a:xfrm>
          <a:off x="0" y="0"/>
          <a:ext cx="0" cy="0"/>
          <a:chOff x="0" y="0"/>
          <a:chExt cx="0" cy="0"/>
        </a:xfrm>
      </p:grpSpPr>
      <p:sp>
        <p:nvSpPr>
          <p:cNvPr id="114" name="Google Shape;114;p6">
            <a:extLst>
              <a:ext uri="{FF2B5EF4-FFF2-40B4-BE49-F238E27FC236}">
                <a16:creationId xmlns:a16="http://schemas.microsoft.com/office/drawing/2014/main" id="{FBE6BB82-9DA9-6B9C-0A1D-E7688C35FD24}"/>
              </a:ext>
            </a:extLst>
          </p:cNvPr>
          <p:cNvSpPr txBox="1">
            <a:spLocks noGrp="1"/>
          </p:cNvSpPr>
          <p:nvPr>
            <p:ph type="ctrTitle"/>
          </p:nvPr>
        </p:nvSpPr>
        <p:spPr>
          <a:xfrm>
            <a:off x="457200" y="838201"/>
            <a:ext cx="8229600" cy="516853"/>
          </a:xfrm>
          <a:prstGeom prst="rect">
            <a:avLst/>
          </a:prstGeom>
          <a:noFill/>
          <a:ln>
            <a:noFill/>
          </a:ln>
        </p:spPr>
        <p:txBody>
          <a:bodyPr spcFirstLastPara="1" wrap="square" lIns="91425" tIns="45700" rIns="91425" bIns="45700" anchor="t" anchorCtr="0">
            <a:noAutofit/>
          </a:bodyPr>
          <a:lstStyle/>
          <a:p>
            <a:r>
              <a:rPr lang="en-US" altLang="zh-CN" sz="3200">
                <a:latin typeface="Times New Roman"/>
                <a:cs typeface="Times New Roman"/>
              </a:rPr>
              <a:t>Invasive Cancer Incidence Analysis</a:t>
            </a:r>
            <a:endParaRPr lang="en-US" sz="3200">
              <a:latin typeface="Times New Roman"/>
              <a:cs typeface="Times New Roman"/>
            </a:endParaRPr>
          </a:p>
          <a:p>
            <a:endParaRPr lang="en-US"/>
          </a:p>
        </p:txBody>
      </p:sp>
      <p:graphicFrame>
        <p:nvGraphicFramePr>
          <p:cNvPr id="4" name="Table 3">
            <a:extLst>
              <a:ext uri="{FF2B5EF4-FFF2-40B4-BE49-F238E27FC236}">
                <a16:creationId xmlns:a16="http://schemas.microsoft.com/office/drawing/2014/main" id="{9C87D44C-029C-DF41-9D4D-0924018F69FC}"/>
              </a:ext>
            </a:extLst>
          </p:cNvPr>
          <p:cNvGraphicFramePr>
            <a:graphicFrameLocks noGrp="1"/>
          </p:cNvGraphicFramePr>
          <p:nvPr>
            <p:extLst>
              <p:ext uri="{D42A27DB-BD31-4B8C-83A1-F6EECF244321}">
                <p14:modId xmlns:p14="http://schemas.microsoft.com/office/powerpoint/2010/main" val="3271331466"/>
              </p:ext>
            </p:extLst>
          </p:nvPr>
        </p:nvGraphicFramePr>
        <p:xfrm>
          <a:off x="1131490" y="1776903"/>
          <a:ext cx="7193360" cy="2420170"/>
        </p:xfrm>
        <a:graphic>
          <a:graphicData uri="http://schemas.openxmlformats.org/drawingml/2006/table">
            <a:tbl>
              <a:tblPr/>
              <a:tblGrid>
                <a:gridCol w="1167210">
                  <a:extLst>
                    <a:ext uri="{9D8B030D-6E8A-4147-A177-3AD203B41FA5}">
                      <a16:colId xmlns:a16="http://schemas.microsoft.com/office/drawing/2014/main" val="2543268080"/>
                    </a:ext>
                  </a:extLst>
                </a:gridCol>
                <a:gridCol w="1710134">
                  <a:extLst>
                    <a:ext uri="{9D8B030D-6E8A-4147-A177-3AD203B41FA5}">
                      <a16:colId xmlns:a16="http://schemas.microsoft.com/office/drawing/2014/main" val="1968260714"/>
                    </a:ext>
                  </a:extLst>
                </a:gridCol>
                <a:gridCol w="994966">
                  <a:extLst>
                    <a:ext uri="{9D8B030D-6E8A-4147-A177-3AD203B41FA5}">
                      <a16:colId xmlns:a16="http://schemas.microsoft.com/office/drawing/2014/main" val="3749254591"/>
                    </a:ext>
                  </a:extLst>
                </a:gridCol>
                <a:gridCol w="1263650">
                  <a:extLst>
                    <a:ext uri="{9D8B030D-6E8A-4147-A177-3AD203B41FA5}">
                      <a16:colId xmlns:a16="http://schemas.microsoft.com/office/drawing/2014/main" val="3007022891"/>
                    </a:ext>
                  </a:extLst>
                </a:gridCol>
                <a:gridCol w="2057400">
                  <a:extLst>
                    <a:ext uri="{9D8B030D-6E8A-4147-A177-3AD203B41FA5}">
                      <a16:colId xmlns:a16="http://schemas.microsoft.com/office/drawing/2014/main" val="3296664642"/>
                    </a:ext>
                  </a:extLst>
                </a:gridCol>
              </a:tblGrid>
              <a:tr h="290473">
                <a:tc>
                  <a:txBody>
                    <a:bodyPr/>
                    <a:lstStyle/>
                    <a:p>
                      <a:r>
                        <a:rPr lang="en-US"/>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High 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Low 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Chi-Square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0893407"/>
                  </a:ext>
                </a:extLst>
              </a:tr>
              <a:tr h="493805">
                <a:tc rowSpan="2">
                  <a:txBody>
                    <a:bodyPr/>
                    <a:lstStyle/>
                    <a:p>
                      <a:r>
                        <a:rPr lang="en-US"/>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Male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a:t>63</a:t>
                      </a:r>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r>
                        <a:rPr lang="en-US"/>
                        <a:t>X²=55.26 </a:t>
                      </a:r>
                    </a:p>
                    <a:p>
                      <a:r>
                        <a:rPr lang="en-US"/>
                        <a:t>p=</a:t>
                      </a:r>
                      <a:r>
                        <a:rPr lang="en-US" altLang="zh-CN">
                          <a:effectLst/>
                        </a:rPr>
                        <a:t>1.056e-13 </a:t>
                      </a:r>
                      <a:r>
                        <a:rPr lang="en-US"/>
                        <a:t>&lt;0.001</a:t>
                      </a:r>
                    </a:p>
                    <a:p>
                      <a:r>
                        <a:rPr lang="en-US"/>
                        <a:t>Significant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1272250"/>
                  </a:ext>
                </a:extLst>
              </a:tr>
              <a:tr h="290473">
                <a:tc vMerge="1">
                  <a:txBody>
                    <a:bodyPr/>
                    <a:lstStyle/>
                    <a:p>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Female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a:t>65</a:t>
                      </a:r>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8434239"/>
                  </a:ext>
                </a:extLst>
              </a:tr>
              <a:tr h="493805">
                <a:tc rowSpan="2">
                  <a:txBody>
                    <a:bodyPr/>
                    <a:lstStyle/>
                    <a:p>
                      <a:r>
                        <a:rPr lang="en-US"/>
                        <a:t>Region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East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a:t>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a:t>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r>
                        <a:rPr lang="en-US"/>
                        <a:t>X²=19.53 </a:t>
                      </a:r>
                    </a:p>
                    <a:p>
                      <a:r>
                        <a:rPr lang="en-US"/>
                        <a:t>p=</a:t>
                      </a:r>
                      <a:r>
                        <a:rPr lang="en-US" altLang="zh-CN">
                          <a:effectLst/>
                        </a:rPr>
                        <a:t>9.905e-06 </a:t>
                      </a:r>
                      <a:r>
                        <a:rPr lang="en-US"/>
                        <a:t>&lt;0.001</a:t>
                      </a:r>
                    </a:p>
                    <a:p>
                      <a:r>
                        <a:rPr lang="en-US"/>
                        <a:t>Significant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3177088"/>
                  </a:ext>
                </a:extLst>
              </a:tr>
              <a:tr h="290473">
                <a:tc vMerge="1">
                  <a:txBody>
                    <a:bodyPr/>
                    <a:lstStyle/>
                    <a:p>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West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a:t>32</a:t>
                      </a:r>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4974921"/>
                  </a:ext>
                </a:extLst>
              </a:tr>
              <a:tr h="493805">
                <a:tc>
                  <a:txBody>
                    <a:bodyPr/>
                    <a:lstStyle/>
                    <a:p>
                      <a:r>
                        <a:rPr lang="en-US"/>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a:t>2015/16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X²=0.03</a:t>
                      </a:r>
                    </a:p>
                    <a:p>
                      <a:r>
                        <a:rPr lang="en-US"/>
                        <a:t>p=0.87 (NS)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3353571"/>
                  </a:ext>
                </a:extLst>
              </a:tr>
            </a:tbl>
          </a:graphicData>
        </a:graphic>
      </p:graphicFrame>
      <p:sp>
        <p:nvSpPr>
          <p:cNvPr id="5" name="Google Shape;531;p31">
            <a:extLst>
              <a:ext uri="{FF2B5EF4-FFF2-40B4-BE49-F238E27FC236}">
                <a16:creationId xmlns:a16="http://schemas.microsoft.com/office/drawing/2014/main" id="{3B103C99-64F7-C109-1BB2-F1D39C035963}"/>
              </a:ext>
            </a:extLst>
          </p:cNvPr>
          <p:cNvSpPr txBox="1"/>
          <p:nvPr/>
        </p:nvSpPr>
        <p:spPr>
          <a:xfrm>
            <a:off x="730250" y="4852635"/>
            <a:ext cx="7310152" cy="1400877"/>
          </a:xfrm>
          <a:prstGeom prst="rect">
            <a:avLst/>
          </a:prstGeom>
          <a:noFill/>
          <a:ln>
            <a:noFill/>
          </a:ln>
        </p:spPr>
        <p:txBody>
          <a:bodyPr spcFirstLastPara="1" wrap="square" lIns="91425" tIns="91425" rIns="0" bIns="91425" anchor="t" anchorCtr="0">
            <a:noAutofit/>
          </a:bodyPr>
          <a:lstStyle/>
          <a:p>
            <a:r>
              <a:rPr lang="en-US" altLang="zh-CN" sz="2000" b="1"/>
              <a:t>Key findings:</a:t>
            </a:r>
          </a:p>
          <a:p>
            <a:pPr marL="285750" indent="-285750">
              <a:buFont typeface="Arial" panose="020B0604020202020204" pitchFamily="34" charset="0"/>
              <a:buChar char="•"/>
            </a:pPr>
            <a:r>
              <a:rPr lang="en-US" altLang="zh-CN" sz="1800">
                <a:solidFill>
                  <a:schemeClr val="dk1"/>
                </a:solidFill>
                <a:latin typeface="+mn-lt"/>
              </a:rPr>
              <a:t>Strong gender difference (male higher risk).</a:t>
            </a:r>
          </a:p>
          <a:p>
            <a:pPr marL="285750" indent="-285750">
              <a:buFont typeface="Arial" panose="020B0604020202020204" pitchFamily="34" charset="0"/>
              <a:buChar char="•"/>
            </a:pPr>
            <a:r>
              <a:rPr lang="en-US" altLang="zh-CN" sz="1800">
                <a:solidFill>
                  <a:schemeClr val="dk1"/>
                </a:solidFill>
                <a:latin typeface="+mn-lt"/>
              </a:rPr>
              <a:t>Regional disparity (West lower risk).</a:t>
            </a:r>
          </a:p>
          <a:p>
            <a:pPr marL="285750" indent="-285750">
              <a:buFont typeface="Arial" panose="020B0604020202020204" pitchFamily="34" charset="0"/>
              <a:buChar char="•"/>
            </a:pPr>
            <a:r>
              <a:rPr lang="en-US" altLang="zh-CN" sz="1800">
                <a:solidFill>
                  <a:schemeClr val="dk1"/>
                </a:solidFill>
                <a:latin typeface="+mn-lt"/>
              </a:rPr>
              <a:t>No significant year effect.</a:t>
            </a:r>
          </a:p>
        </p:txBody>
      </p:sp>
      <p:pic>
        <p:nvPicPr>
          <p:cNvPr id="6" name="Picture 5">
            <a:extLst>
              <a:ext uri="{FF2B5EF4-FFF2-40B4-BE49-F238E27FC236}">
                <a16:creationId xmlns:a16="http://schemas.microsoft.com/office/drawing/2014/main" id="{5FD63354-A5DE-C5CD-C7FD-D4561C46463E}"/>
              </a:ext>
            </a:extLst>
          </p:cNvPr>
          <p:cNvPicPr>
            <a:picLocks noChangeAspect="1"/>
          </p:cNvPicPr>
          <p:nvPr/>
        </p:nvPicPr>
        <p:blipFill>
          <a:blip r:embed="rId3"/>
          <a:stretch>
            <a:fillRect/>
          </a:stretch>
        </p:blipFill>
        <p:spPr>
          <a:xfrm>
            <a:off x="5891435" y="4264700"/>
            <a:ext cx="2522315" cy="2593300"/>
          </a:xfrm>
          <a:prstGeom prst="rect">
            <a:avLst/>
          </a:prstGeom>
        </p:spPr>
      </p:pic>
      <p:pic>
        <p:nvPicPr>
          <p:cNvPr id="8" name="Picture 7">
            <a:extLst>
              <a:ext uri="{FF2B5EF4-FFF2-40B4-BE49-F238E27FC236}">
                <a16:creationId xmlns:a16="http://schemas.microsoft.com/office/drawing/2014/main" id="{D760754F-3C93-078A-6E4E-29927827C77D}"/>
              </a:ext>
            </a:extLst>
          </p:cNvPr>
          <p:cNvPicPr>
            <a:picLocks noChangeAspect="1"/>
          </p:cNvPicPr>
          <p:nvPr/>
        </p:nvPicPr>
        <p:blipFill>
          <a:blip r:embed="rId4"/>
          <a:stretch>
            <a:fillRect/>
          </a:stretch>
        </p:blipFill>
        <p:spPr>
          <a:xfrm>
            <a:off x="5891435" y="4248149"/>
            <a:ext cx="2538413" cy="2609851"/>
          </a:xfrm>
          <a:prstGeom prst="rect">
            <a:avLst/>
          </a:prstGeom>
        </p:spPr>
      </p:pic>
      <p:pic>
        <p:nvPicPr>
          <p:cNvPr id="9" name="Picture 8">
            <a:extLst>
              <a:ext uri="{FF2B5EF4-FFF2-40B4-BE49-F238E27FC236}">
                <a16:creationId xmlns:a16="http://schemas.microsoft.com/office/drawing/2014/main" id="{55FAFBC3-E9CE-9E51-09AA-29AA78C9FAE2}"/>
              </a:ext>
            </a:extLst>
          </p:cNvPr>
          <p:cNvPicPr>
            <a:picLocks noChangeAspect="1"/>
          </p:cNvPicPr>
          <p:nvPr/>
        </p:nvPicPr>
        <p:blipFill>
          <a:blip r:embed="rId5"/>
          <a:stretch>
            <a:fillRect/>
          </a:stretch>
        </p:blipFill>
        <p:spPr>
          <a:xfrm>
            <a:off x="5891434" y="4264699"/>
            <a:ext cx="2522315" cy="2593299"/>
          </a:xfrm>
          <a:prstGeom prst="rect">
            <a:avLst/>
          </a:prstGeom>
        </p:spPr>
      </p:pic>
    </p:spTree>
    <p:extLst>
      <p:ext uri="{BB962C8B-B14F-4D97-AF65-F5344CB8AC3E}">
        <p14:creationId xmlns:p14="http://schemas.microsoft.com/office/powerpoint/2010/main" val="413926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21827B9A-5439-19D4-D165-E61DDF016AEB}"/>
            </a:ext>
          </a:extLst>
        </p:cNvPr>
        <p:cNvGrpSpPr/>
        <p:nvPr/>
      </p:nvGrpSpPr>
      <p:grpSpPr>
        <a:xfrm>
          <a:off x="0" y="0"/>
          <a:ext cx="0" cy="0"/>
          <a:chOff x="0" y="0"/>
          <a:chExt cx="0" cy="0"/>
        </a:xfrm>
      </p:grpSpPr>
      <p:sp>
        <p:nvSpPr>
          <p:cNvPr id="114" name="Google Shape;114;p6">
            <a:extLst>
              <a:ext uri="{FF2B5EF4-FFF2-40B4-BE49-F238E27FC236}">
                <a16:creationId xmlns:a16="http://schemas.microsoft.com/office/drawing/2014/main" id="{B6415C6F-CA2C-9338-2E38-F372359EEF17}"/>
              </a:ext>
            </a:extLst>
          </p:cNvPr>
          <p:cNvSpPr txBox="1">
            <a:spLocks noGrp="1"/>
          </p:cNvSpPr>
          <p:nvPr>
            <p:ph type="ctrTitle"/>
          </p:nvPr>
        </p:nvSpPr>
        <p:spPr>
          <a:xfrm>
            <a:off x="457200" y="838201"/>
            <a:ext cx="8229600" cy="516853"/>
          </a:xfrm>
          <a:prstGeom prst="rect">
            <a:avLst/>
          </a:prstGeom>
          <a:noFill/>
          <a:ln>
            <a:noFill/>
          </a:ln>
        </p:spPr>
        <p:txBody>
          <a:bodyPr spcFirstLastPara="1" wrap="square" lIns="91425" tIns="45700" rIns="91425" bIns="45700" anchor="t" anchorCtr="0">
            <a:noAutofit/>
          </a:bodyPr>
          <a:lstStyle/>
          <a:p>
            <a:r>
              <a:rPr lang="en-US" altLang="zh-CN" sz="3200">
                <a:latin typeface="Times New Roman"/>
                <a:cs typeface="Times New Roman"/>
              </a:rPr>
              <a:t>Invasive Cancer Mortality Analysis</a:t>
            </a:r>
            <a:endParaRPr lang="en-US" sz="3200">
              <a:latin typeface="Times New Roman"/>
              <a:cs typeface="Times New Roman"/>
            </a:endParaRPr>
          </a:p>
          <a:p>
            <a:endParaRPr lang="en-US"/>
          </a:p>
        </p:txBody>
      </p:sp>
      <p:graphicFrame>
        <p:nvGraphicFramePr>
          <p:cNvPr id="2" name="Table 1">
            <a:extLst>
              <a:ext uri="{FF2B5EF4-FFF2-40B4-BE49-F238E27FC236}">
                <a16:creationId xmlns:a16="http://schemas.microsoft.com/office/drawing/2014/main" id="{5EA471AC-C16E-CDD1-403C-052DFE9CC018}"/>
              </a:ext>
            </a:extLst>
          </p:cNvPr>
          <p:cNvGraphicFramePr>
            <a:graphicFrameLocks noGrp="1"/>
          </p:cNvGraphicFramePr>
          <p:nvPr>
            <p:extLst>
              <p:ext uri="{D42A27DB-BD31-4B8C-83A1-F6EECF244321}">
                <p14:modId xmlns:p14="http://schemas.microsoft.com/office/powerpoint/2010/main" val="4048894399"/>
              </p:ext>
            </p:extLst>
          </p:nvPr>
        </p:nvGraphicFramePr>
        <p:xfrm>
          <a:off x="869173" y="2190368"/>
          <a:ext cx="7405654" cy="1966780"/>
        </p:xfrm>
        <a:graphic>
          <a:graphicData uri="http://schemas.openxmlformats.org/drawingml/2006/table">
            <a:tbl>
              <a:tblPr/>
              <a:tblGrid>
                <a:gridCol w="1481131">
                  <a:extLst>
                    <a:ext uri="{9D8B030D-6E8A-4147-A177-3AD203B41FA5}">
                      <a16:colId xmlns:a16="http://schemas.microsoft.com/office/drawing/2014/main" val="1317250105"/>
                    </a:ext>
                  </a:extLst>
                </a:gridCol>
                <a:gridCol w="1481131">
                  <a:extLst>
                    <a:ext uri="{9D8B030D-6E8A-4147-A177-3AD203B41FA5}">
                      <a16:colId xmlns:a16="http://schemas.microsoft.com/office/drawing/2014/main" val="793372202"/>
                    </a:ext>
                  </a:extLst>
                </a:gridCol>
                <a:gridCol w="1481131">
                  <a:extLst>
                    <a:ext uri="{9D8B030D-6E8A-4147-A177-3AD203B41FA5}">
                      <a16:colId xmlns:a16="http://schemas.microsoft.com/office/drawing/2014/main" val="1159901975"/>
                    </a:ext>
                  </a:extLst>
                </a:gridCol>
                <a:gridCol w="1358583">
                  <a:extLst>
                    <a:ext uri="{9D8B030D-6E8A-4147-A177-3AD203B41FA5}">
                      <a16:colId xmlns:a16="http://schemas.microsoft.com/office/drawing/2014/main" val="250993462"/>
                    </a:ext>
                  </a:extLst>
                </a:gridCol>
                <a:gridCol w="1603678">
                  <a:extLst>
                    <a:ext uri="{9D8B030D-6E8A-4147-A177-3AD203B41FA5}">
                      <a16:colId xmlns:a16="http://schemas.microsoft.com/office/drawing/2014/main" val="2074059667"/>
                    </a:ext>
                  </a:extLst>
                </a:gridCol>
              </a:tblGrid>
              <a:tr h="322423">
                <a:tc>
                  <a:txBody>
                    <a:bodyPr/>
                    <a:lstStyle/>
                    <a:p>
                      <a:r>
                        <a:rPr lang="en-US"/>
                        <a:t>Variable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High 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Low Risk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Chi-Square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3743872"/>
                  </a:ext>
                </a:extLst>
              </a:tr>
              <a:tr h="548119">
                <a:tc rowSpan="2">
                  <a:txBody>
                    <a:bodyPr/>
                    <a:lstStyle/>
                    <a:p>
                      <a:r>
                        <a:rPr lang="en-US"/>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Male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a:t>78</a:t>
                      </a:r>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r>
                        <a:rPr lang="en-US"/>
                        <a:t>X²=131.6 p&lt;0.001</a:t>
                      </a:r>
                    </a:p>
                    <a:p>
                      <a:r>
                        <a:rPr lang="en-US"/>
                        <a:t>Extremely significant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2188865"/>
                  </a:ext>
                </a:extLst>
              </a:tr>
              <a:tr h="548119">
                <a:tc vMerge="1">
                  <a:txBody>
                    <a:bodyPr/>
                    <a:lstStyle/>
                    <a:p>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Female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b="1"/>
                        <a:t>76</a:t>
                      </a:r>
                      <a:endParaRPr lang="zh-CN" alt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1985442"/>
                  </a:ext>
                </a:extLst>
              </a:tr>
              <a:tr h="548119">
                <a:tc>
                  <a:txBody>
                    <a:bodyPr/>
                    <a:lstStyle/>
                    <a:p>
                      <a:r>
                        <a:rPr lang="en-US"/>
                        <a:t>Region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East/West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X²=1.58p=0.21 (NS)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2403365"/>
                  </a:ext>
                </a:extLst>
              </a:tr>
            </a:tbl>
          </a:graphicData>
        </a:graphic>
      </p:graphicFrame>
      <p:sp>
        <p:nvSpPr>
          <p:cNvPr id="3" name="Google Shape;531;p31">
            <a:extLst>
              <a:ext uri="{FF2B5EF4-FFF2-40B4-BE49-F238E27FC236}">
                <a16:creationId xmlns:a16="http://schemas.microsoft.com/office/drawing/2014/main" id="{B0095B09-668B-48DB-9CEB-0852DD3467C4}"/>
              </a:ext>
            </a:extLst>
          </p:cNvPr>
          <p:cNvSpPr txBox="1"/>
          <p:nvPr/>
        </p:nvSpPr>
        <p:spPr>
          <a:xfrm>
            <a:off x="1059148" y="4667632"/>
            <a:ext cx="7711200" cy="1352167"/>
          </a:xfrm>
          <a:prstGeom prst="rect">
            <a:avLst/>
          </a:prstGeom>
          <a:noFill/>
          <a:ln>
            <a:noFill/>
          </a:ln>
        </p:spPr>
        <p:txBody>
          <a:bodyPr spcFirstLastPara="1" wrap="square" lIns="91425" tIns="91425" rIns="0" bIns="91425" anchor="t" anchorCtr="0">
            <a:noAutofit/>
          </a:bodyPr>
          <a:lstStyle/>
          <a:p>
            <a:r>
              <a:rPr lang="en-US" altLang="zh-CN" sz="1800" b="1"/>
              <a:t>Key findings</a:t>
            </a:r>
            <a:r>
              <a:rPr lang="en-US" altLang="zh-CN" sz="1800"/>
              <a:t>:</a:t>
            </a:r>
          </a:p>
          <a:p>
            <a:pPr marL="285750" indent="-285750">
              <a:buFont typeface="Arial" panose="020B0604020202020204" pitchFamily="34" charset="0"/>
              <a:buChar char="•"/>
            </a:pPr>
            <a:r>
              <a:rPr lang="en-US" altLang="zh-CN" sz="1800"/>
              <a:t>Gender disparity intensified for mortality.</a:t>
            </a:r>
          </a:p>
          <a:p>
            <a:pPr marL="285750" indent="-285750">
              <a:buFont typeface="Arial" panose="020B0604020202020204" pitchFamily="34" charset="0"/>
              <a:buChar char="•"/>
            </a:pPr>
            <a:r>
              <a:rPr lang="en-US" altLang="zh-CN" sz="1800"/>
              <a:t>Region not significant for mortality.</a:t>
            </a:r>
          </a:p>
          <a:p>
            <a:endParaRPr lang="en-US" altLang="zh-CN" sz="1800">
              <a:solidFill>
                <a:schemeClr val="dk1"/>
              </a:solidFill>
              <a:latin typeface="+mn-lt"/>
            </a:endParaRPr>
          </a:p>
        </p:txBody>
      </p:sp>
      <p:pic>
        <p:nvPicPr>
          <p:cNvPr id="6" name="Picture 5">
            <a:extLst>
              <a:ext uri="{FF2B5EF4-FFF2-40B4-BE49-F238E27FC236}">
                <a16:creationId xmlns:a16="http://schemas.microsoft.com/office/drawing/2014/main" id="{32D98E37-D2D2-E1BD-EE21-E8E63D651FF7}"/>
              </a:ext>
            </a:extLst>
          </p:cNvPr>
          <p:cNvPicPr>
            <a:picLocks noChangeAspect="1"/>
          </p:cNvPicPr>
          <p:nvPr/>
        </p:nvPicPr>
        <p:blipFill>
          <a:blip r:embed="rId3"/>
          <a:stretch>
            <a:fillRect/>
          </a:stretch>
        </p:blipFill>
        <p:spPr>
          <a:xfrm>
            <a:off x="5830888" y="4260850"/>
            <a:ext cx="2526060" cy="2597150"/>
          </a:xfrm>
          <a:prstGeom prst="rect">
            <a:avLst/>
          </a:prstGeom>
        </p:spPr>
      </p:pic>
      <p:pic>
        <p:nvPicPr>
          <p:cNvPr id="7" name="Picture 6">
            <a:extLst>
              <a:ext uri="{FF2B5EF4-FFF2-40B4-BE49-F238E27FC236}">
                <a16:creationId xmlns:a16="http://schemas.microsoft.com/office/drawing/2014/main" id="{C4E35C38-24FB-111F-E2CA-9183D75FF244}"/>
              </a:ext>
            </a:extLst>
          </p:cNvPr>
          <p:cNvPicPr>
            <a:picLocks noChangeAspect="1"/>
          </p:cNvPicPr>
          <p:nvPr/>
        </p:nvPicPr>
        <p:blipFill>
          <a:blip r:embed="rId4"/>
          <a:stretch>
            <a:fillRect/>
          </a:stretch>
        </p:blipFill>
        <p:spPr>
          <a:xfrm>
            <a:off x="5830888" y="4260850"/>
            <a:ext cx="2526060" cy="2597150"/>
          </a:xfrm>
          <a:prstGeom prst="rect">
            <a:avLst/>
          </a:prstGeom>
        </p:spPr>
      </p:pic>
    </p:spTree>
    <p:extLst>
      <p:ext uri="{BB962C8B-B14F-4D97-AF65-F5344CB8AC3E}">
        <p14:creationId xmlns:p14="http://schemas.microsoft.com/office/powerpoint/2010/main" val="2085695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787901FB-970E-20F5-1F92-EB3B7918E541}"/>
            </a:ext>
          </a:extLst>
        </p:cNvPr>
        <p:cNvGrpSpPr/>
        <p:nvPr/>
      </p:nvGrpSpPr>
      <p:grpSpPr>
        <a:xfrm>
          <a:off x="0" y="0"/>
          <a:ext cx="0" cy="0"/>
          <a:chOff x="0" y="0"/>
          <a:chExt cx="0" cy="0"/>
        </a:xfrm>
      </p:grpSpPr>
      <p:sp>
        <p:nvSpPr>
          <p:cNvPr id="114" name="Google Shape;114;p6">
            <a:extLst>
              <a:ext uri="{FF2B5EF4-FFF2-40B4-BE49-F238E27FC236}">
                <a16:creationId xmlns:a16="http://schemas.microsoft.com/office/drawing/2014/main" id="{C9A2C53D-7848-30CD-875B-8E145E963904}"/>
              </a:ext>
            </a:extLst>
          </p:cNvPr>
          <p:cNvSpPr txBox="1">
            <a:spLocks noGrp="1"/>
          </p:cNvSpPr>
          <p:nvPr>
            <p:ph type="ctrTitle"/>
          </p:nvPr>
        </p:nvSpPr>
        <p:spPr>
          <a:xfrm>
            <a:off x="457200" y="838201"/>
            <a:ext cx="8229600" cy="516853"/>
          </a:xfrm>
          <a:prstGeom prst="rect">
            <a:avLst/>
          </a:prstGeom>
          <a:noFill/>
          <a:ln>
            <a:noFill/>
          </a:ln>
        </p:spPr>
        <p:txBody>
          <a:bodyPr spcFirstLastPara="1" wrap="square" lIns="91425" tIns="45700" rIns="91425" bIns="45700" anchor="t" anchorCtr="0">
            <a:noAutofit/>
          </a:bodyPr>
          <a:lstStyle/>
          <a:p>
            <a:r>
              <a:rPr lang="en-US" altLang="zh-CN" sz="3200">
                <a:latin typeface="Times New Roman"/>
                <a:cs typeface="Times New Roman"/>
              </a:rPr>
              <a:t>Colorectal Cancer Mortality</a:t>
            </a:r>
            <a:endParaRPr lang="en-US" sz="3200">
              <a:latin typeface="Times New Roman"/>
              <a:cs typeface="Times New Roman"/>
            </a:endParaRPr>
          </a:p>
          <a:p>
            <a:endParaRPr lang="en-US"/>
          </a:p>
        </p:txBody>
      </p:sp>
      <p:sp>
        <p:nvSpPr>
          <p:cNvPr id="3" name="Google Shape;531;p31">
            <a:extLst>
              <a:ext uri="{FF2B5EF4-FFF2-40B4-BE49-F238E27FC236}">
                <a16:creationId xmlns:a16="http://schemas.microsoft.com/office/drawing/2014/main" id="{56420758-0CAD-606D-C8B9-B112429E37C3}"/>
              </a:ext>
            </a:extLst>
          </p:cNvPr>
          <p:cNvSpPr txBox="1"/>
          <p:nvPr/>
        </p:nvSpPr>
        <p:spPr>
          <a:xfrm>
            <a:off x="814388" y="5803900"/>
            <a:ext cx="7711200" cy="952499"/>
          </a:xfrm>
          <a:prstGeom prst="rect">
            <a:avLst/>
          </a:prstGeom>
          <a:noFill/>
          <a:ln>
            <a:noFill/>
          </a:ln>
        </p:spPr>
        <p:txBody>
          <a:bodyPr spcFirstLastPara="1" wrap="square" lIns="91425" tIns="91425" rIns="0" bIns="91425" anchor="t" anchorCtr="0">
            <a:noAutofit/>
          </a:bodyPr>
          <a:lstStyle/>
          <a:p>
            <a:r>
              <a:rPr lang="en-US" altLang="zh-CN" sz="1800" b="1"/>
              <a:t>Recommendation:</a:t>
            </a:r>
            <a:endParaRPr lang="en-US" altLang="zh-CN" sz="1800"/>
          </a:p>
          <a:p>
            <a:r>
              <a:rPr lang="en-US" altLang="zh-CN" sz="1800"/>
              <a:t>Prioritize targeted public health strategies addressing specific demographic disparities.</a:t>
            </a:r>
          </a:p>
        </p:txBody>
      </p:sp>
      <p:sp>
        <p:nvSpPr>
          <p:cNvPr id="4" name="TextBox 3">
            <a:extLst>
              <a:ext uri="{FF2B5EF4-FFF2-40B4-BE49-F238E27FC236}">
                <a16:creationId xmlns:a16="http://schemas.microsoft.com/office/drawing/2014/main" id="{8D50B9E9-D43D-CC77-4FD4-833D04848865}"/>
              </a:ext>
            </a:extLst>
          </p:cNvPr>
          <p:cNvSpPr txBox="1"/>
          <p:nvPr/>
        </p:nvSpPr>
        <p:spPr>
          <a:xfrm>
            <a:off x="884086" y="1603733"/>
            <a:ext cx="7091514" cy="646331"/>
          </a:xfrm>
          <a:prstGeom prst="rect">
            <a:avLst/>
          </a:prstGeom>
          <a:noFill/>
        </p:spPr>
        <p:txBody>
          <a:bodyPr wrap="square">
            <a:spAutoFit/>
          </a:bodyPr>
          <a:lstStyle/>
          <a:p>
            <a:pPr>
              <a:buFont typeface="Arial"/>
              <a:buNone/>
            </a:pPr>
            <a:r>
              <a:rPr lang="en-US" altLang="zh-CN" sz="1800" b="1"/>
              <a:t>Race/Ethnicity vs. Colorectal Cancer Mortality</a:t>
            </a:r>
          </a:p>
          <a:p>
            <a:pPr>
              <a:buFont typeface="Arial" panose="020B0604020202020204" pitchFamily="34" charset="0"/>
              <a:buChar char="•"/>
            </a:pPr>
            <a:r>
              <a:rPr lang="en-US" altLang="zh-CN" sz="1800"/>
              <a:t>Chi-square: X²=147.1, </a:t>
            </a:r>
            <a:r>
              <a:rPr lang="en-US" altLang="zh-CN" sz="1800" err="1"/>
              <a:t>df</a:t>
            </a:r>
            <a:r>
              <a:rPr lang="en-US" altLang="zh-CN" sz="1800"/>
              <a:t>=4, p=2.2e-16 &lt;0.001 </a:t>
            </a:r>
            <a:r>
              <a:rPr lang="en-US" altLang="zh-CN" sz="1800" b="1"/>
              <a:t>(Highly significant).</a:t>
            </a:r>
          </a:p>
        </p:txBody>
      </p:sp>
      <p:graphicFrame>
        <p:nvGraphicFramePr>
          <p:cNvPr id="5" name="Table 4">
            <a:extLst>
              <a:ext uri="{FF2B5EF4-FFF2-40B4-BE49-F238E27FC236}">
                <a16:creationId xmlns:a16="http://schemas.microsoft.com/office/drawing/2014/main" id="{98A1384E-9515-8E71-A245-34535D85A3C1}"/>
              </a:ext>
            </a:extLst>
          </p:cNvPr>
          <p:cNvGraphicFramePr>
            <a:graphicFrameLocks noGrp="1"/>
          </p:cNvGraphicFramePr>
          <p:nvPr>
            <p:extLst>
              <p:ext uri="{D42A27DB-BD31-4B8C-83A1-F6EECF244321}">
                <p14:modId xmlns:p14="http://schemas.microsoft.com/office/powerpoint/2010/main" val="3703455543"/>
              </p:ext>
            </p:extLst>
          </p:nvPr>
        </p:nvGraphicFramePr>
        <p:xfrm>
          <a:off x="4129962" y="2883347"/>
          <a:ext cx="4556838" cy="1950720"/>
        </p:xfrm>
        <a:graphic>
          <a:graphicData uri="http://schemas.openxmlformats.org/drawingml/2006/table">
            <a:tbl>
              <a:tblPr/>
              <a:tblGrid>
                <a:gridCol w="2278419">
                  <a:extLst>
                    <a:ext uri="{9D8B030D-6E8A-4147-A177-3AD203B41FA5}">
                      <a16:colId xmlns:a16="http://schemas.microsoft.com/office/drawing/2014/main" val="649240316"/>
                    </a:ext>
                  </a:extLst>
                </a:gridCol>
                <a:gridCol w="2278419">
                  <a:extLst>
                    <a:ext uri="{9D8B030D-6E8A-4147-A177-3AD203B41FA5}">
                      <a16:colId xmlns:a16="http://schemas.microsoft.com/office/drawing/2014/main" val="2833783519"/>
                    </a:ext>
                  </a:extLst>
                </a:gridCol>
              </a:tblGrid>
              <a:tr h="289628">
                <a:tc>
                  <a:txBody>
                    <a:bodyPr/>
                    <a:lstStyle/>
                    <a:p>
                      <a:r>
                        <a:rPr lang="en-US" sz="1400"/>
                        <a:t>Race/Ethnicity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Dominant Risk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02009"/>
                  </a:ext>
                </a:extLst>
              </a:tr>
              <a:tr h="289628">
                <a:tc>
                  <a:txBody>
                    <a:bodyPr/>
                    <a:lstStyle/>
                    <a:p>
                      <a:r>
                        <a:rPr lang="en-US" sz="1400"/>
                        <a:t>Black, non-Hispanic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a:t>High risk</a:t>
                      </a: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0081670"/>
                  </a:ext>
                </a:extLst>
              </a:tr>
              <a:tr h="289628">
                <a:tc>
                  <a:txBody>
                    <a:bodyPr/>
                    <a:lstStyle/>
                    <a:p>
                      <a:r>
                        <a:rPr lang="en-US" sz="1400"/>
                        <a:t>White, non-Hispanic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a:t>High risk</a:t>
                      </a: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0847608"/>
                  </a:ext>
                </a:extLst>
              </a:tr>
              <a:tr h="289628">
                <a:tc>
                  <a:txBody>
                    <a:bodyPr/>
                    <a:lstStyle/>
                    <a:p>
                      <a:r>
                        <a:rPr lang="en-US" sz="1400"/>
                        <a:t>Asian/Pacific Islander, Hispanic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1"/>
                        <a:t>Low risk</a:t>
                      </a: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1930150"/>
                  </a:ext>
                </a:extLst>
              </a:tr>
              <a:tr h="289628">
                <a:tc>
                  <a:txBody>
                    <a:bodyPr/>
                    <a:lstStyle/>
                    <a:p>
                      <a:r>
                        <a:rPr lang="en-US" sz="1400"/>
                        <a:t>American Indian/Alaska 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Evenly distributed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9350198"/>
                  </a:ext>
                </a:extLst>
              </a:tr>
            </a:tbl>
          </a:graphicData>
        </a:graphic>
      </p:graphicFrame>
      <p:pic>
        <p:nvPicPr>
          <p:cNvPr id="10" name="Picture 9">
            <a:extLst>
              <a:ext uri="{FF2B5EF4-FFF2-40B4-BE49-F238E27FC236}">
                <a16:creationId xmlns:a16="http://schemas.microsoft.com/office/drawing/2014/main" id="{8F1D3FCA-E096-5846-572A-9B23321EE740}"/>
              </a:ext>
            </a:extLst>
          </p:cNvPr>
          <p:cNvPicPr>
            <a:picLocks noChangeAspect="1"/>
          </p:cNvPicPr>
          <p:nvPr/>
        </p:nvPicPr>
        <p:blipFill>
          <a:blip r:embed="rId3"/>
          <a:stretch>
            <a:fillRect/>
          </a:stretch>
        </p:blipFill>
        <p:spPr>
          <a:xfrm>
            <a:off x="814388" y="2498743"/>
            <a:ext cx="2760662" cy="2838354"/>
          </a:xfrm>
          <a:prstGeom prst="rect">
            <a:avLst/>
          </a:prstGeom>
        </p:spPr>
      </p:pic>
      <p:pic>
        <p:nvPicPr>
          <p:cNvPr id="14" name="Picture 13">
            <a:extLst>
              <a:ext uri="{FF2B5EF4-FFF2-40B4-BE49-F238E27FC236}">
                <a16:creationId xmlns:a16="http://schemas.microsoft.com/office/drawing/2014/main" id="{FBAAC69A-EC7A-6376-4617-BC777E24D11B}"/>
              </a:ext>
            </a:extLst>
          </p:cNvPr>
          <p:cNvPicPr>
            <a:picLocks noChangeAspect="1"/>
          </p:cNvPicPr>
          <p:nvPr/>
        </p:nvPicPr>
        <p:blipFill>
          <a:blip r:embed="rId4"/>
          <a:stretch>
            <a:fillRect/>
          </a:stretch>
        </p:blipFill>
        <p:spPr>
          <a:xfrm>
            <a:off x="4129962" y="4893209"/>
            <a:ext cx="4556838" cy="1050390"/>
          </a:xfrm>
          <a:prstGeom prst="rect">
            <a:avLst/>
          </a:prstGeom>
        </p:spPr>
      </p:pic>
    </p:spTree>
    <p:extLst>
      <p:ext uri="{BB962C8B-B14F-4D97-AF65-F5344CB8AC3E}">
        <p14:creationId xmlns:p14="http://schemas.microsoft.com/office/powerpoint/2010/main" val="975385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D4D0A453-2577-8B2D-89B4-BA92134D090F}"/>
            </a:ext>
          </a:extLst>
        </p:cNvPr>
        <p:cNvGrpSpPr/>
        <p:nvPr/>
      </p:nvGrpSpPr>
      <p:grpSpPr>
        <a:xfrm>
          <a:off x="0" y="0"/>
          <a:ext cx="0" cy="0"/>
          <a:chOff x="0" y="0"/>
          <a:chExt cx="0" cy="0"/>
        </a:xfrm>
      </p:grpSpPr>
      <p:sp>
        <p:nvSpPr>
          <p:cNvPr id="114" name="Google Shape;114;p6">
            <a:extLst>
              <a:ext uri="{FF2B5EF4-FFF2-40B4-BE49-F238E27FC236}">
                <a16:creationId xmlns:a16="http://schemas.microsoft.com/office/drawing/2014/main" id="{95D56C18-3D35-75E6-AF1B-9F3C9252C41A}"/>
              </a:ext>
            </a:extLst>
          </p:cNvPr>
          <p:cNvSpPr txBox="1">
            <a:spLocks noGrp="1"/>
          </p:cNvSpPr>
          <p:nvPr>
            <p:ph type="ctrTitle"/>
          </p:nvPr>
        </p:nvSpPr>
        <p:spPr>
          <a:xfrm>
            <a:off x="457200" y="838201"/>
            <a:ext cx="8229600" cy="541368"/>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Method 2: ANOVA Analysis</a:t>
            </a:r>
            <a:endParaRPr lang="en-US"/>
          </a:p>
          <a:p>
            <a:pPr marL="342900" indent="-190500" algn="l">
              <a:spcBef>
                <a:spcPts val="480"/>
              </a:spcBef>
            </a:pPr>
            <a:endParaRPr lang="en-US" sz="2000" b="1">
              <a:solidFill>
                <a:srgbClr val="000000"/>
              </a:solidFill>
              <a:latin typeface="Arial"/>
              <a:cs typeface="Arial"/>
            </a:endParaRPr>
          </a:p>
          <a:p>
            <a:endParaRPr lang="en-US">
              <a:cs typeface="Arial"/>
            </a:endParaRPr>
          </a:p>
        </p:txBody>
      </p:sp>
      <p:sp>
        <p:nvSpPr>
          <p:cNvPr id="9" name="TextBox 8">
            <a:extLst>
              <a:ext uri="{FF2B5EF4-FFF2-40B4-BE49-F238E27FC236}">
                <a16:creationId xmlns:a16="http://schemas.microsoft.com/office/drawing/2014/main" id="{5F5FFF77-4681-F0E0-F143-7ADE4638CDF5}"/>
              </a:ext>
            </a:extLst>
          </p:cNvPr>
          <p:cNvSpPr txBox="1"/>
          <p:nvPr/>
        </p:nvSpPr>
        <p:spPr>
          <a:xfrm>
            <a:off x="606739" y="1513785"/>
            <a:ext cx="807760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190500" algn="ctr">
              <a:spcBef>
                <a:spcPts val="480"/>
              </a:spcBef>
            </a:pPr>
            <a:r>
              <a:rPr lang="en-US" sz="2000" b="1"/>
              <a:t>Impact of State and Ethnicity on Cancer Incidence</a:t>
            </a:r>
            <a:endParaRPr lang="en-US"/>
          </a:p>
        </p:txBody>
      </p:sp>
      <p:sp>
        <p:nvSpPr>
          <p:cNvPr id="4" name="TextBox 3">
            <a:extLst>
              <a:ext uri="{FF2B5EF4-FFF2-40B4-BE49-F238E27FC236}">
                <a16:creationId xmlns:a16="http://schemas.microsoft.com/office/drawing/2014/main" id="{DD85B161-F5DF-37E3-3104-1F6E07A8771F}"/>
              </a:ext>
            </a:extLst>
          </p:cNvPr>
          <p:cNvSpPr txBox="1"/>
          <p:nvPr/>
        </p:nvSpPr>
        <p:spPr>
          <a:xfrm>
            <a:off x="451284" y="2073105"/>
            <a:ext cx="8191323"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Objective</a:t>
            </a:r>
          </a:p>
          <a:p>
            <a:r>
              <a:rPr lang="en-US" sz="1800">
                <a:solidFill>
                  <a:schemeClr val="dk1"/>
                </a:solidFill>
                <a:latin typeface="Aptos"/>
              </a:rPr>
              <a:t>Whether cancer incidence rates in the United States differ significantly across states and ethnic groups, and whether there is an interaction effect between these two factors. </a:t>
            </a:r>
            <a:endParaRPr lang="en-US" sz="1800">
              <a:solidFill>
                <a:schemeClr val="dk1"/>
              </a:solidFill>
            </a:endParaRPr>
          </a:p>
        </p:txBody>
      </p:sp>
      <p:sp>
        <p:nvSpPr>
          <p:cNvPr id="5" name="TextBox 4">
            <a:extLst>
              <a:ext uri="{FF2B5EF4-FFF2-40B4-BE49-F238E27FC236}">
                <a16:creationId xmlns:a16="http://schemas.microsoft.com/office/drawing/2014/main" id="{21D34DFB-836E-1E43-4C5A-FA0D83B6E793}"/>
              </a:ext>
            </a:extLst>
          </p:cNvPr>
          <p:cNvSpPr txBox="1"/>
          <p:nvPr/>
        </p:nvSpPr>
        <p:spPr>
          <a:xfrm>
            <a:off x="446552" y="3429634"/>
            <a:ext cx="8200787" cy="17132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Key Metrics</a:t>
            </a:r>
          </a:p>
          <a:p>
            <a:pPr marL="400050" indent="-285750">
              <a:spcBef>
                <a:spcPts val="360"/>
              </a:spcBef>
              <a:buChar char="•"/>
            </a:pPr>
            <a:r>
              <a:rPr lang="en-US" sz="1800">
                <a:solidFill>
                  <a:schemeClr val="dk1"/>
                </a:solidFill>
                <a:latin typeface="Aptos"/>
              </a:rPr>
              <a:t>Invasive cancer (all sites combined), incidence from Question</a:t>
            </a:r>
          </a:p>
          <a:p>
            <a:pPr marL="400050" indent="-285750">
              <a:spcBef>
                <a:spcPts val="360"/>
              </a:spcBef>
              <a:buChar char="•"/>
            </a:pPr>
            <a:r>
              <a:rPr lang="en-US" sz="1800">
                <a:solidFill>
                  <a:schemeClr val="dk1"/>
                </a:solidFill>
                <a:latin typeface="Aptos"/>
              </a:rPr>
              <a:t>Per 100,000 for </a:t>
            </a:r>
            <a:r>
              <a:rPr lang="en-US" sz="1800" err="1">
                <a:solidFill>
                  <a:schemeClr val="dk1"/>
                </a:solidFill>
                <a:latin typeface="Aptos"/>
              </a:rPr>
              <a:t>DataValueUnit</a:t>
            </a:r>
            <a:r>
              <a:rPr lang="en-US" sz="1800">
                <a:solidFill>
                  <a:schemeClr val="dk1"/>
                </a:solidFill>
                <a:latin typeface="Aptos"/>
              </a:rPr>
              <a:t> (removed 0 </a:t>
            </a:r>
            <a:r>
              <a:rPr lang="en-US" sz="1800" err="1">
                <a:solidFill>
                  <a:schemeClr val="dk1"/>
                </a:solidFill>
                <a:latin typeface="Aptos"/>
              </a:rPr>
              <a:t>DataValue</a:t>
            </a:r>
            <a:r>
              <a:rPr lang="en-US" sz="1800">
                <a:solidFill>
                  <a:schemeClr val="dk1"/>
                </a:solidFill>
                <a:latin typeface="Aptos"/>
              </a:rPr>
              <a:t>)</a:t>
            </a:r>
          </a:p>
          <a:p>
            <a:pPr marL="400050" indent="-285750">
              <a:spcBef>
                <a:spcPts val="360"/>
              </a:spcBef>
              <a:buChar char="•"/>
            </a:pPr>
            <a:r>
              <a:rPr lang="en-US" sz="1800">
                <a:solidFill>
                  <a:schemeClr val="dk1"/>
                </a:solidFill>
                <a:latin typeface="Aptos"/>
              </a:rPr>
              <a:t> </a:t>
            </a:r>
            <a:r>
              <a:rPr lang="en-US" sz="1800" err="1">
                <a:solidFill>
                  <a:schemeClr val="dk1"/>
                </a:solidFill>
                <a:latin typeface="Aptos"/>
              </a:rPr>
              <a:t>LocationDesc</a:t>
            </a:r>
            <a:r>
              <a:rPr lang="en-US" sz="1800">
                <a:solidFill>
                  <a:schemeClr val="dk1"/>
                </a:solidFill>
                <a:latin typeface="Aptos"/>
              </a:rPr>
              <a:t> (state)</a:t>
            </a:r>
          </a:p>
          <a:p>
            <a:pPr marL="400050" indent="-285750">
              <a:spcBef>
                <a:spcPts val="360"/>
              </a:spcBef>
              <a:buChar char="•"/>
            </a:pPr>
            <a:r>
              <a:rPr lang="en-US" sz="1800">
                <a:solidFill>
                  <a:schemeClr val="dk1"/>
                </a:solidFill>
                <a:latin typeface="Aptos"/>
              </a:rPr>
              <a:t>Stratification1 (used as Ethnicity)</a:t>
            </a:r>
          </a:p>
        </p:txBody>
      </p:sp>
      <p:pic>
        <p:nvPicPr>
          <p:cNvPr id="2" name="Picture 1">
            <a:extLst>
              <a:ext uri="{FF2B5EF4-FFF2-40B4-BE49-F238E27FC236}">
                <a16:creationId xmlns:a16="http://schemas.microsoft.com/office/drawing/2014/main" id="{22A27E23-DFB1-DC9D-3C3A-043F234609CA}"/>
              </a:ext>
            </a:extLst>
          </p:cNvPr>
          <p:cNvPicPr>
            <a:picLocks noChangeAspect="1"/>
          </p:cNvPicPr>
          <p:nvPr/>
        </p:nvPicPr>
        <p:blipFill>
          <a:blip r:embed="rId3"/>
          <a:stretch>
            <a:fillRect/>
          </a:stretch>
        </p:blipFill>
        <p:spPr>
          <a:xfrm>
            <a:off x="1333069" y="5290464"/>
            <a:ext cx="6477000" cy="1162050"/>
          </a:xfrm>
          <a:prstGeom prst="rect">
            <a:avLst/>
          </a:prstGeom>
        </p:spPr>
      </p:pic>
    </p:spTree>
    <p:extLst>
      <p:ext uri="{BB962C8B-B14F-4D97-AF65-F5344CB8AC3E}">
        <p14:creationId xmlns:p14="http://schemas.microsoft.com/office/powerpoint/2010/main" val="30303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3D240F4-A976-2D29-5FE6-F1EE4C4054D8}"/>
            </a:ext>
          </a:extLst>
        </p:cNvPr>
        <p:cNvGrpSpPr/>
        <p:nvPr/>
      </p:nvGrpSpPr>
      <p:grpSpPr>
        <a:xfrm>
          <a:off x="0" y="0"/>
          <a:ext cx="0" cy="0"/>
          <a:chOff x="0" y="0"/>
          <a:chExt cx="0" cy="0"/>
        </a:xfrm>
      </p:grpSpPr>
      <p:sp>
        <p:nvSpPr>
          <p:cNvPr id="114" name="Google Shape;114;p6">
            <a:extLst>
              <a:ext uri="{FF2B5EF4-FFF2-40B4-BE49-F238E27FC236}">
                <a16:creationId xmlns:a16="http://schemas.microsoft.com/office/drawing/2014/main" id="{C8FD1638-A92A-6784-D7D9-67E9108DCF4C}"/>
              </a:ext>
            </a:extLst>
          </p:cNvPr>
          <p:cNvSpPr txBox="1">
            <a:spLocks noGrp="1"/>
          </p:cNvSpPr>
          <p:nvPr>
            <p:ph type="ctrTitle"/>
          </p:nvPr>
        </p:nvSpPr>
        <p:spPr>
          <a:xfrm>
            <a:off x="457200" y="838201"/>
            <a:ext cx="8229600" cy="541368"/>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Method 2: ANOVA Analysis</a:t>
            </a:r>
            <a:endParaRPr lang="en-US"/>
          </a:p>
          <a:p>
            <a:pPr marL="342900" indent="-190500" algn="l">
              <a:spcBef>
                <a:spcPts val="480"/>
              </a:spcBef>
            </a:pPr>
            <a:endParaRPr lang="en-US" sz="2000" b="1">
              <a:solidFill>
                <a:srgbClr val="000000"/>
              </a:solidFill>
              <a:latin typeface="Arial"/>
              <a:cs typeface="Arial"/>
            </a:endParaRPr>
          </a:p>
          <a:p>
            <a:endParaRPr lang="en-US">
              <a:cs typeface="Arial"/>
            </a:endParaRPr>
          </a:p>
        </p:txBody>
      </p:sp>
      <p:sp>
        <p:nvSpPr>
          <p:cNvPr id="9" name="TextBox 8">
            <a:extLst>
              <a:ext uri="{FF2B5EF4-FFF2-40B4-BE49-F238E27FC236}">
                <a16:creationId xmlns:a16="http://schemas.microsoft.com/office/drawing/2014/main" id="{724D44A7-8DE5-CCDF-309B-2C460760B758}"/>
              </a:ext>
            </a:extLst>
          </p:cNvPr>
          <p:cNvSpPr txBox="1"/>
          <p:nvPr/>
        </p:nvSpPr>
        <p:spPr>
          <a:xfrm>
            <a:off x="606739" y="1513785"/>
            <a:ext cx="807760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190500" algn="ctr">
              <a:spcBef>
                <a:spcPts val="480"/>
              </a:spcBef>
            </a:pPr>
            <a:r>
              <a:rPr lang="en-US" sz="2000" b="1"/>
              <a:t>Impact of State and Ethnicity on Cancer Incidence</a:t>
            </a:r>
            <a:endParaRPr lang="en-US"/>
          </a:p>
        </p:txBody>
      </p:sp>
      <p:sp>
        <p:nvSpPr>
          <p:cNvPr id="3" name="Text Placeholder 1">
            <a:extLst>
              <a:ext uri="{FF2B5EF4-FFF2-40B4-BE49-F238E27FC236}">
                <a16:creationId xmlns:a16="http://schemas.microsoft.com/office/drawing/2014/main" id="{39EB6AD7-4DC1-A5AA-CD76-C7AAC465E598}"/>
              </a:ext>
            </a:extLst>
          </p:cNvPr>
          <p:cNvSpPr>
            <a:spLocks noGrp="1"/>
          </p:cNvSpPr>
          <p:nvPr>
            <p:ph type="body" idx="1"/>
          </p:nvPr>
        </p:nvSpPr>
        <p:spPr>
          <a:xfrm>
            <a:off x="607925" y="2071217"/>
            <a:ext cx="8229600" cy="4525963"/>
          </a:xfrm>
        </p:spPr>
        <p:txBody>
          <a:bodyPr/>
          <a:lstStyle/>
          <a:p>
            <a:pPr>
              <a:buNone/>
            </a:pPr>
            <a:endParaRPr lang="en-US" sz="1800" b="1">
              <a:latin typeface="+mn-lt"/>
            </a:endParaRPr>
          </a:p>
          <a:p>
            <a:pPr>
              <a:buNone/>
            </a:pPr>
            <a:r>
              <a:rPr lang="en-US" sz="1800" b="1">
                <a:latin typeface="+mn-lt"/>
              </a:rPr>
              <a:t>Model Summary</a:t>
            </a:r>
            <a:endParaRPr lang="en-US" sz="1800">
              <a:latin typeface="+mn-lt"/>
            </a:endParaRPr>
          </a:p>
          <a:p>
            <a:pPr>
              <a:buNone/>
            </a:pPr>
            <a:endParaRPr lang="en-US" sz="1800" b="1">
              <a:latin typeface="+mn-lt"/>
            </a:endParaRPr>
          </a:p>
          <a:p>
            <a:pPr>
              <a:buNone/>
            </a:pPr>
            <a:endParaRPr lang="en-US" sz="1800"/>
          </a:p>
          <a:p>
            <a:pPr>
              <a:buNone/>
            </a:pPr>
            <a:endParaRPr lang="en-US" sz="1800" b="1">
              <a:latin typeface="+mn-lt"/>
            </a:endParaRPr>
          </a:p>
          <a:p>
            <a:pPr>
              <a:buFont typeface="Arial" panose="020B0604020202020204" pitchFamily="34" charset="0"/>
            </a:pPr>
            <a:endParaRPr lang="en-US" sz="1800" b="1">
              <a:latin typeface="+mn-lt"/>
            </a:endParaRPr>
          </a:p>
          <a:p>
            <a:endParaRPr lang="en-IN" sz="1800">
              <a:latin typeface="+mn-lt"/>
            </a:endParaRPr>
          </a:p>
        </p:txBody>
      </p:sp>
      <p:pic>
        <p:nvPicPr>
          <p:cNvPr id="6" name="Picture 5">
            <a:extLst>
              <a:ext uri="{FF2B5EF4-FFF2-40B4-BE49-F238E27FC236}">
                <a16:creationId xmlns:a16="http://schemas.microsoft.com/office/drawing/2014/main" id="{2A2F95E1-0820-9613-C0B8-A89DCDF2E055}"/>
              </a:ext>
            </a:extLst>
          </p:cNvPr>
          <p:cNvPicPr>
            <a:picLocks noChangeAspect="1"/>
          </p:cNvPicPr>
          <p:nvPr/>
        </p:nvPicPr>
        <p:blipFill>
          <a:blip r:embed="rId3"/>
          <a:stretch>
            <a:fillRect/>
          </a:stretch>
        </p:blipFill>
        <p:spPr>
          <a:xfrm>
            <a:off x="715945" y="2759934"/>
            <a:ext cx="8258490" cy="722671"/>
          </a:xfrm>
          <a:prstGeom prst="rect">
            <a:avLst/>
          </a:prstGeom>
        </p:spPr>
      </p:pic>
      <p:pic>
        <p:nvPicPr>
          <p:cNvPr id="7" name="Picture 6">
            <a:extLst>
              <a:ext uri="{FF2B5EF4-FFF2-40B4-BE49-F238E27FC236}">
                <a16:creationId xmlns:a16="http://schemas.microsoft.com/office/drawing/2014/main" id="{F586C308-3E14-858C-2D73-F4712AECC985}"/>
              </a:ext>
            </a:extLst>
          </p:cNvPr>
          <p:cNvPicPr>
            <a:picLocks noChangeAspect="1"/>
          </p:cNvPicPr>
          <p:nvPr/>
        </p:nvPicPr>
        <p:blipFill>
          <a:blip r:embed="rId4"/>
          <a:stretch>
            <a:fillRect/>
          </a:stretch>
        </p:blipFill>
        <p:spPr>
          <a:xfrm>
            <a:off x="660679" y="4135629"/>
            <a:ext cx="8124093" cy="2065983"/>
          </a:xfrm>
          <a:prstGeom prst="rect">
            <a:avLst/>
          </a:prstGeom>
        </p:spPr>
      </p:pic>
      <p:pic>
        <p:nvPicPr>
          <p:cNvPr id="2" name="Picture 1">
            <a:extLst>
              <a:ext uri="{FF2B5EF4-FFF2-40B4-BE49-F238E27FC236}">
                <a16:creationId xmlns:a16="http://schemas.microsoft.com/office/drawing/2014/main" id="{4A855923-047C-D020-AA1A-AD65AC01A89E}"/>
              </a:ext>
            </a:extLst>
          </p:cNvPr>
          <p:cNvPicPr>
            <a:picLocks noChangeAspect="1"/>
          </p:cNvPicPr>
          <p:nvPr/>
        </p:nvPicPr>
        <p:blipFill>
          <a:blip r:embed="rId5"/>
          <a:stretch>
            <a:fillRect/>
          </a:stretch>
        </p:blipFill>
        <p:spPr>
          <a:xfrm>
            <a:off x="653144" y="3600937"/>
            <a:ext cx="8132885" cy="372072"/>
          </a:xfrm>
          <a:prstGeom prst="rect">
            <a:avLst/>
          </a:prstGeom>
        </p:spPr>
      </p:pic>
    </p:spTree>
    <p:extLst>
      <p:ext uri="{BB962C8B-B14F-4D97-AF65-F5344CB8AC3E}">
        <p14:creationId xmlns:p14="http://schemas.microsoft.com/office/powerpoint/2010/main" val="1092003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B922CCD6-F0BF-25CD-527D-10E009914E83}"/>
            </a:ext>
          </a:extLst>
        </p:cNvPr>
        <p:cNvGrpSpPr/>
        <p:nvPr/>
      </p:nvGrpSpPr>
      <p:grpSpPr>
        <a:xfrm>
          <a:off x="0" y="0"/>
          <a:ext cx="0" cy="0"/>
          <a:chOff x="0" y="0"/>
          <a:chExt cx="0" cy="0"/>
        </a:xfrm>
      </p:grpSpPr>
      <p:sp>
        <p:nvSpPr>
          <p:cNvPr id="114" name="Google Shape;114;p6">
            <a:extLst>
              <a:ext uri="{FF2B5EF4-FFF2-40B4-BE49-F238E27FC236}">
                <a16:creationId xmlns:a16="http://schemas.microsoft.com/office/drawing/2014/main" id="{A732FD43-C6BD-89CC-21EC-38F324C18DF5}"/>
              </a:ext>
            </a:extLst>
          </p:cNvPr>
          <p:cNvSpPr txBox="1">
            <a:spLocks noGrp="1"/>
          </p:cNvSpPr>
          <p:nvPr>
            <p:ph type="ctrTitle"/>
          </p:nvPr>
        </p:nvSpPr>
        <p:spPr>
          <a:xfrm>
            <a:off x="457200" y="838201"/>
            <a:ext cx="8229600" cy="541368"/>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Method 2: ANOVA Analysis</a:t>
            </a:r>
            <a:endParaRPr lang="en-US"/>
          </a:p>
          <a:p>
            <a:pPr marL="342900" indent="-190500" algn="l">
              <a:spcBef>
                <a:spcPts val="480"/>
              </a:spcBef>
            </a:pPr>
            <a:endParaRPr lang="en-US" sz="2000" b="1">
              <a:solidFill>
                <a:srgbClr val="000000"/>
              </a:solidFill>
              <a:latin typeface="Arial"/>
              <a:cs typeface="Arial"/>
            </a:endParaRPr>
          </a:p>
          <a:p>
            <a:endParaRPr lang="en-US">
              <a:cs typeface="Arial"/>
            </a:endParaRPr>
          </a:p>
        </p:txBody>
      </p:sp>
      <p:sp>
        <p:nvSpPr>
          <p:cNvPr id="9" name="TextBox 8">
            <a:extLst>
              <a:ext uri="{FF2B5EF4-FFF2-40B4-BE49-F238E27FC236}">
                <a16:creationId xmlns:a16="http://schemas.microsoft.com/office/drawing/2014/main" id="{83C89CAE-3F7E-A023-2248-B741EE1EC27F}"/>
              </a:ext>
            </a:extLst>
          </p:cNvPr>
          <p:cNvSpPr txBox="1"/>
          <p:nvPr/>
        </p:nvSpPr>
        <p:spPr>
          <a:xfrm>
            <a:off x="606739" y="1513785"/>
            <a:ext cx="807760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190500" algn="ctr">
              <a:spcBef>
                <a:spcPts val="480"/>
              </a:spcBef>
            </a:pPr>
            <a:r>
              <a:rPr lang="en-US" sz="2000" b="1"/>
              <a:t>Impact of State and Ethnicity on Cancer Incidence</a:t>
            </a:r>
            <a:endParaRPr lang="en-US"/>
          </a:p>
        </p:txBody>
      </p:sp>
      <p:sp>
        <p:nvSpPr>
          <p:cNvPr id="3" name="Text Placeholder 1">
            <a:extLst>
              <a:ext uri="{FF2B5EF4-FFF2-40B4-BE49-F238E27FC236}">
                <a16:creationId xmlns:a16="http://schemas.microsoft.com/office/drawing/2014/main" id="{D4DD7B08-8367-D666-BB3B-C6F1BBCDB16B}"/>
              </a:ext>
            </a:extLst>
          </p:cNvPr>
          <p:cNvSpPr>
            <a:spLocks noGrp="1"/>
          </p:cNvSpPr>
          <p:nvPr>
            <p:ph type="body" idx="1"/>
          </p:nvPr>
        </p:nvSpPr>
        <p:spPr>
          <a:xfrm>
            <a:off x="607925" y="2071217"/>
            <a:ext cx="8229600" cy="4525963"/>
          </a:xfrm>
        </p:spPr>
        <p:txBody>
          <a:bodyPr/>
          <a:lstStyle/>
          <a:p>
            <a:pPr>
              <a:buNone/>
            </a:pPr>
            <a:endParaRPr lang="en-US" sz="1800" b="1">
              <a:latin typeface="+mn-lt"/>
            </a:endParaRPr>
          </a:p>
          <a:p>
            <a:pPr>
              <a:buNone/>
            </a:pPr>
            <a:r>
              <a:rPr lang="en-US" sz="1800" b="1">
                <a:latin typeface="+mn-lt"/>
              </a:rPr>
              <a:t>Model Explanation:</a:t>
            </a:r>
          </a:p>
          <a:p>
            <a:pPr>
              <a:buNone/>
            </a:pPr>
            <a:endParaRPr lang="en-US" sz="1800" b="1">
              <a:latin typeface="+mn-lt"/>
            </a:endParaRPr>
          </a:p>
          <a:p>
            <a:r>
              <a:rPr lang="en-US" sz="1600">
                <a:latin typeface="+mn-lt"/>
              </a:rPr>
              <a:t>Both State and Ethnicity have significant effect on cancer incidence, </a:t>
            </a:r>
            <a:r>
              <a:rPr lang="en-US" sz="1600">
                <a:latin typeface="Arial"/>
              </a:rPr>
              <a:t>and these differences are </a:t>
            </a:r>
            <a:r>
              <a:rPr lang="en-US" sz="1600" b="1">
                <a:latin typeface="Arial"/>
              </a:rPr>
              <a:t>unlikely caused by random chance, but by those factors</a:t>
            </a:r>
            <a:r>
              <a:rPr lang="en-US" sz="1600">
                <a:latin typeface="Arial"/>
              </a:rPr>
              <a:t>.</a:t>
            </a:r>
          </a:p>
          <a:p>
            <a:r>
              <a:rPr lang="en-US" sz="1600">
                <a:latin typeface="Arial"/>
              </a:rPr>
              <a:t>The interactive effect is also significant, suggesting the effect of ethnicity varies by state. This suggests that both geographic and demographic contexts jointly affect cancer risk, indicating the importance of localized public health strategies to improve cancer incidence rate. </a:t>
            </a:r>
          </a:p>
          <a:p>
            <a:r>
              <a:rPr lang="en-US" sz="1600" b="1"/>
              <a:t>Ethnicity has a stronger effect</a:t>
            </a:r>
            <a:r>
              <a:rPr lang="en-US" sz="1600"/>
              <a:t>: The Mean Square (Mean Sq) for Ethnicity is </a:t>
            </a:r>
            <a:r>
              <a:rPr lang="en-US" sz="1600" b="1"/>
              <a:t>much larger</a:t>
            </a:r>
            <a:r>
              <a:rPr lang="en-US" sz="1600"/>
              <a:t> than that for </a:t>
            </a:r>
            <a:r>
              <a:rPr lang="en-US" sz="1600" err="1"/>
              <a:t>LocationDesc</a:t>
            </a:r>
            <a:r>
              <a:rPr lang="en-US" sz="1600"/>
              <a:t> (2,571,158 vs. 41,752), indicating that ethnicity explains a larger portion of the variation in cancer incidence than geographic location. This could reflect deep-rooted differences in lifestyle, healthcare access, socioeconomic status, and cultural health behaviors.</a:t>
            </a:r>
            <a:endParaRPr lang="en-US" sz="1600">
              <a:latin typeface="Arial"/>
            </a:endParaRPr>
          </a:p>
          <a:p>
            <a:endParaRPr lang="en-US" sz="1600">
              <a:latin typeface="Arial"/>
            </a:endParaRPr>
          </a:p>
          <a:p>
            <a:endParaRPr lang="en-US" sz="1600">
              <a:latin typeface="Arial"/>
            </a:endParaRPr>
          </a:p>
          <a:p>
            <a:endParaRPr lang="en-US" sz="1600">
              <a:latin typeface="Arial"/>
            </a:endParaRPr>
          </a:p>
          <a:p>
            <a:endParaRPr lang="en-US" sz="1600">
              <a:latin typeface="Arial"/>
            </a:endParaRPr>
          </a:p>
          <a:p>
            <a:pPr>
              <a:buNone/>
            </a:pPr>
            <a:endParaRPr lang="en-US" sz="1800" b="1">
              <a:latin typeface="Arial"/>
            </a:endParaRPr>
          </a:p>
          <a:p>
            <a:pPr>
              <a:buNone/>
            </a:pPr>
            <a:endParaRPr lang="en-US" sz="1800" b="1">
              <a:latin typeface="Arial"/>
            </a:endParaRPr>
          </a:p>
          <a:p>
            <a:pPr>
              <a:buNone/>
            </a:pPr>
            <a:endParaRPr lang="en-US" sz="1800"/>
          </a:p>
          <a:p>
            <a:pPr>
              <a:buNone/>
            </a:pPr>
            <a:endParaRPr lang="en-US" sz="1800" b="1">
              <a:latin typeface="+mn-lt"/>
            </a:endParaRPr>
          </a:p>
          <a:p>
            <a:pPr>
              <a:buFont typeface="Arial" panose="020B0604020202020204" pitchFamily="34" charset="0"/>
            </a:pPr>
            <a:endParaRPr lang="en-US" sz="1800">
              <a:latin typeface="+mn-lt"/>
            </a:endParaRPr>
          </a:p>
          <a:p>
            <a:endParaRPr lang="en-IN" sz="1800">
              <a:latin typeface="+mn-lt"/>
            </a:endParaRPr>
          </a:p>
        </p:txBody>
      </p:sp>
    </p:spTree>
    <p:extLst>
      <p:ext uri="{BB962C8B-B14F-4D97-AF65-F5344CB8AC3E}">
        <p14:creationId xmlns:p14="http://schemas.microsoft.com/office/powerpoint/2010/main" val="1220790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D110B7CC-BB5B-2F69-430C-69C970E8F53F}"/>
            </a:ext>
          </a:extLst>
        </p:cNvPr>
        <p:cNvGrpSpPr/>
        <p:nvPr/>
      </p:nvGrpSpPr>
      <p:grpSpPr>
        <a:xfrm>
          <a:off x="0" y="0"/>
          <a:ext cx="0" cy="0"/>
          <a:chOff x="0" y="0"/>
          <a:chExt cx="0" cy="0"/>
        </a:xfrm>
      </p:grpSpPr>
      <p:sp>
        <p:nvSpPr>
          <p:cNvPr id="114" name="Google Shape;114;p6">
            <a:extLst>
              <a:ext uri="{FF2B5EF4-FFF2-40B4-BE49-F238E27FC236}">
                <a16:creationId xmlns:a16="http://schemas.microsoft.com/office/drawing/2014/main" id="{3668C243-57EB-845C-13FE-F860E4030099}"/>
              </a:ext>
            </a:extLst>
          </p:cNvPr>
          <p:cNvSpPr txBox="1">
            <a:spLocks noGrp="1"/>
          </p:cNvSpPr>
          <p:nvPr>
            <p:ph type="ctrTitle"/>
          </p:nvPr>
        </p:nvSpPr>
        <p:spPr>
          <a:xfrm>
            <a:off x="457200" y="838201"/>
            <a:ext cx="8229600" cy="541368"/>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Method 2: ANOVA Analysis</a:t>
            </a:r>
            <a:endParaRPr lang="en-US"/>
          </a:p>
          <a:p>
            <a:pPr marL="342900" indent="-190500" algn="l">
              <a:spcBef>
                <a:spcPts val="480"/>
              </a:spcBef>
            </a:pPr>
            <a:endParaRPr lang="en-US" sz="2000" b="1">
              <a:solidFill>
                <a:srgbClr val="000000"/>
              </a:solidFill>
              <a:latin typeface="Arial"/>
              <a:cs typeface="Arial"/>
            </a:endParaRPr>
          </a:p>
          <a:p>
            <a:endParaRPr lang="en-US">
              <a:cs typeface="Arial"/>
            </a:endParaRPr>
          </a:p>
        </p:txBody>
      </p:sp>
      <p:sp>
        <p:nvSpPr>
          <p:cNvPr id="3" name="Text Placeholder 1">
            <a:extLst>
              <a:ext uri="{FF2B5EF4-FFF2-40B4-BE49-F238E27FC236}">
                <a16:creationId xmlns:a16="http://schemas.microsoft.com/office/drawing/2014/main" id="{67248C3E-3B1F-75D5-5A94-230AFC7181A2}"/>
              </a:ext>
            </a:extLst>
          </p:cNvPr>
          <p:cNvSpPr>
            <a:spLocks noGrp="1"/>
          </p:cNvSpPr>
          <p:nvPr>
            <p:ph type="body" idx="1"/>
          </p:nvPr>
        </p:nvSpPr>
        <p:spPr>
          <a:xfrm>
            <a:off x="457200" y="1386673"/>
            <a:ext cx="2841172" cy="1473778"/>
          </a:xfrm>
        </p:spPr>
        <p:txBody>
          <a:bodyPr/>
          <a:lstStyle/>
          <a:p>
            <a:pPr>
              <a:buNone/>
            </a:pPr>
            <a:r>
              <a:rPr lang="en-US" sz="1800" b="1">
                <a:latin typeface="+mn-lt"/>
              </a:rPr>
              <a:t>Model Diagnosis</a:t>
            </a:r>
            <a:endParaRPr lang="en-US"/>
          </a:p>
          <a:p>
            <a:r>
              <a:rPr lang="en-US" sz="1400">
                <a:latin typeface="Arial"/>
              </a:rPr>
              <a:t>Residuals vs Fitted       </a:t>
            </a:r>
          </a:p>
          <a:p>
            <a:r>
              <a:rPr lang="en-US" sz="1400"/>
              <a:t>Q-Q Plot</a:t>
            </a:r>
          </a:p>
          <a:p>
            <a:endParaRPr lang="en-US" sz="1600" b="1"/>
          </a:p>
          <a:p>
            <a:endParaRPr lang="en-US" sz="1800" b="1">
              <a:latin typeface="Arial"/>
            </a:endParaRPr>
          </a:p>
          <a:p>
            <a:pPr>
              <a:buNone/>
            </a:pPr>
            <a:endParaRPr lang="en-US" sz="1800" b="1">
              <a:latin typeface="Arial"/>
            </a:endParaRPr>
          </a:p>
          <a:p>
            <a:pPr>
              <a:buNone/>
            </a:pPr>
            <a:endParaRPr lang="en-US" sz="1800" b="1">
              <a:latin typeface="Arial"/>
            </a:endParaRPr>
          </a:p>
          <a:p>
            <a:pPr marL="114300" indent="0">
              <a:buNone/>
            </a:pPr>
            <a:endParaRPr lang="en-US" sz="1600">
              <a:latin typeface="Arial"/>
            </a:endParaRPr>
          </a:p>
          <a:p>
            <a:endParaRPr lang="en-US" sz="1600">
              <a:latin typeface="Arial"/>
            </a:endParaRPr>
          </a:p>
          <a:p>
            <a:endParaRPr lang="en-US" sz="1600">
              <a:latin typeface="Arial"/>
            </a:endParaRPr>
          </a:p>
          <a:p>
            <a:endParaRPr lang="en-US" sz="1600">
              <a:latin typeface="Arial"/>
            </a:endParaRPr>
          </a:p>
          <a:p>
            <a:pPr>
              <a:buNone/>
            </a:pPr>
            <a:endParaRPr lang="en-US" sz="1800" b="1">
              <a:latin typeface="Arial"/>
            </a:endParaRPr>
          </a:p>
          <a:p>
            <a:pPr>
              <a:buNone/>
            </a:pPr>
            <a:endParaRPr lang="en-US" sz="1800" b="1">
              <a:latin typeface="Arial"/>
            </a:endParaRPr>
          </a:p>
          <a:p>
            <a:pPr>
              <a:buNone/>
            </a:pPr>
            <a:endParaRPr lang="en-US" sz="1800"/>
          </a:p>
          <a:p>
            <a:pPr>
              <a:buNone/>
            </a:pPr>
            <a:endParaRPr lang="en-US" sz="1800" b="1">
              <a:latin typeface="Arial"/>
            </a:endParaRPr>
          </a:p>
          <a:p>
            <a:pPr>
              <a:buFont typeface="Arial" panose="020B0604020202020204" pitchFamily="34" charset="0"/>
              <a:buChar char="•"/>
            </a:pPr>
            <a:endParaRPr lang="en-US" sz="1800">
              <a:latin typeface="+mn-lt"/>
            </a:endParaRPr>
          </a:p>
          <a:p>
            <a:endParaRPr lang="en-IN" sz="1800">
              <a:latin typeface="+mn-lt"/>
            </a:endParaRPr>
          </a:p>
        </p:txBody>
      </p:sp>
      <p:pic>
        <p:nvPicPr>
          <p:cNvPr id="2" name="Picture 1">
            <a:extLst>
              <a:ext uri="{FF2B5EF4-FFF2-40B4-BE49-F238E27FC236}">
                <a16:creationId xmlns:a16="http://schemas.microsoft.com/office/drawing/2014/main" id="{09F36801-D4B7-A5E9-63E5-BDF1A2CF4244}"/>
              </a:ext>
            </a:extLst>
          </p:cNvPr>
          <p:cNvPicPr>
            <a:picLocks noChangeAspect="1"/>
          </p:cNvPicPr>
          <p:nvPr/>
        </p:nvPicPr>
        <p:blipFill>
          <a:blip r:embed="rId3"/>
          <a:stretch>
            <a:fillRect/>
          </a:stretch>
        </p:blipFill>
        <p:spPr>
          <a:xfrm>
            <a:off x="105821" y="2873935"/>
            <a:ext cx="4203352" cy="3345891"/>
          </a:xfrm>
          <a:prstGeom prst="rect">
            <a:avLst/>
          </a:prstGeom>
        </p:spPr>
      </p:pic>
      <p:pic>
        <p:nvPicPr>
          <p:cNvPr id="4" name="Picture 3">
            <a:extLst>
              <a:ext uri="{FF2B5EF4-FFF2-40B4-BE49-F238E27FC236}">
                <a16:creationId xmlns:a16="http://schemas.microsoft.com/office/drawing/2014/main" id="{623BBE80-62F8-008B-E813-5139FB98A6CF}"/>
              </a:ext>
            </a:extLst>
          </p:cNvPr>
          <p:cNvPicPr>
            <a:picLocks noChangeAspect="1"/>
          </p:cNvPicPr>
          <p:nvPr/>
        </p:nvPicPr>
        <p:blipFill>
          <a:blip r:embed="rId4"/>
          <a:stretch>
            <a:fillRect/>
          </a:stretch>
        </p:blipFill>
        <p:spPr>
          <a:xfrm>
            <a:off x="4341934" y="2865874"/>
            <a:ext cx="4184301" cy="3217565"/>
          </a:xfrm>
          <a:prstGeom prst="rect">
            <a:avLst/>
          </a:prstGeom>
        </p:spPr>
      </p:pic>
      <p:cxnSp>
        <p:nvCxnSpPr>
          <p:cNvPr id="5" name="Straight Arrow Connector 4">
            <a:extLst>
              <a:ext uri="{FF2B5EF4-FFF2-40B4-BE49-F238E27FC236}">
                <a16:creationId xmlns:a16="http://schemas.microsoft.com/office/drawing/2014/main" id="{DD3A75FA-C675-2222-DE99-D64F16D8A019}"/>
              </a:ext>
            </a:extLst>
          </p:cNvPr>
          <p:cNvCxnSpPr/>
          <p:nvPr/>
        </p:nvCxnSpPr>
        <p:spPr>
          <a:xfrm flipV="1">
            <a:off x="2864710" y="2462893"/>
            <a:ext cx="857250" cy="5073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4F707D9-C388-674D-00E0-407B179DA201}"/>
              </a:ext>
            </a:extLst>
          </p:cNvPr>
          <p:cNvSpPr txBox="1"/>
          <p:nvPr/>
        </p:nvSpPr>
        <p:spPr>
          <a:xfrm>
            <a:off x="3293045" y="1916398"/>
            <a:ext cx="172368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Heteroscedasticity: Log Transformation</a:t>
            </a:r>
          </a:p>
        </p:txBody>
      </p:sp>
      <p:cxnSp>
        <p:nvCxnSpPr>
          <p:cNvPr id="7" name="Straight Arrow Connector 6">
            <a:extLst>
              <a:ext uri="{FF2B5EF4-FFF2-40B4-BE49-F238E27FC236}">
                <a16:creationId xmlns:a16="http://schemas.microsoft.com/office/drawing/2014/main" id="{606C5F5C-9CF5-B98C-F4A6-C29A116A226D}"/>
              </a:ext>
            </a:extLst>
          </p:cNvPr>
          <p:cNvCxnSpPr>
            <a:cxnSpLocks/>
          </p:cNvCxnSpPr>
          <p:nvPr/>
        </p:nvCxnSpPr>
        <p:spPr>
          <a:xfrm flipH="1" flipV="1">
            <a:off x="6435014" y="2343569"/>
            <a:ext cx="91063" cy="6517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B34EEBD-2596-C9A5-F0AF-45F07C1812B0}"/>
              </a:ext>
            </a:extLst>
          </p:cNvPr>
          <p:cNvSpPr txBox="1"/>
          <p:nvPr/>
        </p:nvSpPr>
        <p:spPr>
          <a:xfrm>
            <a:off x="5585325" y="1715431"/>
            <a:ext cx="294204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404040"/>
                </a:solidFill>
              </a:rPr>
              <a:t>The residual distribution essentially satisfies the normality assumption, with only a few abnormal values.</a:t>
            </a:r>
          </a:p>
          <a:p>
            <a:endParaRPr lang="en-US" sz="1200">
              <a:solidFill>
                <a:srgbClr val="404040"/>
              </a:solidFill>
            </a:endParaRPr>
          </a:p>
        </p:txBody>
      </p:sp>
    </p:spTree>
    <p:extLst>
      <p:ext uri="{BB962C8B-B14F-4D97-AF65-F5344CB8AC3E}">
        <p14:creationId xmlns:p14="http://schemas.microsoft.com/office/powerpoint/2010/main" val="3599339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7DA6CA41-4966-2864-98A0-E0B6E15D3066}"/>
            </a:ext>
          </a:extLst>
        </p:cNvPr>
        <p:cNvGrpSpPr/>
        <p:nvPr/>
      </p:nvGrpSpPr>
      <p:grpSpPr>
        <a:xfrm>
          <a:off x="0" y="0"/>
          <a:ext cx="0" cy="0"/>
          <a:chOff x="0" y="0"/>
          <a:chExt cx="0" cy="0"/>
        </a:xfrm>
      </p:grpSpPr>
      <p:sp>
        <p:nvSpPr>
          <p:cNvPr id="114" name="Google Shape;114;p6">
            <a:extLst>
              <a:ext uri="{FF2B5EF4-FFF2-40B4-BE49-F238E27FC236}">
                <a16:creationId xmlns:a16="http://schemas.microsoft.com/office/drawing/2014/main" id="{6C0FADFF-1678-6BD9-51B1-F6244346FA71}"/>
              </a:ext>
            </a:extLst>
          </p:cNvPr>
          <p:cNvSpPr txBox="1">
            <a:spLocks noGrp="1"/>
          </p:cNvSpPr>
          <p:nvPr>
            <p:ph type="ctrTitle"/>
          </p:nvPr>
        </p:nvSpPr>
        <p:spPr>
          <a:xfrm>
            <a:off x="457200" y="838201"/>
            <a:ext cx="8229600" cy="541368"/>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Method 2: ANOVA Analysis</a:t>
            </a:r>
            <a:endParaRPr lang="en-US"/>
          </a:p>
          <a:p>
            <a:pPr marL="342900" indent="-190500" algn="l">
              <a:spcBef>
                <a:spcPts val="480"/>
              </a:spcBef>
            </a:pPr>
            <a:endParaRPr lang="en-US" sz="2000" b="1">
              <a:solidFill>
                <a:srgbClr val="000000"/>
              </a:solidFill>
              <a:latin typeface="Arial"/>
              <a:cs typeface="Arial"/>
            </a:endParaRPr>
          </a:p>
          <a:p>
            <a:pPr marL="285750" indent="-285750" algn="l">
              <a:spcBef>
                <a:spcPts val="360"/>
              </a:spcBef>
              <a:buChar char="•"/>
            </a:pPr>
            <a:r>
              <a:rPr lang="en-US" sz="1400">
                <a:solidFill>
                  <a:srgbClr val="000000"/>
                </a:solidFill>
                <a:latin typeface="Helvetica Neue"/>
                <a:cs typeface="Arial"/>
              </a:rPr>
              <a:t>Scale-Location Plot</a:t>
            </a:r>
          </a:p>
          <a:p>
            <a:endParaRPr lang="en-US">
              <a:cs typeface="Arial"/>
            </a:endParaRPr>
          </a:p>
        </p:txBody>
      </p:sp>
      <p:pic>
        <p:nvPicPr>
          <p:cNvPr id="7" name="Picture 6">
            <a:extLst>
              <a:ext uri="{FF2B5EF4-FFF2-40B4-BE49-F238E27FC236}">
                <a16:creationId xmlns:a16="http://schemas.microsoft.com/office/drawing/2014/main" id="{98CA5ADD-B658-8C02-56A5-2A9865DC874F}"/>
              </a:ext>
            </a:extLst>
          </p:cNvPr>
          <p:cNvPicPr>
            <a:picLocks noChangeAspect="1"/>
          </p:cNvPicPr>
          <p:nvPr/>
        </p:nvPicPr>
        <p:blipFill>
          <a:blip r:embed="rId3"/>
          <a:stretch>
            <a:fillRect/>
          </a:stretch>
        </p:blipFill>
        <p:spPr>
          <a:xfrm>
            <a:off x="2519416" y="1711882"/>
            <a:ext cx="4513383" cy="3396553"/>
          </a:xfrm>
          <a:prstGeom prst="rect">
            <a:avLst/>
          </a:prstGeom>
        </p:spPr>
      </p:pic>
      <p:cxnSp>
        <p:nvCxnSpPr>
          <p:cNvPr id="3" name="Straight Arrow Connector 2">
            <a:extLst>
              <a:ext uri="{FF2B5EF4-FFF2-40B4-BE49-F238E27FC236}">
                <a16:creationId xmlns:a16="http://schemas.microsoft.com/office/drawing/2014/main" id="{3D290C07-8F56-CA42-98A3-C31A2029C08E}"/>
              </a:ext>
            </a:extLst>
          </p:cNvPr>
          <p:cNvCxnSpPr/>
          <p:nvPr/>
        </p:nvCxnSpPr>
        <p:spPr>
          <a:xfrm flipH="1">
            <a:off x="1869294" y="5237353"/>
            <a:ext cx="511838" cy="635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1C18FD4-372C-DC9B-07EC-B9ED6882DEE9}"/>
              </a:ext>
            </a:extLst>
          </p:cNvPr>
          <p:cNvSpPr txBox="1"/>
          <p:nvPr/>
        </p:nvSpPr>
        <p:spPr>
          <a:xfrm>
            <a:off x="284820" y="5891777"/>
            <a:ext cx="507732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Red Line Rising: </a:t>
            </a:r>
            <a:r>
              <a:rPr lang="en-US">
                <a:highlight>
                  <a:srgbClr val="FFFF00"/>
                </a:highlight>
              </a:rPr>
              <a:t>Confirm Heteroscedasticity</a:t>
            </a:r>
          </a:p>
          <a:p>
            <a:r>
              <a:rPr lang="en-US"/>
              <a:t>Abnormal: 1024, 772</a:t>
            </a:r>
          </a:p>
        </p:txBody>
      </p:sp>
    </p:spTree>
    <p:extLst>
      <p:ext uri="{BB962C8B-B14F-4D97-AF65-F5344CB8AC3E}">
        <p14:creationId xmlns:p14="http://schemas.microsoft.com/office/powerpoint/2010/main" val="2957771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4705FC48-1CD3-64C7-D72C-A9CBDAAA8D52}"/>
            </a:ext>
          </a:extLst>
        </p:cNvPr>
        <p:cNvGrpSpPr/>
        <p:nvPr/>
      </p:nvGrpSpPr>
      <p:grpSpPr>
        <a:xfrm>
          <a:off x="0" y="0"/>
          <a:ext cx="0" cy="0"/>
          <a:chOff x="0" y="0"/>
          <a:chExt cx="0" cy="0"/>
        </a:xfrm>
      </p:grpSpPr>
      <p:sp>
        <p:nvSpPr>
          <p:cNvPr id="114" name="Google Shape;114;p6">
            <a:extLst>
              <a:ext uri="{FF2B5EF4-FFF2-40B4-BE49-F238E27FC236}">
                <a16:creationId xmlns:a16="http://schemas.microsoft.com/office/drawing/2014/main" id="{4527393A-DA69-423B-4077-A27155919DB8}"/>
              </a:ext>
            </a:extLst>
          </p:cNvPr>
          <p:cNvSpPr txBox="1">
            <a:spLocks noGrp="1"/>
          </p:cNvSpPr>
          <p:nvPr>
            <p:ph type="ctrTitle"/>
          </p:nvPr>
        </p:nvSpPr>
        <p:spPr>
          <a:xfrm>
            <a:off x="457200" y="838201"/>
            <a:ext cx="8229600" cy="541368"/>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Method 2: ANOVA Analysis</a:t>
            </a:r>
            <a:endParaRPr lang="en-US"/>
          </a:p>
          <a:p>
            <a:pPr marL="342900" indent="-190500" algn="l">
              <a:spcBef>
                <a:spcPts val="480"/>
              </a:spcBef>
            </a:pPr>
            <a:endParaRPr lang="en-US" sz="2000" b="1">
              <a:solidFill>
                <a:srgbClr val="000000"/>
              </a:solidFill>
              <a:latin typeface="Arial"/>
              <a:cs typeface="Arial"/>
            </a:endParaRPr>
          </a:p>
          <a:p>
            <a:pPr marL="285750" indent="-285750" algn="l">
              <a:spcBef>
                <a:spcPts val="360"/>
              </a:spcBef>
              <a:buChar char="•"/>
            </a:pPr>
            <a:r>
              <a:rPr lang="en-US" sz="1400">
                <a:solidFill>
                  <a:srgbClr val="000000"/>
                </a:solidFill>
                <a:latin typeface="Helvetica Neue"/>
                <a:cs typeface="Arial"/>
              </a:rPr>
              <a:t>Residuals vs Leverage</a:t>
            </a:r>
          </a:p>
          <a:p>
            <a:endParaRPr lang="en-US">
              <a:cs typeface="Arial"/>
            </a:endParaRPr>
          </a:p>
        </p:txBody>
      </p:sp>
      <p:pic>
        <p:nvPicPr>
          <p:cNvPr id="8" name="Picture 7">
            <a:extLst>
              <a:ext uri="{FF2B5EF4-FFF2-40B4-BE49-F238E27FC236}">
                <a16:creationId xmlns:a16="http://schemas.microsoft.com/office/drawing/2014/main" id="{2D4135FE-B51A-6694-D320-5801D3C7BC94}"/>
              </a:ext>
            </a:extLst>
          </p:cNvPr>
          <p:cNvPicPr>
            <a:picLocks noChangeAspect="1"/>
          </p:cNvPicPr>
          <p:nvPr/>
        </p:nvPicPr>
        <p:blipFill>
          <a:blip r:embed="rId3"/>
          <a:stretch>
            <a:fillRect/>
          </a:stretch>
        </p:blipFill>
        <p:spPr>
          <a:xfrm>
            <a:off x="2780777" y="1712302"/>
            <a:ext cx="4417715" cy="3408275"/>
          </a:xfrm>
          <a:prstGeom prst="rect">
            <a:avLst/>
          </a:prstGeom>
        </p:spPr>
      </p:pic>
      <p:cxnSp>
        <p:nvCxnSpPr>
          <p:cNvPr id="3" name="Straight Arrow Connector 2">
            <a:extLst>
              <a:ext uri="{FF2B5EF4-FFF2-40B4-BE49-F238E27FC236}">
                <a16:creationId xmlns:a16="http://schemas.microsoft.com/office/drawing/2014/main" id="{7CB75A7B-F2B0-72D2-885B-ED86591DC87A}"/>
              </a:ext>
            </a:extLst>
          </p:cNvPr>
          <p:cNvCxnSpPr/>
          <p:nvPr/>
        </p:nvCxnSpPr>
        <p:spPr>
          <a:xfrm flipH="1">
            <a:off x="2949492" y="5136869"/>
            <a:ext cx="511838" cy="635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393E184-E1C1-6D46-0A22-4F273B824715}"/>
              </a:ext>
            </a:extLst>
          </p:cNvPr>
          <p:cNvSpPr txBox="1"/>
          <p:nvPr/>
        </p:nvSpPr>
        <p:spPr>
          <a:xfrm>
            <a:off x="284820" y="5847816"/>
            <a:ext cx="885801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High Leverage Values: 601, 121(abnormal) -------&gt; Cook's distance to further confirm and sensitive analysis</a:t>
            </a:r>
          </a:p>
        </p:txBody>
      </p:sp>
    </p:spTree>
    <p:extLst>
      <p:ext uri="{BB962C8B-B14F-4D97-AF65-F5344CB8AC3E}">
        <p14:creationId xmlns:p14="http://schemas.microsoft.com/office/powerpoint/2010/main" val="1639799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C38CC6C-7F3D-548F-88B8-177A9E726A97}"/>
              </a:ext>
            </a:extLst>
          </p:cNvPr>
          <p:cNvSpPr>
            <a:spLocks noGrp="1"/>
          </p:cNvSpPr>
          <p:nvPr>
            <p:ph type="body" idx="1"/>
          </p:nvPr>
        </p:nvSpPr>
        <p:spPr>
          <a:xfrm>
            <a:off x="553239" y="1463176"/>
            <a:ext cx="8083977" cy="2695622"/>
          </a:xfrm>
        </p:spPr>
        <p:txBody>
          <a:bodyPr/>
          <a:lstStyle/>
          <a:p>
            <a:pPr marL="114300" indent="0">
              <a:lnSpc>
                <a:spcPct val="150000"/>
              </a:lnSpc>
              <a:buNone/>
            </a:pPr>
            <a:r>
              <a:rPr lang="en-US" sz="2000" b="1">
                <a:cs typeface="Times New Roman"/>
              </a:rPr>
              <a:t>Background &amp; Motivation</a:t>
            </a:r>
          </a:p>
          <a:p>
            <a:pPr marL="285750" indent="-285750"/>
            <a:r>
              <a:rPr lang="en-US" sz="2000" b="1">
                <a:cs typeface="Times New Roman"/>
              </a:rPr>
              <a:t>CDC Chronic Disease Indicators:</a:t>
            </a:r>
            <a:r>
              <a:rPr lang="en-US" sz="2000">
                <a:cs typeface="Times New Roman"/>
              </a:rPr>
              <a:t> Tracks dozens of </a:t>
            </a:r>
            <a:r>
              <a:rPr lang="en-US" sz="2000" b="1">
                <a:cs typeface="Times New Roman"/>
              </a:rPr>
              <a:t>health metrics</a:t>
            </a:r>
            <a:r>
              <a:rPr lang="en-US" sz="2000">
                <a:cs typeface="Times New Roman"/>
              </a:rPr>
              <a:t> across the U.S.</a:t>
            </a:r>
          </a:p>
          <a:p>
            <a:pPr marL="285750" indent="-285750"/>
            <a:r>
              <a:rPr lang="en-US" sz="2000" b="1">
                <a:cs typeface="Times New Roman"/>
              </a:rPr>
              <a:t>Why “Health Status”:</a:t>
            </a:r>
            <a:r>
              <a:rPr lang="en-US" sz="2000">
                <a:cs typeface="Times New Roman"/>
              </a:rPr>
              <a:t> This topic accounts for 8.28% of records as a representative.</a:t>
            </a:r>
            <a:endParaRPr lang="en-US"/>
          </a:p>
          <a:p>
            <a:pPr marL="285750" indent="-285750"/>
            <a:r>
              <a:rPr lang="en-US" sz="2000" b="1">
                <a:cs typeface="Times New Roman"/>
              </a:rPr>
              <a:t>Our goal: </a:t>
            </a:r>
            <a:r>
              <a:rPr lang="en-US" sz="2000">
                <a:cs typeface="Times New Roman"/>
              </a:rPr>
              <a:t>Using survey indicators to predict whether an individual falls into ‘Very Healthy,’ ‘Moderately Healthy,’ or ‘Unhealthy. ’</a:t>
            </a:r>
          </a:p>
          <a:p>
            <a:pPr marL="114300" indent="0">
              <a:lnSpc>
                <a:spcPct val="150000"/>
              </a:lnSpc>
              <a:buNone/>
            </a:pPr>
            <a:endParaRPr lang="en-US" sz="2000" b="1">
              <a:latin typeface="Arial"/>
              <a:cs typeface="Times New Roman"/>
            </a:endParaRPr>
          </a:p>
          <a:p>
            <a:pPr marL="114300" indent="0">
              <a:lnSpc>
                <a:spcPct val="150000"/>
              </a:lnSpc>
              <a:buNone/>
            </a:pPr>
            <a:endParaRPr lang="en-US" sz="2000" b="1">
              <a:latin typeface="Arial"/>
              <a:cs typeface="Times New Roman"/>
            </a:endParaRPr>
          </a:p>
          <a:p>
            <a:pPr marL="114300" indent="0">
              <a:lnSpc>
                <a:spcPct val="150000"/>
              </a:lnSpc>
              <a:buNone/>
            </a:pPr>
            <a:endParaRPr lang="en-US" sz="2000" b="1">
              <a:latin typeface="Arial"/>
              <a:cs typeface="Times New Roman"/>
            </a:endParaRPr>
          </a:p>
        </p:txBody>
      </p:sp>
      <p:sp>
        <p:nvSpPr>
          <p:cNvPr id="3" name="Title 2">
            <a:extLst>
              <a:ext uri="{FF2B5EF4-FFF2-40B4-BE49-F238E27FC236}">
                <a16:creationId xmlns:a16="http://schemas.microsoft.com/office/drawing/2014/main" id="{E08D3EBF-6ECD-AB77-D958-0F1709E177B7}"/>
              </a:ext>
            </a:extLst>
          </p:cNvPr>
          <p:cNvSpPr>
            <a:spLocks noGrp="1"/>
          </p:cNvSpPr>
          <p:nvPr>
            <p:ph type="ctrTitle"/>
          </p:nvPr>
        </p:nvSpPr>
        <p:spPr>
          <a:xfrm>
            <a:off x="457200" y="710610"/>
            <a:ext cx="8229600" cy="762000"/>
          </a:xfrm>
        </p:spPr>
        <p:txBody>
          <a:bodyPr/>
          <a:lstStyle/>
          <a:p>
            <a:r>
              <a:rPr lang="en-US">
                <a:latin typeface="Times New Roman"/>
                <a:cs typeface="Times New Roman"/>
              </a:rPr>
              <a:t>Method 3: Logistics Regression Analysis</a:t>
            </a:r>
            <a:endParaRPr lang="en-US"/>
          </a:p>
        </p:txBody>
      </p:sp>
      <p:pic>
        <p:nvPicPr>
          <p:cNvPr id="5" name="Picture 4" descr="A close-up of a white background&#10;&#10;AI-generated content may be incorrect.">
            <a:extLst>
              <a:ext uri="{FF2B5EF4-FFF2-40B4-BE49-F238E27FC236}">
                <a16:creationId xmlns:a16="http://schemas.microsoft.com/office/drawing/2014/main" id="{61896660-75D4-4044-EA66-94647E27E716}"/>
              </a:ext>
            </a:extLst>
          </p:cNvPr>
          <p:cNvPicPr>
            <a:picLocks noChangeAspect="1"/>
          </p:cNvPicPr>
          <p:nvPr/>
        </p:nvPicPr>
        <p:blipFill>
          <a:blip r:embed="rId3"/>
          <a:stretch>
            <a:fillRect/>
          </a:stretch>
        </p:blipFill>
        <p:spPr>
          <a:xfrm>
            <a:off x="359895" y="4293364"/>
            <a:ext cx="8430875" cy="2216789"/>
          </a:xfrm>
          <a:prstGeom prst="rect">
            <a:avLst/>
          </a:prstGeom>
        </p:spPr>
      </p:pic>
    </p:spTree>
    <p:extLst>
      <p:ext uri="{BB962C8B-B14F-4D97-AF65-F5344CB8AC3E}">
        <p14:creationId xmlns:p14="http://schemas.microsoft.com/office/powerpoint/2010/main" val="2462148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5"/>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Data Overview &amp; Exploration</a:t>
            </a:r>
            <a:endParaRPr lang="en-US"/>
          </a:p>
        </p:txBody>
      </p:sp>
      <p:sp>
        <p:nvSpPr>
          <p:cNvPr id="3" name="Text Placeholder 2">
            <a:extLst>
              <a:ext uri="{FF2B5EF4-FFF2-40B4-BE49-F238E27FC236}">
                <a16:creationId xmlns:a16="http://schemas.microsoft.com/office/drawing/2014/main" id="{9AB263AA-9585-00BB-EC77-3B4E1301A501}"/>
              </a:ext>
            </a:extLst>
          </p:cNvPr>
          <p:cNvSpPr>
            <a:spLocks noGrp="1"/>
          </p:cNvSpPr>
          <p:nvPr>
            <p:ph type="body" idx="1"/>
          </p:nvPr>
        </p:nvSpPr>
        <p:spPr>
          <a:xfrm>
            <a:off x="457200" y="1600200"/>
            <a:ext cx="8229600" cy="1633474"/>
          </a:xfrm>
        </p:spPr>
        <p:txBody>
          <a:bodyPr/>
          <a:lstStyle/>
          <a:p>
            <a:pPr marL="114300" indent="0">
              <a:lnSpc>
                <a:spcPct val="150000"/>
              </a:lnSpc>
              <a:buNone/>
            </a:pPr>
            <a:r>
              <a:rPr lang="en-US" sz="2000" b="1">
                <a:cs typeface="Times New Roman"/>
              </a:rPr>
              <a:t>Data Size &amp; Types: </a:t>
            </a:r>
            <a:r>
              <a:rPr lang="en-US" sz="2000">
                <a:cs typeface="Times New Roman"/>
              </a:rPr>
              <a:t>Up to 25300 rows after extraction, divided by questions, data value type, and data value unit.</a:t>
            </a:r>
            <a:endParaRPr lang="en-US">
              <a:cs typeface="Times New Roman"/>
            </a:endParaRPr>
          </a:p>
          <a:p>
            <a:pPr marL="114300" indent="0">
              <a:lnSpc>
                <a:spcPct val="150000"/>
              </a:lnSpc>
              <a:buNone/>
            </a:pPr>
            <a:r>
              <a:rPr lang="en-US" sz="2000" b="1">
                <a:cs typeface="Times New Roman"/>
              </a:rPr>
              <a:t>Health Status Subset: </a:t>
            </a:r>
            <a:r>
              <a:rPr lang="en-US" sz="2000">
                <a:cs typeface="Times New Roman"/>
              </a:rPr>
              <a:t>Chosen Crude Prevalence Value.</a:t>
            </a:r>
          </a:p>
          <a:p>
            <a:endParaRPr lang="en-US"/>
          </a:p>
        </p:txBody>
      </p:sp>
      <p:pic>
        <p:nvPicPr>
          <p:cNvPr id="4" name="Picture 3" descr="A screenshot of a white and black list&#10;&#10;AI-generated content may be incorrect.">
            <a:extLst>
              <a:ext uri="{FF2B5EF4-FFF2-40B4-BE49-F238E27FC236}">
                <a16:creationId xmlns:a16="http://schemas.microsoft.com/office/drawing/2014/main" id="{CA071D7A-82F3-F7BF-2C75-E995FED46017}"/>
              </a:ext>
            </a:extLst>
          </p:cNvPr>
          <p:cNvPicPr>
            <a:picLocks noChangeAspect="1"/>
          </p:cNvPicPr>
          <p:nvPr/>
        </p:nvPicPr>
        <p:blipFill>
          <a:blip r:embed="rId3"/>
          <a:stretch>
            <a:fillRect/>
          </a:stretch>
        </p:blipFill>
        <p:spPr>
          <a:xfrm>
            <a:off x="740784" y="3245584"/>
            <a:ext cx="7475820" cy="325971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52A63266-F5D6-D79B-A62B-3232BC8A5E16}"/>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14D2B566-C367-F2B1-1D79-1AEC63B127A6}"/>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Data Overview &amp; Exploration</a:t>
            </a:r>
            <a:endParaRPr lang="en-US"/>
          </a:p>
        </p:txBody>
      </p:sp>
      <p:sp>
        <p:nvSpPr>
          <p:cNvPr id="3" name="Text Placeholder 2">
            <a:extLst>
              <a:ext uri="{FF2B5EF4-FFF2-40B4-BE49-F238E27FC236}">
                <a16:creationId xmlns:a16="http://schemas.microsoft.com/office/drawing/2014/main" id="{AA641C11-84AE-E4F8-C8AC-C9B621CDDB35}"/>
              </a:ext>
            </a:extLst>
          </p:cNvPr>
          <p:cNvSpPr>
            <a:spLocks noGrp="1"/>
          </p:cNvSpPr>
          <p:nvPr>
            <p:ph type="body" idx="1"/>
          </p:nvPr>
        </p:nvSpPr>
        <p:spPr>
          <a:xfrm>
            <a:off x="450536" y="4079477"/>
            <a:ext cx="8249593" cy="2233300"/>
          </a:xfrm>
        </p:spPr>
        <p:txBody>
          <a:bodyPr/>
          <a:lstStyle/>
          <a:p>
            <a:pPr marL="114300" indent="0">
              <a:lnSpc>
                <a:spcPct val="150000"/>
              </a:lnSpc>
              <a:buNone/>
            </a:pPr>
            <a:r>
              <a:rPr lang="en-US" sz="2000" b="1">
                <a:cs typeface="Times New Roman"/>
              </a:rPr>
              <a:t>Data Characteristics: </a:t>
            </a:r>
            <a:r>
              <a:rPr lang="en-US" sz="2000">
                <a:cs typeface="Times New Roman"/>
              </a:rPr>
              <a:t>A </a:t>
            </a:r>
            <a:r>
              <a:rPr lang="en-US" sz="2000" b="1">
                <a:solidFill>
                  <a:srgbClr val="FF0000"/>
                </a:solidFill>
                <a:cs typeface="Times New Roman"/>
              </a:rPr>
              <a:t>lower</a:t>
            </a:r>
            <a:r>
              <a:rPr lang="en-US" sz="2000">
                <a:cs typeface="Times New Roman"/>
              </a:rPr>
              <a:t> percentage always corresponds to </a:t>
            </a:r>
            <a:r>
              <a:rPr lang="en-US" sz="2000" b="1">
                <a:solidFill>
                  <a:srgbClr val="FF0000"/>
                </a:solidFill>
                <a:cs typeface="Times New Roman"/>
              </a:rPr>
              <a:t>better</a:t>
            </a:r>
            <a:r>
              <a:rPr lang="en-US" sz="2000">
                <a:solidFill>
                  <a:srgbClr val="FF0000"/>
                </a:solidFill>
                <a:cs typeface="Times New Roman"/>
              </a:rPr>
              <a:t> </a:t>
            </a:r>
            <a:r>
              <a:rPr lang="en-US" sz="2000">
                <a:cs typeface="Times New Roman"/>
              </a:rPr>
              <a:t>health. </a:t>
            </a:r>
            <a:r>
              <a:rPr lang="en-US" sz="2000" b="1">
                <a:cs typeface="Times New Roman"/>
              </a:rPr>
              <a:t>“Lower = Healthier.”</a:t>
            </a:r>
          </a:p>
          <a:p>
            <a:pPr marL="114300" indent="0">
              <a:lnSpc>
                <a:spcPct val="150000"/>
              </a:lnSpc>
              <a:buNone/>
            </a:pPr>
            <a:r>
              <a:rPr lang="en-US" sz="2000">
                <a:cs typeface="Times New Roman"/>
              </a:rPr>
              <a:t>All values here are percentages of adults reporting an adverse condition.</a:t>
            </a:r>
            <a:endParaRPr lang="en-US"/>
          </a:p>
          <a:p>
            <a:pPr marL="114300" indent="0">
              <a:lnSpc>
                <a:spcPct val="150000"/>
              </a:lnSpc>
              <a:buNone/>
            </a:pPr>
            <a:endParaRPr lang="en-US" sz="2000" b="1">
              <a:cs typeface="Times New Roman"/>
            </a:endParaRPr>
          </a:p>
          <a:p>
            <a:endParaRPr lang="en-US"/>
          </a:p>
        </p:txBody>
      </p:sp>
      <p:pic>
        <p:nvPicPr>
          <p:cNvPr id="2" name="Picture 1" descr="A screenshot of a phone&#10;&#10;AI-generated content may be incorrect.">
            <a:extLst>
              <a:ext uri="{FF2B5EF4-FFF2-40B4-BE49-F238E27FC236}">
                <a16:creationId xmlns:a16="http://schemas.microsoft.com/office/drawing/2014/main" id="{011AA56E-B22B-1446-45C1-D573CFA4C396}"/>
              </a:ext>
            </a:extLst>
          </p:cNvPr>
          <p:cNvPicPr>
            <a:picLocks noChangeAspect="1"/>
          </p:cNvPicPr>
          <p:nvPr/>
        </p:nvPicPr>
        <p:blipFill>
          <a:blip r:embed="rId3"/>
          <a:stretch>
            <a:fillRect/>
          </a:stretch>
        </p:blipFill>
        <p:spPr>
          <a:xfrm>
            <a:off x="446536" y="1657005"/>
            <a:ext cx="8250928" cy="2037763"/>
          </a:xfrm>
          <a:prstGeom prst="rect">
            <a:avLst/>
          </a:prstGeom>
        </p:spPr>
      </p:pic>
    </p:spTree>
    <p:extLst>
      <p:ext uri="{BB962C8B-B14F-4D97-AF65-F5344CB8AC3E}">
        <p14:creationId xmlns:p14="http://schemas.microsoft.com/office/powerpoint/2010/main" val="1829736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02E558AF-534E-CDC9-8360-25B5C5FFCF41}"/>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FA0574B7-FACF-D50E-5C0F-1FFA3CF8896A}"/>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Data Overview &amp; Exploration</a:t>
            </a:r>
            <a:endParaRPr lang="en-US"/>
          </a:p>
        </p:txBody>
      </p:sp>
      <p:sp>
        <p:nvSpPr>
          <p:cNvPr id="3" name="Text Placeholder 2">
            <a:extLst>
              <a:ext uri="{FF2B5EF4-FFF2-40B4-BE49-F238E27FC236}">
                <a16:creationId xmlns:a16="http://schemas.microsoft.com/office/drawing/2014/main" id="{FA4A4404-8C8E-9916-4037-54B9B1ECEFF6}"/>
              </a:ext>
            </a:extLst>
          </p:cNvPr>
          <p:cNvSpPr>
            <a:spLocks noGrp="1"/>
          </p:cNvSpPr>
          <p:nvPr>
            <p:ph type="body" idx="1"/>
          </p:nvPr>
        </p:nvSpPr>
        <p:spPr>
          <a:xfrm>
            <a:off x="243929" y="3779564"/>
            <a:ext cx="8669471" cy="2919766"/>
          </a:xfrm>
        </p:spPr>
        <p:txBody>
          <a:bodyPr/>
          <a:lstStyle/>
          <a:p>
            <a:pPr marL="114300" indent="0">
              <a:lnSpc>
                <a:spcPct val="150000"/>
              </a:lnSpc>
              <a:buNone/>
            </a:pPr>
            <a:r>
              <a:rPr lang="en-US" sz="2000" b="1">
                <a:cs typeface="Times New Roman"/>
              </a:rPr>
              <a:t>Distribution Characteristics: </a:t>
            </a:r>
          </a:p>
          <a:p>
            <a:pPr marL="114300" indent="0">
              <a:lnSpc>
                <a:spcPct val="150000"/>
              </a:lnSpc>
              <a:buNone/>
            </a:pPr>
            <a:r>
              <a:rPr lang="en-US" sz="2000" b="1">
                <a:cs typeface="Times New Roman"/>
              </a:rPr>
              <a:t>Unimodal &amp; positively skewed: </a:t>
            </a:r>
            <a:r>
              <a:rPr lang="en-US" sz="2000">
                <a:cs typeface="Times New Roman"/>
              </a:rPr>
              <a:t>All indicators peak in the lower‐to‐mid percentage range but have a long right tail. Moreover, a single dominant bump indicating consistent measurement across states.</a:t>
            </a:r>
          </a:p>
          <a:p>
            <a:pPr marL="114300" indent="0">
              <a:lnSpc>
                <a:spcPct val="150000"/>
              </a:lnSpc>
              <a:buNone/>
            </a:pPr>
            <a:r>
              <a:rPr lang="en-US" sz="2000" b="1">
                <a:cs typeface="Times New Roman"/>
              </a:rPr>
              <a:t>Concentration around 10–20 %: </a:t>
            </a:r>
            <a:r>
              <a:rPr lang="en-US" sz="2000">
                <a:cs typeface="Times New Roman"/>
              </a:rPr>
              <a:t>The bulk of observations fall  between roughly 10 % and 20 %, mostly are healthy.</a:t>
            </a:r>
          </a:p>
          <a:p>
            <a:pPr marL="114300" indent="0">
              <a:lnSpc>
                <a:spcPct val="150000"/>
              </a:lnSpc>
              <a:buNone/>
            </a:pPr>
            <a:endParaRPr lang="en-US" sz="2000" b="1">
              <a:cs typeface="Times New Roman"/>
            </a:endParaRPr>
          </a:p>
          <a:p>
            <a:endParaRPr lang="en-US"/>
          </a:p>
        </p:txBody>
      </p:sp>
      <p:pic>
        <p:nvPicPr>
          <p:cNvPr id="4" name="Picture 3" descr="A graph of a number of data&#10;&#10;AI-generated content may be incorrect.">
            <a:extLst>
              <a:ext uri="{FF2B5EF4-FFF2-40B4-BE49-F238E27FC236}">
                <a16:creationId xmlns:a16="http://schemas.microsoft.com/office/drawing/2014/main" id="{ACDAFF8A-8904-29C3-E6DF-196391320BAE}"/>
              </a:ext>
            </a:extLst>
          </p:cNvPr>
          <p:cNvPicPr>
            <a:picLocks noChangeAspect="1"/>
          </p:cNvPicPr>
          <p:nvPr/>
        </p:nvPicPr>
        <p:blipFill>
          <a:blip r:embed="rId3"/>
          <a:stretch>
            <a:fillRect/>
          </a:stretch>
        </p:blipFill>
        <p:spPr>
          <a:xfrm>
            <a:off x="953056" y="1219299"/>
            <a:ext cx="7237889" cy="2559942"/>
          </a:xfrm>
          <a:prstGeom prst="rect">
            <a:avLst/>
          </a:prstGeom>
        </p:spPr>
      </p:pic>
    </p:spTree>
    <p:extLst>
      <p:ext uri="{BB962C8B-B14F-4D97-AF65-F5344CB8AC3E}">
        <p14:creationId xmlns:p14="http://schemas.microsoft.com/office/powerpoint/2010/main" val="2096872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B7C658F9-A7AB-1A69-36FC-C09DA2ED5F4C}"/>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6EDB1A7E-A3CC-8257-2AD1-9E061BB7F907}"/>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Missingness &amp; Cleansing</a:t>
            </a:r>
            <a:endParaRPr lang="en-US"/>
          </a:p>
        </p:txBody>
      </p:sp>
      <p:sp>
        <p:nvSpPr>
          <p:cNvPr id="3" name="Text Placeholder 2">
            <a:extLst>
              <a:ext uri="{FF2B5EF4-FFF2-40B4-BE49-F238E27FC236}">
                <a16:creationId xmlns:a16="http://schemas.microsoft.com/office/drawing/2014/main" id="{1C29EF7E-EE85-B398-649E-85D9E2DA4EED}"/>
              </a:ext>
            </a:extLst>
          </p:cNvPr>
          <p:cNvSpPr>
            <a:spLocks noGrp="1"/>
          </p:cNvSpPr>
          <p:nvPr>
            <p:ph type="body" idx="1"/>
          </p:nvPr>
        </p:nvSpPr>
        <p:spPr>
          <a:xfrm>
            <a:off x="228670" y="5400846"/>
            <a:ext cx="7914076" cy="1317428"/>
          </a:xfrm>
        </p:spPr>
        <p:txBody>
          <a:bodyPr/>
          <a:lstStyle/>
          <a:p>
            <a:pPr marL="114300" indent="0">
              <a:lnSpc>
                <a:spcPct val="150000"/>
              </a:lnSpc>
              <a:buNone/>
            </a:pPr>
            <a:r>
              <a:rPr lang="en-US" sz="1800" b="1">
                <a:cs typeface="Times New Roman"/>
              </a:rPr>
              <a:t>Missing Rates: </a:t>
            </a:r>
            <a:r>
              <a:rPr lang="en-US" sz="1800">
                <a:cs typeface="Times New Roman"/>
              </a:rPr>
              <a:t>up to ~25% missing in these indicators</a:t>
            </a:r>
            <a:endParaRPr lang="en-US" sz="1800"/>
          </a:p>
          <a:p>
            <a:pPr marL="114300" indent="0">
              <a:lnSpc>
                <a:spcPct val="150000"/>
              </a:lnSpc>
              <a:buNone/>
            </a:pPr>
            <a:r>
              <a:rPr lang="en-US" sz="1800" b="1">
                <a:cs typeface="Times New Roman"/>
              </a:rPr>
              <a:t>Cleaning Strategy: </a:t>
            </a:r>
            <a:r>
              <a:rPr lang="en-US" sz="1800">
                <a:cs typeface="Times New Roman"/>
              </a:rPr>
              <a:t>drop all rows with any missing </a:t>
            </a:r>
            <a:r>
              <a:rPr lang="en-US" sz="1800" err="1">
                <a:cs typeface="Times New Roman"/>
              </a:rPr>
              <a:t>DataValue</a:t>
            </a:r>
            <a:endParaRPr lang="en-US" sz="1800"/>
          </a:p>
          <a:p>
            <a:pPr marL="114300" indent="0">
              <a:lnSpc>
                <a:spcPct val="150000"/>
              </a:lnSpc>
              <a:buNone/>
            </a:pPr>
            <a:r>
              <a:rPr lang="en-US" sz="1800" b="1">
                <a:cs typeface="Times New Roman"/>
              </a:rPr>
              <a:t>Distribution Check: </a:t>
            </a:r>
            <a:r>
              <a:rPr lang="en-US" sz="1800">
                <a:solidFill>
                  <a:srgbClr val="FF0000"/>
                </a:solidFill>
                <a:cs typeface="Times New Roman"/>
              </a:rPr>
              <a:t>overlay before/after histograms</a:t>
            </a:r>
            <a:endParaRPr lang="en-US" sz="1800">
              <a:solidFill>
                <a:srgbClr val="FF0000"/>
              </a:solidFill>
            </a:endParaRPr>
          </a:p>
          <a:p>
            <a:pPr marL="114300" indent="0">
              <a:lnSpc>
                <a:spcPct val="150000"/>
              </a:lnSpc>
              <a:buNone/>
            </a:pPr>
            <a:endParaRPr lang="en-US" sz="2000" b="1">
              <a:cs typeface="Times New Roman"/>
            </a:endParaRPr>
          </a:p>
          <a:p>
            <a:pPr marL="114300" indent="0">
              <a:lnSpc>
                <a:spcPct val="150000"/>
              </a:lnSpc>
              <a:buNone/>
            </a:pPr>
            <a:endParaRPr lang="en-US" sz="2000" b="1">
              <a:cs typeface="Times New Roman"/>
            </a:endParaRPr>
          </a:p>
          <a:p>
            <a:endParaRPr lang="en-US"/>
          </a:p>
        </p:txBody>
      </p:sp>
      <p:pic>
        <p:nvPicPr>
          <p:cNvPr id="2" name="Picture 1" descr="A close-up of black text&#10;&#10;AI-generated content may be incorrect.">
            <a:extLst>
              <a:ext uri="{FF2B5EF4-FFF2-40B4-BE49-F238E27FC236}">
                <a16:creationId xmlns:a16="http://schemas.microsoft.com/office/drawing/2014/main" id="{C62C8603-FA74-2CE4-8D21-8F9E453AC10F}"/>
              </a:ext>
            </a:extLst>
          </p:cNvPr>
          <p:cNvPicPr>
            <a:picLocks noChangeAspect="1"/>
          </p:cNvPicPr>
          <p:nvPr/>
        </p:nvPicPr>
        <p:blipFill>
          <a:blip r:embed="rId3"/>
          <a:stretch>
            <a:fillRect/>
          </a:stretch>
        </p:blipFill>
        <p:spPr>
          <a:xfrm>
            <a:off x="1561475" y="1373857"/>
            <a:ext cx="6024911" cy="1064508"/>
          </a:xfrm>
          <a:prstGeom prst="rect">
            <a:avLst/>
          </a:prstGeom>
        </p:spPr>
      </p:pic>
      <p:pic>
        <p:nvPicPr>
          <p:cNvPr id="5" name="Picture 4">
            <a:extLst>
              <a:ext uri="{FF2B5EF4-FFF2-40B4-BE49-F238E27FC236}">
                <a16:creationId xmlns:a16="http://schemas.microsoft.com/office/drawing/2014/main" id="{757A3A61-90B5-30C4-DCDA-718C7616D92A}"/>
              </a:ext>
            </a:extLst>
          </p:cNvPr>
          <p:cNvPicPr>
            <a:picLocks noChangeAspect="1"/>
          </p:cNvPicPr>
          <p:nvPr/>
        </p:nvPicPr>
        <p:blipFill>
          <a:blip r:embed="rId4"/>
          <a:stretch>
            <a:fillRect/>
          </a:stretch>
        </p:blipFill>
        <p:spPr>
          <a:xfrm>
            <a:off x="261679" y="2457515"/>
            <a:ext cx="8615908" cy="2943602"/>
          </a:xfrm>
          <a:prstGeom prst="rect">
            <a:avLst/>
          </a:prstGeom>
        </p:spPr>
      </p:pic>
    </p:spTree>
    <p:extLst>
      <p:ext uri="{BB962C8B-B14F-4D97-AF65-F5344CB8AC3E}">
        <p14:creationId xmlns:p14="http://schemas.microsoft.com/office/powerpoint/2010/main" val="634992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EB2EF0D5-F69B-C007-E8A5-45ACFFA02758}"/>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B9DF7C78-1B6E-CD5A-7665-5D62DF022D85}"/>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Model Specification</a:t>
            </a:r>
            <a:endParaRPr lang="en-US"/>
          </a:p>
        </p:txBody>
      </p:sp>
      <p:sp>
        <p:nvSpPr>
          <p:cNvPr id="3" name="Text Placeholder 2">
            <a:extLst>
              <a:ext uri="{FF2B5EF4-FFF2-40B4-BE49-F238E27FC236}">
                <a16:creationId xmlns:a16="http://schemas.microsoft.com/office/drawing/2014/main" id="{AA134209-8D2C-BD5C-6326-BD4BDE7122E9}"/>
              </a:ext>
            </a:extLst>
          </p:cNvPr>
          <p:cNvSpPr>
            <a:spLocks noGrp="1"/>
          </p:cNvSpPr>
          <p:nvPr>
            <p:ph type="body" idx="1"/>
          </p:nvPr>
        </p:nvSpPr>
        <p:spPr>
          <a:xfrm>
            <a:off x="223934" y="4632648"/>
            <a:ext cx="8696129" cy="1926724"/>
          </a:xfrm>
        </p:spPr>
        <p:txBody>
          <a:bodyPr/>
          <a:lstStyle/>
          <a:p>
            <a:pPr marL="114300" indent="0">
              <a:lnSpc>
                <a:spcPct val="150000"/>
              </a:lnSpc>
              <a:buNone/>
            </a:pPr>
            <a:r>
              <a:rPr lang="en-US" sz="2000" b="1">
                <a:cs typeface="Times New Roman"/>
              </a:rPr>
              <a:t>Outcome Binning</a:t>
            </a:r>
            <a:r>
              <a:rPr lang="en-US" sz="2000">
                <a:cs typeface="Times New Roman"/>
              </a:rPr>
              <a:t>: split crude-prevalence (%) into three groups by 1st/3rd quartiles</a:t>
            </a:r>
            <a:endParaRPr lang="en-US"/>
          </a:p>
          <a:p>
            <a:pPr marL="114300" indent="0">
              <a:lnSpc>
                <a:spcPct val="150000"/>
              </a:lnSpc>
              <a:buNone/>
            </a:pPr>
            <a:r>
              <a:rPr lang="en-US" sz="2000" b="1">
                <a:cs typeface="Times New Roman"/>
              </a:rPr>
              <a:t>Predictors: </a:t>
            </a:r>
            <a:r>
              <a:rPr lang="en-US" sz="2000">
                <a:cs typeface="Times New Roman"/>
              </a:rPr>
              <a:t>one-hot encode gender, age groups, race/ethnicity (drop first level). Therefore, “Unhealthy” is a baseline for the reference level</a:t>
            </a:r>
          </a:p>
          <a:p>
            <a:pPr marL="114300" indent="0">
              <a:lnSpc>
                <a:spcPct val="150000"/>
              </a:lnSpc>
              <a:buNone/>
            </a:pPr>
            <a:endParaRPr lang="en-US" sz="2000" b="1">
              <a:cs typeface="Times New Roman"/>
            </a:endParaRPr>
          </a:p>
          <a:p>
            <a:endParaRPr lang="en-US">
              <a:solidFill>
                <a:srgbClr val="000000"/>
              </a:solidFill>
              <a:cs typeface="Times New Roman"/>
            </a:endParaRPr>
          </a:p>
        </p:txBody>
      </p:sp>
      <p:pic>
        <p:nvPicPr>
          <p:cNvPr id="4" name="Picture 3" descr="A computer code with black text&#10;&#10;AI-generated content may be incorrect.">
            <a:extLst>
              <a:ext uri="{FF2B5EF4-FFF2-40B4-BE49-F238E27FC236}">
                <a16:creationId xmlns:a16="http://schemas.microsoft.com/office/drawing/2014/main" id="{F55497B4-7604-4A7F-6B8E-8BA335F27092}"/>
              </a:ext>
            </a:extLst>
          </p:cNvPr>
          <p:cNvPicPr>
            <a:picLocks noChangeAspect="1"/>
          </p:cNvPicPr>
          <p:nvPr/>
        </p:nvPicPr>
        <p:blipFill>
          <a:blip r:embed="rId3"/>
          <a:stretch>
            <a:fillRect/>
          </a:stretch>
        </p:blipFill>
        <p:spPr>
          <a:xfrm>
            <a:off x="-750" y="1374238"/>
            <a:ext cx="4333571" cy="2736592"/>
          </a:xfrm>
          <a:prstGeom prst="rect">
            <a:avLst/>
          </a:prstGeom>
        </p:spPr>
      </p:pic>
      <p:pic>
        <p:nvPicPr>
          <p:cNvPr id="7" name="Picture 6" descr="A white background with black text&#10;&#10;AI-generated content may be incorrect.">
            <a:extLst>
              <a:ext uri="{FF2B5EF4-FFF2-40B4-BE49-F238E27FC236}">
                <a16:creationId xmlns:a16="http://schemas.microsoft.com/office/drawing/2014/main" id="{D9BBC558-7B4E-F4C9-A4B8-9225032CF034}"/>
              </a:ext>
            </a:extLst>
          </p:cNvPr>
          <p:cNvPicPr>
            <a:picLocks noChangeAspect="1"/>
          </p:cNvPicPr>
          <p:nvPr/>
        </p:nvPicPr>
        <p:blipFill>
          <a:blip r:embed="rId4"/>
          <a:stretch>
            <a:fillRect/>
          </a:stretch>
        </p:blipFill>
        <p:spPr>
          <a:xfrm>
            <a:off x="4372058" y="1552655"/>
            <a:ext cx="4771941" cy="2406810"/>
          </a:xfrm>
          <a:prstGeom prst="rect">
            <a:avLst/>
          </a:prstGeom>
        </p:spPr>
      </p:pic>
    </p:spTree>
    <p:extLst>
      <p:ext uri="{BB962C8B-B14F-4D97-AF65-F5344CB8AC3E}">
        <p14:creationId xmlns:p14="http://schemas.microsoft.com/office/powerpoint/2010/main" val="3408638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945DC879-C49E-27B8-D03C-31B031DE40C0}"/>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9AAD385D-0A15-665D-0D21-81CDC0802769}"/>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Regression Results Overview</a:t>
            </a:r>
            <a:endParaRPr lang="en-US"/>
          </a:p>
        </p:txBody>
      </p:sp>
      <p:sp>
        <p:nvSpPr>
          <p:cNvPr id="3" name="Text Placeholder 2">
            <a:extLst>
              <a:ext uri="{FF2B5EF4-FFF2-40B4-BE49-F238E27FC236}">
                <a16:creationId xmlns:a16="http://schemas.microsoft.com/office/drawing/2014/main" id="{619B5A10-8FB6-7D21-9739-4463C5172C59}"/>
              </a:ext>
            </a:extLst>
          </p:cNvPr>
          <p:cNvSpPr>
            <a:spLocks noGrp="1"/>
          </p:cNvSpPr>
          <p:nvPr>
            <p:ph type="body" idx="1"/>
          </p:nvPr>
        </p:nvSpPr>
        <p:spPr>
          <a:xfrm>
            <a:off x="223934" y="5499062"/>
            <a:ext cx="8696129" cy="913687"/>
          </a:xfrm>
        </p:spPr>
        <p:txBody>
          <a:bodyPr/>
          <a:lstStyle/>
          <a:p>
            <a:pPr marL="285750" indent="-285750"/>
            <a:r>
              <a:rPr lang="en-US" sz="2000" b="1">
                <a:cs typeface="Times New Roman"/>
              </a:rPr>
              <a:t>Focus: </a:t>
            </a:r>
            <a:r>
              <a:rPr lang="en-US" sz="2000">
                <a:cs typeface="Times New Roman"/>
              </a:rPr>
              <a:t>Significant predictors (p &lt; 0.05) only</a:t>
            </a:r>
          </a:p>
          <a:p>
            <a:pPr marL="285750" indent="-285750"/>
            <a:r>
              <a:rPr lang="en-US" sz="2000" b="1">
                <a:cs typeface="Times New Roman"/>
              </a:rPr>
              <a:t>Separate Tables: </a:t>
            </a:r>
            <a:r>
              <a:rPr lang="en-US" sz="2000">
                <a:cs typeface="Times New Roman"/>
              </a:rPr>
              <a:t>“Moderately Healthy” vs. “Very Healthy” Odds Ratios</a:t>
            </a:r>
          </a:p>
          <a:p>
            <a:pPr marL="285750" indent="-285750"/>
            <a:endParaRPr lang="en-US" sz="2000">
              <a:cs typeface="Times New Roman"/>
            </a:endParaRPr>
          </a:p>
          <a:p>
            <a:pPr marL="114300" indent="0">
              <a:lnSpc>
                <a:spcPct val="150000"/>
              </a:lnSpc>
              <a:buNone/>
            </a:pPr>
            <a:endParaRPr lang="en-US" sz="2000">
              <a:cs typeface="Times New Roman"/>
            </a:endParaRPr>
          </a:p>
          <a:p>
            <a:pPr marL="114300" indent="0">
              <a:lnSpc>
                <a:spcPct val="150000"/>
              </a:lnSpc>
              <a:buNone/>
            </a:pPr>
            <a:endParaRPr lang="en-US" sz="2000" b="1">
              <a:solidFill>
                <a:srgbClr val="000000"/>
              </a:solidFill>
              <a:cs typeface="Times New Roman"/>
            </a:endParaRPr>
          </a:p>
          <a:p>
            <a:endParaRPr lang="en-US">
              <a:solidFill>
                <a:srgbClr val="000000"/>
              </a:solidFill>
              <a:cs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BADFFD96-F6E8-CCA0-9B00-1DF135F61C57}"/>
              </a:ext>
            </a:extLst>
          </p:cNvPr>
          <p:cNvPicPr>
            <a:picLocks noChangeAspect="1"/>
          </p:cNvPicPr>
          <p:nvPr/>
        </p:nvPicPr>
        <p:blipFill>
          <a:blip r:embed="rId3"/>
          <a:stretch>
            <a:fillRect/>
          </a:stretch>
        </p:blipFill>
        <p:spPr>
          <a:xfrm>
            <a:off x="373224" y="1264508"/>
            <a:ext cx="8397552" cy="3889114"/>
          </a:xfrm>
          <a:prstGeom prst="rect">
            <a:avLst/>
          </a:prstGeom>
        </p:spPr>
      </p:pic>
    </p:spTree>
    <p:extLst>
      <p:ext uri="{BB962C8B-B14F-4D97-AF65-F5344CB8AC3E}">
        <p14:creationId xmlns:p14="http://schemas.microsoft.com/office/powerpoint/2010/main" val="2064666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9D9AE0C0-1CEF-3329-060E-DF02326F5998}"/>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134D7559-8FEC-E112-D301-A6435534E310}"/>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Regression Results Overview</a:t>
            </a:r>
            <a:endParaRPr lang="en-US"/>
          </a:p>
        </p:txBody>
      </p:sp>
      <p:sp>
        <p:nvSpPr>
          <p:cNvPr id="3" name="Text Placeholder 2">
            <a:extLst>
              <a:ext uri="{FF2B5EF4-FFF2-40B4-BE49-F238E27FC236}">
                <a16:creationId xmlns:a16="http://schemas.microsoft.com/office/drawing/2014/main" id="{0A85E0FD-A89D-BE44-6F6C-8F73293A62E6}"/>
              </a:ext>
            </a:extLst>
          </p:cNvPr>
          <p:cNvSpPr>
            <a:spLocks noGrp="1"/>
          </p:cNvSpPr>
          <p:nvPr>
            <p:ph type="body" idx="1"/>
          </p:nvPr>
        </p:nvSpPr>
        <p:spPr>
          <a:xfrm>
            <a:off x="223934" y="5045861"/>
            <a:ext cx="8696129" cy="1660135"/>
          </a:xfrm>
        </p:spPr>
        <p:txBody>
          <a:bodyPr/>
          <a:lstStyle/>
          <a:p>
            <a:pPr marL="0" indent="0">
              <a:buNone/>
            </a:pPr>
            <a:r>
              <a:rPr lang="en-US" sz="2000" b="1">
                <a:cs typeface="Times New Roman"/>
              </a:rPr>
              <a:t>Interpreting Odds Ratios：</a:t>
            </a:r>
            <a:endParaRPr lang="en-US"/>
          </a:p>
          <a:p>
            <a:pPr marL="0" indent="0">
              <a:buNone/>
            </a:pPr>
            <a:r>
              <a:rPr lang="en-US" sz="2000">
                <a:cs typeface="Times New Roman"/>
              </a:rPr>
              <a:t>An OR compares the odds of an outcome occurring in one group versus a reference group. </a:t>
            </a:r>
            <a:r>
              <a:rPr lang="en-US" sz="2000" b="1">
                <a:cs typeface="Times New Roman"/>
              </a:rPr>
              <a:t>Odds Ratio</a:t>
            </a:r>
            <a:r>
              <a:rPr lang="en-US" sz="2000">
                <a:cs typeface="Times New Roman"/>
              </a:rPr>
              <a:t> = (odds in group A) ÷ (odds in reference group)</a:t>
            </a:r>
            <a:endParaRPr lang="en-US"/>
          </a:p>
          <a:p>
            <a:pPr marL="285750" indent="-285750"/>
            <a:endParaRPr lang="en-US" sz="2000">
              <a:cs typeface="Times New Roman"/>
            </a:endParaRPr>
          </a:p>
          <a:p>
            <a:pPr marL="114300" indent="0">
              <a:lnSpc>
                <a:spcPct val="150000"/>
              </a:lnSpc>
              <a:buNone/>
            </a:pPr>
            <a:endParaRPr lang="en-US" sz="2000">
              <a:solidFill>
                <a:srgbClr val="000000"/>
              </a:solidFill>
              <a:cs typeface="Times New Roman"/>
            </a:endParaRPr>
          </a:p>
          <a:p>
            <a:pPr marL="114300" indent="0">
              <a:lnSpc>
                <a:spcPct val="150000"/>
              </a:lnSpc>
              <a:buNone/>
            </a:pPr>
            <a:endParaRPr lang="en-US" sz="2000" b="1">
              <a:solidFill>
                <a:srgbClr val="000000"/>
              </a:solidFill>
              <a:cs typeface="Times New Roman"/>
            </a:endParaRPr>
          </a:p>
          <a:p>
            <a:endParaRPr lang="en-US">
              <a:solidFill>
                <a:srgbClr val="000000"/>
              </a:solidFill>
              <a:cs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10EB6EC9-AB5C-9CE2-90E8-5B0312605B27}"/>
              </a:ext>
            </a:extLst>
          </p:cNvPr>
          <p:cNvPicPr>
            <a:picLocks noChangeAspect="1"/>
          </p:cNvPicPr>
          <p:nvPr/>
        </p:nvPicPr>
        <p:blipFill>
          <a:blip r:embed="rId3"/>
          <a:stretch>
            <a:fillRect/>
          </a:stretch>
        </p:blipFill>
        <p:spPr>
          <a:xfrm>
            <a:off x="806432" y="1264444"/>
            <a:ext cx="7524474" cy="3562671"/>
          </a:xfrm>
          <a:prstGeom prst="rect">
            <a:avLst/>
          </a:prstGeom>
        </p:spPr>
      </p:pic>
    </p:spTree>
    <p:extLst>
      <p:ext uri="{BB962C8B-B14F-4D97-AF65-F5344CB8AC3E}">
        <p14:creationId xmlns:p14="http://schemas.microsoft.com/office/powerpoint/2010/main" val="2198612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731F3B98-771F-540E-9AE2-DC44902F0CC7}"/>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8AD237F3-1CE6-114C-8657-DD64F05E2025}"/>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Key Predictors Interpretation</a:t>
            </a:r>
            <a:endParaRPr lang="en-US"/>
          </a:p>
        </p:txBody>
      </p:sp>
      <p:sp>
        <p:nvSpPr>
          <p:cNvPr id="7" name="Text Placeholder 6">
            <a:extLst>
              <a:ext uri="{FF2B5EF4-FFF2-40B4-BE49-F238E27FC236}">
                <a16:creationId xmlns:a16="http://schemas.microsoft.com/office/drawing/2014/main" id="{F15373B7-3980-41DB-283F-5E0644609CBC}"/>
              </a:ext>
            </a:extLst>
          </p:cNvPr>
          <p:cNvSpPr>
            <a:spLocks noGrp="1"/>
          </p:cNvSpPr>
          <p:nvPr>
            <p:ph type="body" idx="1"/>
          </p:nvPr>
        </p:nvSpPr>
        <p:spPr>
          <a:xfrm>
            <a:off x="457200" y="1466906"/>
            <a:ext cx="8229600" cy="5112458"/>
          </a:xfrm>
        </p:spPr>
        <p:txBody>
          <a:bodyPr/>
          <a:lstStyle/>
          <a:p>
            <a:pPr marL="114300" indent="0">
              <a:lnSpc>
                <a:spcPct val="150000"/>
              </a:lnSpc>
              <a:buNone/>
            </a:pPr>
            <a:r>
              <a:rPr lang="en-US" sz="2000" b="1">
                <a:cs typeface="Times New Roman"/>
              </a:rPr>
              <a:t>Age</a:t>
            </a:r>
          </a:p>
          <a:p>
            <a:pPr marL="114300" indent="0">
              <a:lnSpc>
                <a:spcPct val="150000"/>
              </a:lnSpc>
              <a:buNone/>
            </a:pPr>
            <a:r>
              <a:rPr lang="en-US" sz="2000">
                <a:cs typeface="Times New Roman"/>
              </a:rPr>
              <a:t>18–44 vs. 65+</a:t>
            </a:r>
          </a:p>
          <a:p>
            <a:pPr>
              <a:lnSpc>
                <a:spcPct val="150000"/>
              </a:lnSpc>
            </a:pPr>
            <a:r>
              <a:rPr lang="en-US" sz="2000">
                <a:cs typeface="Times New Roman"/>
              </a:rPr>
              <a:t>Moderately Healthy: OR ≈ 3,150×, Very Healthy: OR ≈ 1,056×</a:t>
            </a:r>
          </a:p>
          <a:p>
            <a:pPr>
              <a:lnSpc>
                <a:spcPct val="150000"/>
              </a:lnSpc>
            </a:pPr>
            <a:r>
              <a:rPr lang="en-US" sz="2000">
                <a:cs typeface="Times New Roman"/>
              </a:rPr>
              <a:t>Takeaway: Young adults are dramatically more likely to report good health than seniors.</a:t>
            </a:r>
          </a:p>
          <a:p>
            <a:pPr marL="114300" indent="0">
              <a:lnSpc>
                <a:spcPct val="150000"/>
              </a:lnSpc>
              <a:buNone/>
            </a:pPr>
            <a:r>
              <a:rPr lang="en-US" sz="2000">
                <a:cs typeface="Times New Roman"/>
              </a:rPr>
              <a:t>45–64 vs. 65+</a:t>
            </a:r>
          </a:p>
          <a:p>
            <a:pPr>
              <a:lnSpc>
                <a:spcPct val="150000"/>
              </a:lnSpc>
            </a:pPr>
            <a:r>
              <a:rPr lang="en-US" sz="2000">
                <a:cs typeface="Times New Roman"/>
              </a:rPr>
              <a:t>OR ≈ 10–20× for both Moderate &amp; Very Healthy</a:t>
            </a:r>
          </a:p>
          <a:p>
            <a:pPr>
              <a:lnSpc>
                <a:spcPct val="150000"/>
              </a:lnSpc>
            </a:pPr>
            <a:r>
              <a:rPr lang="en-US" sz="2000">
                <a:cs typeface="Times New Roman"/>
              </a:rPr>
              <a:t>Takeaway: Middle-aged adults still enjoy much better health odds  than seniors.</a:t>
            </a:r>
          </a:p>
          <a:p>
            <a:pPr marL="114300" indent="0">
              <a:lnSpc>
                <a:spcPct val="150000"/>
              </a:lnSpc>
              <a:buNone/>
            </a:pPr>
            <a:endParaRPr lang="en-US" sz="2000" b="1">
              <a:cs typeface="Times New Roman"/>
            </a:endParaRPr>
          </a:p>
          <a:p>
            <a:pPr marL="114300" indent="0">
              <a:lnSpc>
                <a:spcPct val="0"/>
              </a:lnSpc>
              <a:spcBef>
                <a:spcPts val="100"/>
              </a:spcBef>
              <a:buNone/>
            </a:pPr>
            <a:endParaRPr lang="en-US"/>
          </a:p>
        </p:txBody>
      </p:sp>
    </p:spTree>
    <p:extLst>
      <p:ext uri="{BB962C8B-B14F-4D97-AF65-F5344CB8AC3E}">
        <p14:creationId xmlns:p14="http://schemas.microsoft.com/office/powerpoint/2010/main" val="2176350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91688597-F785-A7DB-2EE2-BCE53A589E88}"/>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C46C843B-303A-32B5-532C-98CA65A649D7}"/>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Key Predictors Interpretation</a:t>
            </a:r>
            <a:endParaRPr lang="en-US"/>
          </a:p>
        </p:txBody>
      </p:sp>
      <p:sp>
        <p:nvSpPr>
          <p:cNvPr id="7" name="Text Placeholder 6">
            <a:extLst>
              <a:ext uri="{FF2B5EF4-FFF2-40B4-BE49-F238E27FC236}">
                <a16:creationId xmlns:a16="http://schemas.microsoft.com/office/drawing/2014/main" id="{22DD30B3-4D44-B2CD-1BF5-97A40C47E5D1}"/>
              </a:ext>
            </a:extLst>
          </p:cNvPr>
          <p:cNvSpPr>
            <a:spLocks noGrp="1"/>
          </p:cNvSpPr>
          <p:nvPr>
            <p:ph type="body" idx="1"/>
          </p:nvPr>
        </p:nvSpPr>
        <p:spPr>
          <a:xfrm>
            <a:off x="449989" y="1380370"/>
            <a:ext cx="8229600" cy="5112458"/>
          </a:xfrm>
        </p:spPr>
        <p:txBody>
          <a:bodyPr/>
          <a:lstStyle/>
          <a:p>
            <a:pPr marL="114300" indent="0">
              <a:lnSpc>
                <a:spcPct val="150000"/>
              </a:lnSpc>
              <a:buNone/>
            </a:pPr>
            <a:r>
              <a:rPr lang="en-US" sz="2000" b="1">
                <a:cs typeface="Times New Roman"/>
              </a:rPr>
              <a:t>Gender</a:t>
            </a:r>
          </a:p>
          <a:p>
            <a:pPr marL="114300" indent="0">
              <a:lnSpc>
                <a:spcPct val="150000"/>
              </a:lnSpc>
              <a:buNone/>
            </a:pPr>
            <a:r>
              <a:rPr lang="en-US" sz="2000">
                <a:cs typeface="Times New Roman"/>
              </a:rPr>
              <a:t>Female vs. Unhealthy</a:t>
            </a:r>
          </a:p>
          <a:p>
            <a:pPr marL="114300" indent="0">
              <a:lnSpc>
                <a:spcPct val="150000"/>
              </a:lnSpc>
              <a:buNone/>
            </a:pPr>
            <a:r>
              <a:rPr lang="en-US" sz="2000">
                <a:cs typeface="Times New Roman"/>
              </a:rPr>
              <a:t>Moderately Healthy: OR ≈ 34.7×, Very Healthy: OR ≈ 7.1×</a:t>
            </a:r>
          </a:p>
          <a:p>
            <a:pPr marL="114300" lvl="1" indent="0">
              <a:lnSpc>
                <a:spcPct val="150000"/>
              </a:lnSpc>
              <a:buNone/>
            </a:pPr>
            <a:r>
              <a:rPr lang="en-US" sz="2000">
                <a:cs typeface="Times New Roman"/>
              </a:rPr>
              <a:t>Insight: Women skew toward moderate health but have room to move up.</a:t>
            </a:r>
          </a:p>
          <a:p>
            <a:pPr marL="114300" indent="0">
              <a:lnSpc>
                <a:spcPct val="150000"/>
              </a:lnSpc>
              <a:buNone/>
            </a:pPr>
            <a:r>
              <a:rPr lang="en-US" sz="2000">
                <a:cs typeface="Times New Roman"/>
              </a:rPr>
              <a:t>Male vs. Unhealthy</a:t>
            </a:r>
          </a:p>
          <a:p>
            <a:pPr marL="114300" lvl="1" indent="0">
              <a:lnSpc>
                <a:spcPct val="150000"/>
              </a:lnSpc>
              <a:buNone/>
            </a:pPr>
            <a:r>
              <a:rPr lang="en-US" sz="2000">
                <a:cs typeface="Times New Roman"/>
              </a:rPr>
              <a:t>Moderately Healthy: OR ≈ </a:t>
            </a:r>
            <a:r>
              <a:rPr lang="en-US" sz="2000">
                <a:solidFill>
                  <a:srgbClr val="FF0000"/>
                </a:solidFill>
                <a:cs typeface="Times New Roman"/>
              </a:rPr>
              <a:t>0.0</a:t>
            </a:r>
            <a:r>
              <a:rPr lang="en-US" sz="2000">
                <a:cs typeface="Times New Roman"/>
              </a:rPr>
              <a:t>×, Very Healthy: OR ≈ 182.7×</a:t>
            </a:r>
          </a:p>
          <a:p>
            <a:pPr marL="114300" lvl="1" indent="0">
              <a:lnSpc>
                <a:spcPct val="150000"/>
              </a:lnSpc>
              <a:buNone/>
            </a:pPr>
            <a:r>
              <a:rPr lang="en-US" sz="2000">
                <a:cs typeface="Times New Roman"/>
              </a:rPr>
              <a:t>Insight: Men show an “all-or-nothing” pattern: few in moderate, many in very healthy.</a:t>
            </a:r>
          </a:p>
          <a:p>
            <a:pPr marL="114300" indent="0">
              <a:lnSpc>
                <a:spcPct val="150000"/>
              </a:lnSpc>
              <a:buNone/>
            </a:pPr>
            <a:endParaRPr lang="en-US" sz="2000">
              <a:cs typeface="Times New Roman"/>
            </a:endParaRPr>
          </a:p>
          <a:p>
            <a:pPr marL="114300" indent="0">
              <a:lnSpc>
                <a:spcPct val="150000"/>
              </a:lnSpc>
              <a:buNone/>
            </a:pPr>
            <a:endParaRPr lang="en-US" sz="2000">
              <a:cs typeface="Times New Roman"/>
            </a:endParaRPr>
          </a:p>
          <a:p>
            <a:pPr marL="114300" indent="0">
              <a:lnSpc>
                <a:spcPct val="0"/>
              </a:lnSpc>
              <a:spcBef>
                <a:spcPts val="100"/>
              </a:spcBef>
              <a:buNone/>
            </a:pPr>
            <a:endParaRPr lang="en-US"/>
          </a:p>
        </p:txBody>
      </p:sp>
    </p:spTree>
    <p:extLst>
      <p:ext uri="{BB962C8B-B14F-4D97-AF65-F5344CB8AC3E}">
        <p14:creationId xmlns:p14="http://schemas.microsoft.com/office/powerpoint/2010/main" val="523171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ACC2CE93-93A8-A214-1502-69B61350FD4E}"/>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CC680DF4-4BC5-8CE6-DBE2-FDE6A39B2163}"/>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Key Predictors Interpretation</a:t>
            </a:r>
            <a:endParaRPr lang="en-US"/>
          </a:p>
        </p:txBody>
      </p:sp>
      <p:sp>
        <p:nvSpPr>
          <p:cNvPr id="7" name="Text Placeholder 6">
            <a:extLst>
              <a:ext uri="{FF2B5EF4-FFF2-40B4-BE49-F238E27FC236}">
                <a16:creationId xmlns:a16="http://schemas.microsoft.com/office/drawing/2014/main" id="{3670A799-9AB2-2386-F12B-9B5822FBC956}"/>
              </a:ext>
            </a:extLst>
          </p:cNvPr>
          <p:cNvSpPr>
            <a:spLocks noGrp="1"/>
          </p:cNvSpPr>
          <p:nvPr>
            <p:ph type="body" idx="1"/>
          </p:nvPr>
        </p:nvSpPr>
        <p:spPr>
          <a:xfrm>
            <a:off x="24521" y="4149532"/>
            <a:ext cx="9087750" cy="2949050"/>
          </a:xfrm>
        </p:spPr>
        <p:txBody>
          <a:bodyPr/>
          <a:lstStyle/>
          <a:p>
            <a:pPr marL="114300" indent="0">
              <a:lnSpc>
                <a:spcPct val="150000"/>
              </a:lnSpc>
              <a:buNone/>
            </a:pPr>
            <a:r>
              <a:rPr lang="en-US" sz="2000" b="1">
                <a:cs typeface="Times New Roman"/>
              </a:rPr>
              <a:t>Findings: </a:t>
            </a:r>
            <a:r>
              <a:rPr lang="en-US" sz="2000">
                <a:cs typeface="Times New Roman"/>
              </a:rPr>
              <a:t>Clear stratification by race/ethnicity—some groups enjoy vastly higher odds of good health.</a:t>
            </a:r>
            <a:endParaRPr lang="en-US"/>
          </a:p>
          <a:p>
            <a:pPr marL="114300" indent="0">
              <a:lnSpc>
                <a:spcPct val="150000"/>
              </a:lnSpc>
              <a:buNone/>
            </a:pPr>
            <a:r>
              <a:rPr lang="en-US" sz="2000">
                <a:cs typeface="Times New Roman"/>
              </a:rPr>
              <a:t>White non-Hispanics and Hawaiian/Pacific Islanders report the highest likelihood of both moderate and very good health, whereas Asian and Multiracial non-Hispanic residents show less dramatic rates than others.</a:t>
            </a:r>
            <a:endParaRPr lang="en-US"/>
          </a:p>
          <a:p>
            <a:pPr marL="114300" indent="0">
              <a:lnSpc>
                <a:spcPct val="0"/>
              </a:lnSpc>
              <a:spcBef>
                <a:spcPts val="100"/>
              </a:spcBef>
              <a:buNone/>
            </a:pPr>
            <a:endParaRPr lang="en-US"/>
          </a:p>
        </p:txBody>
      </p:sp>
      <p:pic>
        <p:nvPicPr>
          <p:cNvPr id="3" name="Picture 2" descr="A screenshot of a cell phone&#10;&#10;AI-generated content may be incorrect.">
            <a:extLst>
              <a:ext uri="{FF2B5EF4-FFF2-40B4-BE49-F238E27FC236}">
                <a16:creationId xmlns:a16="http://schemas.microsoft.com/office/drawing/2014/main" id="{636A09B6-41B0-6A9E-2140-EEB3E5A54981}"/>
              </a:ext>
            </a:extLst>
          </p:cNvPr>
          <p:cNvPicPr>
            <a:picLocks noChangeAspect="1"/>
          </p:cNvPicPr>
          <p:nvPr/>
        </p:nvPicPr>
        <p:blipFill>
          <a:blip r:embed="rId3"/>
          <a:stretch>
            <a:fillRect/>
          </a:stretch>
        </p:blipFill>
        <p:spPr>
          <a:xfrm>
            <a:off x="1319679" y="1379757"/>
            <a:ext cx="6504643" cy="2649004"/>
          </a:xfrm>
          <a:prstGeom prst="rect">
            <a:avLst/>
          </a:prstGeom>
        </p:spPr>
      </p:pic>
    </p:spTree>
    <p:extLst>
      <p:ext uri="{BB962C8B-B14F-4D97-AF65-F5344CB8AC3E}">
        <p14:creationId xmlns:p14="http://schemas.microsoft.com/office/powerpoint/2010/main" val="2812910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BAABF302-7733-AC31-D01C-6C67F9811469}"/>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441DD946-B4F3-2BEF-4434-4D2CAEFD9AA1}"/>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Model Performance</a:t>
            </a:r>
            <a:endParaRPr lang="en-US"/>
          </a:p>
        </p:txBody>
      </p:sp>
      <p:pic>
        <p:nvPicPr>
          <p:cNvPr id="4" name="Picture 3" descr="A graph of a heatmap&#10;&#10;AI-generated content may be incorrect.">
            <a:extLst>
              <a:ext uri="{FF2B5EF4-FFF2-40B4-BE49-F238E27FC236}">
                <a16:creationId xmlns:a16="http://schemas.microsoft.com/office/drawing/2014/main" id="{136FCEA3-59F3-9D35-0462-0D27257B2121}"/>
              </a:ext>
            </a:extLst>
          </p:cNvPr>
          <p:cNvPicPr>
            <a:picLocks noChangeAspect="1"/>
          </p:cNvPicPr>
          <p:nvPr/>
        </p:nvPicPr>
        <p:blipFill>
          <a:blip r:embed="rId3"/>
          <a:stretch>
            <a:fillRect/>
          </a:stretch>
        </p:blipFill>
        <p:spPr>
          <a:xfrm>
            <a:off x="165862" y="1716877"/>
            <a:ext cx="3908555" cy="2270432"/>
          </a:xfrm>
          <a:prstGeom prst="rect">
            <a:avLst/>
          </a:prstGeom>
        </p:spPr>
      </p:pic>
      <p:pic>
        <p:nvPicPr>
          <p:cNvPr id="3" name="Picture 2">
            <a:extLst>
              <a:ext uri="{FF2B5EF4-FFF2-40B4-BE49-F238E27FC236}">
                <a16:creationId xmlns:a16="http://schemas.microsoft.com/office/drawing/2014/main" id="{DA94D0D5-A022-6C64-4D4A-A109643C08D5}"/>
              </a:ext>
            </a:extLst>
          </p:cNvPr>
          <p:cNvPicPr>
            <a:picLocks noChangeAspect="1"/>
          </p:cNvPicPr>
          <p:nvPr/>
        </p:nvPicPr>
        <p:blipFill>
          <a:blip r:embed="rId4"/>
          <a:stretch>
            <a:fillRect/>
          </a:stretch>
        </p:blipFill>
        <p:spPr>
          <a:xfrm>
            <a:off x="389053" y="4598955"/>
            <a:ext cx="8358683" cy="1835470"/>
          </a:xfrm>
          <a:prstGeom prst="rect">
            <a:avLst/>
          </a:prstGeom>
        </p:spPr>
      </p:pic>
      <p:sp>
        <p:nvSpPr>
          <p:cNvPr id="10" name="Text Placeholder 6">
            <a:extLst>
              <a:ext uri="{FF2B5EF4-FFF2-40B4-BE49-F238E27FC236}">
                <a16:creationId xmlns:a16="http://schemas.microsoft.com/office/drawing/2014/main" id="{B1AC5437-8105-FB21-AC93-DCDAB58BD26A}"/>
              </a:ext>
            </a:extLst>
          </p:cNvPr>
          <p:cNvSpPr>
            <a:spLocks noGrp="1"/>
          </p:cNvSpPr>
          <p:nvPr>
            <p:ph type="body" idx="1"/>
          </p:nvPr>
        </p:nvSpPr>
        <p:spPr>
          <a:xfrm>
            <a:off x="4365756" y="1423637"/>
            <a:ext cx="4501328" cy="2696658"/>
          </a:xfrm>
        </p:spPr>
        <p:txBody>
          <a:bodyPr/>
          <a:lstStyle/>
          <a:p>
            <a:pPr marL="114300" indent="0">
              <a:lnSpc>
                <a:spcPct val="150000"/>
              </a:lnSpc>
              <a:buNone/>
            </a:pPr>
            <a:r>
              <a:rPr lang="en-US" sz="1600" b="1">
                <a:cs typeface="Times New Roman"/>
              </a:rPr>
              <a:t>Unhealthy Group</a:t>
            </a:r>
            <a:endParaRPr lang="en-US" sz="1600" b="1"/>
          </a:p>
          <a:p>
            <a:pPr marL="114300" indent="0">
              <a:lnSpc>
                <a:spcPct val="150000"/>
              </a:lnSpc>
              <a:buNone/>
            </a:pPr>
            <a:r>
              <a:rPr lang="en-US" sz="1600" b="1">
                <a:cs typeface="Times New Roman"/>
              </a:rPr>
              <a:t>Specificity = 0.879</a:t>
            </a:r>
            <a:r>
              <a:rPr lang="en-US" sz="1600">
                <a:cs typeface="Times New Roman"/>
              </a:rPr>
              <a:t>, Only 12% of healthy individuals are mislabeled as Unhealthy</a:t>
            </a:r>
            <a:endParaRPr lang="en-US" sz="1600"/>
          </a:p>
          <a:p>
            <a:pPr marL="114300" indent="0">
              <a:lnSpc>
                <a:spcPct val="150000"/>
              </a:lnSpc>
              <a:buNone/>
            </a:pPr>
            <a:r>
              <a:rPr lang="en-US" sz="1600" b="1">
                <a:cs typeface="Times New Roman"/>
              </a:rPr>
              <a:t>Recall = 0.577</a:t>
            </a:r>
            <a:r>
              <a:rPr lang="en-US" sz="1600">
                <a:cs typeface="Times New Roman"/>
              </a:rPr>
              <a:t>, the model correctly identify 58% of true Unhealthy cases</a:t>
            </a:r>
            <a:endParaRPr lang="en-US" sz="1600"/>
          </a:p>
          <a:p>
            <a:pPr marL="114300" indent="0">
              <a:lnSpc>
                <a:spcPct val="150000"/>
              </a:lnSpc>
              <a:buNone/>
            </a:pPr>
            <a:r>
              <a:rPr lang="en-US" sz="1600" b="1">
                <a:cs typeface="Times New Roman"/>
              </a:rPr>
              <a:t>Precision = 0.635</a:t>
            </a:r>
            <a:r>
              <a:rPr lang="en-US" sz="1600">
                <a:cs typeface="Times New Roman"/>
              </a:rPr>
              <a:t>, 64% of our “Unhealthy” predictions are correct</a:t>
            </a:r>
            <a:endParaRPr lang="en-US" sz="1600"/>
          </a:p>
          <a:p>
            <a:pPr marL="114300" indent="0">
              <a:lnSpc>
                <a:spcPct val="150000"/>
              </a:lnSpc>
              <a:buNone/>
            </a:pPr>
            <a:endParaRPr lang="en-US" sz="1600">
              <a:cs typeface="Times New Roman"/>
            </a:endParaRPr>
          </a:p>
          <a:p>
            <a:pPr marL="114300" indent="0">
              <a:lnSpc>
                <a:spcPct val="150000"/>
              </a:lnSpc>
              <a:buNone/>
            </a:pPr>
            <a:endParaRPr lang="en-US" sz="2000">
              <a:cs typeface="Times New Roman"/>
            </a:endParaRPr>
          </a:p>
          <a:p>
            <a:pPr marL="114300" indent="0">
              <a:lnSpc>
                <a:spcPct val="150000"/>
              </a:lnSpc>
              <a:buNone/>
            </a:pPr>
            <a:endParaRPr lang="en-US" sz="2000">
              <a:cs typeface="Times New Roman"/>
            </a:endParaRPr>
          </a:p>
          <a:p>
            <a:pPr marL="114300" indent="0">
              <a:lnSpc>
                <a:spcPct val="0"/>
              </a:lnSpc>
              <a:spcBef>
                <a:spcPts val="100"/>
              </a:spcBef>
              <a:buNone/>
            </a:pPr>
            <a:endParaRPr lang="en-US"/>
          </a:p>
        </p:txBody>
      </p:sp>
    </p:spTree>
    <p:extLst>
      <p:ext uri="{BB962C8B-B14F-4D97-AF65-F5344CB8AC3E}">
        <p14:creationId xmlns:p14="http://schemas.microsoft.com/office/powerpoint/2010/main" val="2661672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37176C7F-302D-AEF8-EE4B-B2278C1A3950}"/>
            </a:ext>
          </a:extLst>
        </p:cNvPr>
        <p:cNvGrpSpPr/>
        <p:nvPr/>
      </p:nvGrpSpPr>
      <p:grpSpPr>
        <a:xfrm>
          <a:off x="0" y="0"/>
          <a:ext cx="0" cy="0"/>
          <a:chOff x="0" y="0"/>
          <a:chExt cx="0" cy="0"/>
        </a:xfrm>
      </p:grpSpPr>
      <p:sp>
        <p:nvSpPr>
          <p:cNvPr id="108" name="Google Shape;108;p5">
            <a:extLst>
              <a:ext uri="{FF2B5EF4-FFF2-40B4-BE49-F238E27FC236}">
                <a16:creationId xmlns:a16="http://schemas.microsoft.com/office/drawing/2014/main" id="{04E89CC0-0E26-E668-5319-462A0D48B1F4}"/>
              </a:ext>
            </a:extLst>
          </p:cNvPr>
          <p:cNvSpPr txBox="1">
            <a:spLocks noGrp="1"/>
          </p:cNvSpPr>
          <p:nvPr>
            <p:ph type="ctrTitle"/>
          </p:nvPr>
        </p:nvSpPr>
        <p:spPr>
          <a:xfrm>
            <a:off x="-95491" y="722454"/>
            <a:ext cx="9334982" cy="652504"/>
          </a:xfrm>
          <a:prstGeom prst="rect">
            <a:avLst/>
          </a:prstGeom>
          <a:noFill/>
          <a:ln>
            <a:noFill/>
          </a:ln>
        </p:spPr>
        <p:txBody>
          <a:bodyPr spcFirstLastPara="1" wrap="square" lIns="91425" tIns="45700" rIns="91425" bIns="45700" anchor="t" anchorCtr="0">
            <a:noAutofit/>
          </a:bodyPr>
          <a:lstStyle/>
          <a:p>
            <a:r>
              <a:rPr lang="en-US" sz="3200">
                <a:latin typeface="Times New Roman"/>
                <a:cs typeface="Times New Roman"/>
              </a:rPr>
              <a:t>Model Performance</a:t>
            </a:r>
            <a:endParaRPr lang="en-US"/>
          </a:p>
        </p:txBody>
      </p:sp>
      <p:sp>
        <p:nvSpPr>
          <p:cNvPr id="10" name="Text Placeholder 6">
            <a:extLst>
              <a:ext uri="{FF2B5EF4-FFF2-40B4-BE49-F238E27FC236}">
                <a16:creationId xmlns:a16="http://schemas.microsoft.com/office/drawing/2014/main" id="{DE7A53EB-9DB7-7B05-FB6D-8D580FBCCBFA}"/>
              </a:ext>
            </a:extLst>
          </p:cNvPr>
          <p:cNvSpPr>
            <a:spLocks noGrp="1"/>
          </p:cNvSpPr>
          <p:nvPr>
            <p:ph type="body" idx="1"/>
          </p:nvPr>
        </p:nvSpPr>
        <p:spPr>
          <a:xfrm>
            <a:off x="3832118" y="4264913"/>
            <a:ext cx="5157559" cy="2595699"/>
          </a:xfrm>
        </p:spPr>
        <p:txBody>
          <a:bodyPr/>
          <a:lstStyle/>
          <a:p>
            <a:pPr marL="114300" indent="0">
              <a:lnSpc>
                <a:spcPct val="150000"/>
              </a:lnSpc>
              <a:buNone/>
            </a:pPr>
            <a:r>
              <a:rPr lang="en-US" sz="1600" b="1">
                <a:cs typeface="Times New Roman"/>
              </a:rPr>
              <a:t>Moderately Healthy</a:t>
            </a:r>
            <a:endParaRPr lang="en-US" sz="1600"/>
          </a:p>
          <a:p>
            <a:pPr marL="114300" indent="0">
              <a:lnSpc>
                <a:spcPct val="150000"/>
              </a:lnSpc>
              <a:buNone/>
            </a:pPr>
            <a:r>
              <a:rPr lang="en-US" sz="1600" b="1">
                <a:cs typeface="Times New Roman"/>
              </a:rPr>
              <a:t>Recall = 0.819, </a:t>
            </a:r>
            <a:r>
              <a:rPr lang="en-US" sz="1600">
                <a:cs typeface="Times New Roman"/>
              </a:rPr>
              <a:t> It captures 82% of actual Moderately Healthy cases</a:t>
            </a:r>
            <a:endParaRPr lang="en-US" sz="1600"/>
          </a:p>
          <a:p>
            <a:pPr marL="114300" indent="0">
              <a:lnSpc>
                <a:spcPct val="150000"/>
              </a:lnSpc>
              <a:buNone/>
            </a:pPr>
            <a:r>
              <a:rPr lang="en-US" sz="1600" b="1">
                <a:cs typeface="Times New Roman"/>
              </a:rPr>
              <a:t>Precision = 0.619, </a:t>
            </a:r>
            <a:r>
              <a:rPr lang="en-US" sz="1600">
                <a:cs typeface="Times New Roman"/>
              </a:rPr>
              <a:t>62% of our “Moderately Healthy” calls are accurate </a:t>
            </a:r>
          </a:p>
          <a:p>
            <a:pPr marL="114300" indent="0">
              <a:lnSpc>
                <a:spcPct val="150000"/>
              </a:lnSpc>
              <a:buNone/>
            </a:pPr>
            <a:endParaRPr lang="en-US" sz="1600">
              <a:cs typeface="Times New Roman"/>
            </a:endParaRPr>
          </a:p>
          <a:p>
            <a:pPr marL="114300" indent="0">
              <a:lnSpc>
                <a:spcPct val="150000"/>
              </a:lnSpc>
              <a:buNone/>
            </a:pPr>
            <a:endParaRPr lang="en-US" sz="2000">
              <a:cs typeface="Times New Roman"/>
            </a:endParaRPr>
          </a:p>
          <a:p>
            <a:pPr marL="114300" indent="0">
              <a:lnSpc>
                <a:spcPct val="150000"/>
              </a:lnSpc>
              <a:buNone/>
            </a:pPr>
            <a:endParaRPr lang="en-US" sz="2000">
              <a:cs typeface="Times New Roman"/>
            </a:endParaRPr>
          </a:p>
          <a:p>
            <a:pPr marL="114300" indent="0">
              <a:lnSpc>
                <a:spcPct val="0"/>
              </a:lnSpc>
              <a:spcBef>
                <a:spcPts val="100"/>
              </a:spcBef>
              <a:buNone/>
            </a:pPr>
            <a:endParaRPr lang="en-US"/>
          </a:p>
        </p:txBody>
      </p:sp>
      <p:pic>
        <p:nvPicPr>
          <p:cNvPr id="7" name="Picture 6" descr="A graph with different colored lines&#10;&#10;AI-generated content may be incorrect.">
            <a:extLst>
              <a:ext uri="{FF2B5EF4-FFF2-40B4-BE49-F238E27FC236}">
                <a16:creationId xmlns:a16="http://schemas.microsoft.com/office/drawing/2014/main" id="{C7DEBDCE-BAD0-297E-01A6-D504AA82FAB1}"/>
              </a:ext>
            </a:extLst>
          </p:cNvPr>
          <p:cNvPicPr>
            <a:picLocks noChangeAspect="1"/>
          </p:cNvPicPr>
          <p:nvPr/>
        </p:nvPicPr>
        <p:blipFill>
          <a:blip r:embed="rId3"/>
          <a:stretch>
            <a:fillRect/>
          </a:stretch>
        </p:blipFill>
        <p:spPr>
          <a:xfrm>
            <a:off x="4060625" y="1376648"/>
            <a:ext cx="4700542" cy="2864350"/>
          </a:xfrm>
          <a:prstGeom prst="rect">
            <a:avLst/>
          </a:prstGeom>
        </p:spPr>
      </p:pic>
      <p:sp>
        <p:nvSpPr>
          <p:cNvPr id="9" name="Text Placeholder 6">
            <a:extLst>
              <a:ext uri="{FF2B5EF4-FFF2-40B4-BE49-F238E27FC236}">
                <a16:creationId xmlns:a16="http://schemas.microsoft.com/office/drawing/2014/main" id="{00F5AE68-28C4-3EFC-07D9-4EAA89C0AC8F}"/>
              </a:ext>
            </a:extLst>
          </p:cNvPr>
          <p:cNvSpPr txBox="1">
            <a:spLocks/>
          </p:cNvSpPr>
          <p:nvPr/>
        </p:nvSpPr>
        <p:spPr>
          <a:xfrm>
            <a:off x="153768" y="1413621"/>
            <a:ext cx="3657598" cy="40307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Helvetica Neue"/>
                <a:ea typeface="Helvetica Neue"/>
                <a:cs typeface="Helvetica Neue"/>
                <a:sym typeface="Helvetica Neue"/>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Helvetica Neue"/>
                <a:ea typeface="Helvetica Neue"/>
                <a:cs typeface="Helvetica Neue"/>
                <a:sym typeface="Helvetica Neue"/>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Helvetica Neue"/>
                <a:ea typeface="Helvetica Neue"/>
                <a:cs typeface="Helvetica Neue"/>
                <a:sym typeface="Helvetica Neue"/>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Helvetica Neue"/>
                <a:ea typeface="Helvetica Neue"/>
                <a:cs typeface="Helvetica Neue"/>
                <a:sym typeface="Helvetica Neue"/>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Helvetica Neue"/>
                <a:ea typeface="Helvetica Neue"/>
                <a:cs typeface="Helvetica Neue"/>
                <a:sym typeface="Helvetica Neue"/>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114300" indent="0">
              <a:lnSpc>
                <a:spcPct val="150000"/>
              </a:lnSpc>
              <a:buNone/>
            </a:pPr>
            <a:r>
              <a:rPr lang="en-US" sz="1600" b="1">
                <a:cs typeface="Times New Roman"/>
              </a:rPr>
              <a:t>Very Healthy</a:t>
            </a:r>
            <a:endParaRPr lang="en-US" sz="2800"/>
          </a:p>
          <a:p>
            <a:pPr marL="114300" indent="0">
              <a:lnSpc>
                <a:spcPct val="150000"/>
              </a:lnSpc>
              <a:buNone/>
            </a:pPr>
            <a:r>
              <a:rPr lang="en-US" sz="1600" b="1">
                <a:cs typeface="Times New Roman"/>
              </a:rPr>
              <a:t>Recall = 0.480,</a:t>
            </a:r>
            <a:r>
              <a:rPr lang="en-US" sz="1600">
                <a:cs typeface="Times New Roman"/>
              </a:rPr>
              <a:t> we detect only 48% of true Very Healthy individuals</a:t>
            </a:r>
            <a:endParaRPr lang="en-US" sz="2800"/>
          </a:p>
          <a:p>
            <a:pPr marL="114300" indent="0">
              <a:lnSpc>
                <a:spcPct val="150000"/>
              </a:lnSpc>
              <a:buNone/>
            </a:pPr>
            <a:r>
              <a:rPr lang="en-US" sz="1600" b="1">
                <a:cs typeface="Times New Roman"/>
              </a:rPr>
              <a:t>Precision = 0.944, </a:t>
            </a:r>
            <a:r>
              <a:rPr lang="en-US" sz="1600">
                <a:cs typeface="Times New Roman"/>
              </a:rPr>
              <a:t>94% of our “Very Healthy” predictions are correct</a:t>
            </a:r>
            <a:endParaRPr lang="en-US" sz="2800"/>
          </a:p>
          <a:p>
            <a:pPr marL="114300" indent="0">
              <a:lnSpc>
                <a:spcPct val="150000"/>
              </a:lnSpc>
              <a:buNone/>
            </a:pPr>
            <a:r>
              <a:rPr lang="en-US" sz="1600" b="1">
                <a:cs typeface="Times New Roman"/>
              </a:rPr>
              <a:t>Specificity = 0.990, </a:t>
            </a:r>
            <a:r>
              <a:rPr lang="en-US" sz="1600">
                <a:cs typeface="Times New Roman"/>
              </a:rPr>
              <a:t>virtually no non-Very Healthy individuals are misclassified as Very Healthy</a:t>
            </a:r>
            <a:endParaRPr lang="en-US" sz="2800"/>
          </a:p>
          <a:p>
            <a:pPr marL="114300" indent="0">
              <a:lnSpc>
                <a:spcPct val="150000"/>
              </a:lnSpc>
              <a:buNone/>
            </a:pPr>
            <a:r>
              <a:rPr lang="en-US" sz="1600" b="1">
                <a:solidFill>
                  <a:srgbClr val="FF0000"/>
                </a:solidFill>
                <a:cs typeface="Times New Roman"/>
              </a:rPr>
              <a:t>ROC, AUC:</a:t>
            </a:r>
            <a:r>
              <a:rPr lang="en-US" sz="1600">
                <a:solidFill>
                  <a:srgbClr val="FF0000"/>
                </a:solidFill>
                <a:cs typeface="Times New Roman"/>
              </a:rPr>
              <a:t> </a:t>
            </a:r>
            <a:r>
              <a:rPr lang="en-US" sz="1600" b="1">
                <a:solidFill>
                  <a:srgbClr val="FF0000"/>
                </a:solidFill>
                <a:cs typeface="Times New Roman"/>
              </a:rPr>
              <a:t>Very Healthy ≈ 0.87,           Unhealthy ≈ 0.83, </a:t>
            </a:r>
            <a:endParaRPr lang="en-US" b="1">
              <a:solidFill>
                <a:srgbClr val="FF0000"/>
              </a:solidFill>
              <a:cs typeface="Times New Roman"/>
            </a:endParaRPr>
          </a:p>
          <a:p>
            <a:pPr marL="114300" indent="0">
              <a:lnSpc>
                <a:spcPct val="150000"/>
              </a:lnSpc>
              <a:buNone/>
            </a:pPr>
            <a:r>
              <a:rPr lang="en-US" sz="1600" b="1">
                <a:solidFill>
                  <a:srgbClr val="FF0000"/>
                </a:solidFill>
                <a:cs typeface="Times New Roman"/>
              </a:rPr>
              <a:t>Moderately Healthy ≈ 0.74</a:t>
            </a:r>
            <a:endParaRPr lang="en-US" b="1">
              <a:solidFill>
                <a:srgbClr val="FF0000"/>
              </a:solidFill>
            </a:endParaRPr>
          </a:p>
          <a:p>
            <a:pPr marL="114300" indent="0">
              <a:lnSpc>
                <a:spcPct val="150000"/>
              </a:lnSpc>
              <a:buFont typeface="Arial"/>
              <a:buNone/>
            </a:pPr>
            <a:endParaRPr lang="en-US" sz="1600">
              <a:cs typeface="Times New Roman"/>
            </a:endParaRPr>
          </a:p>
          <a:p>
            <a:pPr marL="114300" indent="0">
              <a:lnSpc>
                <a:spcPct val="150000"/>
              </a:lnSpc>
              <a:buFont typeface="Arial"/>
              <a:buNone/>
            </a:pPr>
            <a:endParaRPr lang="en-US" sz="2000">
              <a:cs typeface="Times New Roman"/>
            </a:endParaRPr>
          </a:p>
          <a:p>
            <a:pPr marL="114300" indent="0">
              <a:lnSpc>
                <a:spcPct val="150000"/>
              </a:lnSpc>
              <a:buFont typeface="Arial"/>
              <a:buNone/>
            </a:pPr>
            <a:endParaRPr lang="en-US" sz="2000">
              <a:cs typeface="Times New Roman"/>
            </a:endParaRPr>
          </a:p>
          <a:p>
            <a:pPr marL="114300" indent="0">
              <a:lnSpc>
                <a:spcPct val="0"/>
              </a:lnSpc>
              <a:spcBef>
                <a:spcPts val="100"/>
              </a:spcBef>
              <a:buFont typeface="Arial"/>
              <a:buNone/>
            </a:pPr>
            <a:endParaRPr lang="en-US"/>
          </a:p>
        </p:txBody>
      </p:sp>
    </p:spTree>
    <p:extLst>
      <p:ext uri="{BB962C8B-B14F-4D97-AF65-F5344CB8AC3E}">
        <p14:creationId xmlns:p14="http://schemas.microsoft.com/office/powerpoint/2010/main" val="687833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18022238-1E9E-9A26-43C3-9CE624734AFF}"/>
            </a:ext>
          </a:extLst>
        </p:cNvPr>
        <p:cNvGrpSpPr/>
        <p:nvPr/>
      </p:nvGrpSpPr>
      <p:grpSpPr>
        <a:xfrm>
          <a:off x="0" y="0"/>
          <a:ext cx="0" cy="0"/>
          <a:chOff x="0" y="0"/>
          <a:chExt cx="0" cy="0"/>
        </a:xfrm>
      </p:grpSpPr>
      <p:sp>
        <p:nvSpPr>
          <p:cNvPr id="144" name="Google Shape;144;p11">
            <a:extLst>
              <a:ext uri="{FF2B5EF4-FFF2-40B4-BE49-F238E27FC236}">
                <a16:creationId xmlns:a16="http://schemas.microsoft.com/office/drawing/2014/main" id="{2D9C2749-62D5-07A2-EBE4-CB802B00065F}"/>
              </a:ext>
            </a:extLst>
          </p:cNvPr>
          <p:cNvSpPr txBox="1">
            <a:spLocks noGrp="1"/>
          </p:cNvSpPr>
          <p:nvPr>
            <p:ph type="ctrTitle"/>
          </p:nvPr>
        </p:nvSpPr>
        <p:spPr>
          <a:xfrm>
            <a:off x="457200" y="675363"/>
            <a:ext cx="8229600" cy="762000"/>
          </a:xfrm>
          <a:prstGeom prst="rect">
            <a:avLst/>
          </a:prstGeom>
          <a:noFill/>
          <a:ln>
            <a:noFill/>
          </a:ln>
        </p:spPr>
        <p:txBody>
          <a:bodyPr spcFirstLastPara="1" wrap="square" lIns="91425" tIns="45700" rIns="91425" bIns="45700" anchor="t" anchorCtr="0">
            <a:noAutofit/>
          </a:bodyPr>
          <a:lstStyle/>
          <a:p>
            <a:r>
              <a:rPr lang="en-US">
                <a:latin typeface="Times New Roman"/>
                <a:cs typeface="Times New Roman"/>
              </a:rPr>
              <a:t>Conclusion &amp; Recommendation</a:t>
            </a:r>
            <a:endParaRPr lang="en-US">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A7D0EE8-F207-6778-C561-C1A45BC1BB9C}"/>
              </a:ext>
            </a:extLst>
          </p:cNvPr>
          <p:cNvSpPr>
            <a:spLocks noGrp="1"/>
          </p:cNvSpPr>
          <p:nvPr>
            <p:ph type="body" idx="1"/>
          </p:nvPr>
        </p:nvSpPr>
        <p:spPr>
          <a:xfrm>
            <a:off x="173290" y="1442167"/>
            <a:ext cx="8798037" cy="5111416"/>
          </a:xfrm>
        </p:spPr>
        <p:txBody>
          <a:bodyPr/>
          <a:lstStyle/>
          <a:p>
            <a:pPr marL="114300" indent="0">
              <a:lnSpc>
                <a:spcPct val="150000"/>
              </a:lnSpc>
              <a:buNone/>
            </a:pPr>
            <a:r>
              <a:rPr lang="en-US" sz="2000" b="1">
                <a:cs typeface="Times New Roman"/>
              </a:rPr>
              <a:t>Demographics as Strong Predictors</a:t>
            </a:r>
          </a:p>
          <a:p>
            <a:pPr marL="114300" indent="0">
              <a:lnSpc>
                <a:spcPct val="150000"/>
              </a:lnSpc>
              <a:buNone/>
            </a:pPr>
            <a:r>
              <a:rPr lang="en-US" sz="1800" b="1">
                <a:cs typeface="Times New Roman"/>
              </a:rPr>
              <a:t>Age less than 65: </a:t>
            </a:r>
            <a:r>
              <a:rPr lang="en-US" sz="1800">
                <a:cs typeface="Times New Roman"/>
              </a:rPr>
              <a:t>Deploy app‐based challenges and social‐media campaigns to reinforce healthy behaviors early.</a:t>
            </a:r>
          </a:p>
          <a:p>
            <a:pPr marL="114300" indent="0">
              <a:lnSpc>
                <a:spcPct val="150000"/>
              </a:lnSpc>
              <a:buNone/>
            </a:pPr>
            <a:r>
              <a:rPr lang="en-US" sz="1800" b="1">
                <a:cs typeface="Times New Roman"/>
              </a:rPr>
              <a:t>Age 65+: </a:t>
            </a:r>
            <a:r>
              <a:rPr lang="en-US" sz="1800">
                <a:cs typeface="Times New Roman"/>
              </a:rPr>
              <a:t>Introduce community‐center health workshops to reduce the risk of chronic conditions.</a:t>
            </a:r>
            <a:endParaRPr lang="en-US"/>
          </a:p>
          <a:p>
            <a:pPr marL="114300" indent="0">
              <a:lnSpc>
                <a:spcPct val="150000"/>
              </a:lnSpc>
              <a:buNone/>
            </a:pPr>
            <a:r>
              <a:rPr lang="en-US" sz="1800" b="1">
                <a:cs typeface="Times New Roman"/>
              </a:rPr>
              <a:t>Women:</a:t>
            </a:r>
            <a:r>
              <a:rPr lang="en-US" sz="1800">
                <a:cs typeface="Times New Roman"/>
              </a:rPr>
              <a:t> Provide “Level-Up” programs that help move from moderate to very healthy—nutrition coaching, group fitness incentives.</a:t>
            </a:r>
          </a:p>
          <a:p>
            <a:pPr marL="114300" indent="0">
              <a:lnSpc>
                <a:spcPct val="150000"/>
              </a:lnSpc>
              <a:buNone/>
            </a:pPr>
            <a:r>
              <a:rPr lang="en-US" sz="1800" b="1">
                <a:cs typeface="Times New Roman"/>
              </a:rPr>
              <a:t>Race/Ethnicity: </a:t>
            </a:r>
            <a:r>
              <a:rPr lang="en-US" sz="1800">
                <a:cs typeface="Times New Roman"/>
              </a:rPr>
              <a:t>Partner with community organizations in top-performing ethnic groups (White non-Hispanic, Hawaiian/Pacific Islander) to identify and replicate successful health practices.</a:t>
            </a:r>
          </a:p>
          <a:p>
            <a:pPr marL="114300" indent="0">
              <a:buNone/>
            </a:pPr>
            <a:endParaRPr lang="en-US" sz="2000"/>
          </a:p>
          <a:p>
            <a:endParaRPr lang="en-US" sz="2000"/>
          </a:p>
        </p:txBody>
      </p:sp>
    </p:spTree>
    <p:extLst>
      <p:ext uri="{BB962C8B-B14F-4D97-AF65-F5344CB8AC3E}">
        <p14:creationId xmlns:p14="http://schemas.microsoft.com/office/powerpoint/2010/main" val="144580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EDB5F1DF-BB02-9404-FD67-1624C14995BB}"/>
            </a:ext>
          </a:extLst>
        </p:cNvPr>
        <p:cNvGrpSpPr/>
        <p:nvPr/>
      </p:nvGrpSpPr>
      <p:grpSpPr>
        <a:xfrm>
          <a:off x="0" y="0"/>
          <a:ext cx="0" cy="0"/>
          <a:chOff x="0" y="0"/>
          <a:chExt cx="0" cy="0"/>
        </a:xfrm>
      </p:grpSpPr>
      <p:sp>
        <p:nvSpPr>
          <p:cNvPr id="143" name="Google Shape;143;p11">
            <a:extLst>
              <a:ext uri="{FF2B5EF4-FFF2-40B4-BE49-F238E27FC236}">
                <a16:creationId xmlns:a16="http://schemas.microsoft.com/office/drawing/2014/main" id="{EA443966-8596-59C3-F60F-DFFF235C93A2}"/>
              </a:ext>
            </a:extLst>
          </p:cNvPr>
          <p:cNvSpPr txBox="1">
            <a:spLocks noGrp="1"/>
          </p:cNvSpPr>
          <p:nvPr>
            <p:ph type="body" idx="1"/>
          </p:nvPr>
        </p:nvSpPr>
        <p:spPr>
          <a:xfrm>
            <a:off x="281835" y="1440239"/>
            <a:ext cx="8415502" cy="4976768"/>
          </a:xfrm>
          <a:prstGeom prst="rect">
            <a:avLst/>
          </a:prstGeom>
          <a:noFill/>
          <a:ln>
            <a:noFill/>
          </a:ln>
        </p:spPr>
        <p:txBody>
          <a:bodyPr spcFirstLastPara="1" wrap="square" lIns="91425" tIns="45700" rIns="91425" bIns="45700" anchor="t" anchorCtr="0">
            <a:noAutofit/>
          </a:bodyPr>
          <a:lstStyle/>
          <a:p>
            <a:pPr>
              <a:lnSpc>
                <a:spcPct val="150000"/>
              </a:lnSpc>
            </a:pPr>
            <a:r>
              <a:rPr lang="en-US" sz="1600">
                <a:latin typeface="Arial"/>
              </a:rPr>
              <a:t>Metadata, U.S. Chronic Disease Indicators, 2025. Retrieved from https://catalog.data.gov/dataset/u-s-chronic-disease-indicators</a:t>
            </a:r>
            <a:endParaRPr lang="en-US"/>
          </a:p>
          <a:p>
            <a:pPr>
              <a:lnSpc>
                <a:spcPct val="150000"/>
              </a:lnSpc>
            </a:pPr>
            <a:r>
              <a:rPr lang="en-US" sz="1600">
                <a:latin typeface="Arial"/>
                <a:cs typeface="Arial"/>
              </a:rPr>
              <a:t>Chi-Square Test in R: A Complete Guide，datacamp,2024. https://www.datacamp.com/tutorial/chi-square-test-r</a:t>
            </a:r>
            <a:endParaRPr lang="en-US" sz="1600"/>
          </a:p>
          <a:p>
            <a:pPr>
              <a:lnSpc>
                <a:spcPct val="150000"/>
              </a:lnSpc>
            </a:pPr>
            <a:r>
              <a:rPr lang="en-US" sz="1600">
                <a:latin typeface="Arial"/>
                <a:cs typeface="Arial"/>
              </a:rPr>
              <a:t>Hosmer, D. W., </a:t>
            </a:r>
            <a:r>
              <a:rPr lang="en-US" sz="1600" err="1">
                <a:latin typeface="Arial"/>
                <a:cs typeface="Arial"/>
              </a:rPr>
              <a:t>Lemeshow</a:t>
            </a:r>
            <a:r>
              <a:rPr lang="en-US" sz="1600">
                <a:latin typeface="Arial"/>
                <a:cs typeface="Arial"/>
              </a:rPr>
              <a:t>, S., &amp; Sturdivant, R. X. (2013). Applied logistic regression (3rd ed.). Wiley.</a:t>
            </a:r>
            <a:endParaRPr lang="en-US" sz="1600"/>
          </a:p>
          <a:p>
            <a:pPr>
              <a:lnSpc>
                <a:spcPct val="150000"/>
              </a:lnSpc>
            </a:pPr>
            <a:r>
              <a:rPr lang="en-US" sz="1600">
                <a:latin typeface="Arial"/>
                <a:cs typeface="Arial"/>
              </a:rPr>
              <a:t>Jylhä, M. (2009). What is self-rated health and why does it predict mortality? Towards a unified conceptual model. Social Science &amp; Medicine, 69(3), 307–316. https://doi.org/10.1016/j.socscimed.2009.05.013</a:t>
            </a:r>
            <a:endParaRPr lang="en-US" sz="1600"/>
          </a:p>
          <a:p>
            <a:pPr>
              <a:lnSpc>
                <a:spcPct val="150000"/>
              </a:lnSpc>
            </a:pPr>
            <a:r>
              <a:rPr lang="en-US" sz="1600">
                <a:latin typeface="Arial"/>
                <a:cs typeface="Arial"/>
              </a:rPr>
              <a:t>Chen, Y., Freedman, N. D., Albert, P. S., Huxley, R. R., Shiels, M. S., Withrow, D. R., ... &amp; de González, A. B. (2016). Association between obesity and premature death among adults in the United States. New England Journal of Medicine, 373(8), 744–755. https://doi.org/10.1056/NEJMoa1503626</a:t>
            </a:r>
            <a:endParaRPr lang="en-US" sz="1600"/>
          </a:p>
          <a:p>
            <a:pPr>
              <a:lnSpc>
                <a:spcPct val="150000"/>
              </a:lnSpc>
            </a:pPr>
            <a:endParaRPr lang="en-US" sz="1800">
              <a:latin typeface="Arial"/>
            </a:endParaRPr>
          </a:p>
        </p:txBody>
      </p:sp>
      <p:sp>
        <p:nvSpPr>
          <p:cNvPr id="144" name="Google Shape;144;p11">
            <a:extLst>
              <a:ext uri="{FF2B5EF4-FFF2-40B4-BE49-F238E27FC236}">
                <a16:creationId xmlns:a16="http://schemas.microsoft.com/office/drawing/2014/main" id="{373B082F-C4B9-3C47-2599-763C35F06ADF}"/>
              </a:ext>
            </a:extLst>
          </p:cNvPr>
          <p:cNvSpPr txBox="1">
            <a:spLocks noGrp="1"/>
          </p:cNvSpPr>
          <p:nvPr>
            <p:ph type="ctrTitle"/>
          </p:nvPr>
        </p:nvSpPr>
        <p:spPr>
          <a:xfrm>
            <a:off x="457200" y="675363"/>
            <a:ext cx="8229600" cy="762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a:latin typeface="Times New Roman" panose="02020603050405020304" pitchFamily="18" charset="0"/>
                <a:cs typeface="Times New Roman" panose="02020603050405020304" pitchFamily="18" charset="0"/>
              </a:rPr>
              <a:t>Reference</a:t>
            </a:r>
          </a:p>
        </p:txBody>
      </p:sp>
    </p:spTree>
    <p:extLst>
      <p:ext uri="{BB962C8B-B14F-4D97-AF65-F5344CB8AC3E}">
        <p14:creationId xmlns:p14="http://schemas.microsoft.com/office/powerpoint/2010/main" val="576256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A880A635-3514-65F2-0A7F-CE62340975DB}"/>
            </a:ext>
          </a:extLst>
        </p:cNvPr>
        <p:cNvGrpSpPr/>
        <p:nvPr/>
      </p:nvGrpSpPr>
      <p:grpSpPr>
        <a:xfrm>
          <a:off x="0" y="0"/>
          <a:ext cx="0" cy="0"/>
          <a:chOff x="0" y="0"/>
          <a:chExt cx="0" cy="0"/>
        </a:xfrm>
      </p:grpSpPr>
      <p:sp>
        <p:nvSpPr>
          <p:cNvPr id="144" name="Google Shape;144;p11">
            <a:extLst>
              <a:ext uri="{FF2B5EF4-FFF2-40B4-BE49-F238E27FC236}">
                <a16:creationId xmlns:a16="http://schemas.microsoft.com/office/drawing/2014/main" id="{C5CB3222-00DA-4AE8-8FA8-66F8B608FD3C}"/>
              </a:ext>
            </a:extLst>
          </p:cNvPr>
          <p:cNvSpPr txBox="1">
            <a:spLocks noGrp="1"/>
          </p:cNvSpPr>
          <p:nvPr>
            <p:ph type="ctrTitle"/>
          </p:nvPr>
        </p:nvSpPr>
        <p:spPr>
          <a:xfrm>
            <a:off x="457200" y="3048000"/>
            <a:ext cx="8229600" cy="762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r>
              <a:rPr lang="en-US" sz="6000">
                <a:latin typeface="+mn-lt"/>
              </a:rPr>
              <a:t>Thanks !</a:t>
            </a:r>
            <a:endParaRPr sz="6000">
              <a:latin typeface="+mn-lt"/>
            </a:endParaRPr>
          </a:p>
        </p:txBody>
      </p:sp>
    </p:spTree>
    <p:extLst>
      <p:ext uri="{BB962C8B-B14F-4D97-AF65-F5344CB8AC3E}">
        <p14:creationId xmlns:p14="http://schemas.microsoft.com/office/powerpoint/2010/main" val="1632273181"/>
      </p:ext>
    </p:extLst>
  </p:cSld>
  <p:clrMapOvr>
    <a:masterClrMapping/>
  </p:clrMapOvr>
</p:sld>
</file>

<file path=ppt/theme/theme1.xml><?xml version="1.0" encoding="utf-8"?>
<a:theme xmlns:a="http://schemas.openxmlformats.org/drawingml/2006/main" name="powerpoint_newNEU">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全屏显示(4:3)</PresentationFormat>
  <Slides>29</Slides>
  <Notes>29</Notes>
  <HiddenSlides>0</HiddenSlides>
  <ScaleCrop>false</ScaleCrop>
  <HeadingPairs>
    <vt:vector size="4" baseType="variant">
      <vt:variant>
        <vt:lpstr>主题</vt:lpstr>
      </vt:variant>
      <vt:variant>
        <vt:i4>1</vt:i4>
      </vt:variant>
      <vt:variant>
        <vt:lpstr>幻灯片标题</vt:lpstr>
      </vt:variant>
      <vt:variant>
        <vt:i4>29</vt:i4>
      </vt:variant>
    </vt:vector>
  </HeadingPairs>
  <TitlesOfParts>
    <vt:vector size="30" baseType="lpstr">
      <vt:lpstr>powerpoint_newNEU</vt:lpstr>
      <vt:lpstr> Chronic Disease Indicators Analysis (U.S) </vt:lpstr>
      <vt:lpstr>Overview</vt:lpstr>
      <vt:lpstr>Data Summary</vt:lpstr>
      <vt:lpstr>Method 1: Chi-Square Test of Independence </vt:lpstr>
      <vt:lpstr>Invasive Cancer Incidence Analysis </vt:lpstr>
      <vt:lpstr>Invasive Cancer Mortality Analysis </vt:lpstr>
      <vt:lpstr>Colorectal Cancer Mortality </vt:lpstr>
      <vt:lpstr>Method 2: ANOVA Analysis  </vt:lpstr>
      <vt:lpstr>Method 2: ANOVA Analysis  </vt:lpstr>
      <vt:lpstr>Method 2: ANOVA Analysis  </vt:lpstr>
      <vt:lpstr>Method 2: ANOVA Analysis  </vt:lpstr>
      <vt:lpstr>Method 2: ANOVA Analysis  Scale-Location Plot </vt:lpstr>
      <vt:lpstr>Method 2: ANOVA Analysis  Residuals vs Leverage </vt:lpstr>
      <vt:lpstr>Method 3: Logistics Regression Analysis</vt:lpstr>
      <vt:lpstr>Data Overview &amp; Exploration</vt:lpstr>
      <vt:lpstr>Data Overview &amp; Exploration</vt:lpstr>
      <vt:lpstr>Data Overview &amp; Exploration</vt:lpstr>
      <vt:lpstr>Missingness &amp; Cleansing</vt:lpstr>
      <vt:lpstr>Model Specification</vt:lpstr>
      <vt:lpstr>Regression Results Overview</vt:lpstr>
      <vt:lpstr>Regression Results Overview</vt:lpstr>
      <vt:lpstr>Key Predictors Interpretation</vt:lpstr>
      <vt:lpstr>Key Predictors Interpretation</vt:lpstr>
      <vt:lpstr>Key Predictors Interpretation</vt:lpstr>
      <vt:lpstr>Model Performance</vt:lpstr>
      <vt:lpstr>Model Performance</vt:lpstr>
      <vt:lpstr>Conclusion &amp; Recommendation</vt:lpstr>
      <vt:lpstr>Reference</vt:lpstr>
      <vt:lpstr>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m.lyons</dc:creator>
  <cp:revision>76</cp:revision>
  <dcterms:created xsi:type="dcterms:W3CDTF">2010-04-13T14:21:50Z</dcterms:created>
  <dcterms:modified xsi:type="dcterms:W3CDTF">2025-06-26T02:28:25Z</dcterms:modified>
</cp:coreProperties>
</file>