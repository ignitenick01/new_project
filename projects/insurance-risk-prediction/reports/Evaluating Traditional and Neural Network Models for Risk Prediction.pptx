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660" r:id="rId5"/>
  </p:sldMasterIdLst>
  <p:notesMasterIdLst>
    <p:notesMasterId r:id="rId19"/>
  </p:notesMasterIdLst>
  <p:handoutMasterIdLst>
    <p:handoutMasterId r:id="rId20"/>
  </p:handoutMasterIdLst>
  <p:sldIdLst>
    <p:sldId id="266" r:id="rId6"/>
    <p:sldId id="265" r:id="rId7"/>
    <p:sldId id="267" r:id="rId8"/>
    <p:sldId id="261" r:id="rId9"/>
    <p:sldId id="270" r:id="rId10"/>
    <p:sldId id="277" r:id="rId11"/>
    <p:sldId id="269" r:id="rId12"/>
    <p:sldId id="273" r:id="rId13"/>
    <p:sldId id="274" r:id="rId14"/>
    <p:sldId id="275" r:id="rId15"/>
    <p:sldId id="276" r:id="rId16"/>
    <p:sldId id="271" r:id="rId17"/>
    <p:sldId id="278"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15"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875D"/>
    <a:srgbClr val="FE1003"/>
    <a:srgbClr val="36638D"/>
    <a:srgbClr val="ABD1DE"/>
    <a:srgbClr val="3A385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1F5AE6E-0CE8-4F90-8F05-4B75F7EDAF20}" v="165" dt="2025-12-09T01:57:36.931"/>
    <p1510:client id="{9F28F92A-4E8A-20ED-2C29-D71574BDB5A0}" v="64" dt="2025-12-08T22:54:55.901"/>
    <p1510:client id="{DAC93665-8255-45A0-4067-ACFF93C3ECB1}" v="575" dt="2025-12-08T22:43:49.93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3" autoAdjust="0"/>
    <p:restoredTop sz="78141" autoAdjust="0"/>
  </p:normalViewPr>
  <p:slideViewPr>
    <p:cSldViewPr snapToGrid="0" showGuides="1">
      <p:cViewPr varScale="1">
        <p:scale>
          <a:sx n="125" d="100"/>
          <a:sy n="125" d="100"/>
        </p:scale>
        <p:origin x="1662" y="102"/>
      </p:cViewPr>
      <p:guideLst>
        <p:guide orient="horz" pos="2115"/>
        <p:guide pos="3840"/>
      </p:guideLst>
    </p:cSldViewPr>
  </p:slideViewPr>
  <p:notesTextViewPr>
    <p:cViewPr>
      <p:scale>
        <a:sx n="1" d="1"/>
        <a:sy n="1" d="1"/>
      </p:scale>
      <p:origin x="0" y="0"/>
    </p:cViewPr>
  </p:notesTextViewPr>
  <p:notesViewPr>
    <p:cSldViewPr snapToGrid="0" showGuides="1">
      <p:cViewPr varScale="1">
        <p:scale>
          <a:sx n="54" d="100"/>
          <a:sy n="54" d="100"/>
        </p:scale>
        <p:origin x="2004" y="7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23FF5DA-F7E4-C1B3-15BB-D85CE5D9DC3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D"/>
          </a:p>
        </p:txBody>
      </p:sp>
      <p:sp>
        <p:nvSpPr>
          <p:cNvPr id="3" name="Date Placeholder 2">
            <a:extLst>
              <a:ext uri="{FF2B5EF4-FFF2-40B4-BE49-F238E27FC236}">
                <a16:creationId xmlns:a16="http://schemas.microsoft.com/office/drawing/2014/main" id="{2A47BE20-8D46-CE19-B15A-148F9396E13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AA4390B-C798-4C41-8DB7-88CA4764DDED}" type="datetimeFigureOut">
              <a:rPr lang="en-ID" smtClean="0"/>
              <a:t>09/12/2025</a:t>
            </a:fld>
            <a:endParaRPr lang="en-ID"/>
          </a:p>
        </p:txBody>
      </p:sp>
      <p:sp>
        <p:nvSpPr>
          <p:cNvPr id="4" name="Footer Placeholder 3">
            <a:extLst>
              <a:ext uri="{FF2B5EF4-FFF2-40B4-BE49-F238E27FC236}">
                <a16:creationId xmlns:a16="http://schemas.microsoft.com/office/drawing/2014/main" id="{FFD92FDF-A45E-960B-71B3-F4168FE1E6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D"/>
          </a:p>
        </p:txBody>
      </p:sp>
      <p:sp>
        <p:nvSpPr>
          <p:cNvPr id="5" name="Slide Number Placeholder 4">
            <a:extLst>
              <a:ext uri="{FF2B5EF4-FFF2-40B4-BE49-F238E27FC236}">
                <a16:creationId xmlns:a16="http://schemas.microsoft.com/office/drawing/2014/main" id="{124E60D0-6FD5-2A39-C36A-FC08096F70E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737AF11-04C9-4E46-8C2B-BB248E06E38D}" type="slidenum">
              <a:rPr lang="en-ID" smtClean="0"/>
              <a:t>‹#›</a:t>
            </a:fld>
            <a:endParaRPr lang="en-ID"/>
          </a:p>
        </p:txBody>
      </p:sp>
    </p:spTree>
    <p:extLst>
      <p:ext uri="{BB962C8B-B14F-4D97-AF65-F5344CB8AC3E}">
        <p14:creationId xmlns:p14="http://schemas.microsoft.com/office/powerpoint/2010/main" val="14709203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008DE9F-1FA1-4BA3-9F54-8442D0E6863A}" type="datetimeFigureOut">
              <a:rPr lang="en-ID" smtClean="0"/>
              <a:t>09/12/2025</a:t>
            </a:fld>
            <a:endParaRPr lang="en-I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F672D5-475D-42A0-A31A-C9AB176F60BE}" type="slidenum">
              <a:rPr lang="en-ID" smtClean="0"/>
              <a:t>‹#›</a:t>
            </a:fld>
            <a:endParaRPr lang="en-ID"/>
          </a:p>
        </p:txBody>
      </p:sp>
    </p:spTree>
    <p:extLst>
      <p:ext uri="{BB962C8B-B14F-4D97-AF65-F5344CB8AC3E}">
        <p14:creationId xmlns:p14="http://schemas.microsoft.com/office/powerpoint/2010/main" val="2550498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www.google.com/search?q=backpropagation&amp;sca_esv=1200947014d1748e&amp;rlz=1C1ONGR_enUS1144US1144&amp;sxsrf=AE3TifP0VbXe8MrWjNIPiihyzfmeJysCmg%3A1765297788322&amp;ei=fE44aauuE7uU5OMP-bndkQo&amp;oq=mlp&amp;gs_lp=Egxnd3Mtd2l6LXNlcnAaAhgBIgNtbHAqAggAMgcQIxiwAxgnMgoQABhHGNYEGLADMgoQABhHGNYEGLADMgoQABhHGNYEGLADMgoQABhHGNYEGLADMgoQABhHGNYEGLADMgoQABhHGNYEGLADMgoQABhHGNYEGLADMhAQABiABBiKBRhDGLADGIsDMhAQABiABBiKBRhDGLADGIsDMhAQABiABBiKBRhDGLADGIsDMhAQABiABBiKBRhDGLADGIsDMhEQABjkAhjWBBiwAxiLA9gBATIREAAY5AIY1gQYsAMYiwPYAQEyERAAGOQCGNYEGLADGIsD2AEBMhwQLhiABBiKBRhDGMgDGLADGIsDGKQDGKgD2AEBMhwQLhiABBiKBRhDGMgDGLADGIsDGKgDGO4F2AEBMh8QLhiABBiKBRhDGMgDGLADGIsDGO4FGKgDGJgD2AEBMhwQLhiABBiKBRhDGMgDGLADGIsDGKgDGJkD2AEBSNMDUABYAHABeAGQAQCYAQCgAQCqAQC4AQHIAQCYAgGgAgSYAwCIBgGQBhO6BgYIARABGAmSBwExoAcAsgcAuAcAwgcDMi0xyAcDgAgB&amp;sclient=gws-wiz-serp&amp;mstk=AUtExfA42fklL87HwKvxQCKAoHlWFCcY9jYHsUcgA6QG0j1wPKheKsbv6QjOILNt_kKcLHh1HvoRAaspHKFdtZZRShsA-hlrkjzJ1mFvmRyYh2zDklQYrb-7cdx-jre5a3EgwfXCDt60JgbgpdjWxDj6UWReE45uCqZ4rErClz86e0IgbR38lQwlVp3Sdo0e8efx9ZyySrBLm5lWfRN8-jYVC2hQLZ1zBxd9kT7Lohx789FR-Ovk4H-H2LxCx0-QhpN9GxcfmSpxF6ZjTN0V9CahGoGQjn8GHOBPPRvwAmfWCwM3gA&amp;csui=3&amp;ved=2ahUKEwjnsNTf9rCRAxU-rokEHTBvFewQgK4QegQIARAE"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ID" dirty="0"/>
          </a:p>
        </p:txBody>
      </p:sp>
      <p:sp>
        <p:nvSpPr>
          <p:cNvPr id="4" name="Slide Number Placeholder 3"/>
          <p:cNvSpPr>
            <a:spLocks noGrp="1"/>
          </p:cNvSpPr>
          <p:nvPr>
            <p:ph type="sldNum" sz="quarter" idx="5"/>
          </p:nvPr>
        </p:nvSpPr>
        <p:spPr/>
        <p:txBody>
          <a:bodyPr/>
          <a:lstStyle/>
          <a:p>
            <a:fld id="{EDF672D5-475D-42A0-A31A-C9AB176F60BE}" type="slidenum">
              <a:rPr lang="en-ID" smtClean="0"/>
              <a:t>1</a:t>
            </a:fld>
            <a:endParaRPr lang="en-ID"/>
          </a:p>
        </p:txBody>
      </p:sp>
    </p:spTree>
    <p:extLst>
      <p:ext uri="{BB962C8B-B14F-4D97-AF65-F5344CB8AC3E}">
        <p14:creationId xmlns:p14="http://schemas.microsoft.com/office/powerpoint/2010/main" val="7656637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dirty="0"/>
          </a:p>
        </p:txBody>
      </p:sp>
      <p:sp>
        <p:nvSpPr>
          <p:cNvPr id="4" name="Slide Number Placeholder 3"/>
          <p:cNvSpPr>
            <a:spLocks noGrp="1"/>
          </p:cNvSpPr>
          <p:nvPr>
            <p:ph type="sldNum" sz="quarter" idx="5"/>
          </p:nvPr>
        </p:nvSpPr>
        <p:spPr/>
        <p:txBody>
          <a:bodyPr/>
          <a:lstStyle/>
          <a:p>
            <a:fld id="{EDF672D5-475D-42A0-A31A-C9AB176F60BE}" type="slidenum">
              <a:rPr lang="en-ID" smtClean="0"/>
              <a:t>2</a:t>
            </a:fld>
            <a:endParaRPr lang="en-ID"/>
          </a:p>
        </p:txBody>
      </p:sp>
    </p:spTree>
    <p:extLst>
      <p:ext uri="{BB962C8B-B14F-4D97-AF65-F5344CB8AC3E}">
        <p14:creationId xmlns:p14="http://schemas.microsoft.com/office/powerpoint/2010/main" val="16896250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dirty="0"/>
          </a:p>
        </p:txBody>
      </p:sp>
      <p:sp>
        <p:nvSpPr>
          <p:cNvPr id="4" name="Slide Number Placeholder 3"/>
          <p:cNvSpPr>
            <a:spLocks noGrp="1"/>
          </p:cNvSpPr>
          <p:nvPr>
            <p:ph type="sldNum" sz="quarter" idx="5"/>
          </p:nvPr>
        </p:nvSpPr>
        <p:spPr/>
        <p:txBody>
          <a:bodyPr/>
          <a:lstStyle/>
          <a:p>
            <a:fld id="{EDF672D5-475D-42A0-A31A-C9AB176F60BE}" type="slidenum">
              <a:rPr lang="en-ID" smtClean="0"/>
              <a:t>3</a:t>
            </a:fld>
            <a:endParaRPr lang="en-ID"/>
          </a:p>
        </p:txBody>
      </p:sp>
    </p:spTree>
    <p:extLst>
      <p:ext uri="{BB962C8B-B14F-4D97-AF65-F5344CB8AC3E}">
        <p14:creationId xmlns:p14="http://schemas.microsoft.com/office/powerpoint/2010/main" val="13047605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DF672D5-475D-42A0-A31A-C9AB176F60BE}" type="slidenum">
              <a:rPr lang="en-ID" smtClean="0"/>
              <a:t>4</a:t>
            </a:fld>
            <a:endParaRPr lang="en-ID"/>
          </a:p>
        </p:txBody>
      </p:sp>
    </p:spTree>
    <p:extLst>
      <p:ext uri="{BB962C8B-B14F-4D97-AF65-F5344CB8AC3E}">
        <p14:creationId xmlns:p14="http://schemas.microsoft.com/office/powerpoint/2010/main" val="2567326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dirty="0"/>
          </a:p>
        </p:txBody>
      </p:sp>
      <p:sp>
        <p:nvSpPr>
          <p:cNvPr id="4" name="Slide Number Placeholder 3"/>
          <p:cNvSpPr>
            <a:spLocks noGrp="1"/>
          </p:cNvSpPr>
          <p:nvPr>
            <p:ph type="sldNum" sz="quarter" idx="5"/>
          </p:nvPr>
        </p:nvSpPr>
        <p:spPr/>
        <p:txBody>
          <a:bodyPr/>
          <a:lstStyle/>
          <a:p>
            <a:fld id="{EDF672D5-475D-42A0-A31A-C9AB176F60BE}" type="slidenum">
              <a:rPr lang="en-ID" smtClean="0"/>
              <a:t>5</a:t>
            </a:fld>
            <a:endParaRPr lang="en-ID"/>
          </a:p>
        </p:txBody>
      </p:sp>
    </p:spTree>
    <p:extLst>
      <p:ext uri="{BB962C8B-B14F-4D97-AF65-F5344CB8AC3E}">
        <p14:creationId xmlns:p14="http://schemas.microsoft.com/office/powerpoint/2010/main" val="8534034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470410-D89D-6D4B-173E-9C3A9AD0F7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9F059C-7A69-DEB8-D671-7DC4D822DB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282123-C927-3DF7-6916-548D719E7472}"/>
              </a:ext>
            </a:extLst>
          </p:cNvPr>
          <p:cNvSpPr>
            <a:spLocks noGrp="1"/>
          </p:cNvSpPr>
          <p:nvPr>
            <p:ph type="body" idx="1"/>
          </p:nvPr>
        </p:nvSpPr>
        <p:spPr/>
        <p:txBody>
          <a:bodyPr/>
          <a:lstStyle/>
          <a:p>
            <a:endParaRPr lang="en-US" altLang="zh-CN" dirty="0"/>
          </a:p>
        </p:txBody>
      </p:sp>
      <p:sp>
        <p:nvSpPr>
          <p:cNvPr id="4" name="Slide Number Placeholder 3">
            <a:extLst>
              <a:ext uri="{FF2B5EF4-FFF2-40B4-BE49-F238E27FC236}">
                <a16:creationId xmlns:a16="http://schemas.microsoft.com/office/drawing/2014/main" id="{F99A7755-488D-3263-860A-168CED9EE4A3}"/>
              </a:ext>
            </a:extLst>
          </p:cNvPr>
          <p:cNvSpPr>
            <a:spLocks noGrp="1"/>
          </p:cNvSpPr>
          <p:nvPr>
            <p:ph type="sldNum" sz="quarter" idx="5"/>
          </p:nvPr>
        </p:nvSpPr>
        <p:spPr/>
        <p:txBody>
          <a:bodyPr/>
          <a:lstStyle/>
          <a:p>
            <a:fld id="{EDF672D5-475D-42A0-A31A-C9AB176F60BE}" type="slidenum">
              <a:rPr lang="en-ID" smtClean="0"/>
              <a:t>6</a:t>
            </a:fld>
            <a:endParaRPr lang="en-ID"/>
          </a:p>
        </p:txBody>
      </p:sp>
    </p:spTree>
    <p:extLst>
      <p:ext uri="{BB962C8B-B14F-4D97-AF65-F5344CB8AC3E}">
        <p14:creationId xmlns:p14="http://schemas.microsoft.com/office/powerpoint/2010/main" val="13580623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dirty="0"/>
          </a:p>
        </p:txBody>
      </p:sp>
      <p:sp>
        <p:nvSpPr>
          <p:cNvPr id="4" name="Slide Number Placeholder 3"/>
          <p:cNvSpPr>
            <a:spLocks noGrp="1"/>
          </p:cNvSpPr>
          <p:nvPr>
            <p:ph type="sldNum" sz="quarter" idx="5"/>
          </p:nvPr>
        </p:nvSpPr>
        <p:spPr/>
        <p:txBody>
          <a:bodyPr/>
          <a:lstStyle/>
          <a:p>
            <a:fld id="{EDF672D5-475D-42A0-A31A-C9AB176F60BE}" type="slidenum">
              <a:rPr lang="en-ID" smtClean="0"/>
              <a:t>7</a:t>
            </a:fld>
            <a:endParaRPr lang="en-ID"/>
          </a:p>
        </p:txBody>
      </p:sp>
    </p:spTree>
    <p:extLst>
      <p:ext uri="{BB962C8B-B14F-4D97-AF65-F5344CB8AC3E}">
        <p14:creationId xmlns:p14="http://schemas.microsoft.com/office/powerpoint/2010/main" val="21154193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B474C-0B7F-39DC-6697-58780A4F03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0EA79A-0B6C-55AD-2F44-75D31472D9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3DBEE5-4912-D876-379A-81F407E9BDB2}"/>
              </a:ext>
            </a:extLst>
          </p:cNvPr>
          <p:cNvSpPr>
            <a:spLocks noGrp="1"/>
          </p:cNvSpPr>
          <p:nvPr>
            <p:ph type="body" idx="1"/>
          </p:nvPr>
        </p:nvSpPr>
        <p:spPr/>
        <p:txBody>
          <a:bodyPr/>
          <a:lstStyle/>
          <a:p>
            <a:r>
              <a:rPr lang="en-US" altLang="zh-CN" dirty="0"/>
              <a:t>We began with logistic regression and a decision tree. They are simple, interpretable models, so they’re good for understanding the dataset. Both models had an AUC of about point six one. At we told before we thought the low accuracy meant the models were bad, but as my </a:t>
            </a:r>
            <a:r>
              <a:rPr lang="en-US" altLang="zh-CN" dirty="0" err="1"/>
              <a:t>teamate</a:t>
            </a:r>
            <a:r>
              <a:rPr lang="en-US" altLang="zh-CN" dirty="0"/>
              <a:t> </a:t>
            </a:r>
            <a:r>
              <a:rPr lang="en-US" altLang="zh-CN" dirty="0" err="1"/>
              <a:t>findout</a:t>
            </a:r>
            <a:r>
              <a:rPr lang="en-US" altLang="zh-CN" dirty="0"/>
              <a:t> in EDA almost all labels are zero. That means predicting zero for everything already gives around ninety-six percent accuracy.</a:t>
            </a:r>
          </a:p>
          <a:p>
            <a:r>
              <a:rPr lang="en-US" altLang="zh-CN" dirty="0"/>
              <a:t>for imbalanced datasets, accuracy is almost meaningless. That’s why we used AUC as the main evaluation metric. Once we did that, it became clear that both baseline models performed similarly and weren’t capturing deeper patterns.</a:t>
            </a:r>
          </a:p>
          <a:p>
            <a:endParaRPr lang="en-ID" dirty="0"/>
          </a:p>
        </p:txBody>
      </p:sp>
      <p:sp>
        <p:nvSpPr>
          <p:cNvPr id="4" name="Slide Number Placeholder 3">
            <a:extLst>
              <a:ext uri="{FF2B5EF4-FFF2-40B4-BE49-F238E27FC236}">
                <a16:creationId xmlns:a16="http://schemas.microsoft.com/office/drawing/2014/main" id="{1A7791BE-F365-465A-5FE4-4EFE08DDEBF7}"/>
              </a:ext>
            </a:extLst>
          </p:cNvPr>
          <p:cNvSpPr>
            <a:spLocks noGrp="1"/>
          </p:cNvSpPr>
          <p:nvPr>
            <p:ph type="sldNum" sz="quarter" idx="5"/>
          </p:nvPr>
        </p:nvSpPr>
        <p:spPr/>
        <p:txBody>
          <a:bodyPr/>
          <a:lstStyle/>
          <a:p>
            <a:fld id="{EDF672D5-475D-42A0-A31A-C9AB176F60BE}" type="slidenum">
              <a:rPr lang="en-ID" smtClean="0"/>
              <a:t>8</a:t>
            </a:fld>
            <a:endParaRPr lang="en-ID"/>
          </a:p>
        </p:txBody>
      </p:sp>
    </p:spTree>
    <p:extLst>
      <p:ext uri="{BB962C8B-B14F-4D97-AF65-F5344CB8AC3E}">
        <p14:creationId xmlns:p14="http://schemas.microsoft.com/office/powerpoint/2010/main" val="14919287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6BB38-F4EF-1478-D567-FD93A1EEE6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320517-0CD9-871C-4002-C79D723987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7059D1-883C-B555-65C9-8B5167E157C7}"/>
              </a:ext>
            </a:extLst>
          </p:cNvPr>
          <p:cNvSpPr>
            <a:spLocks noGrp="1"/>
          </p:cNvSpPr>
          <p:nvPr>
            <p:ph type="body" idx="1"/>
          </p:nvPr>
        </p:nvSpPr>
        <p:spPr/>
        <p:txBody>
          <a:bodyPr/>
          <a:lstStyle/>
          <a:p>
            <a:r>
              <a:rPr lang="en-US" altLang="zh-CN" dirty="0"/>
              <a:t>Although neural networks are often associated with image, audio and text applications, they are not limited to those domains. When the features are complex, anonymized or have nonlinear interactions, neural networks can also be effective for tabular prediction tasks. In our insurance classification problem, an MLP provides a flexible way to learn hidden patterns that traditional models may miss.  So Our demo is a simplified version of our full pipeline. Instead of building a visual interface, we provide a runnable notebook that walks through the key steps of our workflow for you to download.</a:t>
            </a:r>
          </a:p>
          <a:p>
            <a:r>
              <a:rPr lang="en-US" altLang="zh-CN" dirty="0"/>
              <a:t> </a:t>
            </a:r>
          </a:p>
          <a:p>
            <a:r>
              <a:rPr lang="en-US" altLang="zh-CN" dirty="0"/>
              <a:t>Back to MLP we used the components we learned in class: Rectified Linear Unit activations, dropout to reduce overfitting, and binary cross-entropy with logits as the loss function. Even a simple one-hidden-layer MLP improved the AUC to around point six three or point six four, which we think already better than the baseline models.</a:t>
            </a:r>
          </a:p>
          <a:p>
            <a:endParaRPr lang="en-US" altLang="zh-CN" dirty="0"/>
          </a:p>
          <a:p>
            <a:endParaRPr lang="en-US" altLang="zh-CN" dirty="0"/>
          </a:p>
          <a:p>
            <a:endParaRPr lang="en-US" altLang="zh-CN" dirty="0"/>
          </a:p>
          <a:p>
            <a:endParaRPr lang="en-US" altLang="zh-CN" dirty="0"/>
          </a:p>
          <a:p>
            <a:r>
              <a:rPr lang="en-US" altLang="zh-CN" sz="1200" b="1" i="0" kern="1200" dirty="0">
                <a:solidFill>
                  <a:schemeClr val="tx1"/>
                </a:solidFill>
                <a:effectLst/>
                <a:latin typeface="+mn-lt"/>
                <a:ea typeface="+mn-ea"/>
                <a:cs typeface="+mn-cs"/>
              </a:rPr>
              <a:t>Multilayer </a:t>
            </a:r>
            <a:r>
              <a:rPr lang="en-US" altLang="zh-CN" sz="1200" b="1" i="0" kern="1200" dirty="0" err="1">
                <a:solidFill>
                  <a:schemeClr val="tx1"/>
                </a:solidFill>
                <a:effectLst/>
                <a:latin typeface="+mn-lt"/>
                <a:ea typeface="+mn-ea"/>
                <a:cs typeface="+mn-cs"/>
              </a:rPr>
              <a:t>Perceptron:</a:t>
            </a:r>
            <a:r>
              <a:rPr lang="en-US" altLang="zh-CN" sz="1200" b="0" i="0" kern="1200" dirty="0" err="1">
                <a:solidFill>
                  <a:schemeClr val="tx1"/>
                </a:solidFill>
                <a:effectLst/>
                <a:latin typeface="+mn-lt"/>
                <a:ea typeface="+mn-ea"/>
                <a:cs typeface="+mn-cs"/>
              </a:rPr>
              <a:t>a</a:t>
            </a:r>
            <a:r>
              <a:rPr lang="en-US" altLang="zh-CN" sz="1200" b="0" i="0" kern="1200" dirty="0">
                <a:solidFill>
                  <a:schemeClr val="tx1"/>
                </a:solidFill>
                <a:effectLst/>
                <a:latin typeface="+mn-lt"/>
                <a:ea typeface="+mn-ea"/>
                <a:cs typeface="+mn-cs"/>
              </a:rPr>
              <a:t> fundamental type of feedforward neural network with input, output, and one or more hidden layers of interconnected neurons that learn complex, non-linear patterns by processing data layer by layer, using activation functions (like </a:t>
            </a:r>
            <a:r>
              <a:rPr lang="en-US" altLang="zh-CN" sz="1200" b="0" i="0" kern="1200" dirty="0" err="1">
                <a:solidFill>
                  <a:schemeClr val="tx1"/>
                </a:solidFill>
                <a:effectLst/>
                <a:latin typeface="+mn-lt"/>
                <a:ea typeface="+mn-ea"/>
                <a:cs typeface="+mn-cs"/>
              </a:rPr>
              <a:t>ReLU</a:t>
            </a:r>
            <a:r>
              <a:rPr lang="en-US" altLang="zh-CN" sz="1200" b="0" i="0" kern="1200" dirty="0">
                <a:solidFill>
                  <a:schemeClr val="tx1"/>
                </a:solidFill>
                <a:effectLst/>
                <a:latin typeface="+mn-lt"/>
                <a:ea typeface="+mn-ea"/>
                <a:cs typeface="+mn-cs"/>
              </a:rPr>
              <a:t>) and </a:t>
            </a:r>
            <a:r>
              <a:rPr lang="en-US" altLang="zh-CN" sz="1200" b="0" i="0" kern="1200" dirty="0">
                <a:solidFill>
                  <a:schemeClr val="tx1"/>
                </a:solidFill>
                <a:effectLst/>
                <a:latin typeface="+mn-lt"/>
                <a:ea typeface="+mn-ea"/>
                <a:cs typeface="+mn-cs"/>
                <a:hlinkClick r:id="rId3"/>
              </a:rPr>
              <a:t>backpropagation</a:t>
            </a:r>
            <a:r>
              <a:rPr lang="en-US" altLang="zh-CN" sz="1200" b="0" i="0" kern="1200" dirty="0">
                <a:solidFill>
                  <a:schemeClr val="tx1"/>
                </a:solidFill>
                <a:effectLst/>
                <a:latin typeface="+mn-lt"/>
                <a:ea typeface="+mn-ea"/>
                <a:cs typeface="+mn-cs"/>
              </a:rPr>
              <a:t> for training</a:t>
            </a:r>
          </a:p>
          <a:p>
            <a:endParaRPr lang="en-US" altLang="zh-CN" sz="1200" b="0" i="0" kern="1200" dirty="0">
              <a:solidFill>
                <a:schemeClr val="tx1"/>
              </a:solidFill>
              <a:effectLst/>
              <a:latin typeface="+mn-lt"/>
              <a:ea typeface="+mn-ea"/>
              <a:cs typeface="+mn-cs"/>
            </a:endParaRPr>
          </a:p>
          <a:p>
            <a:r>
              <a:rPr lang="en-US" altLang="zh-CN" sz="1200" b="1" i="0" kern="1200" dirty="0">
                <a:solidFill>
                  <a:schemeClr val="tx1"/>
                </a:solidFill>
                <a:effectLst/>
                <a:latin typeface="+mn-lt"/>
                <a:ea typeface="+mn-ea"/>
                <a:cs typeface="+mn-cs"/>
              </a:rPr>
              <a:t>Rectified Linear Unit</a:t>
            </a:r>
            <a:r>
              <a:rPr lang="en-US" altLang="zh-CN" sz="1200" b="0" i="0" kern="1200" dirty="0">
                <a:solidFill>
                  <a:schemeClr val="tx1"/>
                </a:solidFill>
                <a:effectLst/>
                <a:latin typeface="+mn-lt"/>
                <a:ea typeface="+mn-ea"/>
                <a:cs typeface="+mn-cs"/>
              </a:rPr>
              <a:t>: It's a simple threshold function: if the input is above zero, the output passes through; if below, it's zeroed out. Help model learn </a:t>
            </a:r>
            <a:r>
              <a:rPr lang="en-US" altLang="zh-CN" dirty="0"/>
              <a:t>nonlinearity</a:t>
            </a:r>
            <a:endParaRPr lang="en-US" altLang="zh-CN" sz="1200" b="0" i="0" kern="1200" dirty="0">
              <a:solidFill>
                <a:schemeClr val="tx1"/>
              </a:solidFill>
              <a:effectLst/>
              <a:latin typeface="+mn-lt"/>
              <a:ea typeface="+mn-ea"/>
              <a:cs typeface="+mn-cs"/>
            </a:endParaRPr>
          </a:p>
          <a:p>
            <a:r>
              <a:rPr lang="en-US" altLang="zh-CN" sz="1200" b="1" i="0" kern="1200" dirty="0">
                <a:solidFill>
                  <a:schemeClr val="tx1"/>
                </a:solidFill>
                <a:effectLst/>
                <a:latin typeface="+mn-lt"/>
                <a:ea typeface="+mn-ea"/>
                <a:cs typeface="+mn-cs"/>
              </a:rPr>
              <a:t>AUC: </a:t>
            </a:r>
            <a:r>
              <a:rPr lang="en-US" altLang="zh-CN" sz="1200" b="0" i="0" kern="1200" dirty="0">
                <a:solidFill>
                  <a:schemeClr val="tx1"/>
                </a:solidFill>
                <a:effectLst/>
                <a:latin typeface="+mn-lt"/>
                <a:ea typeface="+mn-ea"/>
                <a:cs typeface="+mn-cs"/>
              </a:rPr>
              <a:t>The area under the (ROC) curve, measuring a model's ability to distinguish between classes</a:t>
            </a:r>
          </a:p>
          <a:p>
            <a:r>
              <a:rPr lang="en-US" altLang="zh-CN" sz="1200" b="1" i="0" kern="1200" dirty="0">
                <a:solidFill>
                  <a:schemeClr val="tx1"/>
                </a:solidFill>
                <a:effectLst/>
                <a:latin typeface="+mn-lt"/>
                <a:ea typeface="+mn-ea"/>
                <a:cs typeface="+mn-cs"/>
              </a:rPr>
              <a:t>ROC:</a:t>
            </a:r>
            <a:r>
              <a:rPr lang="en-US" altLang="zh-CN" sz="1200" b="0" i="0" kern="1200" dirty="0">
                <a:solidFill>
                  <a:schemeClr val="tx1"/>
                </a:solidFill>
                <a:effectLst/>
                <a:latin typeface="+mn-lt"/>
                <a:ea typeface="+mn-ea"/>
                <a:cs typeface="+mn-cs"/>
              </a:rPr>
              <a:t> a graph showing a binary classification model's performance by plotting the True Positive Rate (Sensitivity) against the False Positive Rate (1-Specificity) at various thresholds</a:t>
            </a:r>
            <a:endParaRPr lang="en-US" altLang="zh-CN" dirty="0"/>
          </a:p>
        </p:txBody>
      </p:sp>
      <p:sp>
        <p:nvSpPr>
          <p:cNvPr id="4" name="Slide Number Placeholder 3">
            <a:extLst>
              <a:ext uri="{FF2B5EF4-FFF2-40B4-BE49-F238E27FC236}">
                <a16:creationId xmlns:a16="http://schemas.microsoft.com/office/drawing/2014/main" id="{087D2301-5A65-E88B-B99C-B8FE8E30950B}"/>
              </a:ext>
            </a:extLst>
          </p:cNvPr>
          <p:cNvSpPr>
            <a:spLocks noGrp="1"/>
          </p:cNvSpPr>
          <p:nvPr>
            <p:ph type="sldNum" sz="quarter" idx="5"/>
          </p:nvPr>
        </p:nvSpPr>
        <p:spPr/>
        <p:txBody>
          <a:bodyPr/>
          <a:lstStyle/>
          <a:p>
            <a:fld id="{EDF672D5-475D-42A0-A31A-C9AB176F60BE}" type="slidenum">
              <a:rPr lang="en-ID" smtClean="0"/>
              <a:t>9</a:t>
            </a:fld>
            <a:endParaRPr lang="en-ID"/>
          </a:p>
        </p:txBody>
      </p:sp>
    </p:spTree>
    <p:extLst>
      <p:ext uri="{BB962C8B-B14F-4D97-AF65-F5344CB8AC3E}">
        <p14:creationId xmlns:p14="http://schemas.microsoft.com/office/powerpoint/2010/main" val="18253212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2CB8FD-D56F-EA87-1F9D-933758356B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60ED17-C78E-E30A-37FB-35F999F0A7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6621B8-777B-1AAC-9C78-EB761CC28F02}"/>
              </a:ext>
            </a:extLst>
          </p:cNvPr>
          <p:cNvSpPr>
            <a:spLocks noGrp="1"/>
          </p:cNvSpPr>
          <p:nvPr>
            <p:ph type="body" idx="1"/>
          </p:nvPr>
        </p:nvSpPr>
        <p:spPr/>
        <p:txBody>
          <a:bodyPr/>
          <a:lstStyle/>
          <a:p>
            <a:r>
              <a:rPr lang="en-US" altLang="zh-CN" dirty="0"/>
              <a:t>we then built an improved MLP with two hidden layers next: one with 128 units and one with 64. we kept dropout and Rectified Linear Unit, and trained it using Adam. The architecture looked reasonable, but surprisingly, the performance didn’t improve immediately.</a:t>
            </a:r>
          </a:p>
          <a:p>
            <a:r>
              <a:rPr lang="en-US" altLang="zh-CN" dirty="0"/>
              <a:t>This showed us  deeper networks don’t automatically perform better. They are much more sensitive to the optimization process.</a:t>
            </a:r>
          </a:p>
          <a:p>
            <a:endParaRPr lang="en-US" altLang="zh-CN" dirty="0"/>
          </a:p>
          <a:p>
            <a:r>
              <a:rPr lang="en-US" altLang="zh-CN" dirty="0"/>
              <a:t>Even though we used dropout, the model didn’t converge cleanly, not because the model was good, because it never stabilized enough to overfit. This pushed us to investigate the optimization settings more closely.</a:t>
            </a:r>
          </a:p>
          <a:p>
            <a:r>
              <a:rPr lang="en-US" altLang="zh-CN" dirty="0"/>
              <a:t>So, we can see that the training loss keeps decreasing, so the model is definitely learning the training data. But the validation loss stays almost flat.</a:t>
            </a:r>
          </a:p>
          <a:p>
            <a:endParaRPr lang="en-US" altLang="zh-CN" dirty="0"/>
          </a:p>
          <a:p>
            <a:r>
              <a:rPr lang="en-US" altLang="zh-CN" dirty="0"/>
              <a:t>Validation AUC hovers around 0.63 and does not improve that much, which confirms that this deeper model with </a:t>
            </a:r>
            <a:r>
              <a:rPr lang="en-US" altLang="zh-CN" dirty="0" err="1"/>
              <a:t>lr</a:t>
            </a:r>
            <a:r>
              <a:rPr lang="en-US" altLang="zh-CN" dirty="0"/>
              <a:t> = 1e-3 does not really outperform the simpler baseline.</a:t>
            </a:r>
          </a:p>
          <a:p>
            <a:endParaRPr lang="en-US" altLang="zh-CN" dirty="0"/>
          </a:p>
          <a:p>
            <a:endParaRPr lang="en-US" altLang="zh-CN" dirty="0"/>
          </a:p>
          <a:p>
            <a:r>
              <a:rPr lang="en-US" altLang="zh-CN" b="1" dirty="0"/>
              <a:t>Adam: </a:t>
            </a:r>
            <a:r>
              <a:rPr lang="en-US" altLang="zh-CN" dirty="0"/>
              <a:t>Is an optimization algorithm that automatically adjusts the learning rate for each parameter, which makes training faster and more stable, reduce noisy</a:t>
            </a:r>
          </a:p>
          <a:p>
            <a:r>
              <a:rPr lang="en-US" altLang="zh-CN" b="1" dirty="0"/>
              <a:t>Dropout: </a:t>
            </a:r>
            <a:r>
              <a:rPr lang="en-US" altLang="zh-CN" dirty="0"/>
              <a:t>randomly turns off a portion of neurons during training, prevents the network from relying too much on specific neurons, reduce overfitting</a:t>
            </a:r>
          </a:p>
        </p:txBody>
      </p:sp>
      <p:sp>
        <p:nvSpPr>
          <p:cNvPr id="4" name="Slide Number Placeholder 3">
            <a:extLst>
              <a:ext uri="{FF2B5EF4-FFF2-40B4-BE49-F238E27FC236}">
                <a16:creationId xmlns:a16="http://schemas.microsoft.com/office/drawing/2014/main" id="{ACE515ED-7AA5-EF12-7615-552E6CC170A3}"/>
              </a:ext>
            </a:extLst>
          </p:cNvPr>
          <p:cNvSpPr>
            <a:spLocks noGrp="1"/>
          </p:cNvSpPr>
          <p:nvPr>
            <p:ph type="sldNum" sz="quarter" idx="5"/>
          </p:nvPr>
        </p:nvSpPr>
        <p:spPr/>
        <p:txBody>
          <a:bodyPr/>
          <a:lstStyle/>
          <a:p>
            <a:fld id="{EDF672D5-475D-42A0-A31A-C9AB176F60BE}" type="slidenum">
              <a:rPr lang="en-ID" smtClean="0"/>
              <a:t>10</a:t>
            </a:fld>
            <a:endParaRPr lang="en-ID"/>
          </a:p>
        </p:txBody>
      </p:sp>
    </p:spTree>
    <p:extLst>
      <p:ext uri="{BB962C8B-B14F-4D97-AF65-F5344CB8AC3E}">
        <p14:creationId xmlns:p14="http://schemas.microsoft.com/office/powerpoint/2010/main" val="9958107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3577A2-0B7C-D435-5C6B-814B6FA594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43BB8A-3E8F-22CE-389A-E6D5A74A85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51FB34-B3CF-C18B-A986-6ACF8205B75C}"/>
              </a:ext>
            </a:extLst>
          </p:cNvPr>
          <p:cNvSpPr>
            <a:spLocks noGrp="1"/>
          </p:cNvSpPr>
          <p:nvPr>
            <p:ph type="body" idx="1"/>
          </p:nvPr>
        </p:nvSpPr>
        <p:spPr/>
        <p:txBody>
          <a:bodyPr/>
          <a:lstStyle/>
          <a:p>
            <a:r>
              <a:rPr lang="en-US" altLang="zh-CN" dirty="0"/>
              <a:t>The second improvement,  We ran a learning rate experiment with three values this time, one-e-three, five-e-four, and one-e-four. The differences were very clear. The largest learning rate caused unstable training. The middle one was better but still inconsistent. The smallest learning rate gave the smoothest curve and the highest AUC.</a:t>
            </a:r>
          </a:p>
          <a:p>
            <a:r>
              <a:rPr lang="en-US" altLang="zh-CN" dirty="0"/>
              <a:t>We added early stopping by set patience=3 and extended training to 40 epochs. Surprisingly, early stopping never triggered for any of the three learning rates. This told us the model was not overfitting. Instead, it simply wasn't improving that much but still better than before and baseline model. </a:t>
            </a:r>
          </a:p>
          <a:p>
            <a:r>
              <a:rPr lang="en-US" altLang="zh-CN" dirty="0"/>
              <a:t>And the best AUC we get so far is 0.69</a:t>
            </a:r>
          </a:p>
        </p:txBody>
      </p:sp>
      <p:sp>
        <p:nvSpPr>
          <p:cNvPr id="4" name="Slide Number Placeholder 3">
            <a:extLst>
              <a:ext uri="{FF2B5EF4-FFF2-40B4-BE49-F238E27FC236}">
                <a16:creationId xmlns:a16="http://schemas.microsoft.com/office/drawing/2014/main" id="{F24C67D3-B4A0-834C-8472-26E61F560360}"/>
              </a:ext>
            </a:extLst>
          </p:cNvPr>
          <p:cNvSpPr>
            <a:spLocks noGrp="1"/>
          </p:cNvSpPr>
          <p:nvPr>
            <p:ph type="sldNum" sz="quarter" idx="5"/>
          </p:nvPr>
        </p:nvSpPr>
        <p:spPr/>
        <p:txBody>
          <a:bodyPr/>
          <a:lstStyle/>
          <a:p>
            <a:fld id="{EDF672D5-475D-42A0-A31A-C9AB176F60BE}" type="slidenum">
              <a:rPr lang="en-ID" smtClean="0"/>
              <a:t>11</a:t>
            </a:fld>
            <a:endParaRPr lang="en-ID"/>
          </a:p>
        </p:txBody>
      </p:sp>
    </p:spTree>
    <p:extLst>
      <p:ext uri="{BB962C8B-B14F-4D97-AF65-F5344CB8AC3E}">
        <p14:creationId xmlns:p14="http://schemas.microsoft.com/office/powerpoint/2010/main" val="5337021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So That’s all we done for this project right now, I know </a:t>
            </a:r>
            <a:r>
              <a:rPr lang="en-US" altLang="zh-CN" dirty="0" err="1"/>
              <a:t>theres</a:t>
            </a:r>
            <a:r>
              <a:rPr lang="en-US" altLang="zh-CN" dirty="0"/>
              <a:t> long way to go, If we were to continue this work, there are several directions we would follow</a:t>
            </a:r>
          </a:p>
          <a:p>
            <a:endParaRPr lang="en-US" altLang="zh-CN" dirty="0"/>
          </a:p>
          <a:p>
            <a:r>
              <a:rPr lang="en-US" altLang="zh-CN" dirty="0"/>
              <a:t>we would look into better methods for handling class imbalance, including focal loss or class-balanced loss, which may help the model pay more attention to rare positive cases.</a:t>
            </a:r>
            <a:br>
              <a:rPr lang="en-US" altLang="zh-CN" dirty="0"/>
            </a:br>
            <a:r>
              <a:rPr lang="en-US" altLang="zh-CN" dirty="0"/>
              <a:t>Additionally, we would run more systematic hyperparameter search and experiment with deeper or wider MLPs using learning-rate schedulers.</a:t>
            </a:r>
          </a:p>
          <a:p>
            <a:r>
              <a:rPr lang="en-US" altLang="zh-CN" dirty="0"/>
              <a:t>And using cross-validation would give a more stable estimate</a:t>
            </a:r>
            <a:r>
              <a:rPr lang="zh-CN" altLang="en-US" dirty="0"/>
              <a:t>，</a:t>
            </a:r>
            <a:r>
              <a:rPr lang="en-US" altLang="zh-CN" dirty="0"/>
              <a:t>maybe</a:t>
            </a:r>
            <a:r>
              <a:rPr lang="zh-CN" altLang="en-US" dirty="0"/>
              <a:t>？</a:t>
            </a:r>
            <a:endParaRPr lang="en-ID" dirty="0"/>
          </a:p>
        </p:txBody>
      </p:sp>
      <p:sp>
        <p:nvSpPr>
          <p:cNvPr id="4" name="Slide Number Placeholder 3"/>
          <p:cNvSpPr>
            <a:spLocks noGrp="1"/>
          </p:cNvSpPr>
          <p:nvPr>
            <p:ph type="sldNum" sz="quarter" idx="5"/>
          </p:nvPr>
        </p:nvSpPr>
        <p:spPr/>
        <p:txBody>
          <a:bodyPr/>
          <a:lstStyle/>
          <a:p>
            <a:fld id="{EDF672D5-475D-42A0-A31A-C9AB176F60BE}" type="slidenum">
              <a:rPr lang="en-ID" smtClean="0"/>
              <a:t>12</a:t>
            </a:fld>
            <a:endParaRPr lang="en-ID"/>
          </a:p>
        </p:txBody>
      </p:sp>
    </p:spTree>
    <p:extLst>
      <p:ext uri="{BB962C8B-B14F-4D97-AF65-F5344CB8AC3E}">
        <p14:creationId xmlns:p14="http://schemas.microsoft.com/office/powerpoint/2010/main" val="9196802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F389D-93A4-A365-2F73-E9D1EDEEAC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B38EB4-E141-BA27-159E-08652E2993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8A807C-0CE1-B649-FBE7-4F3D8158844F}"/>
              </a:ext>
            </a:extLst>
          </p:cNvPr>
          <p:cNvSpPr>
            <a:spLocks noGrp="1"/>
          </p:cNvSpPr>
          <p:nvPr>
            <p:ph type="body" idx="1"/>
          </p:nvPr>
        </p:nvSpPr>
        <p:spPr/>
        <p:txBody>
          <a:bodyPr/>
          <a:lstStyle/>
          <a:p>
            <a:r>
              <a:rPr lang="en-US" altLang="zh-CN" dirty="0"/>
              <a:t>we would look into better methods for handling class imbalance, including focal loss or class-balanced loss, which may help the model pay more attention to rare positive cases.</a:t>
            </a:r>
            <a:br>
              <a:rPr lang="en-US" altLang="zh-CN" dirty="0"/>
            </a:br>
            <a:r>
              <a:rPr lang="en-US" altLang="zh-CN" dirty="0"/>
              <a:t>We could also explore embedding techniques or feature selection approaches to better represent the anonymized features.</a:t>
            </a:r>
          </a:p>
          <a:p>
            <a:r>
              <a:rPr lang="en-US" altLang="zh-CN" dirty="0"/>
              <a:t>Additionally, we would run more systematic hyperparameter search and experiment with deeper or wider MLPs using learning-rate schedulers.</a:t>
            </a:r>
          </a:p>
          <a:p>
            <a:r>
              <a:rPr lang="en-US" altLang="zh-CN" dirty="0"/>
              <a:t>And using cross-validation would give a more stable estimate</a:t>
            </a:r>
            <a:r>
              <a:rPr lang="zh-CN" altLang="en-US" dirty="0"/>
              <a:t>，</a:t>
            </a:r>
            <a:r>
              <a:rPr lang="en-US" altLang="zh-CN" dirty="0"/>
              <a:t>maybe</a:t>
            </a:r>
            <a:r>
              <a:rPr lang="zh-CN" altLang="en-US" dirty="0"/>
              <a:t>？</a:t>
            </a:r>
            <a:endParaRPr lang="en-ID" dirty="0"/>
          </a:p>
        </p:txBody>
      </p:sp>
      <p:sp>
        <p:nvSpPr>
          <p:cNvPr id="4" name="Slide Number Placeholder 3">
            <a:extLst>
              <a:ext uri="{FF2B5EF4-FFF2-40B4-BE49-F238E27FC236}">
                <a16:creationId xmlns:a16="http://schemas.microsoft.com/office/drawing/2014/main" id="{45390611-B71F-8A4E-51AD-5FDA96C0D22B}"/>
              </a:ext>
            </a:extLst>
          </p:cNvPr>
          <p:cNvSpPr>
            <a:spLocks noGrp="1"/>
          </p:cNvSpPr>
          <p:nvPr>
            <p:ph type="sldNum" sz="quarter" idx="5"/>
          </p:nvPr>
        </p:nvSpPr>
        <p:spPr/>
        <p:txBody>
          <a:bodyPr/>
          <a:lstStyle/>
          <a:p>
            <a:fld id="{EDF672D5-475D-42A0-A31A-C9AB176F60BE}" type="slidenum">
              <a:rPr lang="en-ID" smtClean="0"/>
              <a:t>13</a:t>
            </a:fld>
            <a:endParaRPr lang="en-ID"/>
          </a:p>
        </p:txBody>
      </p:sp>
    </p:spTree>
    <p:extLst>
      <p:ext uri="{BB962C8B-B14F-4D97-AF65-F5344CB8AC3E}">
        <p14:creationId xmlns:p14="http://schemas.microsoft.com/office/powerpoint/2010/main" val="16005176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7F229-BDD9-AAE4-8814-196D8E19453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D"/>
          </a:p>
        </p:txBody>
      </p:sp>
      <p:sp>
        <p:nvSpPr>
          <p:cNvPr id="3" name="Subtitle 2">
            <a:extLst>
              <a:ext uri="{FF2B5EF4-FFF2-40B4-BE49-F238E27FC236}">
                <a16:creationId xmlns:a16="http://schemas.microsoft.com/office/drawing/2014/main" id="{AAAE1767-1EED-7A5A-FEF0-3758EFC1514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D"/>
          </a:p>
        </p:txBody>
      </p:sp>
      <p:sp>
        <p:nvSpPr>
          <p:cNvPr id="4" name="Date Placeholder 3">
            <a:extLst>
              <a:ext uri="{FF2B5EF4-FFF2-40B4-BE49-F238E27FC236}">
                <a16:creationId xmlns:a16="http://schemas.microsoft.com/office/drawing/2014/main" id="{34FAFE49-09F8-9199-9D31-BAE5C60749EB}"/>
              </a:ext>
            </a:extLst>
          </p:cNvPr>
          <p:cNvSpPr>
            <a:spLocks noGrp="1"/>
          </p:cNvSpPr>
          <p:nvPr>
            <p:ph type="dt" sz="half" idx="10"/>
          </p:nvPr>
        </p:nvSpPr>
        <p:spPr>
          <a:xfrm>
            <a:off x="838200" y="6356350"/>
            <a:ext cx="2743200" cy="365125"/>
          </a:xfrm>
          <a:prstGeom prst="rect">
            <a:avLst/>
          </a:prstGeom>
        </p:spPr>
        <p:txBody>
          <a:bodyPr/>
          <a:lstStyle/>
          <a:p>
            <a:fld id="{E416B0FA-5C01-46E5-8A53-EBE2C38F0218}" type="datetime1">
              <a:rPr lang="en-ID" smtClean="0"/>
              <a:t>09/12/2025</a:t>
            </a:fld>
            <a:endParaRPr lang="en-ID"/>
          </a:p>
        </p:txBody>
      </p:sp>
      <p:sp>
        <p:nvSpPr>
          <p:cNvPr id="5" name="Footer Placeholder 4">
            <a:extLst>
              <a:ext uri="{FF2B5EF4-FFF2-40B4-BE49-F238E27FC236}">
                <a16:creationId xmlns:a16="http://schemas.microsoft.com/office/drawing/2014/main" id="{7C95EC2F-CE23-E2FE-EC1A-34A3DC917F08}"/>
              </a:ext>
            </a:extLst>
          </p:cNvPr>
          <p:cNvSpPr>
            <a:spLocks noGrp="1"/>
          </p:cNvSpPr>
          <p:nvPr>
            <p:ph type="ftr" sz="quarter" idx="11"/>
          </p:nvPr>
        </p:nvSpPr>
        <p:spPr>
          <a:xfrm>
            <a:off x="4038600" y="6356350"/>
            <a:ext cx="4114800" cy="365125"/>
          </a:xfrm>
          <a:prstGeom prst="rect">
            <a:avLst/>
          </a:prstGeom>
        </p:spPr>
        <p:txBody>
          <a:bodyPr/>
          <a:lstStyle/>
          <a:p>
            <a:endParaRPr lang="en-ID"/>
          </a:p>
        </p:txBody>
      </p:sp>
      <p:sp>
        <p:nvSpPr>
          <p:cNvPr id="6" name="Slide Number Placeholder 5">
            <a:extLst>
              <a:ext uri="{FF2B5EF4-FFF2-40B4-BE49-F238E27FC236}">
                <a16:creationId xmlns:a16="http://schemas.microsoft.com/office/drawing/2014/main" id="{A6081EDF-FD45-21C2-E8F3-0A489E49A082}"/>
              </a:ext>
            </a:extLst>
          </p:cNvPr>
          <p:cNvSpPr>
            <a:spLocks noGrp="1"/>
          </p:cNvSpPr>
          <p:nvPr>
            <p:ph type="sldNum" sz="quarter" idx="12"/>
          </p:nvPr>
        </p:nvSpPr>
        <p:spPr/>
        <p:txBody>
          <a:bodyPr/>
          <a:lstStyle/>
          <a:p>
            <a:fld id="{0BA98121-C0ED-4D12-A058-5C29F4DDA5D5}" type="slidenum">
              <a:rPr lang="en-ID" smtClean="0"/>
              <a:t>‹#›</a:t>
            </a:fld>
            <a:endParaRPr lang="en-ID"/>
          </a:p>
        </p:txBody>
      </p:sp>
    </p:spTree>
    <p:extLst>
      <p:ext uri="{BB962C8B-B14F-4D97-AF65-F5344CB8AC3E}">
        <p14:creationId xmlns:p14="http://schemas.microsoft.com/office/powerpoint/2010/main" val="38137329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3DA40-983C-474F-4F8C-711323A517A5}"/>
              </a:ext>
            </a:extLst>
          </p:cNvPr>
          <p:cNvSpPr>
            <a:spLocks noGrp="1"/>
          </p:cNvSpPr>
          <p:nvPr>
            <p:ph type="title"/>
          </p:nvPr>
        </p:nvSpPr>
        <p:spPr/>
        <p:txBody>
          <a:bodyPr/>
          <a:lstStyle/>
          <a:p>
            <a:r>
              <a:rPr lang="en-US"/>
              <a:t>Click to edit Master title style</a:t>
            </a:r>
            <a:endParaRPr lang="en-ID"/>
          </a:p>
        </p:txBody>
      </p:sp>
      <p:sp>
        <p:nvSpPr>
          <p:cNvPr id="3" name="Content Placeholder 2">
            <a:extLst>
              <a:ext uri="{FF2B5EF4-FFF2-40B4-BE49-F238E27FC236}">
                <a16:creationId xmlns:a16="http://schemas.microsoft.com/office/drawing/2014/main" id="{9C0A174E-E252-06E7-8758-2B376E89538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94D77C24-86B8-F63C-2F5E-E5742E0788DD}"/>
              </a:ext>
            </a:extLst>
          </p:cNvPr>
          <p:cNvSpPr>
            <a:spLocks noGrp="1"/>
          </p:cNvSpPr>
          <p:nvPr>
            <p:ph type="dt" sz="half" idx="10"/>
          </p:nvPr>
        </p:nvSpPr>
        <p:spPr>
          <a:xfrm>
            <a:off x="838200" y="6356350"/>
            <a:ext cx="2743200" cy="365125"/>
          </a:xfrm>
          <a:prstGeom prst="rect">
            <a:avLst/>
          </a:prstGeom>
        </p:spPr>
        <p:txBody>
          <a:bodyPr/>
          <a:lstStyle/>
          <a:p>
            <a:fld id="{37D2EA6C-EC8C-4806-8704-D82B1CC17406}" type="datetime1">
              <a:rPr lang="en-ID" smtClean="0"/>
              <a:t>09/12/2025</a:t>
            </a:fld>
            <a:endParaRPr lang="en-ID"/>
          </a:p>
        </p:txBody>
      </p:sp>
      <p:sp>
        <p:nvSpPr>
          <p:cNvPr id="5" name="Footer Placeholder 4">
            <a:extLst>
              <a:ext uri="{FF2B5EF4-FFF2-40B4-BE49-F238E27FC236}">
                <a16:creationId xmlns:a16="http://schemas.microsoft.com/office/drawing/2014/main" id="{51C7CD16-29C2-593C-6446-D3C91A6BBD49}"/>
              </a:ext>
            </a:extLst>
          </p:cNvPr>
          <p:cNvSpPr>
            <a:spLocks noGrp="1"/>
          </p:cNvSpPr>
          <p:nvPr>
            <p:ph type="ftr" sz="quarter" idx="11"/>
          </p:nvPr>
        </p:nvSpPr>
        <p:spPr>
          <a:xfrm>
            <a:off x="4038600" y="6356350"/>
            <a:ext cx="4114800" cy="365125"/>
          </a:xfrm>
          <a:prstGeom prst="rect">
            <a:avLst/>
          </a:prstGeom>
        </p:spPr>
        <p:txBody>
          <a:bodyPr/>
          <a:lstStyle/>
          <a:p>
            <a:endParaRPr lang="en-ID"/>
          </a:p>
        </p:txBody>
      </p:sp>
      <p:sp>
        <p:nvSpPr>
          <p:cNvPr id="6" name="Slide Number Placeholder 5">
            <a:extLst>
              <a:ext uri="{FF2B5EF4-FFF2-40B4-BE49-F238E27FC236}">
                <a16:creationId xmlns:a16="http://schemas.microsoft.com/office/drawing/2014/main" id="{6E9C76E0-E4EC-46F8-9A65-B5B45B0CCF8D}"/>
              </a:ext>
            </a:extLst>
          </p:cNvPr>
          <p:cNvSpPr>
            <a:spLocks noGrp="1"/>
          </p:cNvSpPr>
          <p:nvPr>
            <p:ph type="sldNum" sz="quarter" idx="12"/>
          </p:nvPr>
        </p:nvSpPr>
        <p:spPr/>
        <p:txBody>
          <a:bodyPr/>
          <a:lstStyle/>
          <a:p>
            <a:fld id="{0BA98121-C0ED-4D12-A058-5C29F4DDA5D5}" type="slidenum">
              <a:rPr lang="en-ID" smtClean="0"/>
              <a:t>‹#›</a:t>
            </a:fld>
            <a:endParaRPr lang="en-ID"/>
          </a:p>
        </p:txBody>
      </p:sp>
    </p:spTree>
    <p:extLst>
      <p:ext uri="{BB962C8B-B14F-4D97-AF65-F5344CB8AC3E}">
        <p14:creationId xmlns:p14="http://schemas.microsoft.com/office/powerpoint/2010/main" val="19409550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B15BA-FDB0-DB22-2E4B-0FD831663F7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D"/>
          </a:p>
        </p:txBody>
      </p:sp>
      <p:sp>
        <p:nvSpPr>
          <p:cNvPr id="3" name="Text Placeholder 2">
            <a:extLst>
              <a:ext uri="{FF2B5EF4-FFF2-40B4-BE49-F238E27FC236}">
                <a16:creationId xmlns:a16="http://schemas.microsoft.com/office/drawing/2014/main" id="{2014B022-3CF2-46AA-1F5F-A42C10D55FC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86C1F8B-8B5C-E8D6-6BEA-D9A6451E0E22}"/>
              </a:ext>
            </a:extLst>
          </p:cNvPr>
          <p:cNvSpPr>
            <a:spLocks noGrp="1"/>
          </p:cNvSpPr>
          <p:nvPr>
            <p:ph type="dt" sz="half" idx="10"/>
          </p:nvPr>
        </p:nvSpPr>
        <p:spPr>
          <a:xfrm>
            <a:off x="838200" y="6356350"/>
            <a:ext cx="2743200" cy="365125"/>
          </a:xfrm>
          <a:prstGeom prst="rect">
            <a:avLst/>
          </a:prstGeom>
        </p:spPr>
        <p:txBody>
          <a:bodyPr/>
          <a:lstStyle/>
          <a:p>
            <a:fld id="{F4C8854F-A15A-4755-BE83-7B2C8BE70586}" type="datetime1">
              <a:rPr lang="en-ID" smtClean="0"/>
              <a:t>09/12/2025</a:t>
            </a:fld>
            <a:endParaRPr lang="en-ID"/>
          </a:p>
        </p:txBody>
      </p:sp>
      <p:sp>
        <p:nvSpPr>
          <p:cNvPr id="5" name="Footer Placeholder 4">
            <a:extLst>
              <a:ext uri="{FF2B5EF4-FFF2-40B4-BE49-F238E27FC236}">
                <a16:creationId xmlns:a16="http://schemas.microsoft.com/office/drawing/2014/main" id="{4A297496-6B03-F2D4-E13F-18851C11B2D0}"/>
              </a:ext>
            </a:extLst>
          </p:cNvPr>
          <p:cNvSpPr>
            <a:spLocks noGrp="1"/>
          </p:cNvSpPr>
          <p:nvPr>
            <p:ph type="ftr" sz="quarter" idx="11"/>
          </p:nvPr>
        </p:nvSpPr>
        <p:spPr>
          <a:xfrm>
            <a:off x="4038600" y="6356350"/>
            <a:ext cx="4114800" cy="365125"/>
          </a:xfrm>
          <a:prstGeom prst="rect">
            <a:avLst/>
          </a:prstGeom>
        </p:spPr>
        <p:txBody>
          <a:bodyPr/>
          <a:lstStyle/>
          <a:p>
            <a:endParaRPr lang="en-ID"/>
          </a:p>
        </p:txBody>
      </p:sp>
      <p:sp>
        <p:nvSpPr>
          <p:cNvPr id="6" name="Slide Number Placeholder 5">
            <a:extLst>
              <a:ext uri="{FF2B5EF4-FFF2-40B4-BE49-F238E27FC236}">
                <a16:creationId xmlns:a16="http://schemas.microsoft.com/office/drawing/2014/main" id="{D4605D7B-523F-7750-2914-27472744EBF6}"/>
              </a:ext>
            </a:extLst>
          </p:cNvPr>
          <p:cNvSpPr>
            <a:spLocks noGrp="1"/>
          </p:cNvSpPr>
          <p:nvPr>
            <p:ph type="sldNum" sz="quarter" idx="12"/>
          </p:nvPr>
        </p:nvSpPr>
        <p:spPr/>
        <p:txBody>
          <a:bodyPr/>
          <a:lstStyle/>
          <a:p>
            <a:fld id="{0BA98121-C0ED-4D12-A058-5C29F4DDA5D5}" type="slidenum">
              <a:rPr lang="en-ID" smtClean="0"/>
              <a:t>‹#›</a:t>
            </a:fld>
            <a:endParaRPr lang="en-ID"/>
          </a:p>
        </p:txBody>
      </p:sp>
    </p:spTree>
    <p:extLst>
      <p:ext uri="{BB962C8B-B14F-4D97-AF65-F5344CB8AC3E}">
        <p14:creationId xmlns:p14="http://schemas.microsoft.com/office/powerpoint/2010/main" val="32193022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25777-A263-1D14-4BA2-38B834CBADF6}"/>
              </a:ext>
            </a:extLst>
          </p:cNvPr>
          <p:cNvSpPr>
            <a:spLocks noGrp="1"/>
          </p:cNvSpPr>
          <p:nvPr>
            <p:ph type="title"/>
          </p:nvPr>
        </p:nvSpPr>
        <p:spPr/>
        <p:txBody>
          <a:bodyPr/>
          <a:lstStyle/>
          <a:p>
            <a:r>
              <a:rPr lang="en-US"/>
              <a:t>Click to edit Master title style</a:t>
            </a:r>
            <a:endParaRPr lang="en-ID"/>
          </a:p>
        </p:txBody>
      </p:sp>
      <p:sp>
        <p:nvSpPr>
          <p:cNvPr id="3" name="Content Placeholder 2">
            <a:extLst>
              <a:ext uri="{FF2B5EF4-FFF2-40B4-BE49-F238E27FC236}">
                <a16:creationId xmlns:a16="http://schemas.microsoft.com/office/drawing/2014/main" id="{EE80E221-948F-0FD3-B20D-EB5104291CD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Content Placeholder 3">
            <a:extLst>
              <a:ext uri="{FF2B5EF4-FFF2-40B4-BE49-F238E27FC236}">
                <a16:creationId xmlns:a16="http://schemas.microsoft.com/office/drawing/2014/main" id="{9ACB4BAF-27C8-85A2-1BB7-ACF54DCAB12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5" name="Date Placeholder 4">
            <a:extLst>
              <a:ext uri="{FF2B5EF4-FFF2-40B4-BE49-F238E27FC236}">
                <a16:creationId xmlns:a16="http://schemas.microsoft.com/office/drawing/2014/main" id="{641D1A0C-D2A5-4D28-4B46-26E1F5B77AD0}"/>
              </a:ext>
            </a:extLst>
          </p:cNvPr>
          <p:cNvSpPr>
            <a:spLocks noGrp="1"/>
          </p:cNvSpPr>
          <p:nvPr>
            <p:ph type="dt" sz="half" idx="10"/>
          </p:nvPr>
        </p:nvSpPr>
        <p:spPr>
          <a:xfrm>
            <a:off x="838200" y="6356350"/>
            <a:ext cx="2743200" cy="365125"/>
          </a:xfrm>
          <a:prstGeom prst="rect">
            <a:avLst/>
          </a:prstGeom>
        </p:spPr>
        <p:txBody>
          <a:bodyPr/>
          <a:lstStyle/>
          <a:p>
            <a:fld id="{53805285-FEE7-49DE-8646-ACA27553E594}" type="datetime1">
              <a:rPr lang="en-ID" smtClean="0"/>
              <a:t>09/12/2025</a:t>
            </a:fld>
            <a:endParaRPr lang="en-ID"/>
          </a:p>
        </p:txBody>
      </p:sp>
      <p:sp>
        <p:nvSpPr>
          <p:cNvPr id="6" name="Footer Placeholder 5">
            <a:extLst>
              <a:ext uri="{FF2B5EF4-FFF2-40B4-BE49-F238E27FC236}">
                <a16:creationId xmlns:a16="http://schemas.microsoft.com/office/drawing/2014/main" id="{F2A61E3A-FB61-CCDA-CACC-71817C255B21}"/>
              </a:ext>
            </a:extLst>
          </p:cNvPr>
          <p:cNvSpPr>
            <a:spLocks noGrp="1"/>
          </p:cNvSpPr>
          <p:nvPr>
            <p:ph type="ftr" sz="quarter" idx="11"/>
          </p:nvPr>
        </p:nvSpPr>
        <p:spPr>
          <a:xfrm>
            <a:off x="4038600" y="6356350"/>
            <a:ext cx="4114800" cy="365125"/>
          </a:xfrm>
          <a:prstGeom prst="rect">
            <a:avLst/>
          </a:prstGeom>
        </p:spPr>
        <p:txBody>
          <a:bodyPr/>
          <a:lstStyle/>
          <a:p>
            <a:endParaRPr lang="en-ID"/>
          </a:p>
        </p:txBody>
      </p:sp>
      <p:sp>
        <p:nvSpPr>
          <p:cNvPr id="7" name="Slide Number Placeholder 6">
            <a:extLst>
              <a:ext uri="{FF2B5EF4-FFF2-40B4-BE49-F238E27FC236}">
                <a16:creationId xmlns:a16="http://schemas.microsoft.com/office/drawing/2014/main" id="{01FB166C-0390-B6E0-0013-EFCFB1F479B7}"/>
              </a:ext>
            </a:extLst>
          </p:cNvPr>
          <p:cNvSpPr>
            <a:spLocks noGrp="1"/>
          </p:cNvSpPr>
          <p:nvPr>
            <p:ph type="sldNum" sz="quarter" idx="12"/>
          </p:nvPr>
        </p:nvSpPr>
        <p:spPr/>
        <p:txBody>
          <a:bodyPr/>
          <a:lstStyle/>
          <a:p>
            <a:fld id="{0BA98121-C0ED-4D12-A058-5C29F4DDA5D5}" type="slidenum">
              <a:rPr lang="en-ID" smtClean="0"/>
              <a:t>‹#›</a:t>
            </a:fld>
            <a:endParaRPr lang="en-ID"/>
          </a:p>
        </p:txBody>
      </p:sp>
    </p:spTree>
    <p:extLst>
      <p:ext uri="{BB962C8B-B14F-4D97-AF65-F5344CB8AC3E}">
        <p14:creationId xmlns:p14="http://schemas.microsoft.com/office/powerpoint/2010/main" val="15465334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FD7248-396C-E995-7FB4-1F174CF2E455}"/>
              </a:ext>
            </a:extLst>
          </p:cNvPr>
          <p:cNvSpPr>
            <a:spLocks noGrp="1"/>
          </p:cNvSpPr>
          <p:nvPr>
            <p:ph type="title"/>
          </p:nvPr>
        </p:nvSpPr>
        <p:spPr>
          <a:xfrm>
            <a:off x="839788" y="365125"/>
            <a:ext cx="10515600" cy="1325563"/>
          </a:xfrm>
        </p:spPr>
        <p:txBody>
          <a:bodyPr/>
          <a:lstStyle/>
          <a:p>
            <a:r>
              <a:rPr lang="en-US"/>
              <a:t>Click to edit Master title style</a:t>
            </a:r>
            <a:endParaRPr lang="en-ID"/>
          </a:p>
        </p:txBody>
      </p:sp>
      <p:sp>
        <p:nvSpPr>
          <p:cNvPr id="3" name="Text Placeholder 2">
            <a:extLst>
              <a:ext uri="{FF2B5EF4-FFF2-40B4-BE49-F238E27FC236}">
                <a16:creationId xmlns:a16="http://schemas.microsoft.com/office/drawing/2014/main" id="{CEA23D35-BC35-C3A8-43C7-12747DA0BD5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F323A3-347C-672B-9287-CF5ECAB03DB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5" name="Text Placeholder 4">
            <a:extLst>
              <a:ext uri="{FF2B5EF4-FFF2-40B4-BE49-F238E27FC236}">
                <a16:creationId xmlns:a16="http://schemas.microsoft.com/office/drawing/2014/main" id="{C2B982F9-3A37-4F4F-CBD5-A8BC37D4381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BC3F8DC-02EB-0003-76F7-3D468BC49B3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7" name="Date Placeholder 6">
            <a:extLst>
              <a:ext uri="{FF2B5EF4-FFF2-40B4-BE49-F238E27FC236}">
                <a16:creationId xmlns:a16="http://schemas.microsoft.com/office/drawing/2014/main" id="{9BB7B369-1CF8-9730-8CB4-B7BB5A832B6D}"/>
              </a:ext>
            </a:extLst>
          </p:cNvPr>
          <p:cNvSpPr>
            <a:spLocks noGrp="1"/>
          </p:cNvSpPr>
          <p:nvPr>
            <p:ph type="dt" sz="half" idx="10"/>
          </p:nvPr>
        </p:nvSpPr>
        <p:spPr>
          <a:xfrm>
            <a:off x="838200" y="6356350"/>
            <a:ext cx="2743200" cy="365125"/>
          </a:xfrm>
          <a:prstGeom prst="rect">
            <a:avLst/>
          </a:prstGeom>
        </p:spPr>
        <p:txBody>
          <a:bodyPr/>
          <a:lstStyle/>
          <a:p>
            <a:fld id="{A8778001-70A9-44E8-AF79-218FF5BDEA54}" type="datetime1">
              <a:rPr lang="en-ID" smtClean="0"/>
              <a:t>09/12/2025</a:t>
            </a:fld>
            <a:endParaRPr lang="en-ID"/>
          </a:p>
        </p:txBody>
      </p:sp>
      <p:sp>
        <p:nvSpPr>
          <p:cNvPr id="8" name="Footer Placeholder 7">
            <a:extLst>
              <a:ext uri="{FF2B5EF4-FFF2-40B4-BE49-F238E27FC236}">
                <a16:creationId xmlns:a16="http://schemas.microsoft.com/office/drawing/2014/main" id="{70B50A6B-DCB9-5C99-EA2B-80B77548A390}"/>
              </a:ext>
            </a:extLst>
          </p:cNvPr>
          <p:cNvSpPr>
            <a:spLocks noGrp="1"/>
          </p:cNvSpPr>
          <p:nvPr>
            <p:ph type="ftr" sz="quarter" idx="11"/>
          </p:nvPr>
        </p:nvSpPr>
        <p:spPr>
          <a:xfrm>
            <a:off x="4038600" y="6356350"/>
            <a:ext cx="4114800" cy="365125"/>
          </a:xfrm>
          <a:prstGeom prst="rect">
            <a:avLst/>
          </a:prstGeom>
        </p:spPr>
        <p:txBody>
          <a:bodyPr/>
          <a:lstStyle/>
          <a:p>
            <a:endParaRPr lang="en-ID"/>
          </a:p>
        </p:txBody>
      </p:sp>
      <p:sp>
        <p:nvSpPr>
          <p:cNvPr id="9" name="Slide Number Placeholder 8">
            <a:extLst>
              <a:ext uri="{FF2B5EF4-FFF2-40B4-BE49-F238E27FC236}">
                <a16:creationId xmlns:a16="http://schemas.microsoft.com/office/drawing/2014/main" id="{A18280BC-E16F-729F-6903-AEEEA4D28F53}"/>
              </a:ext>
            </a:extLst>
          </p:cNvPr>
          <p:cNvSpPr>
            <a:spLocks noGrp="1"/>
          </p:cNvSpPr>
          <p:nvPr>
            <p:ph type="sldNum" sz="quarter" idx="12"/>
          </p:nvPr>
        </p:nvSpPr>
        <p:spPr/>
        <p:txBody>
          <a:bodyPr/>
          <a:lstStyle/>
          <a:p>
            <a:fld id="{0BA98121-C0ED-4D12-A058-5C29F4DDA5D5}" type="slidenum">
              <a:rPr lang="en-ID" smtClean="0"/>
              <a:t>‹#›</a:t>
            </a:fld>
            <a:endParaRPr lang="en-ID"/>
          </a:p>
        </p:txBody>
      </p:sp>
    </p:spTree>
    <p:extLst>
      <p:ext uri="{BB962C8B-B14F-4D97-AF65-F5344CB8AC3E}">
        <p14:creationId xmlns:p14="http://schemas.microsoft.com/office/powerpoint/2010/main" val="1488615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2614FC-F454-96E7-57F2-99F6517844E6}"/>
              </a:ext>
            </a:extLst>
          </p:cNvPr>
          <p:cNvSpPr>
            <a:spLocks noGrp="1"/>
          </p:cNvSpPr>
          <p:nvPr>
            <p:ph type="title"/>
          </p:nvPr>
        </p:nvSpPr>
        <p:spPr/>
        <p:txBody>
          <a:bodyPr/>
          <a:lstStyle/>
          <a:p>
            <a:r>
              <a:rPr lang="en-US"/>
              <a:t>Click to edit Master title style</a:t>
            </a:r>
            <a:endParaRPr lang="en-ID"/>
          </a:p>
        </p:txBody>
      </p:sp>
      <p:sp>
        <p:nvSpPr>
          <p:cNvPr id="3" name="Date Placeholder 2">
            <a:extLst>
              <a:ext uri="{FF2B5EF4-FFF2-40B4-BE49-F238E27FC236}">
                <a16:creationId xmlns:a16="http://schemas.microsoft.com/office/drawing/2014/main" id="{9A49389D-C901-82E1-A58F-31F121C01DE7}"/>
              </a:ext>
            </a:extLst>
          </p:cNvPr>
          <p:cNvSpPr>
            <a:spLocks noGrp="1"/>
          </p:cNvSpPr>
          <p:nvPr>
            <p:ph type="dt" sz="half" idx="10"/>
          </p:nvPr>
        </p:nvSpPr>
        <p:spPr>
          <a:xfrm>
            <a:off x="838200" y="6356350"/>
            <a:ext cx="2743200" cy="365125"/>
          </a:xfrm>
          <a:prstGeom prst="rect">
            <a:avLst/>
          </a:prstGeom>
        </p:spPr>
        <p:txBody>
          <a:bodyPr/>
          <a:lstStyle/>
          <a:p>
            <a:fld id="{6345B00B-C47F-47F7-B60B-1FB10D7CA4A9}" type="datetime1">
              <a:rPr lang="en-ID" smtClean="0"/>
              <a:t>09/12/2025</a:t>
            </a:fld>
            <a:endParaRPr lang="en-ID"/>
          </a:p>
        </p:txBody>
      </p:sp>
      <p:sp>
        <p:nvSpPr>
          <p:cNvPr id="4" name="Footer Placeholder 3">
            <a:extLst>
              <a:ext uri="{FF2B5EF4-FFF2-40B4-BE49-F238E27FC236}">
                <a16:creationId xmlns:a16="http://schemas.microsoft.com/office/drawing/2014/main" id="{6A2D6E22-C3C3-EBD1-BE88-18A21E5F1AD3}"/>
              </a:ext>
            </a:extLst>
          </p:cNvPr>
          <p:cNvSpPr>
            <a:spLocks noGrp="1"/>
          </p:cNvSpPr>
          <p:nvPr>
            <p:ph type="ftr" sz="quarter" idx="11"/>
          </p:nvPr>
        </p:nvSpPr>
        <p:spPr>
          <a:xfrm>
            <a:off x="4038600" y="6356350"/>
            <a:ext cx="4114800" cy="365125"/>
          </a:xfrm>
          <a:prstGeom prst="rect">
            <a:avLst/>
          </a:prstGeom>
        </p:spPr>
        <p:txBody>
          <a:bodyPr/>
          <a:lstStyle/>
          <a:p>
            <a:endParaRPr lang="en-ID"/>
          </a:p>
        </p:txBody>
      </p:sp>
      <p:sp>
        <p:nvSpPr>
          <p:cNvPr id="5" name="Slide Number Placeholder 4">
            <a:extLst>
              <a:ext uri="{FF2B5EF4-FFF2-40B4-BE49-F238E27FC236}">
                <a16:creationId xmlns:a16="http://schemas.microsoft.com/office/drawing/2014/main" id="{5CE45448-9772-8451-1F99-E4EBFBCBD8DB}"/>
              </a:ext>
            </a:extLst>
          </p:cNvPr>
          <p:cNvSpPr>
            <a:spLocks noGrp="1"/>
          </p:cNvSpPr>
          <p:nvPr>
            <p:ph type="sldNum" sz="quarter" idx="12"/>
          </p:nvPr>
        </p:nvSpPr>
        <p:spPr/>
        <p:txBody>
          <a:bodyPr/>
          <a:lstStyle/>
          <a:p>
            <a:fld id="{0BA98121-C0ED-4D12-A058-5C29F4DDA5D5}" type="slidenum">
              <a:rPr lang="en-ID" smtClean="0"/>
              <a:t>‹#›</a:t>
            </a:fld>
            <a:endParaRPr lang="en-ID"/>
          </a:p>
        </p:txBody>
      </p:sp>
    </p:spTree>
    <p:extLst>
      <p:ext uri="{BB962C8B-B14F-4D97-AF65-F5344CB8AC3E}">
        <p14:creationId xmlns:p14="http://schemas.microsoft.com/office/powerpoint/2010/main" val="829851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85E0E3-F891-F8BB-E641-0099836C44D0}"/>
              </a:ext>
            </a:extLst>
          </p:cNvPr>
          <p:cNvSpPr>
            <a:spLocks noGrp="1"/>
          </p:cNvSpPr>
          <p:nvPr>
            <p:ph type="dt" sz="half" idx="10"/>
          </p:nvPr>
        </p:nvSpPr>
        <p:spPr>
          <a:xfrm>
            <a:off x="838200" y="6356350"/>
            <a:ext cx="2743200" cy="365125"/>
          </a:xfrm>
          <a:prstGeom prst="rect">
            <a:avLst/>
          </a:prstGeom>
        </p:spPr>
        <p:txBody>
          <a:bodyPr/>
          <a:lstStyle/>
          <a:p>
            <a:fld id="{42BA5661-83C7-48F9-8C48-3A4B1C09CA69}" type="datetime1">
              <a:rPr lang="en-ID" smtClean="0"/>
              <a:t>09/12/2025</a:t>
            </a:fld>
            <a:endParaRPr lang="en-ID"/>
          </a:p>
        </p:txBody>
      </p:sp>
      <p:sp>
        <p:nvSpPr>
          <p:cNvPr id="3" name="Footer Placeholder 2">
            <a:extLst>
              <a:ext uri="{FF2B5EF4-FFF2-40B4-BE49-F238E27FC236}">
                <a16:creationId xmlns:a16="http://schemas.microsoft.com/office/drawing/2014/main" id="{AC38C488-4471-269D-6840-964DFC5FEF91}"/>
              </a:ext>
            </a:extLst>
          </p:cNvPr>
          <p:cNvSpPr>
            <a:spLocks noGrp="1"/>
          </p:cNvSpPr>
          <p:nvPr>
            <p:ph type="ftr" sz="quarter" idx="11"/>
          </p:nvPr>
        </p:nvSpPr>
        <p:spPr>
          <a:xfrm>
            <a:off x="4038600" y="6356350"/>
            <a:ext cx="4114800" cy="365125"/>
          </a:xfrm>
          <a:prstGeom prst="rect">
            <a:avLst/>
          </a:prstGeom>
        </p:spPr>
        <p:txBody>
          <a:bodyPr/>
          <a:lstStyle/>
          <a:p>
            <a:endParaRPr lang="en-ID"/>
          </a:p>
        </p:txBody>
      </p:sp>
      <p:sp>
        <p:nvSpPr>
          <p:cNvPr id="4" name="Slide Number Placeholder 3">
            <a:extLst>
              <a:ext uri="{FF2B5EF4-FFF2-40B4-BE49-F238E27FC236}">
                <a16:creationId xmlns:a16="http://schemas.microsoft.com/office/drawing/2014/main" id="{FDBE83C9-CA97-4863-CF39-0B3925B35445}"/>
              </a:ext>
            </a:extLst>
          </p:cNvPr>
          <p:cNvSpPr>
            <a:spLocks noGrp="1"/>
          </p:cNvSpPr>
          <p:nvPr>
            <p:ph type="sldNum" sz="quarter" idx="12"/>
          </p:nvPr>
        </p:nvSpPr>
        <p:spPr/>
        <p:txBody>
          <a:bodyPr/>
          <a:lstStyle/>
          <a:p>
            <a:fld id="{0BA98121-C0ED-4D12-A058-5C29F4DDA5D5}" type="slidenum">
              <a:rPr lang="en-ID" smtClean="0"/>
              <a:t>‹#›</a:t>
            </a:fld>
            <a:endParaRPr lang="en-ID"/>
          </a:p>
        </p:txBody>
      </p:sp>
    </p:spTree>
    <p:extLst>
      <p:ext uri="{BB962C8B-B14F-4D97-AF65-F5344CB8AC3E}">
        <p14:creationId xmlns:p14="http://schemas.microsoft.com/office/powerpoint/2010/main" val="32440317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2144B-C66A-D442-520A-F7861016CA9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D"/>
          </a:p>
        </p:txBody>
      </p:sp>
      <p:sp>
        <p:nvSpPr>
          <p:cNvPr id="3" name="Content Placeholder 2">
            <a:extLst>
              <a:ext uri="{FF2B5EF4-FFF2-40B4-BE49-F238E27FC236}">
                <a16:creationId xmlns:a16="http://schemas.microsoft.com/office/drawing/2014/main" id="{341B28CC-7C85-E6CF-E80C-DC54B17F92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Text Placeholder 3">
            <a:extLst>
              <a:ext uri="{FF2B5EF4-FFF2-40B4-BE49-F238E27FC236}">
                <a16:creationId xmlns:a16="http://schemas.microsoft.com/office/drawing/2014/main" id="{C57D2D85-243B-C740-A132-271DF455E7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1188205-BF7A-416D-DD98-3D3F13C118AB}"/>
              </a:ext>
            </a:extLst>
          </p:cNvPr>
          <p:cNvSpPr>
            <a:spLocks noGrp="1"/>
          </p:cNvSpPr>
          <p:nvPr>
            <p:ph type="dt" sz="half" idx="10"/>
          </p:nvPr>
        </p:nvSpPr>
        <p:spPr>
          <a:xfrm>
            <a:off x="838200" y="6356350"/>
            <a:ext cx="2743200" cy="365125"/>
          </a:xfrm>
          <a:prstGeom prst="rect">
            <a:avLst/>
          </a:prstGeom>
        </p:spPr>
        <p:txBody>
          <a:bodyPr/>
          <a:lstStyle/>
          <a:p>
            <a:fld id="{643CB9DC-D0F6-4151-B29E-60B54C9B60D4}" type="datetime1">
              <a:rPr lang="en-ID" smtClean="0"/>
              <a:t>09/12/2025</a:t>
            </a:fld>
            <a:endParaRPr lang="en-ID"/>
          </a:p>
        </p:txBody>
      </p:sp>
      <p:sp>
        <p:nvSpPr>
          <p:cNvPr id="6" name="Footer Placeholder 5">
            <a:extLst>
              <a:ext uri="{FF2B5EF4-FFF2-40B4-BE49-F238E27FC236}">
                <a16:creationId xmlns:a16="http://schemas.microsoft.com/office/drawing/2014/main" id="{F23B7877-2973-3D39-ADB0-F9BE9F14F758}"/>
              </a:ext>
            </a:extLst>
          </p:cNvPr>
          <p:cNvSpPr>
            <a:spLocks noGrp="1"/>
          </p:cNvSpPr>
          <p:nvPr>
            <p:ph type="ftr" sz="quarter" idx="11"/>
          </p:nvPr>
        </p:nvSpPr>
        <p:spPr>
          <a:xfrm>
            <a:off x="4038600" y="6356350"/>
            <a:ext cx="4114800" cy="365125"/>
          </a:xfrm>
          <a:prstGeom prst="rect">
            <a:avLst/>
          </a:prstGeom>
        </p:spPr>
        <p:txBody>
          <a:bodyPr/>
          <a:lstStyle/>
          <a:p>
            <a:endParaRPr lang="en-ID"/>
          </a:p>
        </p:txBody>
      </p:sp>
      <p:sp>
        <p:nvSpPr>
          <p:cNvPr id="7" name="Slide Number Placeholder 6">
            <a:extLst>
              <a:ext uri="{FF2B5EF4-FFF2-40B4-BE49-F238E27FC236}">
                <a16:creationId xmlns:a16="http://schemas.microsoft.com/office/drawing/2014/main" id="{2F4BF73D-1651-7D81-03E9-2AE6F9888886}"/>
              </a:ext>
            </a:extLst>
          </p:cNvPr>
          <p:cNvSpPr>
            <a:spLocks noGrp="1"/>
          </p:cNvSpPr>
          <p:nvPr>
            <p:ph type="sldNum" sz="quarter" idx="12"/>
          </p:nvPr>
        </p:nvSpPr>
        <p:spPr/>
        <p:txBody>
          <a:bodyPr/>
          <a:lstStyle/>
          <a:p>
            <a:fld id="{0BA98121-C0ED-4D12-A058-5C29F4DDA5D5}" type="slidenum">
              <a:rPr lang="en-ID" smtClean="0"/>
              <a:t>‹#›</a:t>
            </a:fld>
            <a:endParaRPr lang="en-ID"/>
          </a:p>
        </p:txBody>
      </p:sp>
    </p:spTree>
    <p:extLst>
      <p:ext uri="{BB962C8B-B14F-4D97-AF65-F5344CB8AC3E}">
        <p14:creationId xmlns:p14="http://schemas.microsoft.com/office/powerpoint/2010/main" val="24363971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E7CC9-DE65-1BC8-CF55-A2023C2D2A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D"/>
          </a:p>
        </p:txBody>
      </p:sp>
      <p:sp>
        <p:nvSpPr>
          <p:cNvPr id="3" name="Picture Placeholder 2">
            <a:extLst>
              <a:ext uri="{FF2B5EF4-FFF2-40B4-BE49-F238E27FC236}">
                <a16:creationId xmlns:a16="http://schemas.microsoft.com/office/drawing/2014/main" id="{823FD31F-746B-331C-545D-DDC8B48225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D"/>
          </a:p>
        </p:txBody>
      </p:sp>
      <p:sp>
        <p:nvSpPr>
          <p:cNvPr id="4" name="Text Placeholder 3">
            <a:extLst>
              <a:ext uri="{FF2B5EF4-FFF2-40B4-BE49-F238E27FC236}">
                <a16:creationId xmlns:a16="http://schemas.microsoft.com/office/drawing/2014/main" id="{5C920215-1E4F-57D6-82E0-FA41EA6699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715786-50D1-C77C-4D6A-9FAE397C8B21}"/>
              </a:ext>
            </a:extLst>
          </p:cNvPr>
          <p:cNvSpPr>
            <a:spLocks noGrp="1"/>
          </p:cNvSpPr>
          <p:nvPr>
            <p:ph type="dt" sz="half" idx="10"/>
          </p:nvPr>
        </p:nvSpPr>
        <p:spPr>
          <a:xfrm>
            <a:off x="838200" y="6356350"/>
            <a:ext cx="2743200" cy="365125"/>
          </a:xfrm>
          <a:prstGeom prst="rect">
            <a:avLst/>
          </a:prstGeom>
        </p:spPr>
        <p:txBody>
          <a:bodyPr/>
          <a:lstStyle/>
          <a:p>
            <a:fld id="{71C35078-4904-4F49-BFBE-EBCEA4022CD2}" type="datetime1">
              <a:rPr lang="en-ID" smtClean="0"/>
              <a:t>09/12/2025</a:t>
            </a:fld>
            <a:endParaRPr lang="en-ID"/>
          </a:p>
        </p:txBody>
      </p:sp>
      <p:sp>
        <p:nvSpPr>
          <p:cNvPr id="6" name="Footer Placeholder 5">
            <a:extLst>
              <a:ext uri="{FF2B5EF4-FFF2-40B4-BE49-F238E27FC236}">
                <a16:creationId xmlns:a16="http://schemas.microsoft.com/office/drawing/2014/main" id="{BCD51DE9-F4B5-E789-8853-2113C11FF704}"/>
              </a:ext>
            </a:extLst>
          </p:cNvPr>
          <p:cNvSpPr>
            <a:spLocks noGrp="1"/>
          </p:cNvSpPr>
          <p:nvPr>
            <p:ph type="ftr" sz="quarter" idx="11"/>
          </p:nvPr>
        </p:nvSpPr>
        <p:spPr>
          <a:xfrm>
            <a:off x="4038600" y="6356350"/>
            <a:ext cx="4114800" cy="365125"/>
          </a:xfrm>
          <a:prstGeom prst="rect">
            <a:avLst/>
          </a:prstGeom>
        </p:spPr>
        <p:txBody>
          <a:bodyPr/>
          <a:lstStyle/>
          <a:p>
            <a:endParaRPr lang="en-ID"/>
          </a:p>
        </p:txBody>
      </p:sp>
      <p:sp>
        <p:nvSpPr>
          <p:cNvPr id="7" name="Slide Number Placeholder 6">
            <a:extLst>
              <a:ext uri="{FF2B5EF4-FFF2-40B4-BE49-F238E27FC236}">
                <a16:creationId xmlns:a16="http://schemas.microsoft.com/office/drawing/2014/main" id="{39C4F15A-5D4E-5A3D-1661-1330CB8BC08C}"/>
              </a:ext>
            </a:extLst>
          </p:cNvPr>
          <p:cNvSpPr>
            <a:spLocks noGrp="1"/>
          </p:cNvSpPr>
          <p:nvPr>
            <p:ph type="sldNum" sz="quarter" idx="12"/>
          </p:nvPr>
        </p:nvSpPr>
        <p:spPr/>
        <p:txBody>
          <a:bodyPr/>
          <a:lstStyle/>
          <a:p>
            <a:fld id="{0BA98121-C0ED-4D12-A058-5C29F4DDA5D5}" type="slidenum">
              <a:rPr lang="en-ID" smtClean="0"/>
              <a:t>‹#›</a:t>
            </a:fld>
            <a:endParaRPr lang="en-ID"/>
          </a:p>
        </p:txBody>
      </p:sp>
    </p:spTree>
    <p:extLst>
      <p:ext uri="{BB962C8B-B14F-4D97-AF65-F5344CB8AC3E}">
        <p14:creationId xmlns:p14="http://schemas.microsoft.com/office/powerpoint/2010/main" val="40726256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0C032-C873-B8B0-AE1A-46DF50AFF65C}"/>
              </a:ext>
            </a:extLst>
          </p:cNvPr>
          <p:cNvSpPr>
            <a:spLocks noGrp="1"/>
          </p:cNvSpPr>
          <p:nvPr>
            <p:ph type="title"/>
          </p:nvPr>
        </p:nvSpPr>
        <p:spPr/>
        <p:txBody>
          <a:bodyPr/>
          <a:lstStyle/>
          <a:p>
            <a:r>
              <a:rPr lang="en-US"/>
              <a:t>Click to edit Master title style</a:t>
            </a:r>
            <a:endParaRPr lang="en-ID"/>
          </a:p>
        </p:txBody>
      </p:sp>
      <p:sp>
        <p:nvSpPr>
          <p:cNvPr id="3" name="Vertical Text Placeholder 2">
            <a:extLst>
              <a:ext uri="{FF2B5EF4-FFF2-40B4-BE49-F238E27FC236}">
                <a16:creationId xmlns:a16="http://schemas.microsoft.com/office/drawing/2014/main" id="{8F70F14A-EF2A-9144-C724-2FCA75DD4D0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89BD6472-8100-8093-8096-5A0FB7D529D6}"/>
              </a:ext>
            </a:extLst>
          </p:cNvPr>
          <p:cNvSpPr>
            <a:spLocks noGrp="1"/>
          </p:cNvSpPr>
          <p:nvPr>
            <p:ph type="dt" sz="half" idx="10"/>
          </p:nvPr>
        </p:nvSpPr>
        <p:spPr>
          <a:xfrm>
            <a:off x="838200" y="6356350"/>
            <a:ext cx="2743200" cy="365125"/>
          </a:xfrm>
          <a:prstGeom prst="rect">
            <a:avLst/>
          </a:prstGeom>
        </p:spPr>
        <p:txBody>
          <a:bodyPr/>
          <a:lstStyle/>
          <a:p>
            <a:fld id="{1AFCEF92-EC33-43F6-B0BA-C5948C2EE05B}" type="datetime1">
              <a:rPr lang="en-ID" smtClean="0"/>
              <a:t>09/12/2025</a:t>
            </a:fld>
            <a:endParaRPr lang="en-ID"/>
          </a:p>
        </p:txBody>
      </p:sp>
      <p:sp>
        <p:nvSpPr>
          <p:cNvPr id="5" name="Footer Placeholder 4">
            <a:extLst>
              <a:ext uri="{FF2B5EF4-FFF2-40B4-BE49-F238E27FC236}">
                <a16:creationId xmlns:a16="http://schemas.microsoft.com/office/drawing/2014/main" id="{C5500FFC-F65D-352B-4E59-B0B3C75DC215}"/>
              </a:ext>
            </a:extLst>
          </p:cNvPr>
          <p:cNvSpPr>
            <a:spLocks noGrp="1"/>
          </p:cNvSpPr>
          <p:nvPr>
            <p:ph type="ftr" sz="quarter" idx="11"/>
          </p:nvPr>
        </p:nvSpPr>
        <p:spPr>
          <a:xfrm>
            <a:off x="4038600" y="6356350"/>
            <a:ext cx="4114800" cy="365125"/>
          </a:xfrm>
          <a:prstGeom prst="rect">
            <a:avLst/>
          </a:prstGeom>
        </p:spPr>
        <p:txBody>
          <a:bodyPr/>
          <a:lstStyle/>
          <a:p>
            <a:endParaRPr lang="en-ID"/>
          </a:p>
        </p:txBody>
      </p:sp>
      <p:sp>
        <p:nvSpPr>
          <p:cNvPr id="6" name="Slide Number Placeholder 5">
            <a:extLst>
              <a:ext uri="{FF2B5EF4-FFF2-40B4-BE49-F238E27FC236}">
                <a16:creationId xmlns:a16="http://schemas.microsoft.com/office/drawing/2014/main" id="{6A1395D6-ADB1-2745-527E-E2214F1F9976}"/>
              </a:ext>
            </a:extLst>
          </p:cNvPr>
          <p:cNvSpPr>
            <a:spLocks noGrp="1"/>
          </p:cNvSpPr>
          <p:nvPr>
            <p:ph type="sldNum" sz="quarter" idx="12"/>
          </p:nvPr>
        </p:nvSpPr>
        <p:spPr/>
        <p:txBody>
          <a:bodyPr/>
          <a:lstStyle/>
          <a:p>
            <a:fld id="{0BA98121-C0ED-4D12-A058-5C29F4DDA5D5}" type="slidenum">
              <a:rPr lang="en-ID" smtClean="0"/>
              <a:t>‹#›</a:t>
            </a:fld>
            <a:endParaRPr lang="en-ID"/>
          </a:p>
        </p:txBody>
      </p:sp>
    </p:spTree>
    <p:extLst>
      <p:ext uri="{BB962C8B-B14F-4D97-AF65-F5344CB8AC3E}">
        <p14:creationId xmlns:p14="http://schemas.microsoft.com/office/powerpoint/2010/main" val="40317351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97B5D93-3BC7-83B4-3234-2397586C50E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D"/>
          </a:p>
        </p:txBody>
      </p:sp>
      <p:sp>
        <p:nvSpPr>
          <p:cNvPr id="3" name="Vertical Text Placeholder 2">
            <a:extLst>
              <a:ext uri="{FF2B5EF4-FFF2-40B4-BE49-F238E27FC236}">
                <a16:creationId xmlns:a16="http://schemas.microsoft.com/office/drawing/2014/main" id="{82E8E95C-032A-4360-03BE-18D1A026070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783DA4B7-96E7-E23D-AB1C-9FFA40D7AB73}"/>
              </a:ext>
            </a:extLst>
          </p:cNvPr>
          <p:cNvSpPr>
            <a:spLocks noGrp="1"/>
          </p:cNvSpPr>
          <p:nvPr>
            <p:ph type="dt" sz="half" idx="10"/>
          </p:nvPr>
        </p:nvSpPr>
        <p:spPr>
          <a:xfrm>
            <a:off x="838200" y="6356350"/>
            <a:ext cx="2743200" cy="365125"/>
          </a:xfrm>
          <a:prstGeom prst="rect">
            <a:avLst/>
          </a:prstGeom>
        </p:spPr>
        <p:txBody>
          <a:bodyPr/>
          <a:lstStyle/>
          <a:p>
            <a:fld id="{61BE1283-7723-4DA9-A8B6-27CEB29EB969}" type="datetime1">
              <a:rPr lang="en-ID" smtClean="0"/>
              <a:t>09/12/2025</a:t>
            </a:fld>
            <a:endParaRPr lang="en-ID"/>
          </a:p>
        </p:txBody>
      </p:sp>
      <p:sp>
        <p:nvSpPr>
          <p:cNvPr id="5" name="Footer Placeholder 4">
            <a:extLst>
              <a:ext uri="{FF2B5EF4-FFF2-40B4-BE49-F238E27FC236}">
                <a16:creationId xmlns:a16="http://schemas.microsoft.com/office/drawing/2014/main" id="{673FF1FC-883B-8227-22CE-B1BE81DE747E}"/>
              </a:ext>
            </a:extLst>
          </p:cNvPr>
          <p:cNvSpPr>
            <a:spLocks noGrp="1"/>
          </p:cNvSpPr>
          <p:nvPr>
            <p:ph type="ftr" sz="quarter" idx="11"/>
          </p:nvPr>
        </p:nvSpPr>
        <p:spPr>
          <a:xfrm>
            <a:off x="4038600" y="6356350"/>
            <a:ext cx="4114800" cy="365125"/>
          </a:xfrm>
          <a:prstGeom prst="rect">
            <a:avLst/>
          </a:prstGeom>
        </p:spPr>
        <p:txBody>
          <a:bodyPr/>
          <a:lstStyle/>
          <a:p>
            <a:endParaRPr lang="en-ID"/>
          </a:p>
        </p:txBody>
      </p:sp>
      <p:sp>
        <p:nvSpPr>
          <p:cNvPr id="6" name="Slide Number Placeholder 5">
            <a:extLst>
              <a:ext uri="{FF2B5EF4-FFF2-40B4-BE49-F238E27FC236}">
                <a16:creationId xmlns:a16="http://schemas.microsoft.com/office/drawing/2014/main" id="{A260E43F-68D7-432C-AEE2-EA325997F22F}"/>
              </a:ext>
            </a:extLst>
          </p:cNvPr>
          <p:cNvSpPr>
            <a:spLocks noGrp="1"/>
          </p:cNvSpPr>
          <p:nvPr>
            <p:ph type="sldNum" sz="quarter" idx="12"/>
          </p:nvPr>
        </p:nvSpPr>
        <p:spPr/>
        <p:txBody>
          <a:bodyPr/>
          <a:lstStyle/>
          <a:p>
            <a:fld id="{0BA98121-C0ED-4D12-A058-5C29F4DDA5D5}" type="slidenum">
              <a:rPr lang="en-ID" smtClean="0"/>
              <a:t>‹#›</a:t>
            </a:fld>
            <a:endParaRPr lang="en-ID"/>
          </a:p>
        </p:txBody>
      </p:sp>
    </p:spTree>
    <p:extLst>
      <p:ext uri="{BB962C8B-B14F-4D97-AF65-F5344CB8AC3E}">
        <p14:creationId xmlns:p14="http://schemas.microsoft.com/office/powerpoint/2010/main" val="28243173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040C6-1CCA-BD21-4193-5D2B3B21842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2E7B2B9-ADFC-366A-120A-5E960E9429C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D758AE6-9BFF-8032-3588-FE841E3C5873}"/>
              </a:ext>
            </a:extLst>
          </p:cNvPr>
          <p:cNvSpPr>
            <a:spLocks noGrp="1"/>
          </p:cNvSpPr>
          <p:nvPr>
            <p:ph type="dt" sz="half" idx="10"/>
          </p:nvPr>
        </p:nvSpPr>
        <p:spPr/>
        <p:txBody>
          <a:bodyPr/>
          <a:lstStyle/>
          <a:p>
            <a:fld id="{9A35C553-8991-44D5-A09C-3886C7794903}" type="datetime1">
              <a:rPr lang="en-ID" smtClean="0"/>
              <a:t>09/12/2025</a:t>
            </a:fld>
            <a:endParaRPr lang="en-US"/>
          </a:p>
        </p:txBody>
      </p:sp>
      <p:sp>
        <p:nvSpPr>
          <p:cNvPr id="5" name="Footer Placeholder 4">
            <a:extLst>
              <a:ext uri="{FF2B5EF4-FFF2-40B4-BE49-F238E27FC236}">
                <a16:creationId xmlns:a16="http://schemas.microsoft.com/office/drawing/2014/main" id="{C91B97F4-D5D0-F127-A451-64D4F38F49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99739C-378A-9F91-5CC8-31E3B0DADD90}"/>
              </a:ext>
            </a:extLst>
          </p:cNvPr>
          <p:cNvSpPr>
            <a:spLocks noGrp="1"/>
          </p:cNvSpPr>
          <p:nvPr>
            <p:ph type="sldNum" sz="quarter" idx="12"/>
          </p:nvPr>
        </p:nvSpPr>
        <p:spPr/>
        <p:txBody>
          <a:bodyPr/>
          <a:lstStyle/>
          <a:p>
            <a:fld id="{F8CC77C0-05E0-4F3B-9DAC-D34674A38BC4}" type="slidenum">
              <a:rPr lang="en-US" smtClean="0"/>
              <a:t>‹#›</a:t>
            </a:fld>
            <a:endParaRPr lang="en-US"/>
          </a:p>
        </p:txBody>
      </p:sp>
    </p:spTree>
    <p:extLst>
      <p:ext uri="{BB962C8B-B14F-4D97-AF65-F5344CB8AC3E}">
        <p14:creationId xmlns:p14="http://schemas.microsoft.com/office/powerpoint/2010/main" val="37084537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DFB26-1C5F-8E2A-20F1-4507FB2665B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09D1280-9473-0FC2-166F-79B4D1334F7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783D599-F388-C0C9-B52B-445983CFAE1C}"/>
              </a:ext>
            </a:extLst>
          </p:cNvPr>
          <p:cNvSpPr>
            <a:spLocks noGrp="1"/>
          </p:cNvSpPr>
          <p:nvPr>
            <p:ph type="dt" sz="half" idx="10"/>
          </p:nvPr>
        </p:nvSpPr>
        <p:spPr/>
        <p:txBody>
          <a:bodyPr/>
          <a:lstStyle/>
          <a:p>
            <a:fld id="{1B973ABE-8B80-4292-B6F4-63E09D260581}" type="datetime1">
              <a:rPr lang="en-ID" smtClean="0"/>
              <a:t>09/12/2025</a:t>
            </a:fld>
            <a:endParaRPr lang="en-US"/>
          </a:p>
        </p:txBody>
      </p:sp>
      <p:sp>
        <p:nvSpPr>
          <p:cNvPr id="5" name="Footer Placeholder 4">
            <a:extLst>
              <a:ext uri="{FF2B5EF4-FFF2-40B4-BE49-F238E27FC236}">
                <a16:creationId xmlns:a16="http://schemas.microsoft.com/office/drawing/2014/main" id="{C6B500D6-D255-2BB3-7B94-665A2C4E82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16EAF4-1283-0F34-0260-CC885DA41D8B}"/>
              </a:ext>
            </a:extLst>
          </p:cNvPr>
          <p:cNvSpPr>
            <a:spLocks noGrp="1"/>
          </p:cNvSpPr>
          <p:nvPr>
            <p:ph type="sldNum" sz="quarter" idx="12"/>
          </p:nvPr>
        </p:nvSpPr>
        <p:spPr/>
        <p:txBody>
          <a:bodyPr/>
          <a:lstStyle/>
          <a:p>
            <a:fld id="{F8CC77C0-05E0-4F3B-9DAC-D34674A38BC4}" type="slidenum">
              <a:rPr lang="en-US" smtClean="0"/>
              <a:t>‹#›</a:t>
            </a:fld>
            <a:endParaRPr lang="en-US"/>
          </a:p>
        </p:txBody>
      </p:sp>
    </p:spTree>
    <p:extLst>
      <p:ext uri="{BB962C8B-B14F-4D97-AF65-F5344CB8AC3E}">
        <p14:creationId xmlns:p14="http://schemas.microsoft.com/office/powerpoint/2010/main" val="24184938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696B0-62F7-5511-6D15-801EDA0F45F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CB205C5-610E-FEDC-6F1A-E0AE5167E97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3C528E1-9C13-2D03-E503-587D50B3D755}"/>
              </a:ext>
            </a:extLst>
          </p:cNvPr>
          <p:cNvSpPr>
            <a:spLocks noGrp="1"/>
          </p:cNvSpPr>
          <p:nvPr>
            <p:ph type="dt" sz="half" idx="10"/>
          </p:nvPr>
        </p:nvSpPr>
        <p:spPr/>
        <p:txBody>
          <a:bodyPr/>
          <a:lstStyle/>
          <a:p>
            <a:fld id="{60B6326E-A811-49B9-B8E6-E79316152500}" type="datetime1">
              <a:rPr lang="en-ID" smtClean="0"/>
              <a:t>09/12/2025</a:t>
            </a:fld>
            <a:endParaRPr lang="en-US"/>
          </a:p>
        </p:txBody>
      </p:sp>
      <p:sp>
        <p:nvSpPr>
          <p:cNvPr id="5" name="Footer Placeholder 4">
            <a:extLst>
              <a:ext uri="{FF2B5EF4-FFF2-40B4-BE49-F238E27FC236}">
                <a16:creationId xmlns:a16="http://schemas.microsoft.com/office/drawing/2014/main" id="{ED7F02D6-BA84-965C-69C0-3FAE82579E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D669E7-C93B-192E-CEA4-5101CDDFA6A0}"/>
              </a:ext>
            </a:extLst>
          </p:cNvPr>
          <p:cNvSpPr>
            <a:spLocks noGrp="1"/>
          </p:cNvSpPr>
          <p:nvPr>
            <p:ph type="sldNum" sz="quarter" idx="12"/>
          </p:nvPr>
        </p:nvSpPr>
        <p:spPr/>
        <p:txBody>
          <a:bodyPr/>
          <a:lstStyle/>
          <a:p>
            <a:fld id="{F8CC77C0-05E0-4F3B-9DAC-D34674A38BC4}" type="slidenum">
              <a:rPr lang="en-US" smtClean="0"/>
              <a:t>‹#›</a:t>
            </a:fld>
            <a:endParaRPr lang="en-US"/>
          </a:p>
        </p:txBody>
      </p:sp>
    </p:spTree>
    <p:extLst>
      <p:ext uri="{BB962C8B-B14F-4D97-AF65-F5344CB8AC3E}">
        <p14:creationId xmlns:p14="http://schemas.microsoft.com/office/powerpoint/2010/main" val="19244708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9087A5-BD71-607B-F0FF-E9CFD042E9D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4EA6BBB-92F2-BACD-BF43-CC364D32C3A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0B8C504-DE3D-42CE-7075-09DBD2E805A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C1FA00A-E6A4-728E-A087-5E5D331DCE45}"/>
              </a:ext>
            </a:extLst>
          </p:cNvPr>
          <p:cNvSpPr>
            <a:spLocks noGrp="1"/>
          </p:cNvSpPr>
          <p:nvPr>
            <p:ph type="dt" sz="half" idx="10"/>
          </p:nvPr>
        </p:nvSpPr>
        <p:spPr/>
        <p:txBody>
          <a:bodyPr/>
          <a:lstStyle/>
          <a:p>
            <a:fld id="{C3CA53B4-42E9-449F-B0A0-986538D657EB}" type="datetime1">
              <a:rPr lang="en-ID" smtClean="0"/>
              <a:t>09/12/2025</a:t>
            </a:fld>
            <a:endParaRPr lang="en-US"/>
          </a:p>
        </p:txBody>
      </p:sp>
      <p:sp>
        <p:nvSpPr>
          <p:cNvPr id="6" name="Footer Placeholder 5">
            <a:extLst>
              <a:ext uri="{FF2B5EF4-FFF2-40B4-BE49-F238E27FC236}">
                <a16:creationId xmlns:a16="http://schemas.microsoft.com/office/drawing/2014/main" id="{47397193-9AF6-266F-5652-2AD3808ED3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468040D-9725-3769-AA1A-427A3541F0A8}"/>
              </a:ext>
            </a:extLst>
          </p:cNvPr>
          <p:cNvSpPr>
            <a:spLocks noGrp="1"/>
          </p:cNvSpPr>
          <p:nvPr>
            <p:ph type="sldNum" sz="quarter" idx="12"/>
          </p:nvPr>
        </p:nvSpPr>
        <p:spPr/>
        <p:txBody>
          <a:bodyPr/>
          <a:lstStyle/>
          <a:p>
            <a:fld id="{F8CC77C0-05E0-4F3B-9DAC-D34674A38BC4}" type="slidenum">
              <a:rPr lang="en-US" smtClean="0"/>
              <a:t>‹#›</a:t>
            </a:fld>
            <a:endParaRPr lang="en-US"/>
          </a:p>
        </p:txBody>
      </p:sp>
    </p:spTree>
    <p:extLst>
      <p:ext uri="{BB962C8B-B14F-4D97-AF65-F5344CB8AC3E}">
        <p14:creationId xmlns:p14="http://schemas.microsoft.com/office/powerpoint/2010/main" val="11374778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2E8B8-3DCC-19EC-9D70-89ADE6B8A15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529330F-F3E7-EC59-3AFD-CE34E86048B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B5F7514-09F4-68B6-7EDD-A1D26B52273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3239BF5-553F-143F-4758-531DB5E171B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745AD77-C70C-4805-E073-7C90370630C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D7F4339-73EF-BE89-A720-4923FF259BD0}"/>
              </a:ext>
            </a:extLst>
          </p:cNvPr>
          <p:cNvSpPr>
            <a:spLocks noGrp="1"/>
          </p:cNvSpPr>
          <p:nvPr>
            <p:ph type="dt" sz="half" idx="10"/>
          </p:nvPr>
        </p:nvSpPr>
        <p:spPr/>
        <p:txBody>
          <a:bodyPr/>
          <a:lstStyle/>
          <a:p>
            <a:fld id="{DD1F70F2-A3A4-4FF8-8B91-329E24A30F02}" type="datetime1">
              <a:rPr lang="en-ID" smtClean="0"/>
              <a:t>09/12/2025</a:t>
            </a:fld>
            <a:endParaRPr lang="en-US"/>
          </a:p>
        </p:txBody>
      </p:sp>
      <p:sp>
        <p:nvSpPr>
          <p:cNvPr id="8" name="Footer Placeholder 7">
            <a:extLst>
              <a:ext uri="{FF2B5EF4-FFF2-40B4-BE49-F238E27FC236}">
                <a16:creationId xmlns:a16="http://schemas.microsoft.com/office/drawing/2014/main" id="{5E89967A-6530-E9BA-6EB1-0FA0E87844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D2A19E3-CC89-2581-3FF4-E4A2D1602699}"/>
              </a:ext>
            </a:extLst>
          </p:cNvPr>
          <p:cNvSpPr>
            <a:spLocks noGrp="1"/>
          </p:cNvSpPr>
          <p:nvPr>
            <p:ph type="sldNum" sz="quarter" idx="12"/>
          </p:nvPr>
        </p:nvSpPr>
        <p:spPr/>
        <p:txBody>
          <a:bodyPr/>
          <a:lstStyle/>
          <a:p>
            <a:fld id="{F8CC77C0-05E0-4F3B-9DAC-D34674A38BC4}" type="slidenum">
              <a:rPr lang="en-US" smtClean="0"/>
              <a:t>‹#›</a:t>
            </a:fld>
            <a:endParaRPr lang="en-US"/>
          </a:p>
        </p:txBody>
      </p:sp>
    </p:spTree>
    <p:extLst>
      <p:ext uri="{BB962C8B-B14F-4D97-AF65-F5344CB8AC3E}">
        <p14:creationId xmlns:p14="http://schemas.microsoft.com/office/powerpoint/2010/main" val="21410144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7F3EE-0459-29B9-6406-F406FCE3276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F2605C7-1960-0F79-2DA1-72F6648165CC}"/>
              </a:ext>
            </a:extLst>
          </p:cNvPr>
          <p:cNvSpPr>
            <a:spLocks noGrp="1"/>
          </p:cNvSpPr>
          <p:nvPr>
            <p:ph type="dt" sz="half" idx="10"/>
          </p:nvPr>
        </p:nvSpPr>
        <p:spPr/>
        <p:txBody>
          <a:bodyPr/>
          <a:lstStyle/>
          <a:p>
            <a:fld id="{7A865BE1-E534-4F4A-A832-6FC2F581BA0E}" type="datetime1">
              <a:rPr lang="en-ID" smtClean="0"/>
              <a:t>09/12/2025</a:t>
            </a:fld>
            <a:endParaRPr lang="en-US"/>
          </a:p>
        </p:txBody>
      </p:sp>
      <p:sp>
        <p:nvSpPr>
          <p:cNvPr id="4" name="Footer Placeholder 3">
            <a:extLst>
              <a:ext uri="{FF2B5EF4-FFF2-40B4-BE49-F238E27FC236}">
                <a16:creationId xmlns:a16="http://schemas.microsoft.com/office/drawing/2014/main" id="{09220E36-D5AA-8725-1E71-A2C243E2F2A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BBBD239-19AB-3ED1-2591-9E84BD2DAF4C}"/>
              </a:ext>
            </a:extLst>
          </p:cNvPr>
          <p:cNvSpPr>
            <a:spLocks noGrp="1"/>
          </p:cNvSpPr>
          <p:nvPr>
            <p:ph type="sldNum" sz="quarter" idx="12"/>
          </p:nvPr>
        </p:nvSpPr>
        <p:spPr/>
        <p:txBody>
          <a:bodyPr/>
          <a:lstStyle/>
          <a:p>
            <a:fld id="{F8CC77C0-05E0-4F3B-9DAC-D34674A38BC4}" type="slidenum">
              <a:rPr lang="en-US" smtClean="0"/>
              <a:t>‹#›</a:t>
            </a:fld>
            <a:endParaRPr lang="en-US"/>
          </a:p>
        </p:txBody>
      </p:sp>
    </p:spTree>
    <p:extLst>
      <p:ext uri="{BB962C8B-B14F-4D97-AF65-F5344CB8AC3E}">
        <p14:creationId xmlns:p14="http://schemas.microsoft.com/office/powerpoint/2010/main" val="120883675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21D6984-0E90-692D-F741-97C2CC5B7C3C}"/>
              </a:ext>
            </a:extLst>
          </p:cNvPr>
          <p:cNvSpPr>
            <a:spLocks noGrp="1"/>
          </p:cNvSpPr>
          <p:nvPr>
            <p:ph type="dt" sz="half" idx="10"/>
          </p:nvPr>
        </p:nvSpPr>
        <p:spPr/>
        <p:txBody>
          <a:bodyPr/>
          <a:lstStyle/>
          <a:p>
            <a:fld id="{F2C177BC-4372-44F5-82CD-79AA2D4F4EC1}" type="datetime1">
              <a:rPr lang="en-ID" smtClean="0"/>
              <a:t>09/12/2025</a:t>
            </a:fld>
            <a:endParaRPr lang="en-US"/>
          </a:p>
        </p:txBody>
      </p:sp>
      <p:sp>
        <p:nvSpPr>
          <p:cNvPr id="3" name="Footer Placeholder 2">
            <a:extLst>
              <a:ext uri="{FF2B5EF4-FFF2-40B4-BE49-F238E27FC236}">
                <a16:creationId xmlns:a16="http://schemas.microsoft.com/office/drawing/2014/main" id="{F163A4B2-B5FF-37AE-9B3C-63BFF540036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A9FF00B-D239-4973-966B-49CAAF6518CB}"/>
              </a:ext>
            </a:extLst>
          </p:cNvPr>
          <p:cNvSpPr>
            <a:spLocks noGrp="1"/>
          </p:cNvSpPr>
          <p:nvPr>
            <p:ph type="sldNum" sz="quarter" idx="12"/>
          </p:nvPr>
        </p:nvSpPr>
        <p:spPr/>
        <p:txBody>
          <a:bodyPr/>
          <a:lstStyle/>
          <a:p>
            <a:fld id="{F8CC77C0-05E0-4F3B-9DAC-D34674A38BC4}" type="slidenum">
              <a:rPr lang="en-US" smtClean="0"/>
              <a:t>‹#›</a:t>
            </a:fld>
            <a:endParaRPr lang="en-US"/>
          </a:p>
        </p:txBody>
      </p:sp>
    </p:spTree>
    <p:extLst>
      <p:ext uri="{BB962C8B-B14F-4D97-AF65-F5344CB8AC3E}">
        <p14:creationId xmlns:p14="http://schemas.microsoft.com/office/powerpoint/2010/main" val="226964314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9A1E3-80B8-2E74-6479-31936EB0C8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FD34C86-64FC-6813-F5EE-675B498DAF2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BDCB1F2-6ECF-1ACF-E350-5F5CB48729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A4879D-7A1B-A379-64E6-81CE9EC94488}"/>
              </a:ext>
            </a:extLst>
          </p:cNvPr>
          <p:cNvSpPr>
            <a:spLocks noGrp="1"/>
          </p:cNvSpPr>
          <p:nvPr>
            <p:ph type="dt" sz="half" idx="10"/>
          </p:nvPr>
        </p:nvSpPr>
        <p:spPr/>
        <p:txBody>
          <a:bodyPr/>
          <a:lstStyle/>
          <a:p>
            <a:fld id="{733D7D2D-CF5F-4279-B522-24B94D4AEBA5}" type="datetime1">
              <a:rPr lang="en-ID" smtClean="0"/>
              <a:t>09/12/2025</a:t>
            </a:fld>
            <a:endParaRPr lang="en-US"/>
          </a:p>
        </p:txBody>
      </p:sp>
      <p:sp>
        <p:nvSpPr>
          <p:cNvPr id="6" name="Footer Placeholder 5">
            <a:extLst>
              <a:ext uri="{FF2B5EF4-FFF2-40B4-BE49-F238E27FC236}">
                <a16:creationId xmlns:a16="http://schemas.microsoft.com/office/drawing/2014/main" id="{E710A02D-0476-6567-DE83-2E0CE080DD9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B0B52CD-EBF2-07B4-9BDB-91EAB81100CC}"/>
              </a:ext>
            </a:extLst>
          </p:cNvPr>
          <p:cNvSpPr>
            <a:spLocks noGrp="1"/>
          </p:cNvSpPr>
          <p:nvPr>
            <p:ph type="sldNum" sz="quarter" idx="12"/>
          </p:nvPr>
        </p:nvSpPr>
        <p:spPr/>
        <p:txBody>
          <a:bodyPr/>
          <a:lstStyle/>
          <a:p>
            <a:fld id="{F8CC77C0-05E0-4F3B-9DAC-D34674A38BC4}" type="slidenum">
              <a:rPr lang="en-US" smtClean="0"/>
              <a:t>‹#›</a:t>
            </a:fld>
            <a:endParaRPr lang="en-US"/>
          </a:p>
        </p:txBody>
      </p:sp>
    </p:spTree>
    <p:extLst>
      <p:ext uri="{BB962C8B-B14F-4D97-AF65-F5344CB8AC3E}">
        <p14:creationId xmlns:p14="http://schemas.microsoft.com/office/powerpoint/2010/main" val="422054606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63273-39FB-9081-56FD-B29080231F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4370079-116A-A0D6-8BC4-C3EB6887586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F22131B-7166-5159-79AB-25CB10BC75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1886F8-9143-B009-43D9-0B8C56C479B2}"/>
              </a:ext>
            </a:extLst>
          </p:cNvPr>
          <p:cNvSpPr>
            <a:spLocks noGrp="1"/>
          </p:cNvSpPr>
          <p:nvPr>
            <p:ph type="dt" sz="half" idx="10"/>
          </p:nvPr>
        </p:nvSpPr>
        <p:spPr/>
        <p:txBody>
          <a:bodyPr/>
          <a:lstStyle/>
          <a:p>
            <a:fld id="{743A9A20-9054-46F8-BFBF-ABC9AE496B5C}" type="datetime1">
              <a:rPr lang="en-ID" smtClean="0"/>
              <a:t>09/12/2025</a:t>
            </a:fld>
            <a:endParaRPr lang="en-US"/>
          </a:p>
        </p:txBody>
      </p:sp>
      <p:sp>
        <p:nvSpPr>
          <p:cNvPr id="6" name="Footer Placeholder 5">
            <a:extLst>
              <a:ext uri="{FF2B5EF4-FFF2-40B4-BE49-F238E27FC236}">
                <a16:creationId xmlns:a16="http://schemas.microsoft.com/office/drawing/2014/main" id="{F9E0DDD4-39B9-1D92-ED54-05205EB5950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78BA310-E646-6D54-AF5C-DB8B138A2347}"/>
              </a:ext>
            </a:extLst>
          </p:cNvPr>
          <p:cNvSpPr>
            <a:spLocks noGrp="1"/>
          </p:cNvSpPr>
          <p:nvPr>
            <p:ph type="sldNum" sz="quarter" idx="12"/>
          </p:nvPr>
        </p:nvSpPr>
        <p:spPr/>
        <p:txBody>
          <a:bodyPr/>
          <a:lstStyle/>
          <a:p>
            <a:fld id="{F8CC77C0-05E0-4F3B-9DAC-D34674A38BC4}" type="slidenum">
              <a:rPr lang="en-US" smtClean="0"/>
              <a:t>‹#›</a:t>
            </a:fld>
            <a:endParaRPr lang="en-US"/>
          </a:p>
        </p:txBody>
      </p:sp>
    </p:spTree>
    <p:extLst>
      <p:ext uri="{BB962C8B-B14F-4D97-AF65-F5344CB8AC3E}">
        <p14:creationId xmlns:p14="http://schemas.microsoft.com/office/powerpoint/2010/main" val="15513014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885FC8-A312-1342-8889-9788D3D2A3E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77BC329-DC7E-C76F-B310-A7C98E9346E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A839243-36CC-A44E-21F0-5919FA5DB5C0}"/>
              </a:ext>
            </a:extLst>
          </p:cNvPr>
          <p:cNvSpPr>
            <a:spLocks noGrp="1"/>
          </p:cNvSpPr>
          <p:nvPr>
            <p:ph type="dt" sz="half" idx="10"/>
          </p:nvPr>
        </p:nvSpPr>
        <p:spPr/>
        <p:txBody>
          <a:bodyPr/>
          <a:lstStyle/>
          <a:p>
            <a:fld id="{73C66657-D655-4AB3-9074-B583ECAAD404}" type="datetime1">
              <a:rPr lang="en-ID" smtClean="0"/>
              <a:t>09/12/2025</a:t>
            </a:fld>
            <a:endParaRPr lang="en-US"/>
          </a:p>
        </p:txBody>
      </p:sp>
      <p:sp>
        <p:nvSpPr>
          <p:cNvPr id="5" name="Footer Placeholder 4">
            <a:extLst>
              <a:ext uri="{FF2B5EF4-FFF2-40B4-BE49-F238E27FC236}">
                <a16:creationId xmlns:a16="http://schemas.microsoft.com/office/drawing/2014/main" id="{15C64666-5B31-9BAE-13BD-149AC19431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FF4CB6-A366-D4D5-B7EC-B0A103AA89E7}"/>
              </a:ext>
            </a:extLst>
          </p:cNvPr>
          <p:cNvSpPr>
            <a:spLocks noGrp="1"/>
          </p:cNvSpPr>
          <p:nvPr>
            <p:ph type="sldNum" sz="quarter" idx="12"/>
          </p:nvPr>
        </p:nvSpPr>
        <p:spPr/>
        <p:txBody>
          <a:bodyPr/>
          <a:lstStyle/>
          <a:p>
            <a:fld id="{F8CC77C0-05E0-4F3B-9DAC-D34674A38BC4}" type="slidenum">
              <a:rPr lang="en-US" smtClean="0"/>
              <a:t>‹#›</a:t>
            </a:fld>
            <a:endParaRPr lang="en-US"/>
          </a:p>
        </p:txBody>
      </p:sp>
    </p:spTree>
    <p:extLst>
      <p:ext uri="{BB962C8B-B14F-4D97-AF65-F5344CB8AC3E}">
        <p14:creationId xmlns:p14="http://schemas.microsoft.com/office/powerpoint/2010/main" val="331132348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23E535C-8DCF-CBC7-3135-5476891DD9A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148A148-62B6-5E0A-4D80-0D5B7F42B5C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298069-7B3A-5F30-8259-5E2518DC4DB6}"/>
              </a:ext>
            </a:extLst>
          </p:cNvPr>
          <p:cNvSpPr>
            <a:spLocks noGrp="1"/>
          </p:cNvSpPr>
          <p:nvPr>
            <p:ph type="dt" sz="half" idx="10"/>
          </p:nvPr>
        </p:nvSpPr>
        <p:spPr/>
        <p:txBody>
          <a:bodyPr/>
          <a:lstStyle/>
          <a:p>
            <a:fld id="{A23CFBC1-8CCA-4812-98BA-696F85B3F7B0}" type="datetime1">
              <a:rPr lang="en-ID" smtClean="0"/>
              <a:t>09/12/2025</a:t>
            </a:fld>
            <a:endParaRPr lang="en-US"/>
          </a:p>
        </p:txBody>
      </p:sp>
      <p:sp>
        <p:nvSpPr>
          <p:cNvPr id="5" name="Footer Placeholder 4">
            <a:extLst>
              <a:ext uri="{FF2B5EF4-FFF2-40B4-BE49-F238E27FC236}">
                <a16:creationId xmlns:a16="http://schemas.microsoft.com/office/drawing/2014/main" id="{AB13891A-FAC2-6D66-7152-FF9C7DC405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3CC056-1368-939C-BB0B-D682E3C02C20}"/>
              </a:ext>
            </a:extLst>
          </p:cNvPr>
          <p:cNvSpPr>
            <a:spLocks noGrp="1"/>
          </p:cNvSpPr>
          <p:nvPr>
            <p:ph type="sldNum" sz="quarter" idx="12"/>
          </p:nvPr>
        </p:nvSpPr>
        <p:spPr/>
        <p:txBody>
          <a:bodyPr/>
          <a:lstStyle/>
          <a:p>
            <a:fld id="{F8CC77C0-05E0-4F3B-9DAC-D34674A38BC4}" type="slidenum">
              <a:rPr lang="en-US" smtClean="0"/>
              <a:t>‹#›</a:t>
            </a:fld>
            <a:endParaRPr lang="en-US"/>
          </a:p>
        </p:txBody>
      </p:sp>
    </p:spTree>
    <p:extLst>
      <p:ext uri="{BB962C8B-B14F-4D97-AF65-F5344CB8AC3E}">
        <p14:creationId xmlns:p14="http://schemas.microsoft.com/office/powerpoint/2010/main" val="22104107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86C8344-BDE8-290A-1675-200D6BE260D6}"/>
              </a:ext>
            </a:extLst>
          </p:cNvPr>
          <p:cNvSpPr>
            <a:spLocks noGrp="1"/>
          </p:cNvSpPr>
          <p:nvPr>
            <p:ph type="title"/>
          </p:nvPr>
        </p:nvSpPr>
        <p:spPr>
          <a:xfrm>
            <a:off x="535215" y="365126"/>
            <a:ext cx="11121571" cy="883104"/>
          </a:xfrm>
          <a:prstGeom prst="rect">
            <a:avLst/>
          </a:prstGeom>
        </p:spPr>
        <p:txBody>
          <a:bodyPr vert="horz" lIns="91440" tIns="45720" rIns="91440" bIns="45720" rtlCol="0" anchor="ctr">
            <a:normAutofit/>
          </a:bodyPr>
          <a:lstStyle/>
          <a:p>
            <a:r>
              <a:rPr lang="en-US" dirty="0"/>
              <a:t>Click to edit Master title style</a:t>
            </a:r>
            <a:endParaRPr lang="en-ID" dirty="0"/>
          </a:p>
        </p:txBody>
      </p:sp>
      <p:sp>
        <p:nvSpPr>
          <p:cNvPr id="3" name="Text Placeholder 2">
            <a:extLst>
              <a:ext uri="{FF2B5EF4-FFF2-40B4-BE49-F238E27FC236}">
                <a16:creationId xmlns:a16="http://schemas.microsoft.com/office/drawing/2014/main" id="{32C27A6C-75FB-A759-49E2-B44D9CF5AC7D}"/>
              </a:ext>
            </a:extLst>
          </p:cNvPr>
          <p:cNvSpPr>
            <a:spLocks noGrp="1"/>
          </p:cNvSpPr>
          <p:nvPr>
            <p:ph type="body" idx="1"/>
          </p:nvPr>
        </p:nvSpPr>
        <p:spPr>
          <a:xfrm>
            <a:off x="535215" y="1480457"/>
            <a:ext cx="11121571" cy="4696506"/>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D" dirty="0"/>
          </a:p>
        </p:txBody>
      </p:sp>
      <p:sp>
        <p:nvSpPr>
          <p:cNvPr id="6" name="Slide Number Placeholder 5">
            <a:extLst>
              <a:ext uri="{FF2B5EF4-FFF2-40B4-BE49-F238E27FC236}">
                <a16:creationId xmlns:a16="http://schemas.microsoft.com/office/drawing/2014/main" id="{8557A0EA-37C3-C374-E44B-FEFC20C76C49}"/>
              </a:ext>
            </a:extLst>
          </p:cNvPr>
          <p:cNvSpPr>
            <a:spLocks noGrp="1"/>
          </p:cNvSpPr>
          <p:nvPr>
            <p:ph type="sldNum" sz="quarter" idx="4"/>
          </p:nvPr>
        </p:nvSpPr>
        <p:spPr>
          <a:xfrm>
            <a:off x="8913586"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BA98121-C0ED-4D12-A058-5C29F4DDA5D5}" type="slidenum">
              <a:rPr lang="en-ID" smtClean="0"/>
              <a:t>‹#›</a:t>
            </a:fld>
            <a:endParaRPr lang="en-ID"/>
          </a:p>
        </p:txBody>
      </p:sp>
    </p:spTree>
    <p:extLst>
      <p:ext uri="{BB962C8B-B14F-4D97-AF65-F5344CB8AC3E}">
        <p14:creationId xmlns:p14="http://schemas.microsoft.com/office/powerpoint/2010/main" val="24273345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b="1" kern="1200">
          <a:solidFill>
            <a:srgbClr val="36638D"/>
          </a:solidFill>
          <a:latin typeface="Segoe UI" panose="020B0502040204020203" pitchFamily="34" charset="0"/>
          <a:ea typeface="+mj-ea"/>
          <a:cs typeface="Segoe UI" panose="020B0502040204020203"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Light" panose="020B0502040204020203" pitchFamily="34" charset="0"/>
          <a:ea typeface="+mn-ea"/>
          <a:cs typeface="Segoe UI Light"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Light" panose="020B0502040204020203" pitchFamily="34" charset="0"/>
          <a:ea typeface="+mn-ea"/>
          <a:cs typeface="Segoe UI Light"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Light" panose="020B0502040204020203" pitchFamily="34" charset="0"/>
          <a:ea typeface="+mn-ea"/>
          <a:cs typeface="Segoe UI Light"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Light" panose="020B0502040204020203" pitchFamily="34" charset="0"/>
          <a:ea typeface="+mn-ea"/>
          <a:cs typeface="Segoe UI Light"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Light" panose="020B0502040204020203" pitchFamily="34" charset="0"/>
          <a:ea typeface="+mn-ea"/>
          <a:cs typeface="Segoe UI Light"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pos="7355" userDrawn="1">
          <p15:clr>
            <a:srgbClr val="F26B43"/>
          </p15:clr>
        </p15:guide>
        <p15:guide id="3" pos="325"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21D80F1-4FEE-1821-ABB1-D3182AE7483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B21329A-4C80-B5FD-F7C4-E4B2994F0E5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B1F7E1-9E12-06E0-CDC0-2E1AF6A1B0A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BE79756-F66D-45AA-ACF4-9C1F6C8E1109}" type="datetime1">
              <a:rPr lang="en-ID" smtClean="0"/>
              <a:t>09/12/2025</a:t>
            </a:fld>
            <a:endParaRPr lang="en-US"/>
          </a:p>
        </p:txBody>
      </p:sp>
      <p:sp>
        <p:nvSpPr>
          <p:cNvPr id="5" name="Footer Placeholder 4">
            <a:extLst>
              <a:ext uri="{FF2B5EF4-FFF2-40B4-BE49-F238E27FC236}">
                <a16:creationId xmlns:a16="http://schemas.microsoft.com/office/drawing/2014/main" id="{6F4DAD8A-966A-9DA9-7E82-A847C0A6D93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F06C267-2886-0C80-7D5D-D41016C0DFF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8CC77C0-05E0-4F3B-9DAC-D34674A38BC4}" type="slidenum">
              <a:rPr lang="en-US" smtClean="0"/>
              <a:t>‹#›</a:t>
            </a:fld>
            <a:endParaRPr lang="en-US"/>
          </a:p>
        </p:txBody>
      </p:sp>
    </p:spTree>
    <p:extLst>
      <p:ext uri="{BB962C8B-B14F-4D97-AF65-F5344CB8AC3E}">
        <p14:creationId xmlns:p14="http://schemas.microsoft.com/office/powerpoint/2010/main" val="19402778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17.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microsoft.com/office/2007/relationships/hdphoto" Target="../media/hdphoto1.wdp"/></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ángulo 5">
            <a:extLst>
              <a:ext uri="{FF2B5EF4-FFF2-40B4-BE49-F238E27FC236}">
                <a16:creationId xmlns:a16="http://schemas.microsoft.com/office/drawing/2014/main" id="{7E52DC74-CDBE-078F-56B8-6B73E5040848}"/>
              </a:ext>
            </a:extLst>
          </p:cNvPr>
          <p:cNvSpPr/>
          <p:nvPr/>
        </p:nvSpPr>
        <p:spPr>
          <a:xfrm>
            <a:off x="-21939" y="0"/>
            <a:ext cx="4736473" cy="590915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7CC6FF"/>
              </a:solidFill>
            </a:endParaRPr>
          </a:p>
        </p:txBody>
      </p:sp>
      <p:pic>
        <p:nvPicPr>
          <p:cNvPr id="14" name="Picture 13" descr="A picture containing calendar&#10;&#10;Description automatically generated">
            <a:extLst>
              <a:ext uri="{FF2B5EF4-FFF2-40B4-BE49-F238E27FC236}">
                <a16:creationId xmlns:a16="http://schemas.microsoft.com/office/drawing/2014/main" id="{89D02043-D93D-41E8-2EF7-A0D702F36C49}"/>
              </a:ext>
            </a:extLst>
          </p:cNvPr>
          <p:cNvPicPr>
            <a:picLocks noChangeAspect="1"/>
          </p:cNvPicPr>
          <p:nvPr/>
        </p:nvPicPr>
        <p:blipFill rotWithShape="1">
          <a:blip r:embed="rId3">
            <a:extLst>
              <a:ext uri="{28A0092B-C50C-407E-A947-70E740481C1C}">
                <a14:useLocalDpi xmlns:a14="http://schemas.microsoft.com/office/drawing/2010/main" val="0"/>
              </a:ext>
            </a:extLst>
          </a:blip>
          <a:srcRect l="-12283" t="11694" r="10477" b="14286"/>
          <a:stretch/>
        </p:blipFill>
        <p:spPr>
          <a:xfrm>
            <a:off x="0" y="0"/>
            <a:ext cx="12192000" cy="5909156"/>
          </a:xfrm>
          <a:prstGeom prst="rect">
            <a:avLst/>
          </a:prstGeom>
        </p:spPr>
      </p:pic>
      <p:sp>
        <p:nvSpPr>
          <p:cNvPr id="12" name="Rectángulo 5">
            <a:extLst>
              <a:ext uri="{FF2B5EF4-FFF2-40B4-BE49-F238E27FC236}">
                <a16:creationId xmlns:a16="http://schemas.microsoft.com/office/drawing/2014/main" id="{C584F591-8C69-1E93-610F-73D5C17038B2}"/>
              </a:ext>
            </a:extLst>
          </p:cNvPr>
          <p:cNvSpPr/>
          <p:nvPr/>
        </p:nvSpPr>
        <p:spPr>
          <a:xfrm>
            <a:off x="547687" y="0"/>
            <a:ext cx="4736473" cy="5909156"/>
          </a:xfrm>
          <a:prstGeom prst="rect">
            <a:avLst/>
          </a:prstGeom>
          <a:solidFill>
            <a:srgbClr val="264A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7CC6FF"/>
              </a:solidFill>
            </a:endParaRPr>
          </a:p>
        </p:txBody>
      </p:sp>
      <p:sp>
        <p:nvSpPr>
          <p:cNvPr id="2" name="Title 1">
            <a:extLst>
              <a:ext uri="{FF2B5EF4-FFF2-40B4-BE49-F238E27FC236}">
                <a16:creationId xmlns:a16="http://schemas.microsoft.com/office/drawing/2014/main" id="{956A22B4-5D3F-801E-DCA8-123C6D074622}"/>
              </a:ext>
            </a:extLst>
          </p:cNvPr>
          <p:cNvSpPr>
            <a:spLocks noGrp="1"/>
          </p:cNvSpPr>
          <p:nvPr>
            <p:ph type="ctrTitle"/>
          </p:nvPr>
        </p:nvSpPr>
        <p:spPr>
          <a:xfrm>
            <a:off x="885371" y="2517005"/>
            <a:ext cx="4081916" cy="1488257"/>
          </a:xfrm>
        </p:spPr>
        <p:txBody>
          <a:bodyPr lIns="0" tIns="0" rIns="0" bIns="0">
            <a:noAutofit/>
          </a:bodyPr>
          <a:lstStyle/>
          <a:p>
            <a:pPr algn="l">
              <a:lnSpc>
                <a:spcPct val="100000"/>
              </a:lnSpc>
            </a:pPr>
            <a:r>
              <a:rPr lang="en-US" altLang="zh-CN" sz="2800" dirty="0">
                <a:solidFill>
                  <a:schemeClr val="bg1"/>
                </a:solidFill>
              </a:rPr>
              <a:t>Evaluating Traditional and Neural Network Models for Risk Prediction</a:t>
            </a:r>
            <a:endParaRPr lang="en-ID" sz="2800" dirty="0">
              <a:solidFill>
                <a:schemeClr val="bg1"/>
              </a:solidFill>
            </a:endParaRPr>
          </a:p>
        </p:txBody>
      </p:sp>
      <p:sp>
        <p:nvSpPr>
          <p:cNvPr id="15" name="Rectangle 20">
            <a:extLst>
              <a:ext uri="{FF2B5EF4-FFF2-40B4-BE49-F238E27FC236}">
                <a16:creationId xmlns:a16="http://schemas.microsoft.com/office/drawing/2014/main" id="{797C74EE-F0ED-5B74-751F-457A7C1A967C}"/>
              </a:ext>
            </a:extLst>
          </p:cNvPr>
          <p:cNvSpPr/>
          <p:nvPr/>
        </p:nvSpPr>
        <p:spPr>
          <a:xfrm>
            <a:off x="547687" y="4533901"/>
            <a:ext cx="4736473" cy="1375256"/>
          </a:xfrm>
          <a:prstGeom prst="rect">
            <a:avLst/>
          </a:prstGeom>
          <a:solidFill>
            <a:srgbClr val="ABD1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egoe UI"/>
              <a:ea typeface="+mn-ea"/>
              <a:cs typeface="+mn-cs"/>
            </a:endParaRPr>
          </a:p>
        </p:txBody>
      </p:sp>
      <p:sp>
        <p:nvSpPr>
          <p:cNvPr id="19" name="Rectangle 18">
            <a:extLst>
              <a:ext uri="{FF2B5EF4-FFF2-40B4-BE49-F238E27FC236}">
                <a16:creationId xmlns:a16="http://schemas.microsoft.com/office/drawing/2014/main" id="{BFB7E25D-7DA7-2A02-2C54-34CB944F7752}"/>
              </a:ext>
            </a:extLst>
          </p:cNvPr>
          <p:cNvSpPr/>
          <p:nvPr/>
        </p:nvSpPr>
        <p:spPr>
          <a:xfrm>
            <a:off x="885371" y="4477471"/>
            <a:ext cx="978354" cy="111943"/>
          </a:xfrm>
          <a:prstGeom prst="rect">
            <a:avLst/>
          </a:prstGeom>
          <a:solidFill>
            <a:srgbClr val="FE10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grpSp>
        <p:nvGrpSpPr>
          <p:cNvPr id="20" name="Group 19">
            <a:extLst>
              <a:ext uri="{FF2B5EF4-FFF2-40B4-BE49-F238E27FC236}">
                <a16:creationId xmlns:a16="http://schemas.microsoft.com/office/drawing/2014/main" id="{DA7CCABB-53D1-5691-5EA0-AB3641D2822F}"/>
              </a:ext>
            </a:extLst>
          </p:cNvPr>
          <p:cNvGrpSpPr/>
          <p:nvPr/>
        </p:nvGrpSpPr>
        <p:grpSpPr>
          <a:xfrm>
            <a:off x="927100" y="955142"/>
            <a:ext cx="475193" cy="634524"/>
            <a:chOff x="7764463" y="723900"/>
            <a:chExt cx="269875" cy="360363"/>
          </a:xfrm>
          <a:solidFill>
            <a:schemeClr val="bg1"/>
          </a:solidFill>
        </p:grpSpPr>
        <p:sp>
          <p:nvSpPr>
            <p:cNvPr id="21" name="Freeform 1542">
              <a:extLst>
                <a:ext uri="{FF2B5EF4-FFF2-40B4-BE49-F238E27FC236}">
                  <a16:creationId xmlns:a16="http://schemas.microsoft.com/office/drawing/2014/main" id="{8594AE48-8438-DF57-D103-65EE47A9FBBB}"/>
                </a:ext>
              </a:extLst>
            </p:cNvPr>
            <p:cNvSpPr>
              <a:spLocks/>
            </p:cNvSpPr>
            <p:nvPr/>
          </p:nvSpPr>
          <p:spPr bwMode="auto">
            <a:xfrm>
              <a:off x="7820025" y="798513"/>
              <a:ext cx="68263" cy="117475"/>
            </a:xfrm>
            <a:custGeom>
              <a:avLst/>
              <a:gdLst>
                <a:gd name="T0" fmla="*/ 9 w 18"/>
                <a:gd name="T1" fmla="*/ 31 h 31"/>
                <a:gd name="T2" fmla="*/ 0 w 18"/>
                <a:gd name="T3" fmla="*/ 23 h 31"/>
                <a:gd name="T4" fmla="*/ 2 w 18"/>
                <a:gd name="T5" fmla="*/ 21 h 31"/>
                <a:gd name="T6" fmla="*/ 4 w 18"/>
                <a:gd name="T7" fmla="*/ 23 h 31"/>
                <a:gd name="T8" fmla="*/ 9 w 18"/>
                <a:gd name="T9" fmla="*/ 27 h 31"/>
                <a:gd name="T10" fmla="*/ 14 w 18"/>
                <a:gd name="T11" fmla="*/ 23 h 31"/>
                <a:gd name="T12" fmla="*/ 9 w 18"/>
                <a:gd name="T13" fmla="*/ 18 h 31"/>
                <a:gd name="T14" fmla="*/ 0 w 18"/>
                <a:gd name="T15" fmla="*/ 9 h 31"/>
                <a:gd name="T16" fmla="*/ 9 w 18"/>
                <a:gd name="T17" fmla="*/ 0 h 31"/>
                <a:gd name="T18" fmla="*/ 18 w 18"/>
                <a:gd name="T19" fmla="*/ 9 h 31"/>
                <a:gd name="T20" fmla="*/ 16 w 18"/>
                <a:gd name="T21" fmla="*/ 11 h 31"/>
                <a:gd name="T22" fmla="*/ 14 w 18"/>
                <a:gd name="T23" fmla="*/ 9 h 31"/>
                <a:gd name="T24" fmla="*/ 9 w 18"/>
                <a:gd name="T25" fmla="*/ 4 h 31"/>
                <a:gd name="T26" fmla="*/ 4 w 18"/>
                <a:gd name="T27" fmla="*/ 9 h 31"/>
                <a:gd name="T28" fmla="*/ 9 w 18"/>
                <a:gd name="T29" fmla="*/ 14 h 31"/>
                <a:gd name="T30" fmla="*/ 18 w 18"/>
                <a:gd name="T31" fmla="*/ 23 h 31"/>
                <a:gd name="T32" fmla="*/ 9 w 18"/>
                <a:gd name="T33"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8" h="31">
                  <a:moveTo>
                    <a:pt x="9" y="31"/>
                  </a:moveTo>
                  <a:cubicBezTo>
                    <a:pt x="4" y="31"/>
                    <a:pt x="0" y="28"/>
                    <a:pt x="0" y="23"/>
                  </a:cubicBezTo>
                  <a:cubicBezTo>
                    <a:pt x="0" y="22"/>
                    <a:pt x="1" y="21"/>
                    <a:pt x="2" y="21"/>
                  </a:cubicBezTo>
                  <a:cubicBezTo>
                    <a:pt x="3" y="21"/>
                    <a:pt x="4" y="22"/>
                    <a:pt x="4" y="23"/>
                  </a:cubicBezTo>
                  <a:cubicBezTo>
                    <a:pt x="4" y="25"/>
                    <a:pt x="6" y="27"/>
                    <a:pt x="9" y="27"/>
                  </a:cubicBezTo>
                  <a:cubicBezTo>
                    <a:pt x="12" y="27"/>
                    <a:pt x="14" y="25"/>
                    <a:pt x="14" y="23"/>
                  </a:cubicBezTo>
                  <a:cubicBezTo>
                    <a:pt x="14" y="20"/>
                    <a:pt x="12" y="18"/>
                    <a:pt x="9" y="18"/>
                  </a:cubicBezTo>
                  <a:cubicBezTo>
                    <a:pt x="4" y="18"/>
                    <a:pt x="0" y="14"/>
                    <a:pt x="0" y="9"/>
                  </a:cubicBezTo>
                  <a:cubicBezTo>
                    <a:pt x="0" y="4"/>
                    <a:pt x="4" y="0"/>
                    <a:pt x="9" y="0"/>
                  </a:cubicBezTo>
                  <a:cubicBezTo>
                    <a:pt x="14" y="0"/>
                    <a:pt x="18" y="4"/>
                    <a:pt x="18" y="9"/>
                  </a:cubicBezTo>
                  <a:cubicBezTo>
                    <a:pt x="18" y="10"/>
                    <a:pt x="17" y="11"/>
                    <a:pt x="16" y="11"/>
                  </a:cubicBezTo>
                  <a:cubicBezTo>
                    <a:pt x="15" y="11"/>
                    <a:pt x="14" y="10"/>
                    <a:pt x="14" y="9"/>
                  </a:cubicBezTo>
                  <a:cubicBezTo>
                    <a:pt x="14" y="7"/>
                    <a:pt x="12" y="4"/>
                    <a:pt x="9" y="4"/>
                  </a:cubicBezTo>
                  <a:cubicBezTo>
                    <a:pt x="6" y="4"/>
                    <a:pt x="4" y="7"/>
                    <a:pt x="4" y="9"/>
                  </a:cubicBezTo>
                  <a:cubicBezTo>
                    <a:pt x="4" y="12"/>
                    <a:pt x="6" y="14"/>
                    <a:pt x="9" y="14"/>
                  </a:cubicBezTo>
                  <a:cubicBezTo>
                    <a:pt x="14" y="14"/>
                    <a:pt x="18" y="18"/>
                    <a:pt x="18" y="23"/>
                  </a:cubicBezTo>
                  <a:cubicBezTo>
                    <a:pt x="18" y="28"/>
                    <a:pt x="14" y="31"/>
                    <a:pt x="9"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22" name="Freeform 1543">
              <a:extLst>
                <a:ext uri="{FF2B5EF4-FFF2-40B4-BE49-F238E27FC236}">
                  <a16:creationId xmlns:a16="http://schemas.microsoft.com/office/drawing/2014/main" id="{8DFD7015-D475-C8C4-42A6-D0C2F9A5D7B3}"/>
                </a:ext>
              </a:extLst>
            </p:cNvPr>
            <p:cNvSpPr>
              <a:spLocks/>
            </p:cNvSpPr>
            <p:nvPr/>
          </p:nvSpPr>
          <p:spPr bwMode="auto">
            <a:xfrm>
              <a:off x="7847013" y="900113"/>
              <a:ext cx="14288" cy="34925"/>
            </a:xfrm>
            <a:custGeom>
              <a:avLst/>
              <a:gdLst>
                <a:gd name="T0" fmla="*/ 2 w 4"/>
                <a:gd name="T1" fmla="*/ 9 h 9"/>
                <a:gd name="T2" fmla="*/ 0 w 4"/>
                <a:gd name="T3" fmla="*/ 7 h 9"/>
                <a:gd name="T4" fmla="*/ 0 w 4"/>
                <a:gd name="T5" fmla="*/ 2 h 9"/>
                <a:gd name="T6" fmla="*/ 2 w 4"/>
                <a:gd name="T7" fmla="*/ 0 h 9"/>
                <a:gd name="T8" fmla="*/ 4 w 4"/>
                <a:gd name="T9" fmla="*/ 2 h 9"/>
                <a:gd name="T10" fmla="*/ 4 w 4"/>
                <a:gd name="T11" fmla="*/ 7 h 9"/>
                <a:gd name="T12" fmla="*/ 2 w 4"/>
                <a:gd name="T13" fmla="*/ 9 h 9"/>
              </a:gdLst>
              <a:ahLst/>
              <a:cxnLst>
                <a:cxn ang="0">
                  <a:pos x="T0" y="T1"/>
                </a:cxn>
                <a:cxn ang="0">
                  <a:pos x="T2" y="T3"/>
                </a:cxn>
                <a:cxn ang="0">
                  <a:pos x="T4" y="T5"/>
                </a:cxn>
                <a:cxn ang="0">
                  <a:pos x="T6" y="T7"/>
                </a:cxn>
                <a:cxn ang="0">
                  <a:pos x="T8" y="T9"/>
                </a:cxn>
                <a:cxn ang="0">
                  <a:pos x="T10" y="T11"/>
                </a:cxn>
                <a:cxn ang="0">
                  <a:pos x="T12" y="T13"/>
                </a:cxn>
              </a:cxnLst>
              <a:rect l="0" t="0" r="r" b="b"/>
              <a:pathLst>
                <a:path w="4" h="9">
                  <a:moveTo>
                    <a:pt x="2" y="9"/>
                  </a:moveTo>
                  <a:cubicBezTo>
                    <a:pt x="1" y="9"/>
                    <a:pt x="0" y="8"/>
                    <a:pt x="0" y="7"/>
                  </a:cubicBezTo>
                  <a:cubicBezTo>
                    <a:pt x="0" y="2"/>
                    <a:pt x="0" y="2"/>
                    <a:pt x="0" y="2"/>
                  </a:cubicBezTo>
                  <a:cubicBezTo>
                    <a:pt x="0" y="1"/>
                    <a:pt x="1" y="0"/>
                    <a:pt x="2" y="0"/>
                  </a:cubicBezTo>
                  <a:cubicBezTo>
                    <a:pt x="3" y="0"/>
                    <a:pt x="4" y="1"/>
                    <a:pt x="4" y="2"/>
                  </a:cubicBezTo>
                  <a:cubicBezTo>
                    <a:pt x="4" y="7"/>
                    <a:pt x="4" y="7"/>
                    <a:pt x="4" y="7"/>
                  </a:cubicBezTo>
                  <a:cubicBezTo>
                    <a:pt x="4" y="8"/>
                    <a:pt x="3" y="9"/>
                    <a:pt x="2"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23" name="Freeform 1544">
              <a:extLst>
                <a:ext uri="{FF2B5EF4-FFF2-40B4-BE49-F238E27FC236}">
                  <a16:creationId xmlns:a16="http://schemas.microsoft.com/office/drawing/2014/main" id="{C2DAA112-9FF9-F141-93A7-7B213DEE36EF}"/>
                </a:ext>
              </a:extLst>
            </p:cNvPr>
            <p:cNvSpPr>
              <a:spLocks/>
            </p:cNvSpPr>
            <p:nvPr/>
          </p:nvSpPr>
          <p:spPr bwMode="auto">
            <a:xfrm>
              <a:off x="7847013" y="784225"/>
              <a:ext cx="14288" cy="30163"/>
            </a:xfrm>
            <a:custGeom>
              <a:avLst/>
              <a:gdLst>
                <a:gd name="T0" fmla="*/ 2 w 4"/>
                <a:gd name="T1" fmla="*/ 8 h 8"/>
                <a:gd name="T2" fmla="*/ 0 w 4"/>
                <a:gd name="T3" fmla="*/ 6 h 8"/>
                <a:gd name="T4" fmla="*/ 0 w 4"/>
                <a:gd name="T5" fmla="*/ 2 h 8"/>
                <a:gd name="T6" fmla="*/ 2 w 4"/>
                <a:gd name="T7" fmla="*/ 0 h 8"/>
                <a:gd name="T8" fmla="*/ 4 w 4"/>
                <a:gd name="T9" fmla="*/ 2 h 8"/>
                <a:gd name="T10" fmla="*/ 4 w 4"/>
                <a:gd name="T11" fmla="*/ 6 h 8"/>
                <a:gd name="T12" fmla="*/ 2 w 4"/>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4" h="8">
                  <a:moveTo>
                    <a:pt x="2" y="8"/>
                  </a:moveTo>
                  <a:cubicBezTo>
                    <a:pt x="1" y="8"/>
                    <a:pt x="0" y="8"/>
                    <a:pt x="0" y="6"/>
                  </a:cubicBezTo>
                  <a:cubicBezTo>
                    <a:pt x="0" y="2"/>
                    <a:pt x="0" y="2"/>
                    <a:pt x="0" y="2"/>
                  </a:cubicBezTo>
                  <a:cubicBezTo>
                    <a:pt x="0" y="1"/>
                    <a:pt x="1" y="0"/>
                    <a:pt x="2" y="0"/>
                  </a:cubicBezTo>
                  <a:cubicBezTo>
                    <a:pt x="3" y="0"/>
                    <a:pt x="4" y="1"/>
                    <a:pt x="4" y="2"/>
                  </a:cubicBezTo>
                  <a:cubicBezTo>
                    <a:pt x="4" y="6"/>
                    <a:pt x="4" y="6"/>
                    <a:pt x="4" y="6"/>
                  </a:cubicBezTo>
                  <a:cubicBezTo>
                    <a:pt x="4" y="8"/>
                    <a:pt x="3" y="8"/>
                    <a:pt x="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24" name="Freeform 1545">
              <a:extLst>
                <a:ext uri="{FF2B5EF4-FFF2-40B4-BE49-F238E27FC236}">
                  <a16:creationId xmlns:a16="http://schemas.microsoft.com/office/drawing/2014/main" id="{BD9DF8CE-608B-3493-F4D2-567BF1702AB2}"/>
                </a:ext>
              </a:extLst>
            </p:cNvPr>
            <p:cNvSpPr>
              <a:spLocks noEditPoints="1"/>
            </p:cNvSpPr>
            <p:nvPr/>
          </p:nvSpPr>
          <p:spPr bwMode="auto">
            <a:xfrm>
              <a:off x="7764463" y="723900"/>
              <a:ext cx="269875" cy="360363"/>
            </a:xfrm>
            <a:custGeom>
              <a:avLst/>
              <a:gdLst>
                <a:gd name="T0" fmla="*/ 70 w 72"/>
                <a:gd name="T1" fmla="*/ 96 h 96"/>
                <a:gd name="T2" fmla="*/ 2 w 72"/>
                <a:gd name="T3" fmla="*/ 96 h 96"/>
                <a:gd name="T4" fmla="*/ 0 w 72"/>
                <a:gd name="T5" fmla="*/ 94 h 96"/>
                <a:gd name="T6" fmla="*/ 0 w 72"/>
                <a:gd name="T7" fmla="*/ 2 h 96"/>
                <a:gd name="T8" fmla="*/ 2 w 72"/>
                <a:gd name="T9" fmla="*/ 0 h 96"/>
                <a:gd name="T10" fmla="*/ 46 w 72"/>
                <a:gd name="T11" fmla="*/ 0 h 96"/>
                <a:gd name="T12" fmla="*/ 47 w 72"/>
                <a:gd name="T13" fmla="*/ 1 h 96"/>
                <a:gd name="T14" fmla="*/ 71 w 72"/>
                <a:gd name="T15" fmla="*/ 25 h 96"/>
                <a:gd name="T16" fmla="*/ 72 w 72"/>
                <a:gd name="T17" fmla="*/ 26 h 96"/>
                <a:gd name="T18" fmla="*/ 72 w 72"/>
                <a:gd name="T19" fmla="*/ 94 h 96"/>
                <a:gd name="T20" fmla="*/ 70 w 72"/>
                <a:gd name="T21" fmla="*/ 96 h 96"/>
                <a:gd name="T22" fmla="*/ 4 w 72"/>
                <a:gd name="T23" fmla="*/ 92 h 96"/>
                <a:gd name="T24" fmla="*/ 68 w 72"/>
                <a:gd name="T25" fmla="*/ 92 h 96"/>
                <a:gd name="T26" fmla="*/ 68 w 72"/>
                <a:gd name="T27" fmla="*/ 27 h 96"/>
                <a:gd name="T28" fmla="*/ 45 w 72"/>
                <a:gd name="T29" fmla="*/ 4 h 96"/>
                <a:gd name="T30" fmla="*/ 4 w 72"/>
                <a:gd name="T31" fmla="*/ 4 h 96"/>
                <a:gd name="T32" fmla="*/ 4 w 72"/>
                <a:gd name="T33" fmla="*/ 92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2" h="96">
                  <a:moveTo>
                    <a:pt x="70" y="96"/>
                  </a:moveTo>
                  <a:cubicBezTo>
                    <a:pt x="2" y="96"/>
                    <a:pt x="2" y="96"/>
                    <a:pt x="2" y="96"/>
                  </a:cubicBezTo>
                  <a:cubicBezTo>
                    <a:pt x="1" y="96"/>
                    <a:pt x="0" y="95"/>
                    <a:pt x="0" y="94"/>
                  </a:cubicBezTo>
                  <a:cubicBezTo>
                    <a:pt x="0" y="2"/>
                    <a:pt x="0" y="2"/>
                    <a:pt x="0" y="2"/>
                  </a:cubicBezTo>
                  <a:cubicBezTo>
                    <a:pt x="0" y="1"/>
                    <a:pt x="1" y="0"/>
                    <a:pt x="2" y="0"/>
                  </a:cubicBezTo>
                  <a:cubicBezTo>
                    <a:pt x="46" y="0"/>
                    <a:pt x="46" y="0"/>
                    <a:pt x="46" y="0"/>
                  </a:cubicBezTo>
                  <a:cubicBezTo>
                    <a:pt x="47" y="0"/>
                    <a:pt x="47" y="0"/>
                    <a:pt x="47" y="1"/>
                  </a:cubicBezTo>
                  <a:cubicBezTo>
                    <a:pt x="71" y="25"/>
                    <a:pt x="71" y="25"/>
                    <a:pt x="71" y="25"/>
                  </a:cubicBezTo>
                  <a:cubicBezTo>
                    <a:pt x="72" y="25"/>
                    <a:pt x="72" y="25"/>
                    <a:pt x="72" y="26"/>
                  </a:cubicBezTo>
                  <a:cubicBezTo>
                    <a:pt x="72" y="94"/>
                    <a:pt x="72" y="94"/>
                    <a:pt x="72" y="94"/>
                  </a:cubicBezTo>
                  <a:cubicBezTo>
                    <a:pt x="72" y="95"/>
                    <a:pt x="71" y="96"/>
                    <a:pt x="70" y="96"/>
                  </a:cubicBezTo>
                  <a:close/>
                  <a:moveTo>
                    <a:pt x="4" y="92"/>
                  </a:moveTo>
                  <a:cubicBezTo>
                    <a:pt x="68" y="92"/>
                    <a:pt x="68" y="92"/>
                    <a:pt x="68" y="92"/>
                  </a:cubicBezTo>
                  <a:cubicBezTo>
                    <a:pt x="68" y="27"/>
                    <a:pt x="68" y="27"/>
                    <a:pt x="68" y="27"/>
                  </a:cubicBezTo>
                  <a:cubicBezTo>
                    <a:pt x="45" y="4"/>
                    <a:pt x="45" y="4"/>
                    <a:pt x="45" y="4"/>
                  </a:cubicBezTo>
                  <a:cubicBezTo>
                    <a:pt x="4" y="4"/>
                    <a:pt x="4" y="4"/>
                    <a:pt x="4" y="4"/>
                  </a:cubicBezTo>
                  <a:lnTo>
                    <a:pt x="4" y="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25" name="Freeform 1546">
              <a:extLst>
                <a:ext uri="{FF2B5EF4-FFF2-40B4-BE49-F238E27FC236}">
                  <a16:creationId xmlns:a16="http://schemas.microsoft.com/office/drawing/2014/main" id="{4460935C-38B5-6B4D-30D7-4934797E80A7}"/>
                </a:ext>
              </a:extLst>
            </p:cNvPr>
            <p:cNvSpPr>
              <a:spLocks/>
            </p:cNvSpPr>
            <p:nvPr/>
          </p:nvSpPr>
          <p:spPr bwMode="auto">
            <a:xfrm>
              <a:off x="7929563" y="723900"/>
              <a:ext cx="104775" cy="104775"/>
            </a:xfrm>
            <a:custGeom>
              <a:avLst/>
              <a:gdLst>
                <a:gd name="T0" fmla="*/ 26 w 28"/>
                <a:gd name="T1" fmla="*/ 28 h 28"/>
                <a:gd name="T2" fmla="*/ 2 w 28"/>
                <a:gd name="T3" fmla="*/ 28 h 28"/>
                <a:gd name="T4" fmla="*/ 0 w 28"/>
                <a:gd name="T5" fmla="*/ 26 h 28"/>
                <a:gd name="T6" fmla="*/ 0 w 28"/>
                <a:gd name="T7" fmla="*/ 2 h 28"/>
                <a:gd name="T8" fmla="*/ 2 w 28"/>
                <a:gd name="T9" fmla="*/ 0 h 28"/>
                <a:gd name="T10" fmla="*/ 4 w 28"/>
                <a:gd name="T11" fmla="*/ 2 h 28"/>
                <a:gd name="T12" fmla="*/ 4 w 28"/>
                <a:gd name="T13" fmla="*/ 24 h 28"/>
                <a:gd name="T14" fmla="*/ 26 w 28"/>
                <a:gd name="T15" fmla="*/ 24 h 28"/>
                <a:gd name="T16" fmla="*/ 28 w 28"/>
                <a:gd name="T17" fmla="*/ 26 h 28"/>
                <a:gd name="T18" fmla="*/ 26 w 28"/>
                <a:gd name="T19" fmla="*/ 28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 h="28">
                  <a:moveTo>
                    <a:pt x="26" y="28"/>
                  </a:moveTo>
                  <a:cubicBezTo>
                    <a:pt x="2" y="28"/>
                    <a:pt x="2" y="28"/>
                    <a:pt x="2" y="28"/>
                  </a:cubicBezTo>
                  <a:cubicBezTo>
                    <a:pt x="1" y="28"/>
                    <a:pt x="0" y="27"/>
                    <a:pt x="0" y="26"/>
                  </a:cubicBezTo>
                  <a:cubicBezTo>
                    <a:pt x="0" y="2"/>
                    <a:pt x="0" y="2"/>
                    <a:pt x="0" y="2"/>
                  </a:cubicBezTo>
                  <a:cubicBezTo>
                    <a:pt x="0" y="1"/>
                    <a:pt x="1" y="0"/>
                    <a:pt x="2" y="0"/>
                  </a:cubicBezTo>
                  <a:cubicBezTo>
                    <a:pt x="3" y="0"/>
                    <a:pt x="4" y="1"/>
                    <a:pt x="4" y="2"/>
                  </a:cubicBezTo>
                  <a:cubicBezTo>
                    <a:pt x="4" y="24"/>
                    <a:pt x="4" y="24"/>
                    <a:pt x="4" y="24"/>
                  </a:cubicBezTo>
                  <a:cubicBezTo>
                    <a:pt x="26" y="24"/>
                    <a:pt x="26" y="24"/>
                    <a:pt x="26" y="24"/>
                  </a:cubicBezTo>
                  <a:cubicBezTo>
                    <a:pt x="27" y="24"/>
                    <a:pt x="28" y="25"/>
                    <a:pt x="28" y="26"/>
                  </a:cubicBezTo>
                  <a:cubicBezTo>
                    <a:pt x="28" y="27"/>
                    <a:pt x="27" y="28"/>
                    <a:pt x="26"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26" name="Freeform 1547">
              <a:extLst>
                <a:ext uri="{FF2B5EF4-FFF2-40B4-BE49-F238E27FC236}">
                  <a16:creationId xmlns:a16="http://schemas.microsoft.com/office/drawing/2014/main" id="{FC0D78B3-1457-6299-6C4E-0CD9D397E690}"/>
                </a:ext>
              </a:extLst>
            </p:cNvPr>
            <p:cNvSpPr>
              <a:spLocks/>
            </p:cNvSpPr>
            <p:nvPr/>
          </p:nvSpPr>
          <p:spPr bwMode="auto">
            <a:xfrm>
              <a:off x="7808913" y="965200"/>
              <a:ext cx="180975" cy="14288"/>
            </a:xfrm>
            <a:custGeom>
              <a:avLst/>
              <a:gdLst>
                <a:gd name="T0" fmla="*/ 46 w 48"/>
                <a:gd name="T1" fmla="*/ 4 h 4"/>
                <a:gd name="T2" fmla="*/ 2 w 48"/>
                <a:gd name="T3" fmla="*/ 4 h 4"/>
                <a:gd name="T4" fmla="*/ 0 w 48"/>
                <a:gd name="T5" fmla="*/ 2 h 4"/>
                <a:gd name="T6" fmla="*/ 2 w 48"/>
                <a:gd name="T7" fmla="*/ 0 h 4"/>
                <a:gd name="T8" fmla="*/ 46 w 48"/>
                <a:gd name="T9" fmla="*/ 0 h 4"/>
                <a:gd name="T10" fmla="*/ 48 w 48"/>
                <a:gd name="T11" fmla="*/ 2 h 4"/>
                <a:gd name="T12" fmla="*/ 46 w 48"/>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48" h="4">
                  <a:moveTo>
                    <a:pt x="46" y="4"/>
                  </a:moveTo>
                  <a:cubicBezTo>
                    <a:pt x="2" y="4"/>
                    <a:pt x="2" y="4"/>
                    <a:pt x="2" y="4"/>
                  </a:cubicBezTo>
                  <a:cubicBezTo>
                    <a:pt x="1" y="4"/>
                    <a:pt x="0" y="3"/>
                    <a:pt x="0" y="2"/>
                  </a:cubicBezTo>
                  <a:cubicBezTo>
                    <a:pt x="0" y="1"/>
                    <a:pt x="1" y="0"/>
                    <a:pt x="2" y="0"/>
                  </a:cubicBezTo>
                  <a:cubicBezTo>
                    <a:pt x="46" y="0"/>
                    <a:pt x="46" y="0"/>
                    <a:pt x="46" y="0"/>
                  </a:cubicBezTo>
                  <a:cubicBezTo>
                    <a:pt x="47" y="0"/>
                    <a:pt x="48" y="1"/>
                    <a:pt x="48" y="2"/>
                  </a:cubicBezTo>
                  <a:cubicBezTo>
                    <a:pt x="48" y="3"/>
                    <a:pt x="47" y="4"/>
                    <a:pt x="4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27" name="Freeform 1548">
              <a:extLst>
                <a:ext uri="{FF2B5EF4-FFF2-40B4-BE49-F238E27FC236}">
                  <a16:creationId xmlns:a16="http://schemas.microsoft.com/office/drawing/2014/main" id="{61F9E468-4A39-254E-9BA3-97D72AD61864}"/>
                </a:ext>
              </a:extLst>
            </p:cNvPr>
            <p:cNvSpPr>
              <a:spLocks/>
            </p:cNvSpPr>
            <p:nvPr/>
          </p:nvSpPr>
          <p:spPr bwMode="auto">
            <a:xfrm>
              <a:off x="7899400" y="935038"/>
              <a:ext cx="90488" cy="14288"/>
            </a:xfrm>
            <a:custGeom>
              <a:avLst/>
              <a:gdLst>
                <a:gd name="T0" fmla="*/ 22 w 24"/>
                <a:gd name="T1" fmla="*/ 4 h 4"/>
                <a:gd name="T2" fmla="*/ 2 w 24"/>
                <a:gd name="T3" fmla="*/ 4 h 4"/>
                <a:gd name="T4" fmla="*/ 0 w 24"/>
                <a:gd name="T5" fmla="*/ 2 h 4"/>
                <a:gd name="T6" fmla="*/ 2 w 24"/>
                <a:gd name="T7" fmla="*/ 0 h 4"/>
                <a:gd name="T8" fmla="*/ 22 w 24"/>
                <a:gd name="T9" fmla="*/ 0 h 4"/>
                <a:gd name="T10" fmla="*/ 24 w 24"/>
                <a:gd name="T11" fmla="*/ 2 h 4"/>
                <a:gd name="T12" fmla="*/ 22 w 24"/>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24" h="4">
                  <a:moveTo>
                    <a:pt x="22" y="4"/>
                  </a:moveTo>
                  <a:cubicBezTo>
                    <a:pt x="2" y="4"/>
                    <a:pt x="2" y="4"/>
                    <a:pt x="2" y="4"/>
                  </a:cubicBezTo>
                  <a:cubicBezTo>
                    <a:pt x="1" y="4"/>
                    <a:pt x="0" y="3"/>
                    <a:pt x="0" y="2"/>
                  </a:cubicBezTo>
                  <a:cubicBezTo>
                    <a:pt x="0" y="1"/>
                    <a:pt x="1" y="0"/>
                    <a:pt x="2" y="0"/>
                  </a:cubicBezTo>
                  <a:cubicBezTo>
                    <a:pt x="22" y="0"/>
                    <a:pt x="22" y="0"/>
                    <a:pt x="22" y="0"/>
                  </a:cubicBezTo>
                  <a:cubicBezTo>
                    <a:pt x="23" y="0"/>
                    <a:pt x="24" y="1"/>
                    <a:pt x="24" y="2"/>
                  </a:cubicBezTo>
                  <a:cubicBezTo>
                    <a:pt x="24" y="3"/>
                    <a:pt x="23" y="4"/>
                    <a:pt x="2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28" name="Freeform 1550">
              <a:extLst>
                <a:ext uri="{FF2B5EF4-FFF2-40B4-BE49-F238E27FC236}">
                  <a16:creationId xmlns:a16="http://schemas.microsoft.com/office/drawing/2014/main" id="{FF63F144-6686-E3A3-3582-C8EC23D31D88}"/>
                </a:ext>
              </a:extLst>
            </p:cNvPr>
            <p:cNvSpPr>
              <a:spLocks/>
            </p:cNvSpPr>
            <p:nvPr/>
          </p:nvSpPr>
          <p:spPr bwMode="auto">
            <a:xfrm>
              <a:off x="7929563" y="904875"/>
              <a:ext cx="60325" cy="14288"/>
            </a:xfrm>
            <a:custGeom>
              <a:avLst/>
              <a:gdLst>
                <a:gd name="T0" fmla="*/ 14 w 16"/>
                <a:gd name="T1" fmla="*/ 4 h 4"/>
                <a:gd name="T2" fmla="*/ 2 w 16"/>
                <a:gd name="T3" fmla="*/ 4 h 4"/>
                <a:gd name="T4" fmla="*/ 0 w 16"/>
                <a:gd name="T5" fmla="*/ 2 h 4"/>
                <a:gd name="T6" fmla="*/ 2 w 16"/>
                <a:gd name="T7" fmla="*/ 0 h 4"/>
                <a:gd name="T8" fmla="*/ 14 w 16"/>
                <a:gd name="T9" fmla="*/ 0 h 4"/>
                <a:gd name="T10" fmla="*/ 16 w 16"/>
                <a:gd name="T11" fmla="*/ 2 h 4"/>
                <a:gd name="T12" fmla="*/ 14 w 16"/>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6" h="4">
                  <a:moveTo>
                    <a:pt x="14" y="4"/>
                  </a:moveTo>
                  <a:cubicBezTo>
                    <a:pt x="2" y="4"/>
                    <a:pt x="2" y="4"/>
                    <a:pt x="2" y="4"/>
                  </a:cubicBezTo>
                  <a:cubicBezTo>
                    <a:pt x="1" y="4"/>
                    <a:pt x="0" y="3"/>
                    <a:pt x="0" y="2"/>
                  </a:cubicBezTo>
                  <a:cubicBezTo>
                    <a:pt x="0" y="1"/>
                    <a:pt x="1" y="0"/>
                    <a:pt x="2" y="0"/>
                  </a:cubicBezTo>
                  <a:cubicBezTo>
                    <a:pt x="14" y="0"/>
                    <a:pt x="14" y="0"/>
                    <a:pt x="14" y="0"/>
                  </a:cubicBezTo>
                  <a:cubicBezTo>
                    <a:pt x="15" y="0"/>
                    <a:pt x="16" y="1"/>
                    <a:pt x="16" y="2"/>
                  </a:cubicBezTo>
                  <a:cubicBezTo>
                    <a:pt x="16" y="3"/>
                    <a:pt x="15" y="4"/>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29" name="Freeform 1551">
              <a:extLst>
                <a:ext uri="{FF2B5EF4-FFF2-40B4-BE49-F238E27FC236}">
                  <a16:creationId xmlns:a16="http://schemas.microsoft.com/office/drawing/2014/main" id="{28A446BB-5EAB-606D-8954-D1022D20BF3D}"/>
                </a:ext>
              </a:extLst>
            </p:cNvPr>
            <p:cNvSpPr>
              <a:spLocks/>
            </p:cNvSpPr>
            <p:nvPr/>
          </p:nvSpPr>
          <p:spPr bwMode="auto">
            <a:xfrm>
              <a:off x="7929563" y="874713"/>
              <a:ext cx="60325" cy="14288"/>
            </a:xfrm>
            <a:custGeom>
              <a:avLst/>
              <a:gdLst>
                <a:gd name="T0" fmla="*/ 14 w 16"/>
                <a:gd name="T1" fmla="*/ 4 h 4"/>
                <a:gd name="T2" fmla="*/ 2 w 16"/>
                <a:gd name="T3" fmla="*/ 4 h 4"/>
                <a:gd name="T4" fmla="*/ 0 w 16"/>
                <a:gd name="T5" fmla="*/ 2 h 4"/>
                <a:gd name="T6" fmla="*/ 2 w 16"/>
                <a:gd name="T7" fmla="*/ 0 h 4"/>
                <a:gd name="T8" fmla="*/ 14 w 16"/>
                <a:gd name="T9" fmla="*/ 0 h 4"/>
                <a:gd name="T10" fmla="*/ 16 w 16"/>
                <a:gd name="T11" fmla="*/ 2 h 4"/>
                <a:gd name="T12" fmla="*/ 14 w 16"/>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6" h="4">
                  <a:moveTo>
                    <a:pt x="14" y="4"/>
                  </a:moveTo>
                  <a:cubicBezTo>
                    <a:pt x="2" y="4"/>
                    <a:pt x="2" y="4"/>
                    <a:pt x="2" y="4"/>
                  </a:cubicBezTo>
                  <a:cubicBezTo>
                    <a:pt x="1" y="4"/>
                    <a:pt x="0" y="3"/>
                    <a:pt x="0" y="2"/>
                  </a:cubicBezTo>
                  <a:cubicBezTo>
                    <a:pt x="0" y="1"/>
                    <a:pt x="1" y="0"/>
                    <a:pt x="2" y="0"/>
                  </a:cubicBezTo>
                  <a:cubicBezTo>
                    <a:pt x="14" y="0"/>
                    <a:pt x="14" y="0"/>
                    <a:pt x="14" y="0"/>
                  </a:cubicBezTo>
                  <a:cubicBezTo>
                    <a:pt x="15" y="0"/>
                    <a:pt x="16" y="1"/>
                    <a:pt x="16" y="2"/>
                  </a:cubicBezTo>
                  <a:cubicBezTo>
                    <a:pt x="16" y="3"/>
                    <a:pt x="15" y="4"/>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30" name="Freeform 1552">
              <a:extLst>
                <a:ext uri="{FF2B5EF4-FFF2-40B4-BE49-F238E27FC236}">
                  <a16:creationId xmlns:a16="http://schemas.microsoft.com/office/drawing/2014/main" id="{7EB21370-EEFC-E716-982D-BF77431758AB}"/>
                </a:ext>
              </a:extLst>
            </p:cNvPr>
            <p:cNvSpPr>
              <a:spLocks/>
            </p:cNvSpPr>
            <p:nvPr/>
          </p:nvSpPr>
          <p:spPr bwMode="auto">
            <a:xfrm>
              <a:off x="7808913" y="993775"/>
              <a:ext cx="180975" cy="15875"/>
            </a:xfrm>
            <a:custGeom>
              <a:avLst/>
              <a:gdLst>
                <a:gd name="T0" fmla="*/ 46 w 48"/>
                <a:gd name="T1" fmla="*/ 4 h 4"/>
                <a:gd name="T2" fmla="*/ 2 w 48"/>
                <a:gd name="T3" fmla="*/ 4 h 4"/>
                <a:gd name="T4" fmla="*/ 0 w 48"/>
                <a:gd name="T5" fmla="*/ 2 h 4"/>
                <a:gd name="T6" fmla="*/ 2 w 48"/>
                <a:gd name="T7" fmla="*/ 0 h 4"/>
                <a:gd name="T8" fmla="*/ 46 w 48"/>
                <a:gd name="T9" fmla="*/ 0 h 4"/>
                <a:gd name="T10" fmla="*/ 48 w 48"/>
                <a:gd name="T11" fmla="*/ 2 h 4"/>
                <a:gd name="T12" fmla="*/ 46 w 48"/>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48" h="4">
                  <a:moveTo>
                    <a:pt x="46" y="4"/>
                  </a:moveTo>
                  <a:cubicBezTo>
                    <a:pt x="2" y="4"/>
                    <a:pt x="2" y="4"/>
                    <a:pt x="2" y="4"/>
                  </a:cubicBezTo>
                  <a:cubicBezTo>
                    <a:pt x="1" y="4"/>
                    <a:pt x="0" y="3"/>
                    <a:pt x="0" y="2"/>
                  </a:cubicBezTo>
                  <a:cubicBezTo>
                    <a:pt x="0" y="1"/>
                    <a:pt x="1" y="0"/>
                    <a:pt x="2" y="0"/>
                  </a:cubicBezTo>
                  <a:cubicBezTo>
                    <a:pt x="46" y="0"/>
                    <a:pt x="46" y="0"/>
                    <a:pt x="46" y="0"/>
                  </a:cubicBezTo>
                  <a:cubicBezTo>
                    <a:pt x="47" y="0"/>
                    <a:pt x="48" y="1"/>
                    <a:pt x="48" y="2"/>
                  </a:cubicBezTo>
                  <a:cubicBezTo>
                    <a:pt x="48" y="3"/>
                    <a:pt x="47" y="4"/>
                    <a:pt x="4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31" name="Freeform 1553">
              <a:extLst>
                <a:ext uri="{FF2B5EF4-FFF2-40B4-BE49-F238E27FC236}">
                  <a16:creationId xmlns:a16="http://schemas.microsoft.com/office/drawing/2014/main" id="{208F72C3-BA9F-0A6F-71BC-1CAB1CB398E6}"/>
                </a:ext>
              </a:extLst>
            </p:cNvPr>
            <p:cNvSpPr>
              <a:spLocks/>
            </p:cNvSpPr>
            <p:nvPr/>
          </p:nvSpPr>
          <p:spPr bwMode="auto">
            <a:xfrm>
              <a:off x="7808913" y="1023938"/>
              <a:ext cx="180975" cy="15875"/>
            </a:xfrm>
            <a:custGeom>
              <a:avLst/>
              <a:gdLst>
                <a:gd name="T0" fmla="*/ 46 w 48"/>
                <a:gd name="T1" fmla="*/ 4 h 4"/>
                <a:gd name="T2" fmla="*/ 2 w 48"/>
                <a:gd name="T3" fmla="*/ 4 h 4"/>
                <a:gd name="T4" fmla="*/ 0 w 48"/>
                <a:gd name="T5" fmla="*/ 2 h 4"/>
                <a:gd name="T6" fmla="*/ 2 w 48"/>
                <a:gd name="T7" fmla="*/ 0 h 4"/>
                <a:gd name="T8" fmla="*/ 46 w 48"/>
                <a:gd name="T9" fmla="*/ 0 h 4"/>
                <a:gd name="T10" fmla="*/ 48 w 48"/>
                <a:gd name="T11" fmla="*/ 2 h 4"/>
                <a:gd name="T12" fmla="*/ 46 w 48"/>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48" h="4">
                  <a:moveTo>
                    <a:pt x="46" y="4"/>
                  </a:moveTo>
                  <a:cubicBezTo>
                    <a:pt x="2" y="4"/>
                    <a:pt x="2" y="4"/>
                    <a:pt x="2" y="4"/>
                  </a:cubicBezTo>
                  <a:cubicBezTo>
                    <a:pt x="1" y="4"/>
                    <a:pt x="0" y="3"/>
                    <a:pt x="0" y="2"/>
                  </a:cubicBezTo>
                  <a:cubicBezTo>
                    <a:pt x="0" y="1"/>
                    <a:pt x="1" y="0"/>
                    <a:pt x="2" y="0"/>
                  </a:cubicBezTo>
                  <a:cubicBezTo>
                    <a:pt x="46" y="0"/>
                    <a:pt x="46" y="0"/>
                    <a:pt x="46" y="0"/>
                  </a:cubicBezTo>
                  <a:cubicBezTo>
                    <a:pt x="47" y="0"/>
                    <a:pt x="48" y="1"/>
                    <a:pt x="48" y="2"/>
                  </a:cubicBezTo>
                  <a:cubicBezTo>
                    <a:pt x="48" y="3"/>
                    <a:pt x="47" y="4"/>
                    <a:pt x="4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grpSp>
      <p:pic>
        <p:nvPicPr>
          <p:cNvPr id="1026" name="Picture 2" descr="Porto Seguro S.A. - Wikipedia">
            <a:extLst>
              <a:ext uri="{FF2B5EF4-FFF2-40B4-BE49-F238E27FC236}">
                <a16:creationId xmlns:a16="http://schemas.microsoft.com/office/drawing/2014/main" id="{127F1000-CC31-6235-D0BC-4FCE531CEB7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1138" y="216422"/>
            <a:ext cx="1226820" cy="16002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26D684A5-D0DF-68DF-7E8D-C859669CD160}"/>
              </a:ext>
            </a:extLst>
          </p:cNvPr>
          <p:cNvSpPr txBox="1"/>
          <p:nvPr/>
        </p:nvSpPr>
        <p:spPr>
          <a:xfrm>
            <a:off x="599734" y="5012381"/>
            <a:ext cx="1958340" cy="923330"/>
          </a:xfrm>
          <a:prstGeom prst="rect">
            <a:avLst/>
          </a:prstGeom>
          <a:noFill/>
        </p:spPr>
        <p:txBody>
          <a:bodyPr wrap="square" rtlCol="0">
            <a:spAutoFit/>
          </a:bodyPr>
          <a:lstStyle/>
          <a:p>
            <a:pPr lvl="0" algn="ctr">
              <a:defRPr/>
            </a:pPr>
            <a:r>
              <a:rPr lang="en-US" altLang="zh-CN" dirty="0" err="1">
                <a:latin typeface="Segoe UI"/>
              </a:rPr>
              <a:t>Wenli</a:t>
            </a:r>
            <a:r>
              <a:rPr lang="en-US" altLang="zh-CN" dirty="0">
                <a:latin typeface="Segoe UI"/>
              </a:rPr>
              <a:t> Hu</a:t>
            </a:r>
          </a:p>
          <a:p>
            <a:pPr lvl="0" algn="ctr">
              <a:defRPr/>
            </a:pPr>
            <a:r>
              <a:rPr lang="en-US" altLang="zh-CN" dirty="0">
                <a:latin typeface="Segoe UI"/>
              </a:rPr>
              <a:t>Junhui Hu</a:t>
            </a:r>
          </a:p>
          <a:p>
            <a:endParaRPr lang="zh-CN" altLang="en-US" dirty="0"/>
          </a:p>
        </p:txBody>
      </p:sp>
      <p:sp>
        <p:nvSpPr>
          <p:cNvPr id="4" name="TextBox 3">
            <a:extLst>
              <a:ext uri="{FF2B5EF4-FFF2-40B4-BE49-F238E27FC236}">
                <a16:creationId xmlns:a16="http://schemas.microsoft.com/office/drawing/2014/main" id="{A2E88C20-7D94-5279-56D7-C42E0081B4BE}"/>
              </a:ext>
            </a:extLst>
          </p:cNvPr>
          <p:cNvSpPr txBox="1"/>
          <p:nvPr/>
        </p:nvSpPr>
        <p:spPr>
          <a:xfrm>
            <a:off x="2926329" y="4735382"/>
            <a:ext cx="2156460" cy="1200329"/>
          </a:xfrm>
          <a:prstGeom prst="rect">
            <a:avLst/>
          </a:prstGeom>
          <a:noFill/>
        </p:spPr>
        <p:txBody>
          <a:bodyPr wrap="square" rtlCol="0">
            <a:spAutoFit/>
          </a:bodyPr>
          <a:lstStyle/>
          <a:p>
            <a:r>
              <a:rPr lang="en-US" altLang="zh-CN" dirty="0">
                <a:latin typeface="Segoe UI"/>
              </a:rPr>
              <a:t>EAI 6010</a:t>
            </a:r>
          </a:p>
          <a:p>
            <a:r>
              <a:rPr lang="zh-CN" altLang="zh-CN" dirty="0">
                <a:latin typeface="Segoe UI"/>
              </a:rPr>
              <a:t>Professor Sergiy Shevchenko</a:t>
            </a:r>
          </a:p>
          <a:p>
            <a:endParaRPr lang="zh-CN" altLang="en-US" dirty="0"/>
          </a:p>
        </p:txBody>
      </p:sp>
    </p:spTree>
    <p:extLst>
      <p:ext uri="{BB962C8B-B14F-4D97-AF65-F5344CB8AC3E}">
        <p14:creationId xmlns:p14="http://schemas.microsoft.com/office/powerpoint/2010/main" val="38447779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801E533-0ED2-99C5-D3EA-F5E347A571DB}"/>
              </a:ext>
            </a:extLst>
          </p:cNvPr>
          <p:cNvSpPr/>
          <p:nvPr/>
        </p:nvSpPr>
        <p:spPr>
          <a:xfrm>
            <a:off x="0" y="2663008"/>
            <a:ext cx="12192000" cy="4194992"/>
          </a:xfrm>
          <a:prstGeom prst="rect">
            <a:avLst/>
          </a:prstGeom>
          <a:solidFill>
            <a:srgbClr val="264A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 name="Title 1">
            <a:extLst>
              <a:ext uri="{FF2B5EF4-FFF2-40B4-BE49-F238E27FC236}">
                <a16:creationId xmlns:a16="http://schemas.microsoft.com/office/drawing/2014/main" id="{68A67224-1805-3E37-71FF-80349B64381E}"/>
              </a:ext>
            </a:extLst>
          </p:cNvPr>
          <p:cNvSpPr>
            <a:spLocks noGrp="1"/>
          </p:cNvSpPr>
          <p:nvPr>
            <p:ph type="title"/>
          </p:nvPr>
        </p:nvSpPr>
        <p:spPr>
          <a:xfrm>
            <a:off x="376063" y="90228"/>
            <a:ext cx="11136038" cy="940977"/>
          </a:xfrm>
        </p:spPr>
        <p:txBody>
          <a:bodyPr>
            <a:normAutofit/>
          </a:bodyPr>
          <a:lstStyle/>
          <a:p>
            <a:r>
              <a:rPr lang="en-US">
                <a:latin typeface="Segoe UI"/>
                <a:cs typeface="Segoe UI"/>
              </a:rPr>
              <a:t>Porto Seguro: Dataset &amp; Problem Setup</a:t>
            </a:r>
            <a:endParaRPr lang="en-ID">
              <a:latin typeface="Segoe UI"/>
              <a:cs typeface="Segoe UI"/>
            </a:endParaRPr>
          </a:p>
        </p:txBody>
      </p:sp>
      <p:sp>
        <p:nvSpPr>
          <p:cNvPr id="24" name="Rectangle 23">
            <a:extLst>
              <a:ext uri="{FF2B5EF4-FFF2-40B4-BE49-F238E27FC236}">
                <a16:creationId xmlns:a16="http://schemas.microsoft.com/office/drawing/2014/main" id="{184023F6-5776-4EA7-4B16-C9DDCD883FB6}"/>
              </a:ext>
            </a:extLst>
          </p:cNvPr>
          <p:cNvSpPr/>
          <p:nvPr/>
        </p:nvSpPr>
        <p:spPr>
          <a:xfrm>
            <a:off x="4538441" y="1486961"/>
            <a:ext cx="7518521" cy="457101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5" name="Rectangle 24">
            <a:extLst>
              <a:ext uri="{FF2B5EF4-FFF2-40B4-BE49-F238E27FC236}">
                <a16:creationId xmlns:a16="http://schemas.microsoft.com/office/drawing/2014/main" id="{02F11939-0293-BCB9-9AC7-FC25EF550DB8}"/>
              </a:ext>
            </a:extLst>
          </p:cNvPr>
          <p:cNvSpPr/>
          <p:nvPr/>
        </p:nvSpPr>
        <p:spPr>
          <a:xfrm>
            <a:off x="4297318" y="1722264"/>
            <a:ext cx="772960" cy="772960"/>
          </a:xfrm>
          <a:prstGeom prst="rect">
            <a:avLst/>
          </a:prstGeom>
          <a:solidFill>
            <a:srgbClr val="ABD1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6" name="Rectangle 25">
            <a:extLst>
              <a:ext uri="{FF2B5EF4-FFF2-40B4-BE49-F238E27FC236}">
                <a16:creationId xmlns:a16="http://schemas.microsoft.com/office/drawing/2014/main" id="{D69D5B32-5380-52A6-D53B-1542C8E98770}"/>
              </a:ext>
            </a:extLst>
          </p:cNvPr>
          <p:cNvSpPr/>
          <p:nvPr/>
        </p:nvSpPr>
        <p:spPr>
          <a:xfrm>
            <a:off x="4297318" y="2830792"/>
            <a:ext cx="772960" cy="772960"/>
          </a:xfrm>
          <a:prstGeom prst="rect">
            <a:avLst/>
          </a:prstGeom>
          <a:solidFill>
            <a:srgbClr val="ABD1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7" name="Rectangle 26">
            <a:extLst>
              <a:ext uri="{FF2B5EF4-FFF2-40B4-BE49-F238E27FC236}">
                <a16:creationId xmlns:a16="http://schemas.microsoft.com/office/drawing/2014/main" id="{9EC8835C-7F6C-AB01-5D5B-EFA2AF077B23}"/>
              </a:ext>
            </a:extLst>
          </p:cNvPr>
          <p:cNvSpPr/>
          <p:nvPr/>
        </p:nvSpPr>
        <p:spPr>
          <a:xfrm>
            <a:off x="4297318" y="3939320"/>
            <a:ext cx="772960" cy="772960"/>
          </a:xfrm>
          <a:prstGeom prst="rect">
            <a:avLst/>
          </a:prstGeom>
          <a:solidFill>
            <a:srgbClr val="ABD1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8" name="Rectangle 27">
            <a:extLst>
              <a:ext uri="{FF2B5EF4-FFF2-40B4-BE49-F238E27FC236}">
                <a16:creationId xmlns:a16="http://schemas.microsoft.com/office/drawing/2014/main" id="{4C3BAE3C-B0D2-D30C-0AF5-CD2E771B8256}"/>
              </a:ext>
            </a:extLst>
          </p:cNvPr>
          <p:cNvSpPr/>
          <p:nvPr/>
        </p:nvSpPr>
        <p:spPr>
          <a:xfrm>
            <a:off x="4297318" y="5047848"/>
            <a:ext cx="772960" cy="772960"/>
          </a:xfrm>
          <a:prstGeom prst="rect">
            <a:avLst/>
          </a:prstGeom>
          <a:solidFill>
            <a:srgbClr val="ABD1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grpSp>
        <p:nvGrpSpPr>
          <p:cNvPr id="3" name="Group 2">
            <a:extLst>
              <a:ext uri="{FF2B5EF4-FFF2-40B4-BE49-F238E27FC236}">
                <a16:creationId xmlns:a16="http://schemas.microsoft.com/office/drawing/2014/main" id="{ACFC3F5F-0083-7C34-2E00-234460F4DF2E}"/>
              </a:ext>
            </a:extLst>
          </p:cNvPr>
          <p:cNvGrpSpPr/>
          <p:nvPr/>
        </p:nvGrpSpPr>
        <p:grpSpPr>
          <a:xfrm>
            <a:off x="5413895" y="2663008"/>
            <a:ext cx="6003042" cy="2217056"/>
            <a:chOff x="5904411" y="2663008"/>
            <a:chExt cx="5512526" cy="2217056"/>
          </a:xfrm>
        </p:grpSpPr>
        <p:cxnSp>
          <p:nvCxnSpPr>
            <p:cNvPr id="43" name="Straight Connector 42">
              <a:extLst>
                <a:ext uri="{FF2B5EF4-FFF2-40B4-BE49-F238E27FC236}">
                  <a16:creationId xmlns:a16="http://schemas.microsoft.com/office/drawing/2014/main" id="{7A4D1AFB-5A04-A3F3-6189-E13E94973321}"/>
                </a:ext>
              </a:extLst>
            </p:cNvPr>
            <p:cNvCxnSpPr>
              <a:cxnSpLocks/>
            </p:cNvCxnSpPr>
            <p:nvPr/>
          </p:nvCxnSpPr>
          <p:spPr>
            <a:xfrm>
              <a:off x="5904411" y="2663008"/>
              <a:ext cx="5512526"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1639BA3-46AB-6F6E-DC89-6CC63812296C}"/>
                </a:ext>
              </a:extLst>
            </p:cNvPr>
            <p:cNvCxnSpPr>
              <a:cxnSpLocks/>
            </p:cNvCxnSpPr>
            <p:nvPr/>
          </p:nvCxnSpPr>
          <p:spPr>
            <a:xfrm>
              <a:off x="5904411" y="3771536"/>
              <a:ext cx="5512526"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0E63A3D0-91C6-12EB-CEFD-F9D079DB8EAB}"/>
                </a:ext>
              </a:extLst>
            </p:cNvPr>
            <p:cNvCxnSpPr>
              <a:cxnSpLocks/>
            </p:cNvCxnSpPr>
            <p:nvPr/>
          </p:nvCxnSpPr>
          <p:spPr>
            <a:xfrm>
              <a:off x="5904411" y="4880064"/>
              <a:ext cx="5512526"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47" name="Rectangle 46">
            <a:extLst>
              <a:ext uri="{FF2B5EF4-FFF2-40B4-BE49-F238E27FC236}">
                <a16:creationId xmlns:a16="http://schemas.microsoft.com/office/drawing/2014/main" id="{A0AB7F19-9F1C-994C-A86B-29CEF15797AB}"/>
              </a:ext>
            </a:extLst>
          </p:cNvPr>
          <p:cNvSpPr/>
          <p:nvPr/>
        </p:nvSpPr>
        <p:spPr>
          <a:xfrm>
            <a:off x="5413895" y="1889191"/>
            <a:ext cx="5707659" cy="442575"/>
          </a:xfrm>
          <a:prstGeom prst="rect">
            <a:avLst/>
          </a:prstGeom>
        </p:spPr>
        <p:txBody>
          <a:bodyPr wrap="square" lIns="0" tIns="0" rIns="0" bIns="0" anchor="ctr" anchorCtr="0">
            <a:noAutofit/>
          </a:bodyPr>
          <a:lstStyle/>
          <a:p>
            <a:r>
              <a:rPr lang="en-US" b="1">
                <a:latin typeface="Segoe UI"/>
                <a:cs typeface="Segoe UI"/>
              </a:rPr>
              <a:t>Binary classification: predict insurance claim risk</a:t>
            </a:r>
          </a:p>
        </p:txBody>
      </p:sp>
      <p:sp>
        <p:nvSpPr>
          <p:cNvPr id="51" name="Rectangle 50">
            <a:extLst>
              <a:ext uri="{FF2B5EF4-FFF2-40B4-BE49-F238E27FC236}">
                <a16:creationId xmlns:a16="http://schemas.microsoft.com/office/drawing/2014/main" id="{AB690C75-E9CC-584B-D40B-5370858F8917}"/>
              </a:ext>
            </a:extLst>
          </p:cNvPr>
          <p:cNvSpPr/>
          <p:nvPr/>
        </p:nvSpPr>
        <p:spPr>
          <a:xfrm>
            <a:off x="5413895" y="3026655"/>
            <a:ext cx="5355597" cy="403992"/>
          </a:xfrm>
          <a:prstGeom prst="rect">
            <a:avLst/>
          </a:prstGeom>
        </p:spPr>
        <p:txBody>
          <a:bodyPr wrap="square" lIns="0" tIns="0" rIns="0" bIns="0" anchor="ctr" anchorCtr="0">
            <a:noAutofit/>
          </a:bodyPr>
          <a:lstStyle/>
          <a:p>
            <a:r>
              <a:rPr lang="en-US" b="1">
                <a:latin typeface="Segoe UI"/>
                <a:cs typeface="Segoe UI"/>
              </a:rPr>
              <a:t>595,212 observations, 59 anonymized features</a:t>
            </a:r>
          </a:p>
        </p:txBody>
      </p:sp>
      <p:sp>
        <p:nvSpPr>
          <p:cNvPr id="54" name="Rectangle 53">
            <a:extLst>
              <a:ext uri="{FF2B5EF4-FFF2-40B4-BE49-F238E27FC236}">
                <a16:creationId xmlns:a16="http://schemas.microsoft.com/office/drawing/2014/main" id="{4513348D-521D-DB5A-9610-ACE2D8DE6875}"/>
              </a:ext>
            </a:extLst>
          </p:cNvPr>
          <p:cNvSpPr/>
          <p:nvPr/>
        </p:nvSpPr>
        <p:spPr>
          <a:xfrm>
            <a:off x="5413895" y="4140005"/>
            <a:ext cx="6214052" cy="370234"/>
          </a:xfrm>
          <a:prstGeom prst="rect">
            <a:avLst/>
          </a:prstGeom>
        </p:spPr>
        <p:txBody>
          <a:bodyPr wrap="square" lIns="0" tIns="0" rIns="0" bIns="0" anchor="ctr" anchorCtr="0">
            <a:noAutofit/>
          </a:bodyPr>
          <a:lstStyle/>
          <a:p>
            <a:r>
              <a:rPr lang="en-US" b="1">
                <a:latin typeface="Segoe UI"/>
                <a:cs typeface="Segoe UI"/>
              </a:rPr>
              <a:t>Mixed feature types: continuous, binary, categorical</a:t>
            </a:r>
          </a:p>
        </p:txBody>
      </p:sp>
      <p:sp>
        <p:nvSpPr>
          <p:cNvPr id="57" name="Rectangle 56">
            <a:extLst>
              <a:ext uri="{FF2B5EF4-FFF2-40B4-BE49-F238E27FC236}">
                <a16:creationId xmlns:a16="http://schemas.microsoft.com/office/drawing/2014/main" id="{3AE45BAF-4050-54AA-791E-2C69C02B4FDE}"/>
              </a:ext>
            </a:extLst>
          </p:cNvPr>
          <p:cNvSpPr/>
          <p:nvPr/>
        </p:nvSpPr>
        <p:spPr>
          <a:xfrm>
            <a:off x="5413895" y="5243711"/>
            <a:ext cx="6083838" cy="379880"/>
          </a:xfrm>
          <a:prstGeom prst="rect">
            <a:avLst/>
          </a:prstGeom>
        </p:spPr>
        <p:txBody>
          <a:bodyPr wrap="square" lIns="0" tIns="0" rIns="0" bIns="0" anchor="ctr" anchorCtr="0">
            <a:noAutofit/>
          </a:bodyPr>
          <a:lstStyle/>
          <a:p>
            <a:r>
              <a:rPr lang="en-US" b="1">
                <a:latin typeface="Segoe UI"/>
                <a:cs typeface="Segoe UI"/>
              </a:rPr>
              <a:t>Severe class imbalance (~96% non-claim)</a:t>
            </a:r>
          </a:p>
        </p:txBody>
      </p:sp>
      <p:grpSp>
        <p:nvGrpSpPr>
          <p:cNvPr id="59" name="Group 58">
            <a:extLst>
              <a:ext uri="{FF2B5EF4-FFF2-40B4-BE49-F238E27FC236}">
                <a16:creationId xmlns:a16="http://schemas.microsoft.com/office/drawing/2014/main" id="{841A0A61-D2BA-F4D8-8ED8-144C654DCDA2}"/>
              </a:ext>
            </a:extLst>
          </p:cNvPr>
          <p:cNvGrpSpPr/>
          <p:nvPr/>
        </p:nvGrpSpPr>
        <p:grpSpPr>
          <a:xfrm>
            <a:off x="4511554" y="1936500"/>
            <a:ext cx="344488" cy="344488"/>
            <a:chOff x="6297613" y="5080001"/>
            <a:chExt cx="344488" cy="344488"/>
          </a:xfrm>
        </p:grpSpPr>
        <p:sp>
          <p:nvSpPr>
            <p:cNvPr id="60" name="Oval 34">
              <a:extLst>
                <a:ext uri="{FF2B5EF4-FFF2-40B4-BE49-F238E27FC236}">
                  <a16:creationId xmlns:a16="http://schemas.microsoft.com/office/drawing/2014/main" id="{12642C8A-6D25-4C26-96D6-BC27A0F7C615}"/>
                </a:ext>
              </a:extLst>
            </p:cNvPr>
            <p:cNvSpPr>
              <a:spLocks noChangeArrowheads="1"/>
            </p:cNvSpPr>
            <p:nvPr/>
          </p:nvSpPr>
          <p:spPr bwMode="auto">
            <a:xfrm>
              <a:off x="6297613" y="5080001"/>
              <a:ext cx="344488" cy="344488"/>
            </a:xfrm>
            <a:prstGeom prst="ellipse">
              <a:avLst/>
            </a:pr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61" name="Oval 35">
              <a:extLst>
                <a:ext uri="{FF2B5EF4-FFF2-40B4-BE49-F238E27FC236}">
                  <a16:creationId xmlns:a16="http://schemas.microsoft.com/office/drawing/2014/main" id="{35B4B32A-EF6B-2182-6A7B-13AA9E4AF9BD}"/>
                </a:ext>
              </a:extLst>
            </p:cNvPr>
            <p:cNvSpPr>
              <a:spLocks noChangeArrowheads="1"/>
            </p:cNvSpPr>
            <p:nvPr/>
          </p:nvSpPr>
          <p:spPr bwMode="auto">
            <a:xfrm>
              <a:off x="6446838" y="5229226"/>
              <a:ext cx="46038" cy="46038"/>
            </a:xfrm>
            <a:prstGeom prst="ellipse">
              <a:avLst/>
            </a:pr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62" name="Line 36">
              <a:extLst>
                <a:ext uri="{FF2B5EF4-FFF2-40B4-BE49-F238E27FC236}">
                  <a16:creationId xmlns:a16="http://schemas.microsoft.com/office/drawing/2014/main" id="{CDDD1A79-9241-3819-5479-E67A59861822}"/>
                </a:ext>
              </a:extLst>
            </p:cNvPr>
            <p:cNvSpPr>
              <a:spLocks noChangeShapeType="1"/>
            </p:cNvSpPr>
            <p:nvPr/>
          </p:nvSpPr>
          <p:spPr bwMode="auto">
            <a:xfrm flipV="1">
              <a:off x="6484938" y="5162551"/>
              <a:ext cx="74613" cy="74613"/>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63" name="Line 37">
              <a:extLst>
                <a:ext uri="{FF2B5EF4-FFF2-40B4-BE49-F238E27FC236}">
                  <a16:creationId xmlns:a16="http://schemas.microsoft.com/office/drawing/2014/main" id="{72275F02-7D90-A1AD-45C3-45F6E10685AF}"/>
                </a:ext>
              </a:extLst>
            </p:cNvPr>
            <p:cNvSpPr>
              <a:spLocks noChangeShapeType="1"/>
            </p:cNvSpPr>
            <p:nvPr/>
          </p:nvSpPr>
          <p:spPr bwMode="auto">
            <a:xfrm>
              <a:off x="6326188" y="5256213"/>
              <a:ext cx="30163" cy="0"/>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64" name="Line 38">
              <a:extLst>
                <a:ext uri="{FF2B5EF4-FFF2-40B4-BE49-F238E27FC236}">
                  <a16:creationId xmlns:a16="http://schemas.microsoft.com/office/drawing/2014/main" id="{86A8D718-A8E0-9D1E-8999-5B633CB79AAF}"/>
                </a:ext>
              </a:extLst>
            </p:cNvPr>
            <p:cNvSpPr>
              <a:spLocks noChangeShapeType="1"/>
            </p:cNvSpPr>
            <p:nvPr/>
          </p:nvSpPr>
          <p:spPr bwMode="auto">
            <a:xfrm flipV="1">
              <a:off x="6338888" y="5294313"/>
              <a:ext cx="25400" cy="14288"/>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65" name="Line 39">
              <a:extLst>
                <a:ext uri="{FF2B5EF4-FFF2-40B4-BE49-F238E27FC236}">
                  <a16:creationId xmlns:a16="http://schemas.microsoft.com/office/drawing/2014/main" id="{5EA7D33C-B930-2AA6-AE40-87046A8EA584}"/>
                </a:ext>
              </a:extLst>
            </p:cNvPr>
            <p:cNvSpPr>
              <a:spLocks noChangeShapeType="1"/>
            </p:cNvSpPr>
            <p:nvPr/>
          </p:nvSpPr>
          <p:spPr bwMode="auto">
            <a:xfrm flipH="1" flipV="1">
              <a:off x="6575426" y="5294313"/>
              <a:ext cx="25400" cy="14288"/>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66" name="Line 40">
              <a:extLst>
                <a:ext uri="{FF2B5EF4-FFF2-40B4-BE49-F238E27FC236}">
                  <a16:creationId xmlns:a16="http://schemas.microsoft.com/office/drawing/2014/main" id="{0D54C0EF-B0FE-57D9-7043-C23630F90135}"/>
                </a:ext>
              </a:extLst>
            </p:cNvPr>
            <p:cNvSpPr>
              <a:spLocks noChangeShapeType="1"/>
            </p:cNvSpPr>
            <p:nvPr/>
          </p:nvSpPr>
          <p:spPr bwMode="auto">
            <a:xfrm flipH="1">
              <a:off x="6581776" y="5253038"/>
              <a:ext cx="30163" cy="0"/>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67" name="Line 41">
              <a:extLst>
                <a:ext uri="{FF2B5EF4-FFF2-40B4-BE49-F238E27FC236}">
                  <a16:creationId xmlns:a16="http://schemas.microsoft.com/office/drawing/2014/main" id="{26EF226B-DB96-CB20-534F-7252AEA578C1}"/>
                </a:ext>
              </a:extLst>
            </p:cNvPr>
            <p:cNvSpPr>
              <a:spLocks noChangeShapeType="1"/>
            </p:cNvSpPr>
            <p:nvPr/>
          </p:nvSpPr>
          <p:spPr bwMode="auto">
            <a:xfrm flipH="1">
              <a:off x="6575426" y="5195888"/>
              <a:ext cx="25400" cy="15875"/>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68" name="Line 42">
              <a:extLst>
                <a:ext uri="{FF2B5EF4-FFF2-40B4-BE49-F238E27FC236}">
                  <a16:creationId xmlns:a16="http://schemas.microsoft.com/office/drawing/2014/main" id="{73A8F789-A47A-CE2C-0C09-B8E0F7DF4233}"/>
                </a:ext>
              </a:extLst>
            </p:cNvPr>
            <p:cNvSpPr>
              <a:spLocks noChangeShapeType="1"/>
            </p:cNvSpPr>
            <p:nvPr/>
          </p:nvSpPr>
          <p:spPr bwMode="auto">
            <a:xfrm flipH="1">
              <a:off x="6510338" y="5121276"/>
              <a:ext cx="15875" cy="25400"/>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69" name="Line 43">
              <a:extLst>
                <a:ext uri="{FF2B5EF4-FFF2-40B4-BE49-F238E27FC236}">
                  <a16:creationId xmlns:a16="http://schemas.microsoft.com/office/drawing/2014/main" id="{43F5D3F5-7C4F-91B8-B7B0-0D606F14D7AF}"/>
                </a:ext>
              </a:extLst>
            </p:cNvPr>
            <p:cNvSpPr>
              <a:spLocks noChangeShapeType="1"/>
            </p:cNvSpPr>
            <p:nvPr/>
          </p:nvSpPr>
          <p:spPr bwMode="auto">
            <a:xfrm>
              <a:off x="6469063" y="5113338"/>
              <a:ext cx="0" cy="30163"/>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70" name="Line 44">
              <a:extLst>
                <a:ext uri="{FF2B5EF4-FFF2-40B4-BE49-F238E27FC236}">
                  <a16:creationId xmlns:a16="http://schemas.microsoft.com/office/drawing/2014/main" id="{38FAE96F-4BB5-FED9-678A-CE88D8395BC2}"/>
                </a:ext>
              </a:extLst>
            </p:cNvPr>
            <p:cNvSpPr>
              <a:spLocks noChangeShapeType="1"/>
            </p:cNvSpPr>
            <p:nvPr/>
          </p:nvSpPr>
          <p:spPr bwMode="auto">
            <a:xfrm>
              <a:off x="6413501" y="5121276"/>
              <a:ext cx="14288" cy="25400"/>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71" name="Line 45">
              <a:extLst>
                <a:ext uri="{FF2B5EF4-FFF2-40B4-BE49-F238E27FC236}">
                  <a16:creationId xmlns:a16="http://schemas.microsoft.com/office/drawing/2014/main" id="{D0B1C326-3F26-6A37-01B2-29BB46F7C268}"/>
                </a:ext>
              </a:extLst>
            </p:cNvPr>
            <p:cNvSpPr>
              <a:spLocks noChangeShapeType="1"/>
            </p:cNvSpPr>
            <p:nvPr/>
          </p:nvSpPr>
          <p:spPr bwMode="auto">
            <a:xfrm>
              <a:off x="6367463" y="5151438"/>
              <a:ext cx="23813" cy="22225"/>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72" name="Line 46">
              <a:extLst>
                <a:ext uri="{FF2B5EF4-FFF2-40B4-BE49-F238E27FC236}">
                  <a16:creationId xmlns:a16="http://schemas.microsoft.com/office/drawing/2014/main" id="{B62DE470-1176-34BC-FE7D-6EEE9F358E3A}"/>
                </a:ext>
              </a:extLst>
            </p:cNvPr>
            <p:cNvSpPr>
              <a:spLocks noChangeShapeType="1"/>
            </p:cNvSpPr>
            <p:nvPr/>
          </p:nvSpPr>
          <p:spPr bwMode="auto">
            <a:xfrm>
              <a:off x="6338888" y="5195888"/>
              <a:ext cx="25400" cy="15875"/>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73" name="Rectangle 47">
              <a:extLst>
                <a:ext uri="{FF2B5EF4-FFF2-40B4-BE49-F238E27FC236}">
                  <a16:creationId xmlns:a16="http://schemas.microsoft.com/office/drawing/2014/main" id="{4C9321AA-B227-CFCA-907B-9C5483863DFE}"/>
                </a:ext>
              </a:extLst>
            </p:cNvPr>
            <p:cNvSpPr>
              <a:spLocks noChangeArrowheads="1"/>
            </p:cNvSpPr>
            <p:nvPr/>
          </p:nvSpPr>
          <p:spPr bwMode="auto">
            <a:xfrm>
              <a:off x="6402388" y="5319713"/>
              <a:ext cx="134938" cy="46038"/>
            </a:xfrm>
            <a:prstGeom prst="rect">
              <a:avLst/>
            </a:pr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grpSp>
      <p:grpSp>
        <p:nvGrpSpPr>
          <p:cNvPr id="74" name="Group 73">
            <a:extLst>
              <a:ext uri="{FF2B5EF4-FFF2-40B4-BE49-F238E27FC236}">
                <a16:creationId xmlns:a16="http://schemas.microsoft.com/office/drawing/2014/main" id="{05DD2625-0522-9A15-5F06-C779AE6B7161}"/>
              </a:ext>
            </a:extLst>
          </p:cNvPr>
          <p:cNvGrpSpPr/>
          <p:nvPr/>
        </p:nvGrpSpPr>
        <p:grpSpPr>
          <a:xfrm>
            <a:off x="4510761" y="5276372"/>
            <a:ext cx="346075" cy="315913"/>
            <a:chOff x="8763605" y="3057526"/>
            <a:chExt cx="346075" cy="315913"/>
          </a:xfrm>
        </p:grpSpPr>
        <p:sp>
          <p:nvSpPr>
            <p:cNvPr id="75" name="Rectangle 5">
              <a:extLst>
                <a:ext uri="{FF2B5EF4-FFF2-40B4-BE49-F238E27FC236}">
                  <a16:creationId xmlns:a16="http://schemas.microsoft.com/office/drawing/2014/main" id="{F0B0E754-0EA4-4E9C-CCBE-72E83308EDC2}"/>
                </a:ext>
              </a:extLst>
            </p:cNvPr>
            <p:cNvSpPr>
              <a:spLocks noChangeArrowheads="1"/>
            </p:cNvSpPr>
            <p:nvPr/>
          </p:nvSpPr>
          <p:spPr bwMode="auto">
            <a:xfrm>
              <a:off x="8763605" y="3057526"/>
              <a:ext cx="195263" cy="315913"/>
            </a:xfrm>
            <a:prstGeom prst="rect">
              <a:avLst/>
            </a:pr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76" name="Rectangle 6">
              <a:extLst>
                <a:ext uri="{FF2B5EF4-FFF2-40B4-BE49-F238E27FC236}">
                  <a16:creationId xmlns:a16="http://schemas.microsoft.com/office/drawing/2014/main" id="{AC468384-C0BF-F810-F846-1C0ECF56311D}"/>
                </a:ext>
              </a:extLst>
            </p:cNvPr>
            <p:cNvSpPr>
              <a:spLocks noChangeArrowheads="1"/>
            </p:cNvSpPr>
            <p:nvPr/>
          </p:nvSpPr>
          <p:spPr bwMode="auto">
            <a:xfrm>
              <a:off x="8884255" y="3238501"/>
              <a:ext cx="30163" cy="60325"/>
            </a:xfrm>
            <a:prstGeom prst="rect">
              <a:avLst/>
            </a:pr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77" name="Freeform 7">
              <a:extLst>
                <a:ext uri="{FF2B5EF4-FFF2-40B4-BE49-F238E27FC236}">
                  <a16:creationId xmlns:a16="http://schemas.microsoft.com/office/drawing/2014/main" id="{DFD62EAE-5DD3-B956-39AC-C7A0DC433719}"/>
                </a:ext>
              </a:extLst>
            </p:cNvPr>
            <p:cNvSpPr>
              <a:spLocks/>
            </p:cNvSpPr>
            <p:nvPr/>
          </p:nvSpPr>
          <p:spPr bwMode="auto">
            <a:xfrm>
              <a:off x="9065230" y="3252788"/>
              <a:ext cx="28575" cy="46038"/>
            </a:xfrm>
            <a:custGeom>
              <a:avLst/>
              <a:gdLst>
                <a:gd name="T0" fmla="*/ 18 w 18"/>
                <a:gd name="T1" fmla="*/ 19 h 29"/>
                <a:gd name="T2" fmla="*/ 0 w 18"/>
                <a:gd name="T3" fmla="*/ 29 h 29"/>
                <a:gd name="T4" fmla="*/ 0 w 18"/>
                <a:gd name="T5" fmla="*/ 0 h 29"/>
                <a:gd name="T6" fmla="*/ 18 w 18"/>
                <a:gd name="T7" fmla="*/ 0 h 29"/>
                <a:gd name="T8" fmla="*/ 18 w 18"/>
                <a:gd name="T9" fmla="*/ 19 h 29"/>
              </a:gdLst>
              <a:ahLst/>
              <a:cxnLst>
                <a:cxn ang="0">
                  <a:pos x="T0" y="T1"/>
                </a:cxn>
                <a:cxn ang="0">
                  <a:pos x="T2" y="T3"/>
                </a:cxn>
                <a:cxn ang="0">
                  <a:pos x="T4" y="T5"/>
                </a:cxn>
                <a:cxn ang="0">
                  <a:pos x="T6" y="T7"/>
                </a:cxn>
                <a:cxn ang="0">
                  <a:pos x="T8" y="T9"/>
                </a:cxn>
              </a:cxnLst>
              <a:rect l="0" t="0" r="r" b="b"/>
              <a:pathLst>
                <a:path w="18" h="29">
                  <a:moveTo>
                    <a:pt x="18" y="19"/>
                  </a:moveTo>
                  <a:lnTo>
                    <a:pt x="0" y="29"/>
                  </a:lnTo>
                  <a:lnTo>
                    <a:pt x="0" y="0"/>
                  </a:lnTo>
                  <a:lnTo>
                    <a:pt x="18" y="0"/>
                  </a:lnTo>
                  <a:lnTo>
                    <a:pt x="18" y="19"/>
                  </a:lnTo>
                  <a:close/>
                </a:path>
              </a:pathLst>
            </a:cu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78" name="Freeform 8">
              <a:extLst>
                <a:ext uri="{FF2B5EF4-FFF2-40B4-BE49-F238E27FC236}">
                  <a16:creationId xmlns:a16="http://schemas.microsoft.com/office/drawing/2014/main" id="{1D82BCE7-F634-7D40-7E57-346C836BE657}"/>
                </a:ext>
              </a:extLst>
            </p:cNvPr>
            <p:cNvSpPr>
              <a:spLocks/>
            </p:cNvSpPr>
            <p:nvPr/>
          </p:nvSpPr>
          <p:spPr bwMode="auto">
            <a:xfrm>
              <a:off x="9065230" y="3178176"/>
              <a:ext cx="44450" cy="74613"/>
            </a:xfrm>
            <a:custGeom>
              <a:avLst/>
              <a:gdLst>
                <a:gd name="T0" fmla="*/ 0 w 12"/>
                <a:gd name="T1" fmla="*/ 20 h 20"/>
                <a:gd name="T2" fmla="*/ 0 w 12"/>
                <a:gd name="T3" fmla="*/ 14 h 20"/>
                <a:gd name="T4" fmla="*/ 12 w 12"/>
                <a:gd name="T5" fmla="*/ 0 h 20"/>
              </a:gdLst>
              <a:ahLst/>
              <a:cxnLst>
                <a:cxn ang="0">
                  <a:pos x="T0" y="T1"/>
                </a:cxn>
                <a:cxn ang="0">
                  <a:pos x="T2" y="T3"/>
                </a:cxn>
                <a:cxn ang="0">
                  <a:pos x="T4" y="T5"/>
                </a:cxn>
              </a:cxnLst>
              <a:rect l="0" t="0" r="r" b="b"/>
              <a:pathLst>
                <a:path w="12" h="20">
                  <a:moveTo>
                    <a:pt x="0" y="20"/>
                  </a:moveTo>
                  <a:cubicBezTo>
                    <a:pt x="0" y="14"/>
                    <a:pt x="0" y="14"/>
                    <a:pt x="0" y="14"/>
                  </a:cubicBezTo>
                  <a:cubicBezTo>
                    <a:pt x="0" y="11"/>
                    <a:pt x="12" y="0"/>
                    <a:pt x="12" y="0"/>
                  </a:cubicBezTo>
                </a:path>
              </a:pathLst>
            </a:cu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79" name="Freeform 9">
              <a:extLst>
                <a:ext uri="{FF2B5EF4-FFF2-40B4-BE49-F238E27FC236}">
                  <a16:creationId xmlns:a16="http://schemas.microsoft.com/office/drawing/2014/main" id="{B1791904-823F-4A30-F941-615E9D5A64B8}"/>
                </a:ext>
              </a:extLst>
            </p:cNvPr>
            <p:cNvSpPr>
              <a:spLocks/>
            </p:cNvSpPr>
            <p:nvPr/>
          </p:nvSpPr>
          <p:spPr bwMode="auto">
            <a:xfrm>
              <a:off x="8958867" y="3117851"/>
              <a:ext cx="106363" cy="255588"/>
            </a:xfrm>
            <a:custGeom>
              <a:avLst/>
              <a:gdLst>
                <a:gd name="T0" fmla="*/ 28 w 28"/>
                <a:gd name="T1" fmla="*/ 48 h 68"/>
                <a:gd name="T2" fmla="*/ 28 w 28"/>
                <a:gd name="T3" fmla="*/ 60 h 68"/>
                <a:gd name="T4" fmla="*/ 20 w 28"/>
                <a:gd name="T5" fmla="*/ 68 h 68"/>
                <a:gd name="T6" fmla="*/ 12 w 28"/>
                <a:gd name="T7" fmla="*/ 60 h 68"/>
                <a:gd name="T8" fmla="*/ 12 w 28"/>
                <a:gd name="T9" fmla="*/ 6 h 68"/>
                <a:gd name="T10" fmla="*/ 6 w 28"/>
                <a:gd name="T11" fmla="*/ 0 h 68"/>
                <a:gd name="T12" fmla="*/ 0 w 28"/>
                <a:gd name="T13" fmla="*/ 0 h 68"/>
              </a:gdLst>
              <a:ahLst/>
              <a:cxnLst>
                <a:cxn ang="0">
                  <a:pos x="T0" y="T1"/>
                </a:cxn>
                <a:cxn ang="0">
                  <a:pos x="T2" y="T3"/>
                </a:cxn>
                <a:cxn ang="0">
                  <a:pos x="T4" y="T5"/>
                </a:cxn>
                <a:cxn ang="0">
                  <a:pos x="T6" y="T7"/>
                </a:cxn>
                <a:cxn ang="0">
                  <a:pos x="T8" y="T9"/>
                </a:cxn>
                <a:cxn ang="0">
                  <a:pos x="T10" y="T11"/>
                </a:cxn>
                <a:cxn ang="0">
                  <a:pos x="T12" y="T13"/>
                </a:cxn>
              </a:cxnLst>
              <a:rect l="0" t="0" r="r" b="b"/>
              <a:pathLst>
                <a:path w="28" h="68">
                  <a:moveTo>
                    <a:pt x="28" y="48"/>
                  </a:moveTo>
                  <a:cubicBezTo>
                    <a:pt x="28" y="60"/>
                    <a:pt x="28" y="60"/>
                    <a:pt x="28" y="60"/>
                  </a:cubicBezTo>
                  <a:cubicBezTo>
                    <a:pt x="28" y="64"/>
                    <a:pt x="24" y="68"/>
                    <a:pt x="20" y="68"/>
                  </a:cubicBezTo>
                  <a:cubicBezTo>
                    <a:pt x="16" y="68"/>
                    <a:pt x="12" y="64"/>
                    <a:pt x="12" y="60"/>
                  </a:cubicBezTo>
                  <a:cubicBezTo>
                    <a:pt x="12" y="6"/>
                    <a:pt x="12" y="6"/>
                    <a:pt x="12" y="6"/>
                  </a:cubicBezTo>
                  <a:cubicBezTo>
                    <a:pt x="12" y="3"/>
                    <a:pt x="9" y="0"/>
                    <a:pt x="6" y="0"/>
                  </a:cubicBezTo>
                  <a:cubicBezTo>
                    <a:pt x="0" y="0"/>
                    <a:pt x="0" y="0"/>
                    <a:pt x="0" y="0"/>
                  </a:cubicBezTo>
                </a:path>
              </a:pathLst>
            </a:cu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80" name="Line 10">
              <a:extLst>
                <a:ext uri="{FF2B5EF4-FFF2-40B4-BE49-F238E27FC236}">
                  <a16:creationId xmlns:a16="http://schemas.microsoft.com/office/drawing/2014/main" id="{1DBD68F6-1DC6-ADAC-EDC0-7EE4CB5D916D}"/>
                </a:ext>
              </a:extLst>
            </p:cNvPr>
            <p:cNvSpPr>
              <a:spLocks noChangeShapeType="1"/>
            </p:cNvSpPr>
            <p:nvPr/>
          </p:nvSpPr>
          <p:spPr bwMode="auto">
            <a:xfrm>
              <a:off x="8763605" y="3178176"/>
              <a:ext cx="195263" cy="0"/>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81" name="Rectangle 11">
              <a:extLst>
                <a:ext uri="{FF2B5EF4-FFF2-40B4-BE49-F238E27FC236}">
                  <a16:creationId xmlns:a16="http://schemas.microsoft.com/office/drawing/2014/main" id="{CB91C2CB-663F-F66C-11F0-3D05048EC49E}"/>
                </a:ext>
              </a:extLst>
            </p:cNvPr>
            <p:cNvSpPr>
              <a:spLocks noChangeArrowheads="1"/>
            </p:cNvSpPr>
            <p:nvPr/>
          </p:nvSpPr>
          <p:spPr bwMode="auto">
            <a:xfrm>
              <a:off x="8793767" y="3087688"/>
              <a:ext cx="134938" cy="60325"/>
            </a:xfrm>
            <a:prstGeom prst="rect">
              <a:avLst/>
            </a:pr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82" name="Line 12">
              <a:extLst>
                <a:ext uri="{FF2B5EF4-FFF2-40B4-BE49-F238E27FC236}">
                  <a16:creationId xmlns:a16="http://schemas.microsoft.com/office/drawing/2014/main" id="{5A41A275-ED76-CCAE-2055-372F36D1486E}"/>
                </a:ext>
              </a:extLst>
            </p:cNvPr>
            <p:cNvSpPr>
              <a:spLocks noChangeShapeType="1"/>
            </p:cNvSpPr>
            <p:nvPr/>
          </p:nvSpPr>
          <p:spPr bwMode="auto">
            <a:xfrm>
              <a:off x="8884255" y="3327401"/>
              <a:ext cx="30163" cy="0"/>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grpSp>
      <p:grpSp>
        <p:nvGrpSpPr>
          <p:cNvPr id="83" name="Group 82">
            <a:extLst>
              <a:ext uri="{FF2B5EF4-FFF2-40B4-BE49-F238E27FC236}">
                <a16:creationId xmlns:a16="http://schemas.microsoft.com/office/drawing/2014/main" id="{84046C4C-FCC4-E838-AFD3-FD914936ED76}"/>
              </a:ext>
            </a:extLst>
          </p:cNvPr>
          <p:cNvGrpSpPr/>
          <p:nvPr/>
        </p:nvGrpSpPr>
        <p:grpSpPr>
          <a:xfrm>
            <a:off x="4511555" y="3044235"/>
            <a:ext cx="344487" cy="346075"/>
            <a:chOff x="10876565" y="838073"/>
            <a:chExt cx="344487" cy="346075"/>
          </a:xfrm>
        </p:grpSpPr>
        <p:sp>
          <p:nvSpPr>
            <p:cNvPr id="84" name="Rectangle 434">
              <a:extLst>
                <a:ext uri="{FF2B5EF4-FFF2-40B4-BE49-F238E27FC236}">
                  <a16:creationId xmlns:a16="http://schemas.microsoft.com/office/drawing/2014/main" id="{B959D71B-2ED4-9CB4-C505-94BC486B3783}"/>
                </a:ext>
              </a:extLst>
            </p:cNvPr>
            <p:cNvSpPr>
              <a:spLocks noChangeArrowheads="1"/>
            </p:cNvSpPr>
            <p:nvPr/>
          </p:nvSpPr>
          <p:spPr bwMode="auto">
            <a:xfrm>
              <a:off x="10965465" y="974598"/>
              <a:ext cx="30163" cy="28575"/>
            </a:xfrm>
            <a:prstGeom prst="rect">
              <a:avLst/>
            </a:pr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85" name="Rectangle 435">
              <a:extLst>
                <a:ext uri="{FF2B5EF4-FFF2-40B4-BE49-F238E27FC236}">
                  <a16:creationId xmlns:a16="http://schemas.microsoft.com/office/drawing/2014/main" id="{3B02C8D2-8F14-09CC-CFF5-937D85501276}"/>
                </a:ext>
              </a:extLst>
            </p:cNvPr>
            <p:cNvSpPr>
              <a:spLocks noChangeArrowheads="1"/>
            </p:cNvSpPr>
            <p:nvPr/>
          </p:nvSpPr>
          <p:spPr bwMode="auto">
            <a:xfrm>
              <a:off x="11101990" y="974598"/>
              <a:ext cx="30163" cy="28575"/>
            </a:xfrm>
            <a:prstGeom prst="rect">
              <a:avLst/>
            </a:pr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86" name="Freeform 436">
              <a:extLst>
                <a:ext uri="{FF2B5EF4-FFF2-40B4-BE49-F238E27FC236}">
                  <a16:creationId xmlns:a16="http://schemas.microsoft.com/office/drawing/2014/main" id="{59D986DC-7FE4-6284-91CF-AC59BCD1695B}"/>
                </a:ext>
              </a:extLst>
            </p:cNvPr>
            <p:cNvSpPr>
              <a:spLocks/>
            </p:cNvSpPr>
            <p:nvPr/>
          </p:nvSpPr>
          <p:spPr bwMode="auto">
            <a:xfrm>
              <a:off x="10951177" y="898398"/>
              <a:ext cx="195263" cy="76200"/>
            </a:xfrm>
            <a:custGeom>
              <a:avLst/>
              <a:gdLst>
                <a:gd name="T0" fmla="*/ 123 w 123"/>
                <a:gd name="T1" fmla="*/ 48 h 48"/>
                <a:gd name="T2" fmla="*/ 123 w 123"/>
                <a:gd name="T3" fmla="*/ 19 h 48"/>
                <a:gd name="T4" fmla="*/ 104 w 123"/>
                <a:gd name="T5" fmla="*/ 0 h 48"/>
                <a:gd name="T6" fmla="*/ 19 w 123"/>
                <a:gd name="T7" fmla="*/ 0 h 48"/>
                <a:gd name="T8" fmla="*/ 0 w 123"/>
                <a:gd name="T9" fmla="*/ 19 h 48"/>
                <a:gd name="T10" fmla="*/ 0 w 123"/>
                <a:gd name="T11" fmla="*/ 48 h 48"/>
                <a:gd name="T12" fmla="*/ 123 w 123"/>
                <a:gd name="T13" fmla="*/ 48 h 48"/>
              </a:gdLst>
              <a:ahLst/>
              <a:cxnLst>
                <a:cxn ang="0">
                  <a:pos x="T0" y="T1"/>
                </a:cxn>
                <a:cxn ang="0">
                  <a:pos x="T2" y="T3"/>
                </a:cxn>
                <a:cxn ang="0">
                  <a:pos x="T4" y="T5"/>
                </a:cxn>
                <a:cxn ang="0">
                  <a:pos x="T6" y="T7"/>
                </a:cxn>
                <a:cxn ang="0">
                  <a:pos x="T8" y="T9"/>
                </a:cxn>
                <a:cxn ang="0">
                  <a:pos x="T10" y="T11"/>
                </a:cxn>
                <a:cxn ang="0">
                  <a:pos x="T12" y="T13"/>
                </a:cxn>
              </a:cxnLst>
              <a:rect l="0" t="0" r="r" b="b"/>
              <a:pathLst>
                <a:path w="123" h="48">
                  <a:moveTo>
                    <a:pt x="123" y="48"/>
                  </a:moveTo>
                  <a:lnTo>
                    <a:pt x="123" y="19"/>
                  </a:lnTo>
                  <a:lnTo>
                    <a:pt x="104" y="0"/>
                  </a:lnTo>
                  <a:lnTo>
                    <a:pt x="19" y="0"/>
                  </a:lnTo>
                  <a:lnTo>
                    <a:pt x="0" y="19"/>
                  </a:lnTo>
                  <a:lnTo>
                    <a:pt x="0" y="48"/>
                  </a:lnTo>
                  <a:lnTo>
                    <a:pt x="123" y="48"/>
                  </a:lnTo>
                  <a:close/>
                </a:path>
              </a:pathLst>
            </a:cu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87" name="Freeform 437">
              <a:extLst>
                <a:ext uri="{FF2B5EF4-FFF2-40B4-BE49-F238E27FC236}">
                  <a16:creationId xmlns:a16="http://schemas.microsoft.com/office/drawing/2014/main" id="{9C709AE5-7E81-D64F-4812-3C30441F8316}"/>
                </a:ext>
              </a:extLst>
            </p:cNvPr>
            <p:cNvSpPr>
              <a:spLocks/>
            </p:cNvSpPr>
            <p:nvPr/>
          </p:nvSpPr>
          <p:spPr bwMode="auto">
            <a:xfrm>
              <a:off x="10981340" y="838073"/>
              <a:ext cx="134938" cy="60325"/>
            </a:xfrm>
            <a:custGeom>
              <a:avLst/>
              <a:gdLst>
                <a:gd name="T0" fmla="*/ 76 w 85"/>
                <a:gd name="T1" fmla="*/ 0 h 38"/>
                <a:gd name="T2" fmla="*/ 9 w 85"/>
                <a:gd name="T3" fmla="*/ 0 h 38"/>
                <a:gd name="T4" fmla="*/ 0 w 85"/>
                <a:gd name="T5" fmla="*/ 38 h 38"/>
                <a:gd name="T6" fmla="*/ 85 w 85"/>
                <a:gd name="T7" fmla="*/ 38 h 38"/>
                <a:gd name="T8" fmla="*/ 76 w 85"/>
                <a:gd name="T9" fmla="*/ 0 h 38"/>
              </a:gdLst>
              <a:ahLst/>
              <a:cxnLst>
                <a:cxn ang="0">
                  <a:pos x="T0" y="T1"/>
                </a:cxn>
                <a:cxn ang="0">
                  <a:pos x="T2" y="T3"/>
                </a:cxn>
                <a:cxn ang="0">
                  <a:pos x="T4" y="T5"/>
                </a:cxn>
                <a:cxn ang="0">
                  <a:pos x="T6" y="T7"/>
                </a:cxn>
                <a:cxn ang="0">
                  <a:pos x="T8" y="T9"/>
                </a:cxn>
              </a:cxnLst>
              <a:rect l="0" t="0" r="r" b="b"/>
              <a:pathLst>
                <a:path w="85" h="38">
                  <a:moveTo>
                    <a:pt x="76" y="0"/>
                  </a:moveTo>
                  <a:lnTo>
                    <a:pt x="9" y="0"/>
                  </a:lnTo>
                  <a:lnTo>
                    <a:pt x="0" y="38"/>
                  </a:lnTo>
                  <a:lnTo>
                    <a:pt x="85" y="38"/>
                  </a:lnTo>
                  <a:lnTo>
                    <a:pt x="76" y="0"/>
                  </a:lnTo>
                  <a:close/>
                </a:path>
              </a:pathLst>
            </a:cu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88" name="Line 438">
              <a:extLst>
                <a:ext uri="{FF2B5EF4-FFF2-40B4-BE49-F238E27FC236}">
                  <a16:creationId xmlns:a16="http://schemas.microsoft.com/office/drawing/2014/main" id="{5FA98389-0FFF-B291-A141-07D14A042A3C}"/>
                </a:ext>
              </a:extLst>
            </p:cNvPr>
            <p:cNvSpPr>
              <a:spLocks noChangeShapeType="1"/>
            </p:cNvSpPr>
            <p:nvPr/>
          </p:nvSpPr>
          <p:spPr bwMode="auto">
            <a:xfrm>
              <a:off x="10951177" y="944436"/>
              <a:ext cx="38100" cy="0"/>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89" name="Line 439">
              <a:extLst>
                <a:ext uri="{FF2B5EF4-FFF2-40B4-BE49-F238E27FC236}">
                  <a16:creationId xmlns:a16="http://schemas.microsoft.com/office/drawing/2014/main" id="{0835918E-30C1-6878-3A6F-C2BF7C18C654}"/>
                </a:ext>
              </a:extLst>
            </p:cNvPr>
            <p:cNvSpPr>
              <a:spLocks noChangeShapeType="1"/>
            </p:cNvSpPr>
            <p:nvPr/>
          </p:nvSpPr>
          <p:spPr bwMode="auto">
            <a:xfrm>
              <a:off x="11108340" y="944436"/>
              <a:ext cx="38100" cy="0"/>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90" name="Line 440">
              <a:extLst>
                <a:ext uri="{FF2B5EF4-FFF2-40B4-BE49-F238E27FC236}">
                  <a16:creationId xmlns:a16="http://schemas.microsoft.com/office/drawing/2014/main" id="{7CD86F9D-16EE-AEC6-0D6D-CA8A2EE75C57}"/>
                </a:ext>
              </a:extLst>
            </p:cNvPr>
            <p:cNvSpPr>
              <a:spLocks noChangeShapeType="1"/>
            </p:cNvSpPr>
            <p:nvPr/>
          </p:nvSpPr>
          <p:spPr bwMode="auto">
            <a:xfrm>
              <a:off x="10876565" y="1184148"/>
              <a:ext cx="60325" cy="0"/>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91" name="Rectangle 441">
              <a:extLst>
                <a:ext uri="{FF2B5EF4-FFF2-40B4-BE49-F238E27FC236}">
                  <a16:creationId xmlns:a16="http://schemas.microsoft.com/office/drawing/2014/main" id="{78C85C88-F1CD-678F-90E3-07A66CD000AF}"/>
                </a:ext>
              </a:extLst>
            </p:cNvPr>
            <p:cNvSpPr>
              <a:spLocks noChangeArrowheads="1"/>
            </p:cNvSpPr>
            <p:nvPr/>
          </p:nvSpPr>
          <p:spPr bwMode="auto">
            <a:xfrm>
              <a:off x="10890852" y="914273"/>
              <a:ext cx="30163" cy="269875"/>
            </a:xfrm>
            <a:prstGeom prst="rect">
              <a:avLst/>
            </a:pr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92" name="Line 442">
              <a:extLst>
                <a:ext uri="{FF2B5EF4-FFF2-40B4-BE49-F238E27FC236}">
                  <a16:creationId xmlns:a16="http://schemas.microsoft.com/office/drawing/2014/main" id="{F1B00648-8FB7-343C-9259-55638C91B490}"/>
                </a:ext>
              </a:extLst>
            </p:cNvPr>
            <p:cNvSpPr>
              <a:spLocks noChangeShapeType="1"/>
            </p:cNvSpPr>
            <p:nvPr/>
          </p:nvSpPr>
          <p:spPr bwMode="auto">
            <a:xfrm>
              <a:off x="11160727" y="1184148"/>
              <a:ext cx="60325" cy="0"/>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93" name="Rectangle 443">
              <a:extLst>
                <a:ext uri="{FF2B5EF4-FFF2-40B4-BE49-F238E27FC236}">
                  <a16:creationId xmlns:a16="http://schemas.microsoft.com/office/drawing/2014/main" id="{02079DDB-D241-B755-853D-197C92005D6D}"/>
                </a:ext>
              </a:extLst>
            </p:cNvPr>
            <p:cNvSpPr>
              <a:spLocks noChangeArrowheads="1"/>
            </p:cNvSpPr>
            <p:nvPr/>
          </p:nvSpPr>
          <p:spPr bwMode="auto">
            <a:xfrm>
              <a:off x="11176602" y="914273"/>
              <a:ext cx="30163" cy="269875"/>
            </a:xfrm>
            <a:prstGeom prst="rect">
              <a:avLst/>
            </a:pr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94" name="Line 444">
              <a:extLst>
                <a:ext uri="{FF2B5EF4-FFF2-40B4-BE49-F238E27FC236}">
                  <a16:creationId xmlns:a16="http://schemas.microsoft.com/office/drawing/2014/main" id="{1F0E2545-8ADD-A787-7560-0C6249F1DCE4}"/>
                </a:ext>
              </a:extLst>
            </p:cNvPr>
            <p:cNvSpPr>
              <a:spLocks noChangeShapeType="1"/>
            </p:cNvSpPr>
            <p:nvPr/>
          </p:nvSpPr>
          <p:spPr bwMode="auto">
            <a:xfrm>
              <a:off x="10921015" y="1003173"/>
              <a:ext cx="255588" cy="0"/>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95" name="Oval 445">
              <a:extLst>
                <a:ext uri="{FF2B5EF4-FFF2-40B4-BE49-F238E27FC236}">
                  <a16:creationId xmlns:a16="http://schemas.microsoft.com/office/drawing/2014/main" id="{384A9FFF-6594-B5A5-4B18-1104EFF635DC}"/>
                </a:ext>
              </a:extLst>
            </p:cNvPr>
            <p:cNvSpPr>
              <a:spLocks noChangeArrowheads="1"/>
            </p:cNvSpPr>
            <p:nvPr/>
          </p:nvSpPr>
          <p:spPr bwMode="auto">
            <a:xfrm>
              <a:off x="11025790" y="1079373"/>
              <a:ext cx="46038" cy="44450"/>
            </a:xfrm>
            <a:prstGeom prst="ellipse">
              <a:avLst/>
            </a:prstGeom>
            <a:noFill/>
            <a:ln w="15875"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96" name="Freeform 446">
              <a:extLst>
                <a:ext uri="{FF2B5EF4-FFF2-40B4-BE49-F238E27FC236}">
                  <a16:creationId xmlns:a16="http://schemas.microsoft.com/office/drawing/2014/main" id="{BF4E4A9B-1968-2160-ADE2-9DA6D5E51327}"/>
                </a:ext>
              </a:extLst>
            </p:cNvPr>
            <p:cNvSpPr>
              <a:spLocks/>
            </p:cNvSpPr>
            <p:nvPr/>
          </p:nvSpPr>
          <p:spPr bwMode="auto">
            <a:xfrm>
              <a:off x="10981340" y="1033336"/>
              <a:ext cx="131763" cy="136525"/>
            </a:xfrm>
            <a:custGeom>
              <a:avLst/>
              <a:gdLst>
                <a:gd name="T0" fmla="*/ 32 w 35"/>
                <a:gd name="T1" fmla="*/ 18 h 36"/>
                <a:gd name="T2" fmla="*/ 31 w 35"/>
                <a:gd name="T3" fmla="*/ 15 h 36"/>
                <a:gd name="T4" fmla="*/ 35 w 35"/>
                <a:gd name="T5" fmla="*/ 12 h 36"/>
                <a:gd name="T6" fmla="*/ 31 w 35"/>
                <a:gd name="T7" fmla="*/ 6 h 36"/>
                <a:gd name="T8" fmla="*/ 27 w 35"/>
                <a:gd name="T9" fmla="*/ 8 h 36"/>
                <a:gd name="T10" fmla="*/ 22 w 35"/>
                <a:gd name="T11" fmla="*/ 5 h 36"/>
                <a:gd name="T12" fmla="*/ 22 w 35"/>
                <a:gd name="T13" fmla="*/ 0 h 36"/>
                <a:gd name="T14" fmla="*/ 14 w 35"/>
                <a:gd name="T15" fmla="*/ 0 h 36"/>
                <a:gd name="T16" fmla="*/ 14 w 35"/>
                <a:gd name="T17" fmla="*/ 5 h 36"/>
                <a:gd name="T18" fmla="*/ 8 w 35"/>
                <a:gd name="T19" fmla="*/ 8 h 36"/>
                <a:gd name="T20" fmla="*/ 4 w 35"/>
                <a:gd name="T21" fmla="*/ 6 h 36"/>
                <a:gd name="T22" fmla="*/ 0 w 35"/>
                <a:gd name="T23" fmla="*/ 12 h 36"/>
                <a:gd name="T24" fmla="*/ 4 w 35"/>
                <a:gd name="T25" fmla="*/ 15 h 36"/>
                <a:gd name="T26" fmla="*/ 4 w 35"/>
                <a:gd name="T27" fmla="*/ 18 h 36"/>
                <a:gd name="T28" fmla="*/ 4 w 35"/>
                <a:gd name="T29" fmla="*/ 21 h 36"/>
                <a:gd name="T30" fmla="*/ 0 w 35"/>
                <a:gd name="T31" fmla="*/ 24 h 36"/>
                <a:gd name="T32" fmla="*/ 4 w 35"/>
                <a:gd name="T33" fmla="*/ 30 h 36"/>
                <a:gd name="T34" fmla="*/ 8 w 35"/>
                <a:gd name="T35" fmla="*/ 28 h 36"/>
                <a:gd name="T36" fmla="*/ 14 w 35"/>
                <a:gd name="T37" fmla="*/ 31 h 36"/>
                <a:gd name="T38" fmla="*/ 14 w 35"/>
                <a:gd name="T39" fmla="*/ 36 h 36"/>
                <a:gd name="T40" fmla="*/ 22 w 35"/>
                <a:gd name="T41" fmla="*/ 36 h 36"/>
                <a:gd name="T42" fmla="*/ 22 w 35"/>
                <a:gd name="T43" fmla="*/ 31 h 36"/>
                <a:gd name="T44" fmla="*/ 27 w 35"/>
                <a:gd name="T45" fmla="*/ 28 h 36"/>
                <a:gd name="T46" fmla="*/ 31 w 35"/>
                <a:gd name="T47" fmla="*/ 30 h 36"/>
                <a:gd name="T48" fmla="*/ 35 w 35"/>
                <a:gd name="T49" fmla="*/ 24 h 36"/>
                <a:gd name="T50" fmla="*/ 31 w 35"/>
                <a:gd name="T51" fmla="*/ 21 h 36"/>
                <a:gd name="T52" fmla="*/ 32 w 35"/>
                <a:gd name="T53" fmla="*/ 18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5" h="36">
                  <a:moveTo>
                    <a:pt x="32" y="18"/>
                  </a:moveTo>
                  <a:cubicBezTo>
                    <a:pt x="32" y="17"/>
                    <a:pt x="32" y="16"/>
                    <a:pt x="31" y="15"/>
                  </a:cubicBezTo>
                  <a:cubicBezTo>
                    <a:pt x="35" y="12"/>
                    <a:pt x="35" y="12"/>
                    <a:pt x="35" y="12"/>
                  </a:cubicBezTo>
                  <a:cubicBezTo>
                    <a:pt x="31" y="6"/>
                    <a:pt x="31" y="6"/>
                    <a:pt x="31" y="6"/>
                  </a:cubicBezTo>
                  <a:cubicBezTo>
                    <a:pt x="27" y="8"/>
                    <a:pt x="27" y="8"/>
                    <a:pt x="27" y="8"/>
                  </a:cubicBezTo>
                  <a:cubicBezTo>
                    <a:pt x="26" y="6"/>
                    <a:pt x="24" y="5"/>
                    <a:pt x="22" y="5"/>
                  </a:cubicBezTo>
                  <a:cubicBezTo>
                    <a:pt x="22" y="0"/>
                    <a:pt x="22" y="0"/>
                    <a:pt x="22" y="0"/>
                  </a:cubicBezTo>
                  <a:cubicBezTo>
                    <a:pt x="14" y="0"/>
                    <a:pt x="14" y="0"/>
                    <a:pt x="14" y="0"/>
                  </a:cubicBezTo>
                  <a:cubicBezTo>
                    <a:pt x="14" y="5"/>
                    <a:pt x="14" y="5"/>
                    <a:pt x="14" y="5"/>
                  </a:cubicBezTo>
                  <a:cubicBezTo>
                    <a:pt x="12" y="5"/>
                    <a:pt x="10" y="6"/>
                    <a:pt x="8" y="8"/>
                  </a:cubicBezTo>
                  <a:cubicBezTo>
                    <a:pt x="4" y="6"/>
                    <a:pt x="4" y="6"/>
                    <a:pt x="4" y="6"/>
                  </a:cubicBezTo>
                  <a:cubicBezTo>
                    <a:pt x="0" y="12"/>
                    <a:pt x="0" y="12"/>
                    <a:pt x="0" y="12"/>
                  </a:cubicBezTo>
                  <a:cubicBezTo>
                    <a:pt x="4" y="15"/>
                    <a:pt x="4" y="15"/>
                    <a:pt x="4" y="15"/>
                  </a:cubicBezTo>
                  <a:cubicBezTo>
                    <a:pt x="4" y="16"/>
                    <a:pt x="4" y="17"/>
                    <a:pt x="4" y="18"/>
                  </a:cubicBezTo>
                  <a:cubicBezTo>
                    <a:pt x="4" y="19"/>
                    <a:pt x="4" y="20"/>
                    <a:pt x="4" y="21"/>
                  </a:cubicBezTo>
                  <a:cubicBezTo>
                    <a:pt x="0" y="24"/>
                    <a:pt x="0" y="24"/>
                    <a:pt x="0" y="24"/>
                  </a:cubicBezTo>
                  <a:cubicBezTo>
                    <a:pt x="4" y="30"/>
                    <a:pt x="4" y="30"/>
                    <a:pt x="4" y="30"/>
                  </a:cubicBezTo>
                  <a:cubicBezTo>
                    <a:pt x="8" y="28"/>
                    <a:pt x="8" y="28"/>
                    <a:pt x="8" y="28"/>
                  </a:cubicBezTo>
                  <a:cubicBezTo>
                    <a:pt x="10" y="30"/>
                    <a:pt x="12" y="31"/>
                    <a:pt x="14" y="31"/>
                  </a:cubicBezTo>
                  <a:cubicBezTo>
                    <a:pt x="14" y="36"/>
                    <a:pt x="14" y="36"/>
                    <a:pt x="14" y="36"/>
                  </a:cubicBezTo>
                  <a:cubicBezTo>
                    <a:pt x="22" y="36"/>
                    <a:pt x="22" y="36"/>
                    <a:pt x="22" y="36"/>
                  </a:cubicBezTo>
                  <a:cubicBezTo>
                    <a:pt x="22" y="31"/>
                    <a:pt x="22" y="31"/>
                    <a:pt x="22" y="31"/>
                  </a:cubicBezTo>
                  <a:cubicBezTo>
                    <a:pt x="24" y="31"/>
                    <a:pt x="26" y="30"/>
                    <a:pt x="27" y="28"/>
                  </a:cubicBezTo>
                  <a:cubicBezTo>
                    <a:pt x="31" y="30"/>
                    <a:pt x="31" y="30"/>
                    <a:pt x="31" y="30"/>
                  </a:cubicBezTo>
                  <a:cubicBezTo>
                    <a:pt x="35" y="24"/>
                    <a:pt x="35" y="24"/>
                    <a:pt x="35" y="24"/>
                  </a:cubicBezTo>
                  <a:cubicBezTo>
                    <a:pt x="31" y="21"/>
                    <a:pt x="31" y="21"/>
                    <a:pt x="31" y="21"/>
                  </a:cubicBezTo>
                  <a:cubicBezTo>
                    <a:pt x="32" y="20"/>
                    <a:pt x="32" y="19"/>
                    <a:pt x="32" y="18"/>
                  </a:cubicBezTo>
                  <a:close/>
                </a:path>
              </a:pathLst>
            </a:custGeom>
            <a:noFill/>
            <a:ln w="15875"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grpSp>
      <p:grpSp>
        <p:nvGrpSpPr>
          <p:cNvPr id="97" name="Group 96">
            <a:extLst>
              <a:ext uri="{FF2B5EF4-FFF2-40B4-BE49-F238E27FC236}">
                <a16:creationId xmlns:a16="http://schemas.microsoft.com/office/drawing/2014/main" id="{94243295-1E05-7F0A-1446-996788F10D7B}"/>
              </a:ext>
            </a:extLst>
          </p:cNvPr>
          <p:cNvGrpSpPr/>
          <p:nvPr/>
        </p:nvGrpSpPr>
        <p:grpSpPr>
          <a:xfrm>
            <a:off x="4539336" y="4152763"/>
            <a:ext cx="288925" cy="346075"/>
            <a:chOff x="2709863" y="5800726"/>
            <a:chExt cx="288925" cy="346075"/>
          </a:xfrm>
        </p:grpSpPr>
        <p:sp>
          <p:nvSpPr>
            <p:cNvPr id="98" name="Freeform 880">
              <a:extLst>
                <a:ext uri="{FF2B5EF4-FFF2-40B4-BE49-F238E27FC236}">
                  <a16:creationId xmlns:a16="http://schemas.microsoft.com/office/drawing/2014/main" id="{66E5C6B1-1E1A-F1C8-8BF4-B60027F2718C}"/>
                </a:ext>
              </a:extLst>
            </p:cNvPr>
            <p:cNvSpPr>
              <a:spLocks/>
            </p:cNvSpPr>
            <p:nvPr/>
          </p:nvSpPr>
          <p:spPr bwMode="auto">
            <a:xfrm>
              <a:off x="2720975" y="5921376"/>
              <a:ext cx="271463" cy="60325"/>
            </a:xfrm>
            <a:custGeom>
              <a:avLst/>
              <a:gdLst>
                <a:gd name="T0" fmla="*/ 0 w 72"/>
                <a:gd name="T1" fmla="*/ 0 h 16"/>
                <a:gd name="T2" fmla="*/ 0 w 72"/>
                <a:gd name="T3" fmla="*/ 0 h 16"/>
                <a:gd name="T4" fmla="*/ 16 w 72"/>
                <a:gd name="T5" fmla="*/ 16 h 16"/>
                <a:gd name="T6" fmla="*/ 72 w 72"/>
                <a:gd name="T7" fmla="*/ 16 h 16"/>
              </a:gdLst>
              <a:ahLst/>
              <a:cxnLst>
                <a:cxn ang="0">
                  <a:pos x="T0" y="T1"/>
                </a:cxn>
                <a:cxn ang="0">
                  <a:pos x="T2" y="T3"/>
                </a:cxn>
                <a:cxn ang="0">
                  <a:pos x="T4" y="T5"/>
                </a:cxn>
                <a:cxn ang="0">
                  <a:pos x="T6" y="T7"/>
                </a:cxn>
              </a:cxnLst>
              <a:rect l="0" t="0" r="r" b="b"/>
              <a:pathLst>
                <a:path w="72" h="16">
                  <a:moveTo>
                    <a:pt x="0" y="0"/>
                  </a:moveTo>
                  <a:cubicBezTo>
                    <a:pt x="0" y="0"/>
                    <a:pt x="0" y="0"/>
                    <a:pt x="0" y="0"/>
                  </a:cubicBezTo>
                  <a:cubicBezTo>
                    <a:pt x="0" y="9"/>
                    <a:pt x="7" y="16"/>
                    <a:pt x="16" y="16"/>
                  </a:cubicBezTo>
                  <a:cubicBezTo>
                    <a:pt x="72" y="16"/>
                    <a:pt x="72" y="16"/>
                    <a:pt x="72" y="16"/>
                  </a:cubicBezTo>
                </a:path>
              </a:pathLst>
            </a:cu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99" name="Line 881">
              <a:extLst>
                <a:ext uri="{FF2B5EF4-FFF2-40B4-BE49-F238E27FC236}">
                  <a16:creationId xmlns:a16="http://schemas.microsoft.com/office/drawing/2014/main" id="{5687AE9A-C2DB-62CF-0D24-DCEA8C814A5A}"/>
                </a:ext>
              </a:extLst>
            </p:cNvPr>
            <p:cNvSpPr>
              <a:spLocks noChangeShapeType="1"/>
            </p:cNvSpPr>
            <p:nvPr/>
          </p:nvSpPr>
          <p:spPr bwMode="auto">
            <a:xfrm flipV="1">
              <a:off x="2811463" y="5921376"/>
              <a:ext cx="0" cy="119063"/>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100" name="Line 882">
              <a:extLst>
                <a:ext uri="{FF2B5EF4-FFF2-40B4-BE49-F238E27FC236}">
                  <a16:creationId xmlns:a16="http://schemas.microsoft.com/office/drawing/2014/main" id="{3E069705-A2D4-1DE6-779E-C19CD4F3482A}"/>
                </a:ext>
              </a:extLst>
            </p:cNvPr>
            <p:cNvSpPr>
              <a:spLocks noChangeShapeType="1"/>
            </p:cNvSpPr>
            <p:nvPr/>
          </p:nvSpPr>
          <p:spPr bwMode="auto">
            <a:xfrm flipV="1">
              <a:off x="2901950" y="5921376"/>
              <a:ext cx="0" cy="119063"/>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101" name="Line 883">
              <a:extLst>
                <a:ext uri="{FF2B5EF4-FFF2-40B4-BE49-F238E27FC236}">
                  <a16:creationId xmlns:a16="http://schemas.microsoft.com/office/drawing/2014/main" id="{FEE2ED98-CCB4-2EC1-92F6-85FD42DD52C2}"/>
                </a:ext>
              </a:extLst>
            </p:cNvPr>
            <p:cNvSpPr>
              <a:spLocks noChangeShapeType="1"/>
            </p:cNvSpPr>
            <p:nvPr/>
          </p:nvSpPr>
          <p:spPr bwMode="auto">
            <a:xfrm flipV="1">
              <a:off x="2992438" y="5921376"/>
              <a:ext cx="0" cy="119063"/>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102" name="Freeform 884">
              <a:extLst>
                <a:ext uri="{FF2B5EF4-FFF2-40B4-BE49-F238E27FC236}">
                  <a16:creationId xmlns:a16="http://schemas.microsoft.com/office/drawing/2014/main" id="{1140B71E-385B-75C9-1EFC-17E2A03F9765}"/>
                </a:ext>
              </a:extLst>
            </p:cNvPr>
            <p:cNvSpPr>
              <a:spLocks/>
            </p:cNvSpPr>
            <p:nvPr/>
          </p:nvSpPr>
          <p:spPr bwMode="auto">
            <a:xfrm>
              <a:off x="2709863" y="5800726"/>
              <a:ext cx="30163" cy="63500"/>
            </a:xfrm>
            <a:custGeom>
              <a:avLst/>
              <a:gdLst>
                <a:gd name="T0" fmla="*/ 0 w 8"/>
                <a:gd name="T1" fmla="*/ 17 h 17"/>
                <a:gd name="T2" fmla="*/ 0 w 8"/>
                <a:gd name="T3" fmla="*/ 0 h 17"/>
                <a:gd name="T4" fmla="*/ 4 w 8"/>
                <a:gd name="T5" fmla="*/ 0 h 17"/>
                <a:gd name="T6" fmla="*/ 8 w 8"/>
                <a:gd name="T7" fmla="*/ 4 h 17"/>
                <a:gd name="T8" fmla="*/ 4 w 8"/>
                <a:gd name="T9" fmla="*/ 8 h 17"/>
                <a:gd name="T10" fmla="*/ 0 w 8"/>
                <a:gd name="T11" fmla="*/ 8 h 17"/>
              </a:gdLst>
              <a:ahLst/>
              <a:cxnLst>
                <a:cxn ang="0">
                  <a:pos x="T0" y="T1"/>
                </a:cxn>
                <a:cxn ang="0">
                  <a:pos x="T2" y="T3"/>
                </a:cxn>
                <a:cxn ang="0">
                  <a:pos x="T4" y="T5"/>
                </a:cxn>
                <a:cxn ang="0">
                  <a:pos x="T6" y="T7"/>
                </a:cxn>
                <a:cxn ang="0">
                  <a:pos x="T8" y="T9"/>
                </a:cxn>
                <a:cxn ang="0">
                  <a:pos x="T10" y="T11"/>
                </a:cxn>
              </a:cxnLst>
              <a:rect l="0" t="0" r="r" b="b"/>
              <a:pathLst>
                <a:path w="8" h="17">
                  <a:moveTo>
                    <a:pt x="0" y="17"/>
                  </a:moveTo>
                  <a:cubicBezTo>
                    <a:pt x="0" y="0"/>
                    <a:pt x="0" y="0"/>
                    <a:pt x="0" y="0"/>
                  </a:cubicBezTo>
                  <a:cubicBezTo>
                    <a:pt x="4" y="0"/>
                    <a:pt x="4" y="0"/>
                    <a:pt x="4" y="0"/>
                  </a:cubicBezTo>
                  <a:cubicBezTo>
                    <a:pt x="7" y="0"/>
                    <a:pt x="8" y="2"/>
                    <a:pt x="8" y="4"/>
                  </a:cubicBezTo>
                  <a:cubicBezTo>
                    <a:pt x="8" y="6"/>
                    <a:pt x="7" y="8"/>
                    <a:pt x="4" y="8"/>
                  </a:cubicBezTo>
                  <a:cubicBezTo>
                    <a:pt x="0" y="8"/>
                    <a:pt x="0" y="8"/>
                    <a:pt x="0" y="8"/>
                  </a:cubicBezTo>
                </a:path>
              </a:pathLst>
            </a:cu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103" name="Line 885">
              <a:extLst>
                <a:ext uri="{FF2B5EF4-FFF2-40B4-BE49-F238E27FC236}">
                  <a16:creationId xmlns:a16="http://schemas.microsoft.com/office/drawing/2014/main" id="{1E3DE94C-EA4D-6A5E-65CF-2B9305F53071}"/>
                </a:ext>
              </a:extLst>
            </p:cNvPr>
            <p:cNvSpPr>
              <a:spLocks noChangeShapeType="1"/>
            </p:cNvSpPr>
            <p:nvPr/>
          </p:nvSpPr>
          <p:spPr bwMode="auto">
            <a:xfrm>
              <a:off x="2725738" y="5830888"/>
              <a:ext cx="14288" cy="33338"/>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104" name="Freeform 886">
              <a:extLst>
                <a:ext uri="{FF2B5EF4-FFF2-40B4-BE49-F238E27FC236}">
                  <a16:creationId xmlns:a16="http://schemas.microsoft.com/office/drawing/2014/main" id="{C5E09651-030D-95C2-2E5D-BBB393BA5BD7}"/>
                </a:ext>
              </a:extLst>
            </p:cNvPr>
            <p:cNvSpPr>
              <a:spLocks/>
            </p:cNvSpPr>
            <p:nvPr/>
          </p:nvSpPr>
          <p:spPr bwMode="auto">
            <a:xfrm>
              <a:off x="2808288" y="5800726"/>
              <a:ext cx="7938" cy="63500"/>
            </a:xfrm>
            <a:custGeom>
              <a:avLst/>
              <a:gdLst>
                <a:gd name="T0" fmla="*/ 5 w 5"/>
                <a:gd name="T1" fmla="*/ 40 h 40"/>
                <a:gd name="T2" fmla="*/ 5 w 5"/>
                <a:gd name="T3" fmla="*/ 0 h 40"/>
                <a:gd name="T4" fmla="*/ 0 w 5"/>
                <a:gd name="T5" fmla="*/ 5 h 40"/>
              </a:gdLst>
              <a:ahLst/>
              <a:cxnLst>
                <a:cxn ang="0">
                  <a:pos x="T0" y="T1"/>
                </a:cxn>
                <a:cxn ang="0">
                  <a:pos x="T2" y="T3"/>
                </a:cxn>
                <a:cxn ang="0">
                  <a:pos x="T4" y="T5"/>
                </a:cxn>
              </a:cxnLst>
              <a:rect l="0" t="0" r="r" b="b"/>
              <a:pathLst>
                <a:path w="5" h="40">
                  <a:moveTo>
                    <a:pt x="5" y="40"/>
                  </a:moveTo>
                  <a:lnTo>
                    <a:pt x="5" y="0"/>
                  </a:lnTo>
                  <a:lnTo>
                    <a:pt x="0" y="5"/>
                  </a:lnTo>
                </a:path>
              </a:pathLst>
            </a:cu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105" name="Freeform 887">
              <a:extLst>
                <a:ext uri="{FF2B5EF4-FFF2-40B4-BE49-F238E27FC236}">
                  <a16:creationId xmlns:a16="http://schemas.microsoft.com/office/drawing/2014/main" id="{238FEDEB-9BFC-EA81-6267-10D1A417DCEA}"/>
                </a:ext>
              </a:extLst>
            </p:cNvPr>
            <p:cNvSpPr>
              <a:spLocks/>
            </p:cNvSpPr>
            <p:nvPr/>
          </p:nvSpPr>
          <p:spPr bwMode="auto">
            <a:xfrm>
              <a:off x="2879725" y="6081713"/>
              <a:ext cx="30163" cy="65088"/>
            </a:xfrm>
            <a:custGeom>
              <a:avLst/>
              <a:gdLst>
                <a:gd name="T0" fmla="*/ 16 w 19"/>
                <a:gd name="T1" fmla="*/ 41 h 41"/>
                <a:gd name="T2" fmla="*/ 16 w 19"/>
                <a:gd name="T3" fmla="*/ 0 h 41"/>
                <a:gd name="T4" fmla="*/ 0 w 19"/>
                <a:gd name="T5" fmla="*/ 27 h 41"/>
                <a:gd name="T6" fmla="*/ 19 w 19"/>
                <a:gd name="T7" fmla="*/ 27 h 41"/>
              </a:gdLst>
              <a:ahLst/>
              <a:cxnLst>
                <a:cxn ang="0">
                  <a:pos x="T0" y="T1"/>
                </a:cxn>
                <a:cxn ang="0">
                  <a:pos x="T2" y="T3"/>
                </a:cxn>
                <a:cxn ang="0">
                  <a:pos x="T4" y="T5"/>
                </a:cxn>
                <a:cxn ang="0">
                  <a:pos x="T6" y="T7"/>
                </a:cxn>
              </a:cxnLst>
              <a:rect l="0" t="0" r="r" b="b"/>
              <a:pathLst>
                <a:path w="19" h="41">
                  <a:moveTo>
                    <a:pt x="16" y="41"/>
                  </a:moveTo>
                  <a:lnTo>
                    <a:pt x="16" y="0"/>
                  </a:lnTo>
                  <a:lnTo>
                    <a:pt x="0" y="27"/>
                  </a:lnTo>
                  <a:lnTo>
                    <a:pt x="19" y="27"/>
                  </a:lnTo>
                </a:path>
              </a:pathLst>
            </a:cu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106" name="Oval 888">
              <a:extLst>
                <a:ext uri="{FF2B5EF4-FFF2-40B4-BE49-F238E27FC236}">
                  <a16:creationId xmlns:a16="http://schemas.microsoft.com/office/drawing/2014/main" id="{C3B26357-418D-B1F1-DE0B-14CA74A4C5F9}"/>
                </a:ext>
              </a:extLst>
            </p:cNvPr>
            <p:cNvSpPr>
              <a:spLocks noChangeArrowheads="1"/>
            </p:cNvSpPr>
            <p:nvPr/>
          </p:nvSpPr>
          <p:spPr bwMode="auto">
            <a:xfrm>
              <a:off x="2970213" y="6108701"/>
              <a:ext cx="28575" cy="38100"/>
            </a:xfrm>
            <a:prstGeom prst="ellipse">
              <a:avLst/>
            </a:pr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107" name="Freeform 889">
              <a:extLst>
                <a:ext uri="{FF2B5EF4-FFF2-40B4-BE49-F238E27FC236}">
                  <a16:creationId xmlns:a16="http://schemas.microsoft.com/office/drawing/2014/main" id="{C5AE915D-3B62-08F0-4A3E-5C08AECBC7D7}"/>
                </a:ext>
              </a:extLst>
            </p:cNvPr>
            <p:cNvSpPr>
              <a:spLocks/>
            </p:cNvSpPr>
            <p:nvPr/>
          </p:nvSpPr>
          <p:spPr bwMode="auto">
            <a:xfrm>
              <a:off x="2970213" y="6081713"/>
              <a:ext cx="22225" cy="46038"/>
            </a:xfrm>
            <a:custGeom>
              <a:avLst/>
              <a:gdLst>
                <a:gd name="T0" fmla="*/ 6 w 6"/>
                <a:gd name="T1" fmla="*/ 0 h 12"/>
                <a:gd name="T2" fmla="*/ 0 w 6"/>
                <a:gd name="T3" fmla="*/ 7 h 12"/>
                <a:gd name="T4" fmla="*/ 0 w 6"/>
                <a:gd name="T5" fmla="*/ 12 h 12"/>
              </a:gdLst>
              <a:ahLst/>
              <a:cxnLst>
                <a:cxn ang="0">
                  <a:pos x="T0" y="T1"/>
                </a:cxn>
                <a:cxn ang="0">
                  <a:pos x="T2" y="T3"/>
                </a:cxn>
                <a:cxn ang="0">
                  <a:pos x="T4" y="T5"/>
                </a:cxn>
              </a:cxnLst>
              <a:rect l="0" t="0" r="r" b="b"/>
              <a:pathLst>
                <a:path w="6" h="12">
                  <a:moveTo>
                    <a:pt x="6" y="0"/>
                  </a:moveTo>
                  <a:cubicBezTo>
                    <a:pt x="0" y="0"/>
                    <a:pt x="0" y="5"/>
                    <a:pt x="0" y="7"/>
                  </a:cubicBezTo>
                  <a:cubicBezTo>
                    <a:pt x="0" y="12"/>
                    <a:pt x="0" y="12"/>
                    <a:pt x="0" y="12"/>
                  </a:cubicBezTo>
                </a:path>
              </a:pathLst>
            </a:cu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108" name="Freeform 890">
              <a:extLst>
                <a:ext uri="{FF2B5EF4-FFF2-40B4-BE49-F238E27FC236}">
                  <a16:creationId xmlns:a16="http://schemas.microsoft.com/office/drawing/2014/main" id="{B1AB53D5-99AC-FA5E-6A69-1986AC96261B}"/>
                </a:ext>
              </a:extLst>
            </p:cNvPr>
            <p:cNvSpPr>
              <a:spLocks/>
            </p:cNvSpPr>
            <p:nvPr/>
          </p:nvSpPr>
          <p:spPr bwMode="auto">
            <a:xfrm>
              <a:off x="2970213" y="5800726"/>
              <a:ext cx="25400" cy="63500"/>
            </a:xfrm>
            <a:custGeom>
              <a:avLst/>
              <a:gdLst>
                <a:gd name="T0" fmla="*/ 7 w 7"/>
                <a:gd name="T1" fmla="*/ 0 h 17"/>
                <a:gd name="T2" fmla="*/ 0 w 7"/>
                <a:gd name="T3" fmla="*/ 0 h 17"/>
                <a:gd name="T4" fmla="*/ 0 w 7"/>
                <a:gd name="T5" fmla="*/ 8 h 17"/>
                <a:gd name="T6" fmla="*/ 4 w 7"/>
                <a:gd name="T7" fmla="*/ 8 h 17"/>
                <a:gd name="T8" fmla="*/ 7 w 7"/>
                <a:gd name="T9" fmla="*/ 12 h 17"/>
                <a:gd name="T10" fmla="*/ 4 w 7"/>
                <a:gd name="T11" fmla="*/ 17 h 17"/>
                <a:gd name="T12" fmla="*/ 0 w 7"/>
                <a:gd name="T13" fmla="*/ 17 h 17"/>
              </a:gdLst>
              <a:ahLst/>
              <a:cxnLst>
                <a:cxn ang="0">
                  <a:pos x="T0" y="T1"/>
                </a:cxn>
                <a:cxn ang="0">
                  <a:pos x="T2" y="T3"/>
                </a:cxn>
                <a:cxn ang="0">
                  <a:pos x="T4" y="T5"/>
                </a:cxn>
                <a:cxn ang="0">
                  <a:pos x="T6" y="T7"/>
                </a:cxn>
                <a:cxn ang="0">
                  <a:pos x="T8" y="T9"/>
                </a:cxn>
                <a:cxn ang="0">
                  <a:pos x="T10" y="T11"/>
                </a:cxn>
                <a:cxn ang="0">
                  <a:pos x="T12" y="T13"/>
                </a:cxn>
              </a:cxnLst>
              <a:rect l="0" t="0" r="r" b="b"/>
              <a:pathLst>
                <a:path w="7" h="17">
                  <a:moveTo>
                    <a:pt x="7" y="0"/>
                  </a:moveTo>
                  <a:cubicBezTo>
                    <a:pt x="0" y="0"/>
                    <a:pt x="0" y="0"/>
                    <a:pt x="0" y="0"/>
                  </a:cubicBezTo>
                  <a:cubicBezTo>
                    <a:pt x="0" y="8"/>
                    <a:pt x="0" y="8"/>
                    <a:pt x="0" y="8"/>
                  </a:cubicBezTo>
                  <a:cubicBezTo>
                    <a:pt x="4" y="8"/>
                    <a:pt x="4" y="8"/>
                    <a:pt x="4" y="8"/>
                  </a:cubicBezTo>
                  <a:cubicBezTo>
                    <a:pt x="7" y="8"/>
                    <a:pt x="7" y="11"/>
                    <a:pt x="7" y="12"/>
                  </a:cubicBezTo>
                  <a:cubicBezTo>
                    <a:pt x="7" y="14"/>
                    <a:pt x="7" y="17"/>
                    <a:pt x="4" y="17"/>
                  </a:cubicBezTo>
                  <a:cubicBezTo>
                    <a:pt x="0" y="17"/>
                    <a:pt x="0" y="17"/>
                    <a:pt x="0" y="17"/>
                  </a:cubicBezTo>
                </a:path>
              </a:pathLst>
            </a:cu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109" name="Freeform 891">
              <a:extLst>
                <a:ext uri="{FF2B5EF4-FFF2-40B4-BE49-F238E27FC236}">
                  <a16:creationId xmlns:a16="http://schemas.microsoft.com/office/drawing/2014/main" id="{A48423B5-E9F2-9BF9-F360-769F07FC77DE}"/>
                </a:ext>
              </a:extLst>
            </p:cNvPr>
            <p:cNvSpPr>
              <a:spLocks/>
            </p:cNvSpPr>
            <p:nvPr/>
          </p:nvSpPr>
          <p:spPr bwMode="auto">
            <a:xfrm>
              <a:off x="2800350" y="6081713"/>
              <a:ext cx="30163" cy="65088"/>
            </a:xfrm>
            <a:custGeom>
              <a:avLst/>
              <a:gdLst>
                <a:gd name="T0" fmla="*/ 0 w 8"/>
                <a:gd name="T1" fmla="*/ 4 h 17"/>
                <a:gd name="T2" fmla="*/ 4 w 8"/>
                <a:gd name="T3" fmla="*/ 0 h 17"/>
                <a:gd name="T4" fmla="*/ 8 w 8"/>
                <a:gd name="T5" fmla="*/ 4 h 17"/>
                <a:gd name="T6" fmla="*/ 7 w 8"/>
                <a:gd name="T7" fmla="*/ 6 h 17"/>
                <a:gd name="T8" fmla="*/ 0 w 8"/>
                <a:gd name="T9" fmla="*/ 17 h 17"/>
                <a:gd name="T10" fmla="*/ 8 w 8"/>
                <a:gd name="T11" fmla="*/ 17 h 17"/>
              </a:gdLst>
              <a:ahLst/>
              <a:cxnLst>
                <a:cxn ang="0">
                  <a:pos x="T0" y="T1"/>
                </a:cxn>
                <a:cxn ang="0">
                  <a:pos x="T2" y="T3"/>
                </a:cxn>
                <a:cxn ang="0">
                  <a:pos x="T4" y="T5"/>
                </a:cxn>
                <a:cxn ang="0">
                  <a:pos x="T6" y="T7"/>
                </a:cxn>
                <a:cxn ang="0">
                  <a:pos x="T8" y="T9"/>
                </a:cxn>
                <a:cxn ang="0">
                  <a:pos x="T10" y="T11"/>
                </a:cxn>
              </a:cxnLst>
              <a:rect l="0" t="0" r="r" b="b"/>
              <a:pathLst>
                <a:path w="8" h="17">
                  <a:moveTo>
                    <a:pt x="0" y="4"/>
                  </a:moveTo>
                  <a:cubicBezTo>
                    <a:pt x="0" y="2"/>
                    <a:pt x="1" y="0"/>
                    <a:pt x="4" y="0"/>
                  </a:cubicBezTo>
                  <a:cubicBezTo>
                    <a:pt x="6" y="0"/>
                    <a:pt x="8" y="2"/>
                    <a:pt x="8" y="4"/>
                  </a:cubicBezTo>
                  <a:cubicBezTo>
                    <a:pt x="8" y="5"/>
                    <a:pt x="7" y="6"/>
                    <a:pt x="7" y="6"/>
                  </a:cubicBezTo>
                  <a:cubicBezTo>
                    <a:pt x="0" y="17"/>
                    <a:pt x="0" y="17"/>
                    <a:pt x="0" y="17"/>
                  </a:cubicBezTo>
                  <a:cubicBezTo>
                    <a:pt x="8" y="17"/>
                    <a:pt x="8" y="17"/>
                    <a:pt x="8" y="17"/>
                  </a:cubicBezTo>
                </a:path>
              </a:pathLst>
            </a:cu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110" name="Freeform 892">
              <a:extLst>
                <a:ext uri="{FF2B5EF4-FFF2-40B4-BE49-F238E27FC236}">
                  <a16:creationId xmlns:a16="http://schemas.microsoft.com/office/drawing/2014/main" id="{EF83CAC6-8401-FB1D-89F8-E5D8FCCAD118}"/>
                </a:ext>
              </a:extLst>
            </p:cNvPr>
            <p:cNvSpPr>
              <a:spLocks/>
            </p:cNvSpPr>
            <p:nvPr/>
          </p:nvSpPr>
          <p:spPr bwMode="auto">
            <a:xfrm>
              <a:off x="2879725" y="5800726"/>
              <a:ext cx="30163" cy="30163"/>
            </a:xfrm>
            <a:custGeom>
              <a:avLst/>
              <a:gdLst>
                <a:gd name="T0" fmla="*/ 0 w 8"/>
                <a:gd name="T1" fmla="*/ 4 h 8"/>
                <a:gd name="T2" fmla="*/ 4 w 8"/>
                <a:gd name="T3" fmla="*/ 0 h 8"/>
                <a:gd name="T4" fmla="*/ 8 w 8"/>
                <a:gd name="T5" fmla="*/ 4 h 8"/>
                <a:gd name="T6" fmla="*/ 4 w 8"/>
                <a:gd name="T7" fmla="*/ 8 h 8"/>
              </a:gdLst>
              <a:ahLst/>
              <a:cxnLst>
                <a:cxn ang="0">
                  <a:pos x="T0" y="T1"/>
                </a:cxn>
                <a:cxn ang="0">
                  <a:pos x="T2" y="T3"/>
                </a:cxn>
                <a:cxn ang="0">
                  <a:pos x="T4" y="T5"/>
                </a:cxn>
                <a:cxn ang="0">
                  <a:pos x="T6" y="T7"/>
                </a:cxn>
              </a:cxnLst>
              <a:rect l="0" t="0" r="r" b="b"/>
              <a:pathLst>
                <a:path w="8" h="8">
                  <a:moveTo>
                    <a:pt x="0" y="4"/>
                  </a:moveTo>
                  <a:cubicBezTo>
                    <a:pt x="0" y="2"/>
                    <a:pt x="1" y="0"/>
                    <a:pt x="4" y="0"/>
                  </a:cubicBezTo>
                  <a:cubicBezTo>
                    <a:pt x="7" y="0"/>
                    <a:pt x="8" y="3"/>
                    <a:pt x="8" y="4"/>
                  </a:cubicBezTo>
                  <a:cubicBezTo>
                    <a:pt x="8" y="6"/>
                    <a:pt x="7" y="8"/>
                    <a:pt x="4" y="8"/>
                  </a:cubicBezTo>
                </a:path>
              </a:pathLst>
            </a:cu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111" name="Freeform 893">
              <a:extLst>
                <a:ext uri="{FF2B5EF4-FFF2-40B4-BE49-F238E27FC236}">
                  <a16:creationId xmlns:a16="http://schemas.microsoft.com/office/drawing/2014/main" id="{F054196A-5B62-B12D-2873-928BCF59F860}"/>
                </a:ext>
              </a:extLst>
            </p:cNvPr>
            <p:cNvSpPr>
              <a:spLocks/>
            </p:cNvSpPr>
            <p:nvPr/>
          </p:nvSpPr>
          <p:spPr bwMode="auto">
            <a:xfrm>
              <a:off x="2879725" y="5830888"/>
              <a:ext cx="30163" cy="33338"/>
            </a:xfrm>
            <a:custGeom>
              <a:avLst/>
              <a:gdLst>
                <a:gd name="T0" fmla="*/ 0 w 8"/>
                <a:gd name="T1" fmla="*/ 5 h 9"/>
                <a:gd name="T2" fmla="*/ 4 w 8"/>
                <a:gd name="T3" fmla="*/ 9 h 9"/>
                <a:gd name="T4" fmla="*/ 8 w 8"/>
                <a:gd name="T5" fmla="*/ 5 h 9"/>
                <a:gd name="T6" fmla="*/ 4 w 8"/>
                <a:gd name="T7" fmla="*/ 0 h 9"/>
              </a:gdLst>
              <a:ahLst/>
              <a:cxnLst>
                <a:cxn ang="0">
                  <a:pos x="T0" y="T1"/>
                </a:cxn>
                <a:cxn ang="0">
                  <a:pos x="T2" y="T3"/>
                </a:cxn>
                <a:cxn ang="0">
                  <a:pos x="T4" y="T5"/>
                </a:cxn>
                <a:cxn ang="0">
                  <a:pos x="T6" y="T7"/>
                </a:cxn>
              </a:cxnLst>
              <a:rect l="0" t="0" r="r" b="b"/>
              <a:pathLst>
                <a:path w="8" h="9">
                  <a:moveTo>
                    <a:pt x="0" y="5"/>
                  </a:moveTo>
                  <a:cubicBezTo>
                    <a:pt x="0" y="7"/>
                    <a:pt x="1" y="9"/>
                    <a:pt x="4" y="9"/>
                  </a:cubicBezTo>
                  <a:cubicBezTo>
                    <a:pt x="7" y="9"/>
                    <a:pt x="8" y="6"/>
                    <a:pt x="8" y="5"/>
                  </a:cubicBezTo>
                  <a:cubicBezTo>
                    <a:pt x="8" y="3"/>
                    <a:pt x="7" y="0"/>
                    <a:pt x="4" y="0"/>
                  </a:cubicBezTo>
                </a:path>
              </a:pathLst>
            </a:cu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grpSp>
      <p:sp>
        <p:nvSpPr>
          <p:cNvPr id="4" name="Slide Number Placeholder 3">
            <a:extLst>
              <a:ext uri="{FF2B5EF4-FFF2-40B4-BE49-F238E27FC236}">
                <a16:creationId xmlns:a16="http://schemas.microsoft.com/office/drawing/2014/main" id="{6159870B-D262-91BE-7F9D-16B51D0888DB}"/>
              </a:ext>
            </a:extLst>
          </p:cNvPr>
          <p:cNvSpPr>
            <a:spLocks noGrp="1"/>
          </p:cNvSpPr>
          <p:nvPr>
            <p:ph type="sldNum" sz="quarter" idx="12"/>
          </p:nvPr>
        </p:nvSpPr>
        <p:spPr/>
        <p:txBody>
          <a:bodyPr/>
          <a:lstStyle/>
          <a:p>
            <a:fld id="{0BA98121-C0ED-4D12-A058-5C29F4DDA5D5}" type="slidenum">
              <a:rPr lang="en-ID" smtClean="0">
                <a:solidFill>
                  <a:schemeClr val="bg1"/>
                </a:solidFill>
              </a:rPr>
              <a:t>2</a:t>
            </a:fld>
            <a:endParaRPr lang="en-ID" dirty="0">
              <a:solidFill>
                <a:schemeClr val="bg1"/>
              </a:solidFill>
            </a:endParaRPr>
          </a:p>
        </p:txBody>
      </p:sp>
    </p:spTree>
    <p:extLst>
      <p:ext uri="{BB962C8B-B14F-4D97-AF65-F5344CB8AC3E}">
        <p14:creationId xmlns:p14="http://schemas.microsoft.com/office/powerpoint/2010/main" val="17290284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5">
            <a:extLst>
              <a:ext uri="{FF2B5EF4-FFF2-40B4-BE49-F238E27FC236}">
                <a16:creationId xmlns:a16="http://schemas.microsoft.com/office/drawing/2014/main" id="{00A14A9A-B624-6A57-6235-15FC018C538B}"/>
              </a:ext>
            </a:extLst>
          </p:cNvPr>
          <p:cNvSpPr/>
          <p:nvPr/>
        </p:nvSpPr>
        <p:spPr>
          <a:xfrm>
            <a:off x="7141959" y="0"/>
            <a:ext cx="5050041" cy="5915145"/>
          </a:xfrm>
          <a:prstGeom prst="rect">
            <a:avLst/>
          </a:prstGeom>
          <a:solidFill>
            <a:srgbClr val="264A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7CC6FF"/>
              </a:solidFill>
            </a:endParaRPr>
          </a:p>
        </p:txBody>
      </p:sp>
      <p:sp>
        <p:nvSpPr>
          <p:cNvPr id="2" name="Title 1">
            <a:extLst>
              <a:ext uri="{FF2B5EF4-FFF2-40B4-BE49-F238E27FC236}">
                <a16:creationId xmlns:a16="http://schemas.microsoft.com/office/drawing/2014/main" id="{58D1A097-3982-2395-C092-2D923FF0197C}"/>
              </a:ext>
            </a:extLst>
          </p:cNvPr>
          <p:cNvSpPr>
            <a:spLocks noGrp="1"/>
          </p:cNvSpPr>
          <p:nvPr>
            <p:ph type="title"/>
          </p:nvPr>
        </p:nvSpPr>
        <p:spPr>
          <a:xfrm>
            <a:off x="-4935" y="-179848"/>
            <a:ext cx="7665171" cy="1429953"/>
          </a:xfrm>
        </p:spPr>
        <p:txBody>
          <a:bodyPr>
            <a:noAutofit/>
          </a:bodyPr>
          <a:lstStyle/>
          <a:p>
            <a:r>
              <a:rPr lang="en-US" sz="3600">
                <a:latin typeface="Segoe UI"/>
                <a:cs typeface="Segoe UI"/>
              </a:rPr>
              <a:t>Feature Types &amp; Data Challenges</a:t>
            </a:r>
          </a:p>
        </p:txBody>
      </p:sp>
      <p:sp>
        <p:nvSpPr>
          <p:cNvPr id="9" name="Rectangle 8">
            <a:extLst>
              <a:ext uri="{FF2B5EF4-FFF2-40B4-BE49-F238E27FC236}">
                <a16:creationId xmlns:a16="http://schemas.microsoft.com/office/drawing/2014/main" id="{84284CDE-6A69-ED8B-6971-73CB13CC3B74}"/>
              </a:ext>
            </a:extLst>
          </p:cNvPr>
          <p:cNvSpPr/>
          <p:nvPr/>
        </p:nvSpPr>
        <p:spPr>
          <a:xfrm>
            <a:off x="149392" y="1327460"/>
            <a:ext cx="772960" cy="772960"/>
          </a:xfrm>
          <a:prstGeom prst="rect">
            <a:avLst/>
          </a:prstGeom>
          <a:solidFill>
            <a:srgbClr val="FE10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1" name="Rectangle 10">
            <a:extLst>
              <a:ext uri="{FF2B5EF4-FFF2-40B4-BE49-F238E27FC236}">
                <a16:creationId xmlns:a16="http://schemas.microsoft.com/office/drawing/2014/main" id="{EC3C8DCC-43DD-DC99-4524-073C4AFED3DA}"/>
              </a:ext>
            </a:extLst>
          </p:cNvPr>
          <p:cNvSpPr/>
          <p:nvPr/>
        </p:nvSpPr>
        <p:spPr>
          <a:xfrm>
            <a:off x="535215" y="3138376"/>
            <a:ext cx="2750530" cy="772961"/>
          </a:xfrm>
          <a:prstGeom prst="rect">
            <a:avLst/>
          </a:prstGeom>
        </p:spPr>
        <p:txBody>
          <a:bodyPr wrap="square" lIns="0" tIns="0" rIns="0" bIns="0" anchor="t" anchorCtr="0">
            <a:noAutofit/>
          </a:bodyPr>
          <a:lstStyle/>
          <a:p>
            <a:pPr lvl="0"/>
            <a:endParaRPr lang="en-US">
              <a:latin typeface="Calibri"/>
              <a:ea typeface="Calibri"/>
              <a:cs typeface="Calibri"/>
            </a:endParaRPr>
          </a:p>
        </p:txBody>
      </p:sp>
      <p:sp>
        <p:nvSpPr>
          <p:cNvPr id="12" name="Rectangle 11">
            <a:extLst>
              <a:ext uri="{FF2B5EF4-FFF2-40B4-BE49-F238E27FC236}">
                <a16:creationId xmlns:a16="http://schemas.microsoft.com/office/drawing/2014/main" id="{120C3CBA-1F5B-906F-8C08-CA8184AADEFA}"/>
              </a:ext>
            </a:extLst>
          </p:cNvPr>
          <p:cNvSpPr/>
          <p:nvPr/>
        </p:nvSpPr>
        <p:spPr>
          <a:xfrm>
            <a:off x="1094424" y="1522743"/>
            <a:ext cx="4785744" cy="2229442"/>
          </a:xfrm>
          <a:prstGeom prst="rect">
            <a:avLst/>
          </a:prstGeom>
        </p:spPr>
        <p:txBody>
          <a:bodyPr wrap="square" lIns="0" tIns="0" rIns="0" bIns="0" anchor="t" anchorCtr="0">
            <a:noAutofit/>
          </a:bodyPr>
          <a:lstStyle/>
          <a:p>
            <a:pPr marL="285750" indent="-285750">
              <a:buFont typeface="Arial"/>
              <a:buChar char="•"/>
            </a:pPr>
            <a:r>
              <a:rPr lang="en-US" sz="2400" b="1">
                <a:latin typeface="Calibri"/>
                <a:ea typeface="Calibri"/>
                <a:cs typeface="Calibri"/>
              </a:rPr>
              <a:t>Features</a:t>
            </a:r>
            <a:r>
              <a:rPr lang="en-US" sz="2400" b="1">
                <a:ea typeface="+mn-lt"/>
                <a:cs typeface="+mn-lt"/>
              </a:rPr>
              <a:t> grouped by suffix:</a:t>
            </a:r>
            <a:endParaRPr lang="en-US" sz="2400" b="1">
              <a:latin typeface="Segoe UI" panose="020B0502040204020203" pitchFamily="34" charset="0"/>
              <a:cs typeface="Segoe UI" panose="020B0502040204020203" pitchFamily="34" charset="0"/>
            </a:endParaRPr>
          </a:p>
          <a:p>
            <a:pPr>
              <a:spcBef>
                <a:spcPct val="0"/>
              </a:spcBef>
            </a:pPr>
            <a:r>
              <a:rPr lang="en-US" sz="2400">
                <a:ea typeface="+mn-lt"/>
                <a:cs typeface="+mn-lt"/>
              </a:rPr>
              <a:t>     -- Continuous</a:t>
            </a:r>
            <a:endParaRPr lang="en-US" sz="2400">
              <a:ea typeface="Calibri" panose="020F0502020204030204"/>
              <a:cs typeface="Calibri" panose="020F0502020204030204"/>
            </a:endParaRPr>
          </a:p>
          <a:p>
            <a:pPr>
              <a:spcBef>
                <a:spcPct val="0"/>
              </a:spcBef>
            </a:pPr>
            <a:r>
              <a:rPr lang="en-US" sz="2400">
                <a:ea typeface="+mn-lt"/>
                <a:cs typeface="+mn-lt"/>
              </a:rPr>
              <a:t>     -- Binary (_bin)</a:t>
            </a:r>
            <a:endParaRPr lang="en-US" sz="2400">
              <a:ea typeface="Calibri" panose="020F0502020204030204"/>
              <a:cs typeface="Calibri" panose="020F0502020204030204"/>
            </a:endParaRPr>
          </a:p>
          <a:p>
            <a:pPr>
              <a:spcBef>
                <a:spcPct val="0"/>
              </a:spcBef>
            </a:pPr>
            <a:r>
              <a:rPr lang="en-US" sz="2400">
                <a:ea typeface="+mn-lt"/>
                <a:cs typeface="+mn-lt"/>
              </a:rPr>
              <a:t>     -- Categorical (_cat)</a:t>
            </a:r>
            <a:endParaRPr lang="en-US" sz="2400">
              <a:ea typeface="Calibri" panose="020F0502020204030204"/>
              <a:cs typeface="Calibri" panose="020F0502020204030204"/>
            </a:endParaRPr>
          </a:p>
          <a:p>
            <a:endParaRPr lang="en-US" sz="2400">
              <a:ea typeface="+mn-lt"/>
              <a:cs typeface="+mn-lt"/>
            </a:endParaRPr>
          </a:p>
          <a:p>
            <a:pPr marL="285750" indent="-285750">
              <a:buFont typeface="Arial"/>
              <a:buChar char="•"/>
            </a:pPr>
            <a:r>
              <a:rPr lang="en-US" sz="2400" b="1">
                <a:ea typeface="+mn-lt"/>
                <a:cs typeface="+mn-lt"/>
              </a:rPr>
              <a:t>Missing values encoded as −1</a:t>
            </a:r>
            <a:endParaRPr lang="en-US" sz="2400">
              <a:ea typeface="Calibri" panose="020F0502020204030204"/>
              <a:cs typeface="Calibri" panose="020F0502020204030204"/>
            </a:endParaRPr>
          </a:p>
          <a:p>
            <a:endParaRPr lang="en-US" sz="2400" b="1">
              <a:ea typeface="+mn-lt"/>
              <a:cs typeface="+mn-lt"/>
            </a:endParaRPr>
          </a:p>
          <a:p>
            <a:pPr marL="285750" indent="-285750">
              <a:buFont typeface="Arial"/>
              <a:buChar char="•"/>
            </a:pPr>
            <a:r>
              <a:rPr lang="en-US" sz="2400" b="1">
                <a:ea typeface="+mn-lt"/>
                <a:cs typeface="+mn-lt"/>
              </a:rPr>
              <a:t>Anonymized features → no manual feature engineering</a:t>
            </a:r>
            <a:endParaRPr lang="en-US" sz="2400" b="1">
              <a:ea typeface="Calibri" panose="020F0502020204030204"/>
              <a:cs typeface="Calibri" panose="020F0502020204030204"/>
            </a:endParaRPr>
          </a:p>
          <a:p>
            <a:pPr lvl="0"/>
            <a:endParaRPr lang="en-US" sz="2000" b="1" dirty="0">
              <a:latin typeface="Segoe UI" panose="020B0502040204020203" pitchFamily="34" charset="0"/>
              <a:cs typeface="Segoe UI" panose="020B0502040204020203" pitchFamily="34" charset="0"/>
            </a:endParaRPr>
          </a:p>
        </p:txBody>
      </p:sp>
      <p:grpSp>
        <p:nvGrpSpPr>
          <p:cNvPr id="15" name="Group 14">
            <a:extLst>
              <a:ext uri="{FF2B5EF4-FFF2-40B4-BE49-F238E27FC236}">
                <a16:creationId xmlns:a16="http://schemas.microsoft.com/office/drawing/2014/main" id="{3AFF48CF-5019-75D5-3735-6BECD6101D8A}"/>
              </a:ext>
            </a:extLst>
          </p:cNvPr>
          <p:cNvGrpSpPr/>
          <p:nvPr/>
        </p:nvGrpSpPr>
        <p:grpSpPr>
          <a:xfrm>
            <a:off x="370851" y="1523599"/>
            <a:ext cx="330042" cy="380683"/>
            <a:chOff x="7019925" y="2894013"/>
            <a:chExt cx="300038" cy="346075"/>
          </a:xfrm>
        </p:grpSpPr>
        <p:sp>
          <p:nvSpPr>
            <p:cNvPr id="16" name="Freeform 290">
              <a:extLst>
                <a:ext uri="{FF2B5EF4-FFF2-40B4-BE49-F238E27FC236}">
                  <a16:creationId xmlns:a16="http://schemas.microsoft.com/office/drawing/2014/main" id="{429AEF4E-D662-D445-F4D1-12FAAA8435C8}"/>
                </a:ext>
              </a:extLst>
            </p:cNvPr>
            <p:cNvSpPr>
              <a:spLocks/>
            </p:cNvSpPr>
            <p:nvPr/>
          </p:nvSpPr>
          <p:spPr bwMode="auto">
            <a:xfrm>
              <a:off x="7019925" y="2894013"/>
              <a:ext cx="300038" cy="346075"/>
            </a:xfrm>
            <a:custGeom>
              <a:avLst/>
              <a:gdLst>
                <a:gd name="T0" fmla="*/ 60 w 80"/>
                <a:gd name="T1" fmla="*/ 9 h 92"/>
                <a:gd name="T2" fmla="*/ 40 w 80"/>
                <a:gd name="T3" fmla="*/ 0 h 92"/>
                <a:gd name="T4" fmla="*/ 40 w 80"/>
                <a:gd name="T5" fmla="*/ 0 h 92"/>
                <a:gd name="T6" fmla="*/ 20 w 80"/>
                <a:gd name="T7" fmla="*/ 9 h 92"/>
                <a:gd name="T8" fmla="*/ 0 w 80"/>
                <a:gd name="T9" fmla="*/ 2 h 92"/>
                <a:gd name="T10" fmla="*/ 0 w 80"/>
                <a:gd name="T11" fmla="*/ 61 h 92"/>
                <a:gd name="T12" fmla="*/ 40 w 80"/>
                <a:gd name="T13" fmla="*/ 92 h 92"/>
                <a:gd name="T14" fmla="*/ 80 w 80"/>
                <a:gd name="T15" fmla="*/ 61 h 92"/>
                <a:gd name="T16" fmla="*/ 80 w 80"/>
                <a:gd name="T17" fmla="*/ 2 h 92"/>
                <a:gd name="T18" fmla="*/ 60 w 80"/>
                <a:gd name="T19" fmla="*/ 9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0" h="92">
                  <a:moveTo>
                    <a:pt x="60" y="9"/>
                  </a:moveTo>
                  <a:cubicBezTo>
                    <a:pt x="52" y="9"/>
                    <a:pt x="45" y="6"/>
                    <a:pt x="40" y="0"/>
                  </a:cubicBezTo>
                  <a:cubicBezTo>
                    <a:pt x="40" y="0"/>
                    <a:pt x="40" y="0"/>
                    <a:pt x="40" y="0"/>
                  </a:cubicBezTo>
                  <a:cubicBezTo>
                    <a:pt x="35" y="6"/>
                    <a:pt x="28" y="9"/>
                    <a:pt x="20" y="9"/>
                  </a:cubicBezTo>
                  <a:cubicBezTo>
                    <a:pt x="13" y="9"/>
                    <a:pt x="7" y="7"/>
                    <a:pt x="0" y="2"/>
                  </a:cubicBezTo>
                  <a:cubicBezTo>
                    <a:pt x="0" y="61"/>
                    <a:pt x="0" y="61"/>
                    <a:pt x="0" y="61"/>
                  </a:cubicBezTo>
                  <a:cubicBezTo>
                    <a:pt x="0" y="61"/>
                    <a:pt x="6" y="82"/>
                    <a:pt x="40" y="92"/>
                  </a:cubicBezTo>
                  <a:cubicBezTo>
                    <a:pt x="74" y="82"/>
                    <a:pt x="80" y="61"/>
                    <a:pt x="80" y="61"/>
                  </a:cubicBezTo>
                  <a:cubicBezTo>
                    <a:pt x="80" y="2"/>
                    <a:pt x="80" y="2"/>
                    <a:pt x="80" y="2"/>
                  </a:cubicBezTo>
                  <a:cubicBezTo>
                    <a:pt x="73" y="7"/>
                    <a:pt x="67" y="9"/>
                    <a:pt x="60" y="9"/>
                  </a:cubicBezTo>
                  <a:close/>
                </a:path>
              </a:pathLst>
            </a:custGeom>
            <a:noFill/>
            <a:ln w="14288"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17" name="Freeform 291">
              <a:extLst>
                <a:ext uri="{FF2B5EF4-FFF2-40B4-BE49-F238E27FC236}">
                  <a16:creationId xmlns:a16="http://schemas.microsoft.com/office/drawing/2014/main" id="{918D50A2-1270-CB99-5D85-0D210C5396BA}"/>
                </a:ext>
              </a:extLst>
            </p:cNvPr>
            <p:cNvSpPr>
              <a:spLocks/>
            </p:cNvSpPr>
            <p:nvPr/>
          </p:nvSpPr>
          <p:spPr bwMode="auto">
            <a:xfrm>
              <a:off x="7102475" y="3014663"/>
              <a:ext cx="158750" cy="131763"/>
            </a:xfrm>
            <a:custGeom>
              <a:avLst/>
              <a:gdLst>
                <a:gd name="T0" fmla="*/ 100 w 100"/>
                <a:gd name="T1" fmla="*/ 0 h 83"/>
                <a:gd name="T2" fmla="*/ 43 w 100"/>
                <a:gd name="T3" fmla="*/ 83 h 83"/>
                <a:gd name="T4" fmla="*/ 0 w 100"/>
                <a:gd name="T5" fmla="*/ 38 h 83"/>
              </a:gdLst>
              <a:ahLst/>
              <a:cxnLst>
                <a:cxn ang="0">
                  <a:pos x="T0" y="T1"/>
                </a:cxn>
                <a:cxn ang="0">
                  <a:pos x="T2" y="T3"/>
                </a:cxn>
                <a:cxn ang="0">
                  <a:pos x="T4" y="T5"/>
                </a:cxn>
              </a:cxnLst>
              <a:rect l="0" t="0" r="r" b="b"/>
              <a:pathLst>
                <a:path w="100" h="83">
                  <a:moveTo>
                    <a:pt x="100" y="0"/>
                  </a:moveTo>
                  <a:lnTo>
                    <a:pt x="43" y="83"/>
                  </a:lnTo>
                  <a:lnTo>
                    <a:pt x="0" y="38"/>
                  </a:lnTo>
                </a:path>
              </a:pathLst>
            </a:custGeom>
            <a:noFill/>
            <a:ln w="14288"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grpSp>
      <p:grpSp>
        <p:nvGrpSpPr>
          <p:cNvPr id="18" name="Group 17">
            <a:extLst>
              <a:ext uri="{FF2B5EF4-FFF2-40B4-BE49-F238E27FC236}">
                <a16:creationId xmlns:a16="http://schemas.microsoft.com/office/drawing/2014/main" id="{8FFD3597-D350-6513-A101-816C46977612}"/>
              </a:ext>
            </a:extLst>
          </p:cNvPr>
          <p:cNvGrpSpPr/>
          <p:nvPr/>
        </p:nvGrpSpPr>
        <p:grpSpPr>
          <a:xfrm>
            <a:off x="3935568" y="2275953"/>
            <a:ext cx="347504" cy="380683"/>
            <a:chOff x="10220929" y="2320926"/>
            <a:chExt cx="315913" cy="346075"/>
          </a:xfrm>
        </p:grpSpPr>
        <p:sp>
          <p:nvSpPr>
            <p:cNvPr id="19" name="Freeform 846">
              <a:extLst>
                <a:ext uri="{FF2B5EF4-FFF2-40B4-BE49-F238E27FC236}">
                  <a16:creationId xmlns:a16="http://schemas.microsoft.com/office/drawing/2014/main" id="{379783DE-1949-184A-CDF8-578A47820062}"/>
                </a:ext>
              </a:extLst>
            </p:cNvPr>
            <p:cNvSpPr>
              <a:spLocks/>
            </p:cNvSpPr>
            <p:nvPr/>
          </p:nvSpPr>
          <p:spPr bwMode="auto">
            <a:xfrm>
              <a:off x="10273317" y="2320926"/>
              <a:ext cx="263525" cy="203200"/>
            </a:xfrm>
            <a:custGeom>
              <a:avLst/>
              <a:gdLst>
                <a:gd name="T0" fmla="*/ 52 w 70"/>
                <a:gd name="T1" fmla="*/ 54 h 54"/>
                <a:gd name="T2" fmla="*/ 70 w 70"/>
                <a:gd name="T3" fmla="*/ 28 h 54"/>
                <a:gd name="T4" fmla="*/ 52 w 70"/>
                <a:gd name="T5" fmla="*/ 28 h 54"/>
                <a:gd name="T6" fmla="*/ 58 w 70"/>
                <a:gd name="T7" fmla="*/ 0 h 54"/>
                <a:gd name="T8" fmla="*/ 28 w 70"/>
                <a:gd name="T9" fmla="*/ 26 h 54"/>
                <a:gd name="T10" fmla="*/ 12 w 70"/>
                <a:gd name="T11" fmla="*/ 11 h 54"/>
                <a:gd name="T12" fmla="*/ 12 w 70"/>
                <a:gd name="T13" fmla="*/ 40 h 54"/>
              </a:gdLst>
              <a:ahLst/>
              <a:cxnLst>
                <a:cxn ang="0">
                  <a:pos x="T0" y="T1"/>
                </a:cxn>
                <a:cxn ang="0">
                  <a:pos x="T2" y="T3"/>
                </a:cxn>
                <a:cxn ang="0">
                  <a:pos x="T4" y="T5"/>
                </a:cxn>
                <a:cxn ang="0">
                  <a:pos x="T6" y="T7"/>
                </a:cxn>
                <a:cxn ang="0">
                  <a:pos x="T8" y="T9"/>
                </a:cxn>
                <a:cxn ang="0">
                  <a:pos x="T10" y="T11"/>
                </a:cxn>
                <a:cxn ang="0">
                  <a:pos x="T12" y="T13"/>
                </a:cxn>
              </a:cxnLst>
              <a:rect l="0" t="0" r="r" b="b"/>
              <a:pathLst>
                <a:path w="70" h="54">
                  <a:moveTo>
                    <a:pt x="52" y="54"/>
                  </a:moveTo>
                  <a:cubicBezTo>
                    <a:pt x="70" y="48"/>
                    <a:pt x="70" y="28"/>
                    <a:pt x="70" y="28"/>
                  </a:cubicBezTo>
                  <a:cubicBezTo>
                    <a:pt x="70" y="28"/>
                    <a:pt x="62" y="32"/>
                    <a:pt x="52" y="28"/>
                  </a:cubicBezTo>
                  <a:cubicBezTo>
                    <a:pt x="52" y="28"/>
                    <a:pt x="50" y="12"/>
                    <a:pt x="58" y="0"/>
                  </a:cubicBezTo>
                  <a:cubicBezTo>
                    <a:pt x="46" y="2"/>
                    <a:pt x="26" y="12"/>
                    <a:pt x="28" y="26"/>
                  </a:cubicBezTo>
                  <a:cubicBezTo>
                    <a:pt x="20" y="26"/>
                    <a:pt x="12" y="11"/>
                    <a:pt x="12" y="11"/>
                  </a:cubicBezTo>
                  <a:cubicBezTo>
                    <a:pt x="12" y="11"/>
                    <a:pt x="0" y="30"/>
                    <a:pt x="12" y="40"/>
                  </a:cubicBezTo>
                </a:path>
              </a:pathLst>
            </a:cu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20" name="Rectangle 847">
              <a:extLst>
                <a:ext uri="{FF2B5EF4-FFF2-40B4-BE49-F238E27FC236}">
                  <a16:creationId xmlns:a16="http://schemas.microsoft.com/office/drawing/2014/main" id="{CE66278F-1726-6878-957B-1500893AC962}"/>
                </a:ext>
              </a:extLst>
            </p:cNvPr>
            <p:cNvSpPr>
              <a:spLocks noChangeArrowheads="1"/>
            </p:cNvSpPr>
            <p:nvPr/>
          </p:nvSpPr>
          <p:spPr bwMode="auto">
            <a:xfrm>
              <a:off x="10236804" y="2636838"/>
              <a:ext cx="44450" cy="30163"/>
            </a:xfrm>
            <a:prstGeom prst="rect">
              <a:avLst/>
            </a:pr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21" name="Rectangle 848">
              <a:extLst>
                <a:ext uri="{FF2B5EF4-FFF2-40B4-BE49-F238E27FC236}">
                  <a16:creationId xmlns:a16="http://schemas.microsoft.com/office/drawing/2014/main" id="{D35090B7-0D30-08AE-961B-10BA93A6C975}"/>
                </a:ext>
              </a:extLst>
            </p:cNvPr>
            <p:cNvSpPr>
              <a:spLocks noChangeArrowheads="1"/>
            </p:cNvSpPr>
            <p:nvPr/>
          </p:nvSpPr>
          <p:spPr bwMode="auto">
            <a:xfrm>
              <a:off x="10446354" y="2636838"/>
              <a:ext cx="46038" cy="30163"/>
            </a:xfrm>
            <a:prstGeom prst="rect">
              <a:avLst/>
            </a:pr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22" name="Freeform 849">
              <a:extLst>
                <a:ext uri="{FF2B5EF4-FFF2-40B4-BE49-F238E27FC236}">
                  <a16:creationId xmlns:a16="http://schemas.microsoft.com/office/drawing/2014/main" id="{BCC79F4E-9FA6-954D-4A30-DB5174B9B5D3}"/>
                </a:ext>
              </a:extLst>
            </p:cNvPr>
            <p:cNvSpPr>
              <a:spLocks/>
            </p:cNvSpPr>
            <p:nvPr/>
          </p:nvSpPr>
          <p:spPr bwMode="auto">
            <a:xfrm>
              <a:off x="10220929" y="2546351"/>
              <a:ext cx="285750" cy="90488"/>
            </a:xfrm>
            <a:custGeom>
              <a:avLst/>
              <a:gdLst>
                <a:gd name="T0" fmla="*/ 180 w 180"/>
                <a:gd name="T1" fmla="*/ 57 h 57"/>
                <a:gd name="T2" fmla="*/ 180 w 180"/>
                <a:gd name="T3" fmla="*/ 19 h 57"/>
                <a:gd name="T4" fmla="*/ 161 w 180"/>
                <a:gd name="T5" fmla="*/ 0 h 57"/>
                <a:gd name="T6" fmla="*/ 19 w 180"/>
                <a:gd name="T7" fmla="*/ 0 h 57"/>
                <a:gd name="T8" fmla="*/ 0 w 180"/>
                <a:gd name="T9" fmla="*/ 19 h 57"/>
                <a:gd name="T10" fmla="*/ 0 w 180"/>
                <a:gd name="T11" fmla="*/ 57 h 57"/>
                <a:gd name="T12" fmla="*/ 180 w 180"/>
                <a:gd name="T13" fmla="*/ 57 h 57"/>
              </a:gdLst>
              <a:ahLst/>
              <a:cxnLst>
                <a:cxn ang="0">
                  <a:pos x="T0" y="T1"/>
                </a:cxn>
                <a:cxn ang="0">
                  <a:pos x="T2" y="T3"/>
                </a:cxn>
                <a:cxn ang="0">
                  <a:pos x="T4" y="T5"/>
                </a:cxn>
                <a:cxn ang="0">
                  <a:pos x="T6" y="T7"/>
                </a:cxn>
                <a:cxn ang="0">
                  <a:pos x="T8" y="T9"/>
                </a:cxn>
                <a:cxn ang="0">
                  <a:pos x="T10" y="T11"/>
                </a:cxn>
                <a:cxn ang="0">
                  <a:pos x="T12" y="T13"/>
                </a:cxn>
              </a:cxnLst>
              <a:rect l="0" t="0" r="r" b="b"/>
              <a:pathLst>
                <a:path w="180" h="57">
                  <a:moveTo>
                    <a:pt x="180" y="57"/>
                  </a:moveTo>
                  <a:lnTo>
                    <a:pt x="180" y="19"/>
                  </a:lnTo>
                  <a:lnTo>
                    <a:pt x="161" y="0"/>
                  </a:lnTo>
                  <a:lnTo>
                    <a:pt x="19" y="0"/>
                  </a:lnTo>
                  <a:lnTo>
                    <a:pt x="0" y="19"/>
                  </a:lnTo>
                  <a:lnTo>
                    <a:pt x="0" y="57"/>
                  </a:lnTo>
                  <a:lnTo>
                    <a:pt x="180" y="57"/>
                  </a:lnTo>
                  <a:close/>
                </a:path>
              </a:pathLst>
            </a:cu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23" name="Freeform 850">
              <a:extLst>
                <a:ext uri="{FF2B5EF4-FFF2-40B4-BE49-F238E27FC236}">
                  <a16:creationId xmlns:a16="http://schemas.microsoft.com/office/drawing/2014/main" id="{AD06AFED-764B-2D7D-23FF-8019240494DA}"/>
                </a:ext>
              </a:extLst>
            </p:cNvPr>
            <p:cNvSpPr>
              <a:spLocks/>
            </p:cNvSpPr>
            <p:nvPr/>
          </p:nvSpPr>
          <p:spPr bwMode="auto">
            <a:xfrm>
              <a:off x="10251092" y="2471738"/>
              <a:ext cx="225425" cy="74613"/>
            </a:xfrm>
            <a:custGeom>
              <a:avLst/>
              <a:gdLst>
                <a:gd name="T0" fmla="*/ 123 w 142"/>
                <a:gd name="T1" fmla="*/ 0 h 47"/>
                <a:gd name="T2" fmla="*/ 19 w 142"/>
                <a:gd name="T3" fmla="*/ 0 h 47"/>
                <a:gd name="T4" fmla="*/ 0 w 142"/>
                <a:gd name="T5" fmla="*/ 47 h 47"/>
                <a:gd name="T6" fmla="*/ 142 w 142"/>
                <a:gd name="T7" fmla="*/ 47 h 47"/>
                <a:gd name="T8" fmla="*/ 123 w 142"/>
                <a:gd name="T9" fmla="*/ 0 h 47"/>
              </a:gdLst>
              <a:ahLst/>
              <a:cxnLst>
                <a:cxn ang="0">
                  <a:pos x="T0" y="T1"/>
                </a:cxn>
                <a:cxn ang="0">
                  <a:pos x="T2" y="T3"/>
                </a:cxn>
                <a:cxn ang="0">
                  <a:pos x="T4" y="T5"/>
                </a:cxn>
                <a:cxn ang="0">
                  <a:pos x="T6" y="T7"/>
                </a:cxn>
                <a:cxn ang="0">
                  <a:pos x="T8" y="T9"/>
                </a:cxn>
              </a:cxnLst>
              <a:rect l="0" t="0" r="r" b="b"/>
              <a:pathLst>
                <a:path w="142" h="47">
                  <a:moveTo>
                    <a:pt x="123" y="0"/>
                  </a:moveTo>
                  <a:lnTo>
                    <a:pt x="19" y="0"/>
                  </a:lnTo>
                  <a:lnTo>
                    <a:pt x="0" y="47"/>
                  </a:lnTo>
                  <a:lnTo>
                    <a:pt x="142" y="47"/>
                  </a:lnTo>
                  <a:lnTo>
                    <a:pt x="123" y="0"/>
                  </a:lnTo>
                  <a:close/>
                </a:path>
              </a:pathLst>
            </a:cu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24" name="Line 851">
              <a:extLst>
                <a:ext uri="{FF2B5EF4-FFF2-40B4-BE49-F238E27FC236}">
                  <a16:creationId xmlns:a16="http://schemas.microsoft.com/office/drawing/2014/main" id="{E58BD737-1E70-0BC7-0F8B-29A5390DF359}"/>
                </a:ext>
              </a:extLst>
            </p:cNvPr>
            <p:cNvSpPr>
              <a:spLocks noChangeShapeType="1"/>
            </p:cNvSpPr>
            <p:nvPr/>
          </p:nvSpPr>
          <p:spPr bwMode="auto">
            <a:xfrm>
              <a:off x="10220929" y="2606676"/>
              <a:ext cx="68263" cy="0"/>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25" name="Line 852">
              <a:extLst>
                <a:ext uri="{FF2B5EF4-FFF2-40B4-BE49-F238E27FC236}">
                  <a16:creationId xmlns:a16="http://schemas.microsoft.com/office/drawing/2014/main" id="{C06D9CC0-805F-9778-09E9-C8CD0892CB32}"/>
                </a:ext>
              </a:extLst>
            </p:cNvPr>
            <p:cNvSpPr>
              <a:spLocks noChangeShapeType="1"/>
            </p:cNvSpPr>
            <p:nvPr/>
          </p:nvSpPr>
          <p:spPr bwMode="auto">
            <a:xfrm>
              <a:off x="10438417" y="2606676"/>
              <a:ext cx="68263" cy="0"/>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26" name="Freeform 853">
              <a:extLst>
                <a:ext uri="{FF2B5EF4-FFF2-40B4-BE49-F238E27FC236}">
                  <a16:creationId xmlns:a16="http://schemas.microsoft.com/office/drawing/2014/main" id="{339AF5F3-1483-6B31-5193-869A0979DF55}"/>
                </a:ext>
              </a:extLst>
            </p:cNvPr>
            <p:cNvSpPr>
              <a:spLocks/>
            </p:cNvSpPr>
            <p:nvPr/>
          </p:nvSpPr>
          <p:spPr bwMode="auto">
            <a:xfrm>
              <a:off x="10325704" y="2397126"/>
              <a:ext cx="173038" cy="104775"/>
            </a:xfrm>
            <a:custGeom>
              <a:avLst/>
              <a:gdLst>
                <a:gd name="T0" fmla="*/ 6 w 46"/>
                <a:gd name="T1" fmla="*/ 20 h 28"/>
                <a:gd name="T2" fmla="*/ 2 w 46"/>
                <a:gd name="T3" fmla="*/ 8 h 28"/>
                <a:gd name="T4" fmla="*/ 28 w 46"/>
                <a:gd name="T5" fmla="*/ 0 h 28"/>
                <a:gd name="T6" fmla="*/ 46 w 46"/>
                <a:gd name="T7" fmla="*/ 16 h 28"/>
                <a:gd name="T8" fmla="*/ 36 w 46"/>
                <a:gd name="T9" fmla="*/ 28 h 28"/>
              </a:gdLst>
              <a:ahLst/>
              <a:cxnLst>
                <a:cxn ang="0">
                  <a:pos x="T0" y="T1"/>
                </a:cxn>
                <a:cxn ang="0">
                  <a:pos x="T2" y="T3"/>
                </a:cxn>
                <a:cxn ang="0">
                  <a:pos x="T4" y="T5"/>
                </a:cxn>
                <a:cxn ang="0">
                  <a:pos x="T6" y="T7"/>
                </a:cxn>
                <a:cxn ang="0">
                  <a:pos x="T8" y="T9"/>
                </a:cxn>
              </a:cxnLst>
              <a:rect l="0" t="0" r="r" b="b"/>
              <a:pathLst>
                <a:path w="46" h="28">
                  <a:moveTo>
                    <a:pt x="6" y="20"/>
                  </a:moveTo>
                  <a:cubicBezTo>
                    <a:pt x="6" y="20"/>
                    <a:pt x="0" y="16"/>
                    <a:pt x="2" y="8"/>
                  </a:cubicBezTo>
                  <a:cubicBezTo>
                    <a:pt x="6" y="13"/>
                    <a:pt x="18" y="23"/>
                    <a:pt x="28" y="0"/>
                  </a:cubicBezTo>
                  <a:cubicBezTo>
                    <a:pt x="30" y="16"/>
                    <a:pt x="33" y="19"/>
                    <a:pt x="46" y="16"/>
                  </a:cubicBezTo>
                  <a:cubicBezTo>
                    <a:pt x="36" y="28"/>
                    <a:pt x="36" y="28"/>
                    <a:pt x="36" y="28"/>
                  </a:cubicBezTo>
                </a:path>
              </a:pathLst>
            </a:cu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grpSp>
      <p:sp>
        <p:nvSpPr>
          <p:cNvPr id="6" name="Slide Number Placeholder 5">
            <a:extLst>
              <a:ext uri="{FF2B5EF4-FFF2-40B4-BE49-F238E27FC236}">
                <a16:creationId xmlns:a16="http://schemas.microsoft.com/office/drawing/2014/main" id="{917683EE-0281-A748-31CE-FBECAA42937C}"/>
              </a:ext>
            </a:extLst>
          </p:cNvPr>
          <p:cNvSpPr>
            <a:spLocks noGrp="1"/>
          </p:cNvSpPr>
          <p:nvPr>
            <p:ph type="sldNum" sz="quarter" idx="12"/>
          </p:nvPr>
        </p:nvSpPr>
        <p:spPr/>
        <p:txBody>
          <a:bodyPr/>
          <a:lstStyle/>
          <a:p>
            <a:fld id="{0BA98121-C0ED-4D12-A058-5C29F4DDA5D5}" type="slidenum">
              <a:rPr lang="en-ID" smtClean="0"/>
              <a:t>3</a:t>
            </a:fld>
            <a:endParaRPr lang="en-ID"/>
          </a:p>
        </p:txBody>
      </p:sp>
      <p:pic>
        <p:nvPicPr>
          <p:cNvPr id="7" name="Picture 6" descr="A screenshot of a computer&#10;&#10;AI-generated content may be incorrect.">
            <a:extLst>
              <a:ext uri="{FF2B5EF4-FFF2-40B4-BE49-F238E27FC236}">
                <a16:creationId xmlns:a16="http://schemas.microsoft.com/office/drawing/2014/main" id="{0D901ECD-9A59-80F3-A89C-3334EB531423}"/>
              </a:ext>
            </a:extLst>
          </p:cNvPr>
          <p:cNvPicPr>
            <a:picLocks noChangeAspect="1"/>
          </p:cNvPicPr>
          <p:nvPr/>
        </p:nvPicPr>
        <p:blipFill>
          <a:blip r:embed="rId3"/>
          <a:stretch>
            <a:fillRect/>
          </a:stretch>
        </p:blipFill>
        <p:spPr>
          <a:xfrm>
            <a:off x="6569679" y="1756918"/>
            <a:ext cx="5619750" cy="2390775"/>
          </a:xfrm>
          <a:prstGeom prst="rect">
            <a:avLst/>
          </a:prstGeom>
        </p:spPr>
      </p:pic>
    </p:spTree>
    <p:extLst>
      <p:ext uri="{BB962C8B-B14F-4D97-AF65-F5344CB8AC3E}">
        <p14:creationId xmlns:p14="http://schemas.microsoft.com/office/powerpoint/2010/main" val="6881490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Picture 38" descr="black car parked near green trees during daytime">
            <a:extLst>
              <a:ext uri="{FF2B5EF4-FFF2-40B4-BE49-F238E27FC236}">
                <a16:creationId xmlns:a16="http://schemas.microsoft.com/office/drawing/2014/main" id="{80308513-0DBC-C5B7-5512-4D0472A92D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40771" r="10634" b="7775"/>
          <a:stretch>
            <a:fillRect/>
          </a:stretch>
        </p:blipFill>
        <p:spPr bwMode="auto">
          <a:xfrm>
            <a:off x="4251286" y="0"/>
            <a:ext cx="7940715" cy="6858000"/>
          </a:xfrm>
          <a:custGeom>
            <a:avLst/>
            <a:gdLst>
              <a:gd name="connsiteX0" fmla="*/ 0 w 7940715"/>
              <a:gd name="connsiteY0" fmla="*/ 0 h 6858000"/>
              <a:gd name="connsiteX1" fmla="*/ 7940715 w 7940715"/>
              <a:gd name="connsiteY1" fmla="*/ 0 h 6858000"/>
              <a:gd name="connsiteX2" fmla="*/ 7940715 w 7940715"/>
              <a:gd name="connsiteY2" fmla="*/ 6858000 h 6858000"/>
              <a:gd name="connsiteX3" fmla="*/ 0 w 794071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940715" h="6858000">
                <a:moveTo>
                  <a:pt x="0" y="0"/>
                </a:moveTo>
                <a:lnTo>
                  <a:pt x="7940715" y="0"/>
                </a:lnTo>
                <a:lnTo>
                  <a:pt x="7940715"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1036" name="Rectangle: Top Corners Rounded 1035">
            <a:extLst>
              <a:ext uri="{FF2B5EF4-FFF2-40B4-BE49-F238E27FC236}">
                <a16:creationId xmlns:a16="http://schemas.microsoft.com/office/drawing/2014/main" id="{AF4124C0-060C-8F89-C6CC-B3FB70FD5D62}"/>
              </a:ext>
            </a:extLst>
          </p:cNvPr>
          <p:cNvSpPr/>
          <p:nvPr/>
        </p:nvSpPr>
        <p:spPr>
          <a:xfrm flipV="1">
            <a:off x="1454658" y="6168419"/>
            <a:ext cx="8033988" cy="381965"/>
          </a:xfrm>
          <a:prstGeom prst="round2SameRect">
            <a:avLst>
              <a:gd name="adj1" fmla="val 43940"/>
              <a:gd name="adj2" fmla="val 0"/>
            </a:avLst>
          </a:prstGeom>
          <a:solidFill>
            <a:srgbClr val="FE10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Freeform: Shape 2">
            <a:extLst>
              <a:ext uri="{FF2B5EF4-FFF2-40B4-BE49-F238E27FC236}">
                <a16:creationId xmlns:a16="http://schemas.microsoft.com/office/drawing/2014/main" id="{EF9033DD-6772-160F-BA17-A1424F76E763}"/>
              </a:ext>
            </a:extLst>
          </p:cNvPr>
          <p:cNvSpPr/>
          <p:nvPr/>
        </p:nvSpPr>
        <p:spPr>
          <a:xfrm>
            <a:off x="598274" y="728585"/>
            <a:ext cx="10769185" cy="5497882"/>
          </a:xfrm>
          <a:custGeom>
            <a:avLst/>
            <a:gdLst>
              <a:gd name="connsiteX0" fmla="*/ 0 w 9901084"/>
              <a:gd name="connsiteY0" fmla="*/ 0 h 5329084"/>
              <a:gd name="connsiteX1" fmla="*/ 9438097 w 9901084"/>
              <a:gd name="connsiteY1" fmla="*/ 0 h 5329084"/>
              <a:gd name="connsiteX2" fmla="*/ 9901084 w 9901084"/>
              <a:gd name="connsiteY2" fmla="*/ 462987 h 5329084"/>
              <a:gd name="connsiteX3" fmla="*/ 9901084 w 9901084"/>
              <a:gd name="connsiteY3" fmla="*/ 5329084 h 5329084"/>
              <a:gd name="connsiteX4" fmla="*/ 0 w 9901084"/>
              <a:gd name="connsiteY4" fmla="*/ 5329084 h 5329084"/>
              <a:gd name="connsiteX5" fmla="*/ 0 w 9901084"/>
              <a:gd name="connsiteY5" fmla="*/ 0 h 5329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01084" h="5329084">
                <a:moveTo>
                  <a:pt x="0" y="0"/>
                </a:moveTo>
                <a:lnTo>
                  <a:pt x="9438097" y="0"/>
                </a:lnTo>
                <a:lnTo>
                  <a:pt x="9901084" y="462987"/>
                </a:lnTo>
                <a:lnTo>
                  <a:pt x="9901084" y="5329084"/>
                </a:lnTo>
                <a:lnTo>
                  <a:pt x="0" y="5329084"/>
                </a:lnTo>
                <a:lnTo>
                  <a:pt x="0" y="0"/>
                </a:lnTo>
                <a:close/>
              </a:path>
            </a:pathLst>
          </a:custGeom>
          <a:solidFill>
            <a:schemeClr val="bg1"/>
          </a:solidFill>
          <a:ln>
            <a:noFill/>
          </a:ln>
          <a:effectLst>
            <a:outerShdw blurRad="254000" sx="102000" sy="102000" algn="ctr"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3">
            <a:extLst>
              <a:ext uri="{FF2B5EF4-FFF2-40B4-BE49-F238E27FC236}">
                <a16:creationId xmlns:a16="http://schemas.microsoft.com/office/drawing/2014/main" id="{280DF46D-570A-F423-3BCF-192145CBAAD8}"/>
              </a:ext>
            </a:extLst>
          </p:cNvPr>
          <p:cNvSpPr>
            <a:spLocks noGrp="1"/>
          </p:cNvSpPr>
          <p:nvPr>
            <p:ph type="title"/>
          </p:nvPr>
        </p:nvSpPr>
        <p:spPr>
          <a:xfrm>
            <a:off x="829988" y="947745"/>
            <a:ext cx="6477061" cy="656936"/>
          </a:xfrm>
        </p:spPr>
        <p:txBody>
          <a:bodyPr>
            <a:normAutofit fontScale="90000"/>
          </a:bodyPr>
          <a:lstStyle/>
          <a:p>
            <a:r>
              <a:rPr lang="en-US" b="1">
                <a:solidFill>
                  <a:srgbClr val="36638D"/>
                </a:solidFill>
                <a:latin typeface="Segoe UI"/>
                <a:cs typeface="Segoe UI"/>
              </a:rPr>
              <a:t>Missing Value Patterns</a:t>
            </a:r>
          </a:p>
        </p:txBody>
      </p:sp>
      <p:sp>
        <p:nvSpPr>
          <p:cNvPr id="6" name="TextBox 5">
            <a:extLst>
              <a:ext uri="{FF2B5EF4-FFF2-40B4-BE49-F238E27FC236}">
                <a16:creationId xmlns:a16="http://schemas.microsoft.com/office/drawing/2014/main" id="{D7A4F5E0-FC33-2C0A-3652-CF2E97BF7BBD}"/>
              </a:ext>
            </a:extLst>
          </p:cNvPr>
          <p:cNvSpPr txBox="1"/>
          <p:nvPr/>
        </p:nvSpPr>
        <p:spPr>
          <a:xfrm>
            <a:off x="714242" y="1891009"/>
            <a:ext cx="3261338" cy="562242"/>
          </a:xfrm>
          <a:prstGeom prst="rect">
            <a:avLst/>
          </a:prstGeom>
          <a:solidFill>
            <a:srgbClr val="36638D"/>
          </a:solidFill>
        </p:spPr>
        <p:txBody>
          <a:bodyPr wrap="none" lIns="91440" tIns="45720" rIns="91440" bIns="45720" rtlCol="0" anchor="ctr">
            <a:noAutofit/>
          </a:bodyPr>
          <a:lstStyle/>
          <a:p>
            <a:pPr algn="ctr">
              <a:defRPr/>
            </a:pPr>
            <a:r>
              <a:rPr lang="en-US" sz="1400" b="1">
                <a:solidFill>
                  <a:prstClr val="white"/>
                </a:solidFill>
                <a:latin typeface="Segoe UI"/>
                <a:cs typeface="Segoe UI"/>
              </a:rPr>
              <a:t>Feature-wise missing rate computed</a:t>
            </a:r>
          </a:p>
        </p:txBody>
      </p:sp>
      <p:sp>
        <p:nvSpPr>
          <p:cNvPr id="7" name="TextBox 6">
            <a:extLst>
              <a:ext uri="{FF2B5EF4-FFF2-40B4-BE49-F238E27FC236}">
                <a16:creationId xmlns:a16="http://schemas.microsoft.com/office/drawing/2014/main" id="{C799EDF6-5779-2ACB-5617-784E405AC339}"/>
              </a:ext>
            </a:extLst>
          </p:cNvPr>
          <p:cNvSpPr txBox="1"/>
          <p:nvPr/>
        </p:nvSpPr>
        <p:spPr>
          <a:xfrm>
            <a:off x="4193046" y="1891009"/>
            <a:ext cx="3227581" cy="557420"/>
          </a:xfrm>
          <a:prstGeom prst="rect">
            <a:avLst/>
          </a:prstGeom>
          <a:solidFill>
            <a:srgbClr val="36638D"/>
          </a:solidFill>
        </p:spPr>
        <p:txBody>
          <a:bodyPr wrap="none" lIns="91440" tIns="45720" rIns="91440" bIns="45720" rtlCol="0" anchor="ctr">
            <a:noAutofit/>
          </a:bodyPr>
          <a:lstStyle/>
          <a:p>
            <a:pPr algn="ctr">
              <a:defRPr/>
            </a:pPr>
            <a:r>
              <a:rPr lang="en-US" sz="1400" b="1">
                <a:solidFill>
                  <a:prstClr val="white"/>
                </a:solidFill>
                <a:latin typeface="Segoe UI"/>
                <a:cs typeface="Segoe UI"/>
              </a:rPr>
              <a:t>ps_car_03_cat has ~70% missing</a:t>
            </a:r>
          </a:p>
        </p:txBody>
      </p:sp>
      <p:sp>
        <p:nvSpPr>
          <p:cNvPr id="8" name="TextBox 7">
            <a:extLst>
              <a:ext uri="{FF2B5EF4-FFF2-40B4-BE49-F238E27FC236}">
                <a16:creationId xmlns:a16="http://schemas.microsoft.com/office/drawing/2014/main" id="{C499E5D2-0CDA-85C1-E4C6-BD9FB6A897C0}"/>
              </a:ext>
            </a:extLst>
          </p:cNvPr>
          <p:cNvSpPr txBox="1"/>
          <p:nvPr/>
        </p:nvSpPr>
        <p:spPr>
          <a:xfrm>
            <a:off x="7667027" y="1891009"/>
            <a:ext cx="3396380" cy="557420"/>
          </a:xfrm>
          <a:prstGeom prst="rect">
            <a:avLst/>
          </a:prstGeom>
          <a:solidFill>
            <a:srgbClr val="36638D"/>
          </a:solidFill>
        </p:spPr>
        <p:txBody>
          <a:bodyPr wrap="none" lIns="91440" tIns="45720" rIns="91440" bIns="45720" rtlCol="0" anchor="ctr">
            <a:noAutofit/>
          </a:bodyPr>
          <a:lstStyle/>
          <a:p>
            <a:pPr algn="ctr">
              <a:defRPr/>
            </a:pPr>
            <a:r>
              <a:rPr lang="en-US" sz="1400" b="1">
                <a:solidFill>
                  <a:prstClr val="white"/>
                </a:solidFill>
                <a:latin typeface="Segoe UI"/>
                <a:cs typeface="Segoe UI"/>
              </a:rPr>
              <a:t>Extremely sparse features removed</a:t>
            </a:r>
          </a:p>
        </p:txBody>
      </p:sp>
      <p:cxnSp>
        <p:nvCxnSpPr>
          <p:cNvPr id="17" name="Straight Connector 16">
            <a:extLst>
              <a:ext uri="{FF2B5EF4-FFF2-40B4-BE49-F238E27FC236}">
                <a16:creationId xmlns:a16="http://schemas.microsoft.com/office/drawing/2014/main" id="{02D174F6-56AC-8A69-497E-216D23231963}"/>
              </a:ext>
            </a:extLst>
          </p:cNvPr>
          <p:cNvCxnSpPr>
            <a:cxnSpLocks/>
          </p:cNvCxnSpPr>
          <p:nvPr/>
        </p:nvCxnSpPr>
        <p:spPr>
          <a:xfrm>
            <a:off x="3821472" y="2156262"/>
            <a:ext cx="0" cy="3236117"/>
          </a:xfrm>
          <a:prstGeom prst="line">
            <a:avLst/>
          </a:prstGeom>
          <a:ln>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970591C2-E694-3E4B-39D9-32279E2558D0}"/>
              </a:ext>
            </a:extLst>
          </p:cNvPr>
          <p:cNvCxnSpPr>
            <a:cxnSpLocks/>
          </p:cNvCxnSpPr>
          <p:nvPr/>
        </p:nvCxnSpPr>
        <p:spPr>
          <a:xfrm>
            <a:off x="7121834" y="2156262"/>
            <a:ext cx="0" cy="3236117"/>
          </a:xfrm>
          <a:prstGeom prst="line">
            <a:avLst/>
          </a:prstGeom>
          <a:ln>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DA77F46B-1EE8-8CDC-23E9-F241073C8FA9}"/>
              </a:ext>
            </a:extLst>
          </p:cNvPr>
          <p:cNvSpPr txBox="1"/>
          <p:nvPr/>
        </p:nvSpPr>
        <p:spPr>
          <a:xfrm>
            <a:off x="1727646" y="5613572"/>
            <a:ext cx="8164943" cy="516815"/>
          </a:xfrm>
          <a:prstGeom prst="rect">
            <a:avLst/>
          </a:prstGeom>
          <a:noFill/>
        </p:spPr>
        <p:txBody>
          <a:bodyPr wrap="square" lIns="108000" tIns="0" rIns="108000" bIns="0" rtlCol="0" anchor="t">
            <a:noAutofit/>
          </a:bodyPr>
          <a:lstStyle/>
          <a:p>
            <a:pPr marL="179705" indent="-179705">
              <a:buClr>
                <a:srgbClr val="FE1003"/>
              </a:buClr>
              <a:buFont typeface="Segoe UI" panose="020B0502040204020203" pitchFamily="34" charset="0"/>
              <a:buChar char="›"/>
              <a:defRPr/>
            </a:pPr>
            <a:r>
              <a:rPr lang="en-US" sz="1600">
                <a:solidFill>
                  <a:prstClr val="black"/>
                </a:solidFill>
                <a:latin typeface="Segoe UI"/>
                <a:cs typeface="Segoe UI"/>
              </a:rPr>
              <a:t>Features with extremely high missingness were dropped to avoid introducing noise or instability into downstream models.</a:t>
            </a:r>
          </a:p>
        </p:txBody>
      </p:sp>
      <p:sp>
        <p:nvSpPr>
          <p:cNvPr id="41" name="Right Triangle 40">
            <a:extLst>
              <a:ext uri="{FF2B5EF4-FFF2-40B4-BE49-F238E27FC236}">
                <a16:creationId xmlns:a16="http://schemas.microsoft.com/office/drawing/2014/main" id="{9B960D45-A878-14E4-626B-09037AD823DE}"/>
              </a:ext>
            </a:extLst>
          </p:cNvPr>
          <p:cNvSpPr/>
          <p:nvPr/>
        </p:nvSpPr>
        <p:spPr>
          <a:xfrm>
            <a:off x="10740499" y="834686"/>
            <a:ext cx="535328" cy="501569"/>
          </a:xfrm>
          <a:prstGeom prst="rtTriangle">
            <a:avLst/>
          </a:prstGeom>
          <a:solidFill>
            <a:srgbClr val="ABD1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Slide Number Placeholder 3">
            <a:extLst>
              <a:ext uri="{FF2B5EF4-FFF2-40B4-BE49-F238E27FC236}">
                <a16:creationId xmlns:a16="http://schemas.microsoft.com/office/drawing/2014/main" id="{5379D84D-0B8C-B39D-D4EF-9ABA4DADE435}"/>
              </a:ext>
            </a:extLst>
          </p:cNvPr>
          <p:cNvSpPr>
            <a:spLocks noGrp="1"/>
          </p:cNvSpPr>
          <p:nvPr>
            <p:ph type="sldNum" sz="quarter" idx="12"/>
          </p:nvPr>
        </p:nvSpPr>
        <p:spPr>
          <a:xfrm>
            <a:off x="8913586" y="6356350"/>
            <a:ext cx="2743200" cy="365125"/>
          </a:xfrm>
        </p:spPr>
        <p:txBody>
          <a:bodyPr/>
          <a:lstStyle/>
          <a:p>
            <a:fld id="{0BA98121-C0ED-4D12-A058-5C29F4DDA5D5}" type="slidenum">
              <a:rPr lang="en-ID" smtClean="0">
                <a:solidFill>
                  <a:schemeClr val="bg1"/>
                </a:solidFill>
              </a:rPr>
              <a:t>4</a:t>
            </a:fld>
            <a:endParaRPr lang="en-ID" dirty="0">
              <a:solidFill>
                <a:schemeClr val="bg1"/>
              </a:solidFill>
            </a:endParaRPr>
          </a:p>
        </p:txBody>
      </p:sp>
      <p:pic>
        <p:nvPicPr>
          <p:cNvPr id="2" name="Picture 1" descr="A graph with text on it&#10;&#10;AI-generated content may be incorrect.">
            <a:extLst>
              <a:ext uri="{FF2B5EF4-FFF2-40B4-BE49-F238E27FC236}">
                <a16:creationId xmlns:a16="http://schemas.microsoft.com/office/drawing/2014/main" id="{C462DD55-E620-60F6-C83D-3CBB7ED90DAD}"/>
              </a:ext>
            </a:extLst>
          </p:cNvPr>
          <p:cNvPicPr>
            <a:picLocks noChangeAspect="1"/>
          </p:cNvPicPr>
          <p:nvPr/>
        </p:nvPicPr>
        <p:blipFill>
          <a:blip r:embed="rId4"/>
          <a:stretch>
            <a:fillRect/>
          </a:stretch>
        </p:blipFill>
        <p:spPr>
          <a:xfrm>
            <a:off x="1872144" y="2602916"/>
            <a:ext cx="7188964" cy="2790344"/>
          </a:xfrm>
          <a:prstGeom prst="rect">
            <a:avLst/>
          </a:prstGeom>
        </p:spPr>
      </p:pic>
    </p:spTree>
    <p:extLst>
      <p:ext uri="{BB962C8B-B14F-4D97-AF65-F5344CB8AC3E}">
        <p14:creationId xmlns:p14="http://schemas.microsoft.com/office/powerpoint/2010/main" val="24823666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3802D-41C2-9018-3633-598D4AF75E09}"/>
              </a:ext>
            </a:extLst>
          </p:cNvPr>
          <p:cNvSpPr>
            <a:spLocks noGrp="1"/>
          </p:cNvSpPr>
          <p:nvPr>
            <p:ph type="title"/>
          </p:nvPr>
        </p:nvSpPr>
        <p:spPr>
          <a:xfrm>
            <a:off x="163861" y="114341"/>
            <a:ext cx="5691115" cy="883104"/>
          </a:xfrm>
        </p:spPr>
        <p:txBody>
          <a:bodyPr>
            <a:normAutofit/>
          </a:bodyPr>
          <a:lstStyle/>
          <a:p>
            <a:r>
              <a:rPr lang="en-ID" sz="4000">
                <a:latin typeface="Segoe UI"/>
                <a:cs typeface="Segoe UI"/>
              </a:rPr>
              <a:t>Preprocessing Pipeline</a:t>
            </a:r>
          </a:p>
        </p:txBody>
      </p:sp>
      <p:sp>
        <p:nvSpPr>
          <p:cNvPr id="4" name="Slide Number Placeholder 3">
            <a:extLst>
              <a:ext uri="{FF2B5EF4-FFF2-40B4-BE49-F238E27FC236}">
                <a16:creationId xmlns:a16="http://schemas.microsoft.com/office/drawing/2014/main" id="{542C6E4A-10EA-4B23-464B-EA7B85EC4FC0}"/>
              </a:ext>
            </a:extLst>
          </p:cNvPr>
          <p:cNvSpPr>
            <a:spLocks noGrp="1"/>
          </p:cNvSpPr>
          <p:nvPr>
            <p:ph type="sldNum" sz="quarter" idx="12"/>
          </p:nvPr>
        </p:nvSpPr>
        <p:spPr/>
        <p:txBody>
          <a:bodyPr/>
          <a:lstStyle/>
          <a:p>
            <a:fld id="{0BA98121-C0ED-4D12-A058-5C29F4DDA5D5}" type="slidenum">
              <a:rPr lang="en-ID" smtClean="0"/>
              <a:t>5</a:t>
            </a:fld>
            <a:endParaRPr lang="en-ID"/>
          </a:p>
        </p:txBody>
      </p:sp>
      <p:sp>
        <p:nvSpPr>
          <p:cNvPr id="15" name="Rectangle 14">
            <a:extLst>
              <a:ext uri="{FF2B5EF4-FFF2-40B4-BE49-F238E27FC236}">
                <a16:creationId xmlns:a16="http://schemas.microsoft.com/office/drawing/2014/main" id="{50D3FB60-09D1-3E13-5A79-37A222A533B9}"/>
              </a:ext>
            </a:extLst>
          </p:cNvPr>
          <p:cNvSpPr/>
          <p:nvPr/>
        </p:nvSpPr>
        <p:spPr>
          <a:xfrm>
            <a:off x="535215" y="1613356"/>
            <a:ext cx="805795" cy="805795"/>
          </a:xfrm>
          <a:prstGeom prst="rect">
            <a:avLst/>
          </a:prstGeom>
          <a:solidFill>
            <a:srgbClr val="3663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8" name="Rectangle 17">
            <a:extLst>
              <a:ext uri="{FF2B5EF4-FFF2-40B4-BE49-F238E27FC236}">
                <a16:creationId xmlns:a16="http://schemas.microsoft.com/office/drawing/2014/main" id="{DBC9B760-1561-6394-2547-9A722379C23B}"/>
              </a:ext>
            </a:extLst>
          </p:cNvPr>
          <p:cNvSpPr/>
          <p:nvPr/>
        </p:nvSpPr>
        <p:spPr>
          <a:xfrm>
            <a:off x="1707957" y="1555483"/>
            <a:ext cx="4040905" cy="1254314"/>
          </a:xfrm>
          <a:prstGeom prst="rect">
            <a:avLst/>
          </a:prstGeom>
        </p:spPr>
        <p:txBody>
          <a:bodyPr wrap="square" lIns="0" tIns="0" rIns="0" bIns="0" anchor="ctr" anchorCtr="0">
            <a:noAutofit/>
          </a:bodyPr>
          <a:lstStyle/>
          <a:p>
            <a:r>
              <a:rPr lang="en-US" sz="2000" b="1">
                <a:latin typeface="Segoe UI"/>
                <a:cs typeface="Segoe UI"/>
              </a:rPr>
              <a:t>Continuous features:</a:t>
            </a:r>
          </a:p>
          <a:p>
            <a:pPr marL="285750" indent="-285750">
              <a:buFont typeface="Arial"/>
              <a:buChar char="•"/>
            </a:pPr>
            <a:r>
              <a:rPr lang="en-US" sz="2000">
                <a:latin typeface="Segoe UI"/>
                <a:cs typeface="Segoe UI"/>
              </a:rPr>
              <a:t>−1 → </a:t>
            </a:r>
            <a:r>
              <a:rPr lang="en-US" sz="2000" err="1">
                <a:latin typeface="Segoe UI"/>
                <a:cs typeface="Segoe UI"/>
              </a:rPr>
              <a:t>NaN</a:t>
            </a:r>
            <a:r>
              <a:rPr lang="en-US" sz="2000">
                <a:latin typeface="Segoe UI"/>
                <a:cs typeface="Segoe UI"/>
              </a:rPr>
              <a:t> → median imputation</a:t>
            </a:r>
          </a:p>
          <a:p>
            <a:pPr marL="285750" indent="-285750">
              <a:buFont typeface="Arial"/>
              <a:buChar char="•"/>
            </a:pPr>
            <a:r>
              <a:rPr lang="en-US" sz="2000">
                <a:latin typeface="Segoe UI"/>
                <a:cs typeface="Segoe UI"/>
              </a:rPr>
              <a:t>Standardized (z-score)</a:t>
            </a:r>
          </a:p>
          <a:p>
            <a:pPr lvl="0"/>
            <a:endParaRPr lang="en-US" sz="2000" dirty="0">
              <a:latin typeface="Segoe UI" panose="020B0502040204020203" pitchFamily="34" charset="0"/>
              <a:cs typeface="Segoe UI" panose="020B0502040204020203" pitchFamily="34" charset="0"/>
            </a:endParaRPr>
          </a:p>
        </p:txBody>
      </p:sp>
      <p:sp>
        <p:nvSpPr>
          <p:cNvPr id="19" name="Rectangle 18">
            <a:extLst>
              <a:ext uri="{FF2B5EF4-FFF2-40B4-BE49-F238E27FC236}">
                <a16:creationId xmlns:a16="http://schemas.microsoft.com/office/drawing/2014/main" id="{C6823C84-2D0A-75DD-BC0F-FAC1D5D9B504}"/>
              </a:ext>
            </a:extLst>
          </p:cNvPr>
          <p:cNvSpPr/>
          <p:nvPr/>
        </p:nvSpPr>
        <p:spPr>
          <a:xfrm>
            <a:off x="535215" y="3249954"/>
            <a:ext cx="805795" cy="805795"/>
          </a:xfrm>
          <a:prstGeom prst="rect">
            <a:avLst/>
          </a:prstGeom>
          <a:solidFill>
            <a:srgbClr val="FE10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 name="Rectangle 19">
            <a:extLst>
              <a:ext uri="{FF2B5EF4-FFF2-40B4-BE49-F238E27FC236}">
                <a16:creationId xmlns:a16="http://schemas.microsoft.com/office/drawing/2014/main" id="{3560CA88-E315-5C4D-DF60-0616FE371A69}"/>
              </a:ext>
            </a:extLst>
          </p:cNvPr>
          <p:cNvSpPr/>
          <p:nvPr/>
        </p:nvSpPr>
        <p:spPr>
          <a:xfrm>
            <a:off x="1707957" y="3249954"/>
            <a:ext cx="3491109" cy="651466"/>
          </a:xfrm>
          <a:prstGeom prst="rect">
            <a:avLst/>
          </a:prstGeom>
        </p:spPr>
        <p:txBody>
          <a:bodyPr wrap="square" lIns="0" tIns="0" rIns="0" bIns="0" anchor="ctr" anchorCtr="0">
            <a:noAutofit/>
          </a:bodyPr>
          <a:lstStyle/>
          <a:p>
            <a:r>
              <a:rPr lang="en-US" sz="2000" b="1">
                <a:latin typeface="Segoe UI"/>
                <a:cs typeface="Segoe UI"/>
              </a:rPr>
              <a:t>Binary features:</a:t>
            </a:r>
          </a:p>
          <a:p>
            <a:pPr marL="285750" indent="-285750">
              <a:buFont typeface="Arial"/>
              <a:buChar char="•"/>
            </a:pPr>
            <a:r>
              <a:rPr lang="en-US" sz="2000">
                <a:latin typeface="Segoe UI"/>
                <a:cs typeface="Segoe UI"/>
              </a:rPr>
              <a:t>Rare −1 → mode</a:t>
            </a:r>
          </a:p>
        </p:txBody>
      </p:sp>
      <p:sp>
        <p:nvSpPr>
          <p:cNvPr id="21" name="Rectangle 20">
            <a:extLst>
              <a:ext uri="{FF2B5EF4-FFF2-40B4-BE49-F238E27FC236}">
                <a16:creationId xmlns:a16="http://schemas.microsoft.com/office/drawing/2014/main" id="{DCD7D249-9E5E-E41E-6A73-A973BCA956BC}"/>
              </a:ext>
            </a:extLst>
          </p:cNvPr>
          <p:cNvSpPr/>
          <p:nvPr/>
        </p:nvSpPr>
        <p:spPr>
          <a:xfrm>
            <a:off x="535215" y="4886553"/>
            <a:ext cx="805795" cy="805795"/>
          </a:xfrm>
          <a:prstGeom prst="rect">
            <a:avLst/>
          </a:prstGeom>
          <a:solidFill>
            <a:srgbClr val="FE87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2" name="Rectangle 21">
            <a:extLst>
              <a:ext uri="{FF2B5EF4-FFF2-40B4-BE49-F238E27FC236}">
                <a16:creationId xmlns:a16="http://schemas.microsoft.com/office/drawing/2014/main" id="{1E812CB2-D75A-A1B0-4E62-B70C111B78EF}"/>
              </a:ext>
            </a:extLst>
          </p:cNvPr>
          <p:cNvSpPr/>
          <p:nvPr/>
        </p:nvSpPr>
        <p:spPr>
          <a:xfrm>
            <a:off x="1707957" y="4886553"/>
            <a:ext cx="4122893" cy="907073"/>
          </a:xfrm>
          <a:prstGeom prst="rect">
            <a:avLst/>
          </a:prstGeom>
        </p:spPr>
        <p:txBody>
          <a:bodyPr wrap="square" lIns="0" tIns="0" rIns="0" bIns="0" anchor="ctr" anchorCtr="0">
            <a:noAutofit/>
          </a:bodyPr>
          <a:lstStyle/>
          <a:p>
            <a:r>
              <a:rPr lang="en-US" sz="2000" b="1">
                <a:latin typeface="Segoe UI"/>
                <a:cs typeface="Segoe UI"/>
              </a:rPr>
              <a:t>Categorical features:</a:t>
            </a:r>
          </a:p>
          <a:p>
            <a:pPr marL="285750" indent="-285750">
              <a:buFont typeface="Arial"/>
              <a:buChar char="•"/>
            </a:pPr>
            <a:r>
              <a:rPr lang="en-US" sz="2000">
                <a:latin typeface="Segoe UI"/>
                <a:cs typeface="Segoe UI"/>
              </a:rPr>
              <a:t>−1 kept as “unknown”</a:t>
            </a:r>
          </a:p>
          <a:p>
            <a:pPr marL="285750" indent="-285750">
              <a:buFont typeface="Arial"/>
              <a:buChar char="•"/>
            </a:pPr>
            <a:r>
              <a:rPr lang="en-US" sz="2000">
                <a:latin typeface="Segoe UI"/>
                <a:cs typeface="Segoe UI"/>
              </a:rPr>
              <a:t>One-hot encoded</a:t>
            </a:r>
          </a:p>
        </p:txBody>
      </p:sp>
      <p:cxnSp>
        <p:nvCxnSpPr>
          <p:cNvPr id="24" name="Straight Connector 23">
            <a:extLst>
              <a:ext uri="{FF2B5EF4-FFF2-40B4-BE49-F238E27FC236}">
                <a16:creationId xmlns:a16="http://schemas.microsoft.com/office/drawing/2014/main" id="{4A5B7F42-1D66-1B1A-ECED-817B8D92F8F9}"/>
              </a:ext>
            </a:extLst>
          </p:cNvPr>
          <p:cNvCxnSpPr/>
          <p:nvPr/>
        </p:nvCxnSpPr>
        <p:spPr>
          <a:xfrm>
            <a:off x="528638" y="2834552"/>
            <a:ext cx="4957762"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BF40B9A-4F54-DA7F-1E3A-05F19C6AA19A}"/>
              </a:ext>
            </a:extLst>
          </p:cNvPr>
          <p:cNvCxnSpPr/>
          <p:nvPr/>
        </p:nvCxnSpPr>
        <p:spPr>
          <a:xfrm>
            <a:off x="528638" y="4471151"/>
            <a:ext cx="4957762"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grpSp>
        <p:nvGrpSpPr>
          <p:cNvPr id="29" name="Group 28">
            <a:extLst>
              <a:ext uri="{FF2B5EF4-FFF2-40B4-BE49-F238E27FC236}">
                <a16:creationId xmlns:a16="http://schemas.microsoft.com/office/drawing/2014/main" id="{CAADAFDB-1259-2278-E66A-A1FC546DDD7B}"/>
              </a:ext>
            </a:extLst>
          </p:cNvPr>
          <p:cNvGrpSpPr/>
          <p:nvPr/>
        </p:nvGrpSpPr>
        <p:grpSpPr>
          <a:xfrm>
            <a:off x="747771" y="3462509"/>
            <a:ext cx="380683" cy="380684"/>
            <a:chOff x="2678113" y="4338638"/>
            <a:chExt cx="346075" cy="346076"/>
          </a:xfrm>
        </p:grpSpPr>
        <p:sp>
          <p:nvSpPr>
            <p:cNvPr id="30" name="Freeform 253">
              <a:extLst>
                <a:ext uri="{FF2B5EF4-FFF2-40B4-BE49-F238E27FC236}">
                  <a16:creationId xmlns:a16="http://schemas.microsoft.com/office/drawing/2014/main" id="{51C2FB24-9FFF-D6AB-A38E-E67909C409CB}"/>
                </a:ext>
              </a:extLst>
            </p:cNvPr>
            <p:cNvSpPr>
              <a:spLocks/>
            </p:cNvSpPr>
            <p:nvPr/>
          </p:nvSpPr>
          <p:spPr bwMode="auto">
            <a:xfrm>
              <a:off x="2678113" y="4464051"/>
              <a:ext cx="346075" cy="220663"/>
            </a:xfrm>
            <a:custGeom>
              <a:avLst/>
              <a:gdLst>
                <a:gd name="T0" fmla="*/ 76 w 92"/>
                <a:gd name="T1" fmla="*/ 0 h 59"/>
                <a:gd name="T2" fmla="*/ 92 w 92"/>
                <a:gd name="T3" fmla="*/ 11 h 59"/>
                <a:gd name="T4" fmla="*/ 92 w 92"/>
                <a:gd name="T5" fmla="*/ 53 h 59"/>
                <a:gd name="T6" fmla="*/ 86 w 92"/>
                <a:gd name="T7" fmla="*/ 59 h 59"/>
                <a:gd name="T8" fmla="*/ 6 w 92"/>
                <a:gd name="T9" fmla="*/ 59 h 59"/>
                <a:gd name="T10" fmla="*/ 0 w 92"/>
                <a:gd name="T11" fmla="*/ 53 h 59"/>
                <a:gd name="T12" fmla="*/ 0 w 92"/>
                <a:gd name="T13" fmla="*/ 11 h 59"/>
                <a:gd name="T14" fmla="*/ 16 w 92"/>
                <a:gd name="T15" fmla="*/ 0 h 5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2" h="59">
                  <a:moveTo>
                    <a:pt x="76" y="0"/>
                  </a:moveTo>
                  <a:cubicBezTo>
                    <a:pt x="92" y="11"/>
                    <a:pt x="92" y="11"/>
                    <a:pt x="92" y="11"/>
                  </a:cubicBezTo>
                  <a:cubicBezTo>
                    <a:pt x="92" y="53"/>
                    <a:pt x="92" y="53"/>
                    <a:pt x="92" y="53"/>
                  </a:cubicBezTo>
                  <a:cubicBezTo>
                    <a:pt x="92" y="56"/>
                    <a:pt x="89" y="59"/>
                    <a:pt x="86" y="59"/>
                  </a:cubicBezTo>
                  <a:cubicBezTo>
                    <a:pt x="6" y="59"/>
                    <a:pt x="6" y="59"/>
                    <a:pt x="6" y="59"/>
                  </a:cubicBezTo>
                  <a:cubicBezTo>
                    <a:pt x="3" y="59"/>
                    <a:pt x="0" y="56"/>
                    <a:pt x="0" y="53"/>
                  </a:cubicBezTo>
                  <a:cubicBezTo>
                    <a:pt x="0" y="11"/>
                    <a:pt x="0" y="11"/>
                    <a:pt x="0" y="11"/>
                  </a:cubicBezTo>
                  <a:cubicBezTo>
                    <a:pt x="16" y="0"/>
                    <a:pt x="16" y="0"/>
                    <a:pt x="16" y="0"/>
                  </a:cubicBezTo>
                </a:path>
              </a:pathLst>
            </a:custGeom>
            <a:noFill/>
            <a:ln w="14288"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31" name="Freeform 254">
              <a:extLst>
                <a:ext uri="{FF2B5EF4-FFF2-40B4-BE49-F238E27FC236}">
                  <a16:creationId xmlns:a16="http://schemas.microsoft.com/office/drawing/2014/main" id="{E27767FD-90C9-ADCC-8D97-E906A7E1A461}"/>
                </a:ext>
              </a:extLst>
            </p:cNvPr>
            <p:cNvSpPr>
              <a:spLocks/>
            </p:cNvSpPr>
            <p:nvPr/>
          </p:nvSpPr>
          <p:spPr bwMode="auto">
            <a:xfrm>
              <a:off x="2722563" y="4579938"/>
              <a:ext cx="255588" cy="60325"/>
            </a:xfrm>
            <a:custGeom>
              <a:avLst/>
              <a:gdLst>
                <a:gd name="T0" fmla="*/ 0 w 161"/>
                <a:gd name="T1" fmla="*/ 38 h 38"/>
                <a:gd name="T2" fmla="*/ 48 w 161"/>
                <a:gd name="T3" fmla="*/ 0 h 38"/>
                <a:gd name="T4" fmla="*/ 114 w 161"/>
                <a:gd name="T5" fmla="*/ 0 h 38"/>
                <a:gd name="T6" fmla="*/ 161 w 161"/>
                <a:gd name="T7" fmla="*/ 38 h 38"/>
              </a:gdLst>
              <a:ahLst/>
              <a:cxnLst>
                <a:cxn ang="0">
                  <a:pos x="T0" y="T1"/>
                </a:cxn>
                <a:cxn ang="0">
                  <a:pos x="T2" y="T3"/>
                </a:cxn>
                <a:cxn ang="0">
                  <a:pos x="T4" y="T5"/>
                </a:cxn>
                <a:cxn ang="0">
                  <a:pos x="T6" y="T7"/>
                </a:cxn>
              </a:cxnLst>
              <a:rect l="0" t="0" r="r" b="b"/>
              <a:pathLst>
                <a:path w="161" h="38">
                  <a:moveTo>
                    <a:pt x="0" y="38"/>
                  </a:moveTo>
                  <a:lnTo>
                    <a:pt x="48" y="0"/>
                  </a:lnTo>
                  <a:lnTo>
                    <a:pt x="114" y="0"/>
                  </a:lnTo>
                  <a:lnTo>
                    <a:pt x="161" y="38"/>
                  </a:lnTo>
                </a:path>
              </a:pathLst>
            </a:custGeom>
            <a:noFill/>
            <a:ln w="14288"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32" name="Line 255">
              <a:extLst>
                <a:ext uri="{FF2B5EF4-FFF2-40B4-BE49-F238E27FC236}">
                  <a16:creationId xmlns:a16="http://schemas.microsoft.com/office/drawing/2014/main" id="{73886346-2522-51F2-ABD9-4D4591E375EA}"/>
                </a:ext>
              </a:extLst>
            </p:cNvPr>
            <p:cNvSpPr>
              <a:spLocks noChangeShapeType="1"/>
            </p:cNvSpPr>
            <p:nvPr/>
          </p:nvSpPr>
          <p:spPr bwMode="auto">
            <a:xfrm flipH="1">
              <a:off x="2933700" y="4505326"/>
              <a:ext cx="90488" cy="60325"/>
            </a:xfrm>
            <a:prstGeom prst="line">
              <a:avLst/>
            </a:prstGeom>
            <a:noFill/>
            <a:ln w="14288"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33" name="Line 256">
              <a:extLst>
                <a:ext uri="{FF2B5EF4-FFF2-40B4-BE49-F238E27FC236}">
                  <a16:creationId xmlns:a16="http://schemas.microsoft.com/office/drawing/2014/main" id="{3A05AEC8-1A59-97E4-AD08-7FA7A833C8E1}"/>
                </a:ext>
              </a:extLst>
            </p:cNvPr>
            <p:cNvSpPr>
              <a:spLocks noChangeShapeType="1"/>
            </p:cNvSpPr>
            <p:nvPr/>
          </p:nvSpPr>
          <p:spPr bwMode="auto">
            <a:xfrm>
              <a:off x="2678113" y="4505326"/>
              <a:ext cx="90488" cy="60325"/>
            </a:xfrm>
            <a:prstGeom prst="line">
              <a:avLst/>
            </a:prstGeom>
            <a:noFill/>
            <a:ln w="14288"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34" name="Freeform 257">
              <a:extLst>
                <a:ext uri="{FF2B5EF4-FFF2-40B4-BE49-F238E27FC236}">
                  <a16:creationId xmlns:a16="http://schemas.microsoft.com/office/drawing/2014/main" id="{D6922EEB-E4D8-4DD0-4025-148DDDE9B007}"/>
                </a:ext>
              </a:extLst>
            </p:cNvPr>
            <p:cNvSpPr>
              <a:spLocks/>
            </p:cNvSpPr>
            <p:nvPr/>
          </p:nvSpPr>
          <p:spPr bwMode="auto">
            <a:xfrm>
              <a:off x="2738438" y="4338638"/>
              <a:ext cx="225425" cy="207963"/>
            </a:xfrm>
            <a:custGeom>
              <a:avLst/>
              <a:gdLst>
                <a:gd name="T0" fmla="*/ 142 w 142"/>
                <a:gd name="T1" fmla="*/ 131 h 131"/>
                <a:gd name="T2" fmla="*/ 142 w 142"/>
                <a:gd name="T3" fmla="*/ 0 h 131"/>
                <a:gd name="T4" fmla="*/ 0 w 142"/>
                <a:gd name="T5" fmla="*/ 0 h 131"/>
                <a:gd name="T6" fmla="*/ 0 w 142"/>
                <a:gd name="T7" fmla="*/ 131 h 131"/>
              </a:gdLst>
              <a:ahLst/>
              <a:cxnLst>
                <a:cxn ang="0">
                  <a:pos x="T0" y="T1"/>
                </a:cxn>
                <a:cxn ang="0">
                  <a:pos x="T2" y="T3"/>
                </a:cxn>
                <a:cxn ang="0">
                  <a:pos x="T4" y="T5"/>
                </a:cxn>
                <a:cxn ang="0">
                  <a:pos x="T6" y="T7"/>
                </a:cxn>
              </a:cxnLst>
              <a:rect l="0" t="0" r="r" b="b"/>
              <a:pathLst>
                <a:path w="142" h="131">
                  <a:moveTo>
                    <a:pt x="142" y="131"/>
                  </a:moveTo>
                  <a:lnTo>
                    <a:pt x="142" y="0"/>
                  </a:lnTo>
                  <a:lnTo>
                    <a:pt x="0" y="0"/>
                  </a:lnTo>
                  <a:lnTo>
                    <a:pt x="0" y="131"/>
                  </a:lnTo>
                </a:path>
              </a:pathLst>
            </a:custGeom>
            <a:noFill/>
            <a:ln w="14288"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35" name="Oval 258">
              <a:extLst>
                <a:ext uri="{FF2B5EF4-FFF2-40B4-BE49-F238E27FC236}">
                  <a16:creationId xmlns:a16="http://schemas.microsoft.com/office/drawing/2014/main" id="{DFAAE313-8514-6167-4680-F1A1AF4BAB17}"/>
                </a:ext>
              </a:extLst>
            </p:cNvPr>
            <p:cNvSpPr>
              <a:spLocks noChangeArrowheads="1"/>
            </p:cNvSpPr>
            <p:nvPr/>
          </p:nvSpPr>
          <p:spPr bwMode="auto">
            <a:xfrm>
              <a:off x="2824163" y="4425951"/>
              <a:ext cx="52388" cy="52388"/>
            </a:xfrm>
            <a:prstGeom prst="ellipse">
              <a:avLst/>
            </a:prstGeom>
            <a:noFill/>
            <a:ln w="14288"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36" name="Freeform 259">
              <a:extLst>
                <a:ext uri="{FF2B5EF4-FFF2-40B4-BE49-F238E27FC236}">
                  <a16:creationId xmlns:a16="http://schemas.microsoft.com/office/drawing/2014/main" id="{65B5B63D-747E-A0F7-8A3E-B4A76E3AC053}"/>
                </a:ext>
              </a:extLst>
            </p:cNvPr>
            <p:cNvSpPr>
              <a:spLocks/>
            </p:cNvSpPr>
            <p:nvPr/>
          </p:nvSpPr>
          <p:spPr bwMode="auto">
            <a:xfrm>
              <a:off x="2782888" y="4384676"/>
              <a:ext cx="134938" cy="134938"/>
            </a:xfrm>
            <a:custGeom>
              <a:avLst/>
              <a:gdLst>
                <a:gd name="T0" fmla="*/ 28 w 36"/>
                <a:gd name="T1" fmla="*/ 33 h 36"/>
                <a:gd name="T2" fmla="*/ 18 w 36"/>
                <a:gd name="T3" fmla="*/ 36 h 36"/>
                <a:gd name="T4" fmla="*/ 0 w 36"/>
                <a:gd name="T5" fmla="*/ 18 h 36"/>
                <a:gd name="T6" fmla="*/ 18 w 36"/>
                <a:gd name="T7" fmla="*/ 0 h 36"/>
                <a:gd name="T8" fmla="*/ 36 w 36"/>
                <a:gd name="T9" fmla="*/ 18 h 36"/>
                <a:gd name="T10" fmla="*/ 36 w 36"/>
                <a:gd name="T11" fmla="*/ 20 h 36"/>
                <a:gd name="T12" fmla="*/ 31 w 36"/>
                <a:gd name="T13" fmla="*/ 25 h 36"/>
                <a:gd name="T14" fmla="*/ 25 w 36"/>
                <a:gd name="T15" fmla="*/ 20 h 36"/>
                <a:gd name="T16" fmla="*/ 25 w 36"/>
                <a:gd name="T17" fmla="*/ 18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36">
                  <a:moveTo>
                    <a:pt x="28" y="33"/>
                  </a:moveTo>
                  <a:cubicBezTo>
                    <a:pt x="25" y="35"/>
                    <a:pt x="22" y="36"/>
                    <a:pt x="18" y="36"/>
                  </a:cubicBezTo>
                  <a:cubicBezTo>
                    <a:pt x="8" y="36"/>
                    <a:pt x="0" y="28"/>
                    <a:pt x="0" y="18"/>
                  </a:cubicBezTo>
                  <a:cubicBezTo>
                    <a:pt x="0" y="8"/>
                    <a:pt x="8" y="0"/>
                    <a:pt x="18" y="0"/>
                  </a:cubicBezTo>
                  <a:cubicBezTo>
                    <a:pt x="28" y="0"/>
                    <a:pt x="36" y="8"/>
                    <a:pt x="36" y="18"/>
                  </a:cubicBezTo>
                  <a:cubicBezTo>
                    <a:pt x="36" y="20"/>
                    <a:pt x="36" y="20"/>
                    <a:pt x="36" y="20"/>
                  </a:cubicBezTo>
                  <a:cubicBezTo>
                    <a:pt x="36" y="23"/>
                    <a:pt x="34" y="25"/>
                    <a:pt x="31" y="25"/>
                  </a:cubicBezTo>
                  <a:cubicBezTo>
                    <a:pt x="27" y="25"/>
                    <a:pt x="25" y="23"/>
                    <a:pt x="25" y="20"/>
                  </a:cubicBezTo>
                  <a:cubicBezTo>
                    <a:pt x="25" y="18"/>
                    <a:pt x="25" y="18"/>
                    <a:pt x="25" y="18"/>
                  </a:cubicBezTo>
                </a:path>
              </a:pathLst>
            </a:custGeom>
            <a:noFill/>
            <a:ln w="14288"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grpSp>
      <p:grpSp>
        <p:nvGrpSpPr>
          <p:cNvPr id="37" name="Group 36">
            <a:extLst>
              <a:ext uri="{FF2B5EF4-FFF2-40B4-BE49-F238E27FC236}">
                <a16:creationId xmlns:a16="http://schemas.microsoft.com/office/drawing/2014/main" id="{2CF16710-C0F1-9BA3-8B1B-8B82A34E5EC0}"/>
              </a:ext>
            </a:extLst>
          </p:cNvPr>
          <p:cNvGrpSpPr/>
          <p:nvPr/>
        </p:nvGrpSpPr>
        <p:grpSpPr>
          <a:xfrm>
            <a:off x="728737" y="1806878"/>
            <a:ext cx="418751" cy="418751"/>
            <a:chOff x="3398838" y="2894013"/>
            <a:chExt cx="346075" cy="346075"/>
          </a:xfrm>
        </p:grpSpPr>
        <p:sp>
          <p:nvSpPr>
            <p:cNvPr id="38" name="Freeform 15">
              <a:extLst>
                <a:ext uri="{FF2B5EF4-FFF2-40B4-BE49-F238E27FC236}">
                  <a16:creationId xmlns:a16="http://schemas.microsoft.com/office/drawing/2014/main" id="{E8B69A46-0321-1763-F882-43A12FE1B7A1}"/>
                </a:ext>
              </a:extLst>
            </p:cNvPr>
            <p:cNvSpPr>
              <a:spLocks/>
            </p:cNvSpPr>
            <p:nvPr/>
          </p:nvSpPr>
          <p:spPr bwMode="auto">
            <a:xfrm>
              <a:off x="3462338" y="2959101"/>
              <a:ext cx="219075" cy="217488"/>
            </a:xfrm>
            <a:custGeom>
              <a:avLst/>
              <a:gdLst>
                <a:gd name="T0" fmla="*/ 22 w 58"/>
                <a:gd name="T1" fmla="*/ 17 h 58"/>
                <a:gd name="T2" fmla="*/ 22 w 58"/>
                <a:gd name="T3" fmla="*/ 8 h 58"/>
                <a:gd name="T4" fmla="*/ 16 w 58"/>
                <a:gd name="T5" fmla="*/ 2 h 58"/>
                <a:gd name="T6" fmla="*/ 7 w 58"/>
                <a:gd name="T7" fmla="*/ 3 h 58"/>
                <a:gd name="T8" fmla="*/ 4 w 58"/>
                <a:gd name="T9" fmla="*/ 6 h 58"/>
                <a:gd name="T10" fmla="*/ 2 w 58"/>
                <a:gd name="T11" fmla="*/ 18 h 58"/>
                <a:gd name="T12" fmla="*/ 40 w 58"/>
                <a:gd name="T13" fmla="*/ 56 h 58"/>
                <a:gd name="T14" fmla="*/ 52 w 58"/>
                <a:gd name="T15" fmla="*/ 54 h 58"/>
                <a:gd name="T16" fmla="*/ 55 w 58"/>
                <a:gd name="T17" fmla="*/ 51 h 58"/>
                <a:gd name="T18" fmla="*/ 56 w 58"/>
                <a:gd name="T19" fmla="*/ 42 h 58"/>
                <a:gd name="T20" fmla="*/ 50 w 58"/>
                <a:gd name="T21" fmla="*/ 36 h 58"/>
                <a:gd name="T22" fmla="*/ 41 w 58"/>
                <a:gd name="T23" fmla="*/ 36 h 58"/>
                <a:gd name="T24" fmla="*/ 39 w 58"/>
                <a:gd name="T25" fmla="*/ 38 h 58"/>
                <a:gd name="T26" fmla="*/ 20 w 58"/>
                <a:gd name="T27" fmla="*/ 19 h 58"/>
                <a:gd name="T28" fmla="*/ 22 w 58"/>
                <a:gd name="T29" fmla="*/ 17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8" h="58">
                  <a:moveTo>
                    <a:pt x="22" y="17"/>
                  </a:moveTo>
                  <a:cubicBezTo>
                    <a:pt x="24" y="15"/>
                    <a:pt x="25" y="11"/>
                    <a:pt x="22" y="8"/>
                  </a:cubicBezTo>
                  <a:cubicBezTo>
                    <a:pt x="16" y="2"/>
                    <a:pt x="16" y="2"/>
                    <a:pt x="16" y="2"/>
                  </a:cubicBezTo>
                  <a:cubicBezTo>
                    <a:pt x="14" y="0"/>
                    <a:pt x="10" y="0"/>
                    <a:pt x="7" y="3"/>
                  </a:cubicBezTo>
                  <a:cubicBezTo>
                    <a:pt x="4" y="6"/>
                    <a:pt x="4" y="6"/>
                    <a:pt x="4" y="6"/>
                  </a:cubicBezTo>
                  <a:cubicBezTo>
                    <a:pt x="0" y="10"/>
                    <a:pt x="0" y="15"/>
                    <a:pt x="2" y="18"/>
                  </a:cubicBezTo>
                  <a:cubicBezTo>
                    <a:pt x="11" y="33"/>
                    <a:pt x="25" y="47"/>
                    <a:pt x="40" y="56"/>
                  </a:cubicBezTo>
                  <a:cubicBezTo>
                    <a:pt x="43" y="58"/>
                    <a:pt x="48" y="58"/>
                    <a:pt x="52" y="54"/>
                  </a:cubicBezTo>
                  <a:cubicBezTo>
                    <a:pt x="55" y="51"/>
                    <a:pt x="55" y="51"/>
                    <a:pt x="55" y="51"/>
                  </a:cubicBezTo>
                  <a:cubicBezTo>
                    <a:pt x="58" y="48"/>
                    <a:pt x="58" y="44"/>
                    <a:pt x="56" y="42"/>
                  </a:cubicBezTo>
                  <a:cubicBezTo>
                    <a:pt x="50" y="36"/>
                    <a:pt x="50" y="36"/>
                    <a:pt x="50" y="36"/>
                  </a:cubicBezTo>
                  <a:cubicBezTo>
                    <a:pt x="47" y="33"/>
                    <a:pt x="43" y="34"/>
                    <a:pt x="41" y="36"/>
                  </a:cubicBezTo>
                  <a:cubicBezTo>
                    <a:pt x="39" y="38"/>
                    <a:pt x="39" y="38"/>
                    <a:pt x="39" y="38"/>
                  </a:cubicBezTo>
                  <a:cubicBezTo>
                    <a:pt x="32" y="33"/>
                    <a:pt x="25" y="26"/>
                    <a:pt x="20" y="19"/>
                  </a:cubicBezTo>
                  <a:lnTo>
                    <a:pt x="22" y="17"/>
                  </a:lnTo>
                  <a:close/>
                </a:path>
              </a:pathLst>
            </a:custGeom>
            <a:noFill/>
            <a:ln w="1270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39" name="Freeform 16">
              <a:extLst>
                <a:ext uri="{FF2B5EF4-FFF2-40B4-BE49-F238E27FC236}">
                  <a16:creationId xmlns:a16="http://schemas.microsoft.com/office/drawing/2014/main" id="{BF3EB97C-C8DC-8D6E-5F53-221465AC816F}"/>
                </a:ext>
              </a:extLst>
            </p:cNvPr>
            <p:cNvSpPr>
              <a:spLocks/>
            </p:cNvSpPr>
            <p:nvPr/>
          </p:nvSpPr>
          <p:spPr bwMode="auto">
            <a:xfrm>
              <a:off x="3398838" y="2894013"/>
              <a:ext cx="346075" cy="346075"/>
            </a:xfrm>
            <a:custGeom>
              <a:avLst/>
              <a:gdLst>
                <a:gd name="T0" fmla="*/ 70 w 92"/>
                <a:gd name="T1" fmla="*/ 70 h 92"/>
                <a:gd name="T2" fmla="*/ 46 w 92"/>
                <a:gd name="T3" fmla="*/ 92 h 92"/>
                <a:gd name="T4" fmla="*/ 0 w 92"/>
                <a:gd name="T5" fmla="*/ 46 h 92"/>
                <a:gd name="T6" fmla="*/ 46 w 92"/>
                <a:gd name="T7" fmla="*/ 0 h 92"/>
                <a:gd name="T8" fmla="*/ 92 w 92"/>
                <a:gd name="T9" fmla="*/ 46 h 92"/>
                <a:gd name="T10" fmla="*/ 84 w 92"/>
                <a:gd name="T11" fmla="*/ 72 h 92"/>
              </a:gdLst>
              <a:ahLst/>
              <a:cxnLst>
                <a:cxn ang="0">
                  <a:pos x="T0" y="T1"/>
                </a:cxn>
                <a:cxn ang="0">
                  <a:pos x="T2" y="T3"/>
                </a:cxn>
                <a:cxn ang="0">
                  <a:pos x="T4" y="T5"/>
                </a:cxn>
                <a:cxn ang="0">
                  <a:pos x="T6" y="T7"/>
                </a:cxn>
                <a:cxn ang="0">
                  <a:pos x="T8" y="T9"/>
                </a:cxn>
                <a:cxn ang="0">
                  <a:pos x="T10" y="T11"/>
                </a:cxn>
              </a:cxnLst>
              <a:rect l="0" t="0" r="r" b="b"/>
              <a:pathLst>
                <a:path w="92" h="92">
                  <a:moveTo>
                    <a:pt x="70" y="70"/>
                  </a:moveTo>
                  <a:cubicBezTo>
                    <a:pt x="72" y="72"/>
                    <a:pt x="76" y="92"/>
                    <a:pt x="46" y="92"/>
                  </a:cubicBezTo>
                  <a:cubicBezTo>
                    <a:pt x="21" y="92"/>
                    <a:pt x="0" y="71"/>
                    <a:pt x="0" y="46"/>
                  </a:cubicBezTo>
                  <a:cubicBezTo>
                    <a:pt x="0" y="21"/>
                    <a:pt x="21" y="0"/>
                    <a:pt x="46" y="0"/>
                  </a:cubicBezTo>
                  <a:cubicBezTo>
                    <a:pt x="71" y="0"/>
                    <a:pt x="92" y="21"/>
                    <a:pt x="92" y="46"/>
                  </a:cubicBezTo>
                  <a:cubicBezTo>
                    <a:pt x="92" y="56"/>
                    <a:pt x="89" y="65"/>
                    <a:pt x="84" y="72"/>
                  </a:cubicBezTo>
                </a:path>
              </a:pathLst>
            </a:custGeom>
            <a:noFill/>
            <a:ln w="1270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grpSp>
      <p:grpSp>
        <p:nvGrpSpPr>
          <p:cNvPr id="40" name="Group 39">
            <a:extLst>
              <a:ext uri="{FF2B5EF4-FFF2-40B4-BE49-F238E27FC236}">
                <a16:creationId xmlns:a16="http://schemas.microsoft.com/office/drawing/2014/main" id="{68D3652D-FCD5-C180-FC9C-FD7248A977B5}"/>
              </a:ext>
            </a:extLst>
          </p:cNvPr>
          <p:cNvGrpSpPr/>
          <p:nvPr/>
        </p:nvGrpSpPr>
        <p:grpSpPr>
          <a:xfrm>
            <a:off x="728737" y="5106967"/>
            <a:ext cx="418751" cy="364967"/>
            <a:chOff x="5562600" y="1833563"/>
            <a:chExt cx="346075" cy="301625"/>
          </a:xfrm>
        </p:grpSpPr>
        <p:sp>
          <p:nvSpPr>
            <p:cNvPr id="41" name="Rectangle 221">
              <a:extLst>
                <a:ext uri="{FF2B5EF4-FFF2-40B4-BE49-F238E27FC236}">
                  <a16:creationId xmlns:a16="http://schemas.microsoft.com/office/drawing/2014/main" id="{4C01D228-1637-6FC2-07E3-2CA8260AC895}"/>
                </a:ext>
              </a:extLst>
            </p:cNvPr>
            <p:cNvSpPr>
              <a:spLocks noChangeArrowheads="1"/>
            </p:cNvSpPr>
            <p:nvPr/>
          </p:nvSpPr>
          <p:spPr bwMode="auto">
            <a:xfrm>
              <a:off x="5562600" y="1931988"/>
              <a:ext cx="346075" cy="104775"/>
            </a:xfrm>
            <a:prstGeom prst="rect">
              <a:avLst/>
            </a:prstGeom>
            <a:noFill/>
            <a:ln w="1270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42" name="Freeform 222">
              <a:extLst>
                <a:ext uri="{FF2B5EF4-FFF2-40B4-BE49-F238E27FC236}">
                  <a16:creationId xmlns:a16="http://schemas.microsoft.com/office/drawing/2014/main" id="{7B212636-95E8-B8BC-1FC2-5BC0E53D6BF4}"/>
                </a:ext>
              </a:extLst>
            </p:cNvPr>
            <p:cNvSpPr>
              <a:spLocks/>
            </p:cNvSpPr>
            <p:nvPr/>
          </p:nvSpPr>
          <p:spPr bwMode="auto">
            <a:xfrm>
              <a:off x="5592763" y="1833563"/>
              <a:ext cx="285750" cy="98425"/>
            </a:xfrm>
            <a:custGeom>
              <a:avLst/>
              <a:gdLst>
                <a:gd name="T0" fmla="*/ 0 w 76"/>
                <a:gd name="T1" fmla="*/ 26 h 26"/>
                <a:gd name="T2" fmla="*/ 36 w 76"/>
                <a:gd name="T3" fmla="*/ 0 h 26"/>
                <a:gd name="T4" fmla="*/ 38 w 76"/>
                <a:gd name="T5" fmla="*/ 0 h 26"/>
                <a:gd name="T6" fmla="*/ 76 w 76"/>
                <a:gd name="T7" fmla="*/ 26 h 26"/>
              </a:gdLst>
              <a:ahLst/>
              <a:cxnLst>
                <a:cxn ang="0">
                  <a:pos x="T0" y="T1"/>
                </a:cxn>
                <a:cxn ang="0">
                  <a:pos x="T2" y="T3"/>
                </a:cxn>
                <a:cxn ang="0">
                  <a:pos x="T4" y="T5"/>
                </a:cxn>
                <a:cxn ang="0">
                  <a:pos x="T6" y="T7"/>
                </a:cxn>
              </a:cxnLst>
              <a:rect l="0" t="0" r="r" b="b"/>
              <a:pathLst>
                <a:path w="76" h="26">
                  <a:moveTo>
                    <a:pt x="0" y="26"/>
                  </a:moveTo>
                  <a:cubicBezTo>
                    <a:pt x="5" y="11"/>
                    <a:pt x="20" y="1"/>
                    <a:pt x="36" y="0"/>
                  </a:cubicBezTo>
                  <a:cubicBezTo>
                    <a:pt x="37" y="0"/>
                    <a:pt x="37" y="0"/>
                    <a:pt x="38" y="0"/>
                  </a:cubicBezTo>
                  <a:cubicBezTo>
                    <a:pt x="55" y="0"/>
                    <a:pt x="70" y="11"/>
                    <a:pt x="76" y="26"/>
                  </a:cubicBezTo>
                </a:path>
              </a:pathLst>
            </a:custGeom>
            <a:noFill/>
            <a:ln w="12700"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43" name="Freeform 223">
              <a:extLst>
                <a:ext uri="{FF2B5EF4-FFF2-40B4-BE49-F238E27FC236}">
                  <a16:creationId xmlns:a16="http://schemas.microsoft.com/office/drawing/2014/main" id="{3F38B34A-9A79-DF42-74B6-0C8409237C5A}"/>
                </a:ext>
              </a:extLst>
            </p:cNvPr>
            <p:cNvSpPr>
              <a:spLocks/>
            </p:cNvSpPr>
            <p:nvPr/>
          </p:nvSpPr>
          <p:spPr bwMode="auto">
            <a:xfrm>
              <a:off x="5595938" y="2036763"/>
              <a:ext cx="277813" cy="98425"/>
            </a:xfrm>
            <a:custGeom>
              <a:avLst/>
              <a:gdLst>
                <a:gd name="T0" fmla="*/ 74 w 74"/>
                <a:gd name="T1" fmla="*/ 0 h 26"/>
                <a:gd name="T2" fmla="*/ 37 w 74"/>
                <a:gd name="T3" fmla="*/ 26 h 26"/>
                <a:gd name="T4" fmla="*/ 0 w 74"/>
                <a:gd name="T5" fmla="*/ 0 h 26"/>
              </a:gdLst>
              <a:ahLst/>
              <a:cxnLst>
                <a:cxn ang="0">
                  <a:pos x="T0" y="T1"/>
                </a:cxn>
                <a:cxn ang="0">
                  <a:pos x="T2" y="T3"/>
                </a:cxn>
                <a:cxn ang="0">
                  <a:pos x="T4" y="T5"/>
                </a:cxn>
              </a:cxnLst>
              <a:rect l="0" t="0" r="r" b="b"/>
              <a:pathLst>
                <a:path w="74" h="26">
                  <a:moveTo>
                    <a:pt x="74" y="0"/>
                  </a:moveTo>
                  <a:cubicBezTo>
                    <a:pt x="69" y="15"/>
                    <a:pt x="54" y="26"/>
                    <a:pt x="37" y="26"/>
                  </a:cubicBezTo>
                  <a:cubicBezTo>
                    <a:pt x="20" y="26"/>
                    <a:pt x="6" y="15"/>
                    <a:pt x="0" y="0"/>
                  </a:cubicBezTo>
                </a:path>
              </a:pathLst>
            </a:custGeom>
            <a:noFill/>
            <a:ln w="12700"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44" name="Freeform 224">
              <a:extLst>
                <a:ext uri="{FF2B5EF4-FFF2-40B4-BE49-F238E27FC236}">
                  <a16:creationId xmlns:a16="http://schemas.microsoft.com/office/drawing/2014/main" id="{ADF79D7D-89C1-6B41-A687-7136F033E72C}"/>
                </a:ext>
              </a:extLst>
            </p:cNvPr>
            <p:cNvSpPr>
              <a:spLocks/>
            </p:cNvSpPr>
            <p:nvPr/>
          </p:nvSpPr>
          <p:spPr bwMode="auto">
            <a:xfrm>
              <a:off x="5678488" y="2036763"/>
              <a:ext cx="49213" cy="98425"/>
            </a:xfrm>
            <a:custGeom>
              <a:avLst/>
              <a:gdLst>
                <a:gd name="T0" fmla="*/ 0 w 13"/>
                <a:gd name="T1" fmla="*/ 0 h 26"/>
                <a:gd name="T2" fmla="*/ 13 w 13"/>
                <a:gd name="T3" fmla="*/ 26 h 26"/>
              </a:gdLst>
              <a:ahLst/>
              <a:cxnLst>
                <a:cxn ang="0">
                  <a:pos x="T0" y="T1"/>
                </a:cxn>
                <a:cxn ang="0">
                  <a:pos x="T2" y="T3"/>
                </a:cxn>
              </a:cxnLst>
              <a:rect l="0" t="0" r="r" b="b"/>
              <a:pathLst>
                <a:path w="13" h="26">
                  <a:moveTo>
                    <a:pt x="0" y="0"/>
                  </a:moveTo>
                  <a:cubicBezTo>
                    <a:pt x="2" y="9"/>
                    <a:pt x="7" y="17"/>
                    <a:pt x="13" y="26"/>
                  </a:cubicBezTo>
                </a:path>
              </a:pathLst>
            </a:custGeom>
            <a:noFill/>
            <a:ln w="12700"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45" name="Freeform 225">
              <a:extLst>
                <a:ext uri="{FF2B5EF4-FFF2-40B4-BE49-F238E27FC236}">
                  <a16:creationId xmlns:a16="http://schemas.microsoft.com/office/drawing/2014/main" id="{37DAB7AE-3EED-296C-4703-793328CBD96C}"/>
                </a:ext>
              </a:extLst>
            </p:cNvPr>
            <p:cNvSpPr>
              <a:spLocks/>
            </p:cNvSpPr>
            <p:nvPr/>
          </p:nvSpPr>
          <p:spPr bwMode="auto">
            <a:xfrm>
              <a:off x="5675313" y="1833563"/>
              <a:ext cx="52388" cy="98425"/>
            </a:xfrm>
            <a:custGeom>
              <a:avLst/>
              <a:gdLst>
                <a:gd name="T0" fmla="*/ 14 w 14"/>
                <a:gd name="T1" fmla="*/ 0 h 26"/>
                <a:gd name="T2" fmla="*/ 0 w 14"/>
                <a:gd name="T3" fmla="*/ 26 h 26"/>
              </a:gdLst>
              <a:ahLst/>
              <a:cxnLst>
                <a:cxn ang="0">
                  <a:pos x="T0" y="T1"/>
                </a:cxn>
                <a:cxn ang="0">
                  <a:pos x="T2" y="T3"/>
                </a:cxn>
              </a:cxnLst>
              <a:rect l="0" t="0" r="r" b="b"/>
              <a:pathLst>
                <a:path w="14" h="26">
                  <a:moveTo>
                    <a:pt x="14" y="0"/>
                  </a:moveTo>
                  <a:cubicBezTo>
                    <a:pt x="7" y="8"/>
                    <a:pt x="2" y="17"/>
                    <a:pt x="0" y="26"/>
                  </a:cubicBezTo>
                </a:path>
              </a:pathLst>
            </a:custGeom>
            <a:noFill/>
            <a:ln w="12700"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46" name="Freeform 226">
              <a:extLst>
                <a:ext uri="{FF2B5EF4-FFF2-40B4-BE49-F238E27FC236}">
                  <a16:creationId xmlns:a16="http://schemas.microsoft.com/office/drawing/2014/main" id="{E7CC6D14-3624-067E-069A-78AD74870416}"/>
                </a:ext>
              </a:extLst>
            </p:cNvPr>
            <p:cNvSpPr>
              <a:spLocks/>
            </p:cNvSpPr>
            <p:nvPr/>
          </p:nvSpPr>
          <p:spPr bwMode="auto">
            <a:xfrm>
              <a:off x="5743575" y="2036763"/>
              <a:ext cx="47625" cy="98425"/>
            </a:xfrm>
            <a:custGeom>
              <a:avLst/>
              <a:gdLst>
                <a:gd name="T0" fmla="*/ 13 w 13"/>
                <a:gd name="T1" fmla="*/ 0 h 26"/>
                <a:gd name="T2" fmla="*/ 0 w 13"/>
                <a:gd name="T3" fmla="*/ 26 h 26"/>
              </a:gdLst>
              <a:ahLst/>
              <a:cxnLst>
                <a:cxn ang="0">
                  <a:pos x="T0" y="T1"/>
                </a:cxn>
                <a:cxn ang="0">
                  <a:pos x="T2" y="T3"/>
                </a:cxn>
              </a:cxnLst>
              <a:rect l="0" t="0" r="r" b="b"/>
              <a:pathLst>
                <a:path w="13" h="26">
                  <a:moveTo>
                    <a:pt x="13" y="0"/>
                  </a:moveTo>
                  <a:cubicBezTo>
                    <a:pt x="11" y="9"/>
                    <a:pt x="6" y="17"/>
                    <a:pt x="0" y="26"/>
                  </a:cubicBezTo>
                </a:path>
              </a:pathLst>
            </a:custGeom>
            <a:noFill/>
            <a:ln w="12700"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47" name="Freeform 227">
              <a:extLst>
                <a:ext uri="{FF2B5EF4-FFF2-40B4-BE49-F238E27FC236}">
                  <a16:creationId xmlns:a16="http://schemas.microsoft.com/office/drawing/2014/main" id="{9252FAE8-6DD6-366B-DB7F-5268FAD56913}"/>
                </a:ext>
              </a:extLst>
            </p:cNvPr>
            <p:cNvSpPr>
              <a:spLocks/>
            </p:cNvSpPr>
            <p:nvPr/>
          </p:nvSpPr>
          <p:spPr bwMode="auto">
            <a:xfrm>
              <a:off x="5743575" y="1833563"/>
              <a:ext cx="52388" cy="98425"/>
            </a:xfrm>
            <a:custGeom>
              <a:avLst/>
              <a:gdLst>
                <a:gd name="T0" fmla="*/ 0 w 14"/>
                <a:gd name="T1" fmla="*/ 0 h 26"/>
                <a:gd name="T2" fmla="*/ 14 w 14"/>
                <a:gd name="T3" fmla="*/ 26 h 26"/>
              </a:gdLst>
              <a:ahLst/>
              <a:cxnLst>
                <a:cxn ang="0">
                  <a:pos x="T0" y="T1"/>
                </a:cxn>
                <a:cxn ang="0">
                  <a:pos x="T2" y="T3"/>
                </a:cxn>
              </a:cxnLst>
              <a:rect l="0" t="0" r="r" b="b"/>
              <a:pathLst>
                <a:path w="14" h="26">
                  <a:moveTo>
                    <a:pt x="0" y="0"/>
                  </a:moveTo>
                  <a:cubicBezTo>
                    <a:pt x="7" y="8"/>
                    <a:pt x="12" y="17"/>
                    <a:pt x="14" y="26"/>
                  </a:cubicBezTo>
                </a:path>
              </a:pathLst>
            </a:custGeom>
            <a:noFill/>
            <a:ln w="12700"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48" name="Line 228">
              <a:extLst>
                <a:ext uri="{FF2B5EF4-FFF2-40B4-BE49-F238E27FC236}">
                  <a16:creationId xmlns:a16="http://schemas.microsoft.com/office/drawing/2014/main" id="{A3848310-37C2-9AC8-F5DD-F8CBAE1C640A}"/>
                </a:ext>
              </a:extLst>
            </p:cNvPr>
            <p:cNvSpPr>
              <a:spLocks noChangeShapeType="1"/>
            </p:cNvSpPr>
            <p:nvPr/>
          </p:nvSpPr>
          <p:spPr bwMode="auto">
            <a:xfrm>
              <a:off x="5611813" y="2066925"/>
              <a:ext cx="247650" cy="0"/>
            </a:xfrm>
            <a:prstGeom prst="line">
              <a:avLst/>
            </a:prstGeom>
            <a:noFill/>
            <a:ln w="12700" cap="flat">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49" name="Line 229">
              <a:extLst>
                <a:ext uri="{FF2B5EF4-FFF2-40B4-BE49-F238E27FC236}">
                  <a16:creationId xmlns:a16="http://schemas.microsoft.com/office/drawing/2014/main" id="{2C519486-2DBA-516D-5152-3BB862D46F81}"/>
                </a:ext>
              </a:extLst>
            </p:cNvPr>
            <p:cNvSpPr>
              <a:spLocks noChangeShapeType="1"/>
            </p:cNvSpPr>
            <p:nvPr/>
          </p:nvSpPr>
          <p:spPr bwMode="auto">
            <a:xfrm>
              <a:off x="5611813" y="1901825"/>
              <a:ext cx="247650" cy="0"/>
            </a:xfrm>
            <a:prstGeom prst="line">
              <a:avLst/>
            </a:prstGeom>
            <a:noFill/>
            <a:ln w="12700" cap="flat">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50" name="Freeform 230">
              <a:extLst>
                <a:ext uri="{FF2B5EF4-FFF2-40B4-BE49-F238E27FC236}">
                  <a16:creationId xmlns:a16="http://schemas.microsoft.com/office/drawing/2014/main" id="{5378842A-74C0-6487-E47B-CAAFA1308712}"/>
                </a:ext>
              </a:extLst>
            </p:cNvPr>
            <p:cNvSpPr>
              <a:spLocks/>
            </p:cNvSpPr>
            <p:nvPr/>
          </p:nvSpPr>
          <p:spPr bwMode="auto">
            <a:xfrm>
              <a:off x="5630863" y="1954213"/>
              <a:ext cx="36513" cy="60325"/>
            </a:xfrm>
            <a:custGeom>
              <a:avLst/>
              <a:gdLst>
                <a:gd name="T0" fmla="*/ 23 w 23"/>
                <a:gd name="T1" fmla="*/ 0 h 38"/>
                <a:gd name="T2" fmla="*/ 16 w 23"/>
                <a:gd name="T3" fmla="*/ 38 h 38"/>
                <a:gd name="T4" fmla="*/ 12 w 23"/>
                <a:gd name="T5" fmla="*/ 19 h 38"/>
                <a:gd name="T6" fmla="*/ 4 w 23"/>
                <a:gd name="T7" fmla="*/ 38 h 38"/>
                <a:gd name="T8" fmla="*/ 0 w 23"/>
                <a:gd name="T9" fmla="*/ 0 h 38"/>
              </a:gdLst>
              <a:ahLst/>
              <a:cxnLst>
                <a:cxn ang="0">
                  <a:pos x="T0" y="T1"/>
                </a:cxn>
                <a:cxn ang="0">
                  <a:pos x="T2" y="T3"/>
                </a:cxn>
                <a:cxn ang="0">
                  <a:pos x="T4" y="T5"/>
                </a:cxn>
                <a:cxn ang="0">
                  <a:pos x="T6" y="T7"/>
                </a:cxn>
                <a:cxn ang="0">
                  <a:pos x="T8" y="T9"/>
                </a:cxn>
              </a:cxnLst>
              <a:rect l="0" t="0" r="r" b="b"/>
              <a:pathLst>
                <a:path w="23" h="38">
                  <a:moveTo>
                    <a:pt x="23" y="0"/>
                  </a:moveTo>
                  <a:lnTo>
                    <a:pt x="16" y="38"/>
                  </a:lnTo>
                  <a:lnTo>
                    <a:pt x="12" y="19"/>
                  </a:lnTo>
                  <a:lnTo>
                    <a:pt x="4" y="38"/>
                  </a:lnTo>
                  <a:lnTo>
                    <a:pt x="0" y="0"/>
                  </a:lnTo>
                </a:path>
              </a:pathLst>
            </a:custGeom>
            <a:noFill/>
            <a:ln w="1270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51" name="Freeform 231">
              <a:extLst>
                <a:ext uri="{FF2B5EF4-FFF2-40B4-BE49-F238E27FC236}">
                  <a16:creationId xmlns:a16="http://schemas.microsoft.com/office/drawing/2014/main" id="{80FA602E-8FE1-120A-227B-5D1CEAEFEE58}"/>
                </a:ext>
              </a:extLst>
            </p:cNvPr>
            <p:cNvSpPr>
              <a:spLocks/>
            </p:cNvSpPr>
            <p:nvPr/>
          </p:nvSpPr>
          <p:spPr bwMode="auto">
            <a:xfrm>
              <a:off x="5719763" y="1954213"/>
              <a:ext cx="38100" cy="60325"/>
            </a:xfrm>
            <a:custGeom>
              <a:avLst/>
              <a:gdLst>
                <a:gd name="T0" fmla="*/ 24 w 24"/>
                <a:gd name="T1" fmla="*/ 0 h 38"/>
                <a:gd name="T2" fmla="*/ 19 w 24"/>
                <a:gd name="T3" fmla="*/ 38 h 38"/>
                <a:gd name="T4" fmla="*/ 12 w 24"/>
                <a:gd name="T5" fmla="*/ 19 h 38"/>
                <a:gd name="T6" fmla="*/ 5 w 24"/>
                <a:gd name="T7" fmla="*/ 38 h 38"/>
                <a:gd name="T8" fmla="*/ 0 w 24"/>
                <a:gd name="T9" fmla="*/ 0 h 38"/>
              </a:gdLst>
              <a:ahLst/>
              <a:cxnLst>
                <a:cxn ang="0">
                  <a:pos x="T0" y="T1"/>
                </a:cxn>
                <a:cxn ang="0">
                  <a:pos x="T2" y="T3"/>
                </a:cxn>
                <a:cxn ang="0">
                  <a:pos x="T4" y="T5"/>
                </a:cxn>
                <a:cxn ang="0">
                  <a:pos x="T6" y="T7"/>
                </a:cxn>
                <a:cxn ang="0">
                  <a:pos x="T8" y="T9"/>
                </a:cxn>
              </a:cxnLst>
              <a:rect l="0" t="0" r="r" b="b"/>
              <a:pathLst>
                <a:path w="24" h="38">
                  <a:moveTo>
                    <a:pt x="24" y="0"/>
                  </a:moveTo>
                  <a:lnTo>
                    <a:pt x="19" y="38"/>
                  </a:lnTo>
                  <a:lnTo>
                    <a:pt x="12" y="19"/>
                  </a:lnTo>
                  <a:lnTo>
                    <a:pt x="5" y="38"/>
                  </a:lnTo>
                  <a:lnTo>
                    <a:pt x="0" y="0"/>
                  </a:lnTo>
                </a:path>
              </a:pathLst>
            </a:custGeom>
            <a:noFill/>
            <a:ln w="1270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52" name="Freeform 232">
              <a:extLst>
                <a:ext uri="{FF2B5EF4-FFF2-40B4-BE49-F238E27FC236}">
                  <a16:creationId xmlns:a16="http://schemas.microsoft.com/office/drawing/2014/main" id="{9A19A354-3D47-8F84-AC21-8A1E65F2B926}"/>
                </a:ext>
              </a:extLst>
            </p:cNvPr>
            <p:cNvSpPr>
              <a:spLocks/>
            </p:cNvSpPr>
            <p:nvPr/>
          </p:nvSpPr>
          <p:spPr bwMode="auto">
            <a:xfrm>
              <a:off x="5810250" y="1954213"/>
              <a:ext cx="38100" cy="60325"/>
            </a:xfrm>
            <a:custGeom>
              <a:avLst/>
              <a:gdLst>
                <a:gd name="T0" fmla="*/ 24 w 24"/>
                <a:gd name="T1" fmla="*/ 0 h 38"/>
                <a:gd name="T2" fmla="*/ 19 w 24"/>
                <a:gd name="T3" fmla="*/ 38 h 38"/>
                <a:gd name="T4" fmla="*/ 12 w 24"/>
                <a:gd name="T5" fmla="*/ 19 h 38"/>
                <a:gd name="T6" fmla="*/ 7 w 24"/>
                <a:gd name="T7" fmla="*/ 38 h 38"/>
                <a:gd name="T8" fmla="*/ 0 w 24"/>
                <a:gd name="T9" fmla="*/ 0 h 38"/>
              </a:gdLst>
              <a:ahLst/>
              <a:cxnLst>
                <a:cxn ang="0">
                  <a:pos x="T0" y="T1"/>
                </a:cxn>
                <a:cxn ang="0">
                  <a:pos x="T2" y="T3"/>
                </a:cxn>
                <a:cxn ang="0">
                  <a:pos x="T4" y="T5"/>
                </a:cxn>
                <a:cxn ang="0">
                  <a:pos x="T6" y="T7"/>
                </a:cxn>
                <a:cxn ang="0">
                  <a:pos x="T8" y="T9"/>
                </a:cxn>
              </a:cxnLst>
              <a:rect l="0" t="0" r="r" b="b"/>
              <a:pathLst>
                <a:path w="24" h="38">
                  <a:moveTo>
                    <a:pt x="24" y="0"/>
                  </a:moveTo>
                  <a:lnTo>
                    <a:pt x="19" y="38"/>
                  </a:lnTo>
                  <a:lnTo>
                    <a:pt x="12" y="19"/>
                  </a:lnTo>
                  <a:lnTo>
                    <a:pt x="7" y="38"/>
                  </a:lnTo>
                  <a:lnTo>
                    <a:pt x="0" y="0"/>
                  </a:lnTo>
                </a:path>
              </a:pathLst>
            </a:custGeom>
            <a:noFill/>
            <a:ln w="1270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grpSp>
      <p:pic>
        <p:nvPicPr>
          <p:cNvPr id="7" name="Picture 6" descr="A screenshot of a computer&#10;&#10;AI-generated content may be incorrect.">
            <a:extLst>
              <a:ext uri="{FF2B5EF4-FFF2-40B4-BE49-F238E27FC236}">
                <a16:creationId xmlns:a16="http://schemas.microsoft.com/office/drawing/2014/main" id="{76A8AC2F-8EA5-B10F-2BFB-2D5D911AF537}"/>
              </a:ext>
            </a:extLst>
          </p:cNvPr>
          <p:cNvPicPr>
            <a:picLocks noChangeAspect="1"/>
          </p:cNvPicPr>
          <p:nvPr/>
        </p:nvPicPr>
        <p:blipFill>
          <a:blip r:embed="rId3"/>
          <a:stretch>
            <a:fillRect/>
          </a:stretch>
        </p:blipFill>
        <p:spPr>
          <a:xfrm>
            <a:off x="5011838" y="2546249"/>
            <a:ext cx="7179198" cy="1770322"/>
          </a:xfrm>
          <a:prstGeom prst="rect">
            <a:avLst/>
          </a:prstGeom>
        </p:spPr>
      </p:pic>
      <p:sp>
        <p:nvSpPr>
          <p:cNvPr id="8" name="Arrow: Left 7">
            <a:extLst>
              <a:ext uri="{FF2B5EF4-FFF2-40B4-BE49-F238E27FC236}">
                <a16:creationId xmlns:a16="http://schemas.microsoft.com/office/drawing/2014/main" id="{D4F8AEAB-F502-85B8-5671-FF3A47D25CA0}"/>
              </a:ext>
            </a:extLst>
          </p:cNvPr>
          <p:cNvSpPr/>
          <p:nvPr/>
        </p:nvSpPr>
        <p:spPr>
          <a:xfrm>
            <a:off x="5495565" y="4608296"/>
            <a:ext cx="6696433" cy="1169656"/>
          </a:xfrm>
          <a:prstGeom prst="leftArrow">
            <a:avLst/>
          </a:prstGeom>
          <a:solidFill>
            <a:schemeClr val="accent1">
              <a:lumMod val="60000"/>
              <a:lumOff val="4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accent4">
                    <a:lumMod val="40000"/>
                    <a:lumOff val="60000"/>
                  </a:schemeClr>
                </a:solidFill>
              </a:rPr>
              <a:t>After preprocessing, the dataset is fully numeric, scaled, and ready for both classical models and neural networks.</a:t>
            </a:r>
            <a:endParaRPr lang="en-US">
              <a:solidFill>
                <a:schemeClr val="accent4">
                  <a:lumMod val="40000"/>
                  <a:lumOff val="60000"/>
                </a:schemeClr>
              </a:solidFill>
              <a:ea typeface="Calibri" panose="020F0502020204030204"/>
              <a:cs typeface="Calibri" panose="020F0502020204030204"/>
            </a:endParaRPr>
          </a:p>
        </p:txBody>
      </p:sp>
    </p:spTree>
    <p:extLst>
      <p:ext uri="{BB962C8B-B14F-4D97-AF65-F5344CB8AC3E}">
        <p14:creationId xmlns:p14="http://schemas.microsoft.com/office/powerpoint/2010/main" val="22211427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2A9C9F-B305-0B8F-F886-CA9F20E7F64F}"/>
            </a:ext>
          </a:extLst>
        </p:cNvPr>
        <p:cNvGrpSpPr/>
        <p:nvPr/>
      </p:nvGrpSpPr>
      <p:grpSpPr>
        <a:xfrm>
          <a:off x="0" y="0"/>
          <a:ext cx="0" cy="0"/>
          <a:chOff x="0" y="0"/>
          <a:chExt cx="0" cy="0"/>
        </a:xfrm>
      </p:grpSpPr>
      <p:sp>
        <p:nvSpPr>
          <p:cNvPr id="3" name="Rectángulo 5">
            <a:extLst>
              <a:ext uri="{FF2B5EF4-FFF2-40B4-BE49-F238E27FC236}">
                <a16:creationId xmlns:a16="http://schemas.microsoft.com/office/drawing/2014/main" id="{6A8465C0-FD83-4F32-B223-DFC88E91C4BF}"/>
              </a:ext>
            </a:extLst>
          </p:cNvPr>
          <p:cNvSpPr/>
          <p:nvPr/>
        </p:nvSpPr>
        <p:spPr>
          <a:xfrm>
            <a:off x="7440972" y="0"/>
            <a:ext cx="4751028" cy="5905500"/>
          </a:xfrm>
          <a:prstGeom prst="rect">
            <a:avLst/>
          </a:prstGeom>
          <a:solidFill>
            <a:srgbClr val="264A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CC6FF"/>
              </a:solidFill>
            </a:endParaRPr>
          </a:p>
        </p:txBody>
      </p:sp>
      <p:sp>
        <p:nvSpPr>
          <p:cNvPr id="2" name="Title 1">
            <a:extLst>
              <a:ext uri="{FF2B5EF4-FFF2-40B4-BE49-F238E27FC236}">
                <a16:creationId xmlns:a16="http://schemas.microsoft.com/office/drawing/2014/main" id="{433F0868-2288-DD03-B3DF-715B7D23D454}"/>
              </a:ext>
            </a:extLst>
          </p:cNvPr>
          <p:cNvSpPr>
            <a:spLocks noGrp="1"/>
          </p:cNvSpPr>
          <p:nvPr>
            <p:ph type="title"/>
          </p:nvPr>
        </p:nvSpPr>
        <p:spPr>
          <a:xfrm>
            <a:off x="-111" y="268670"/>
            <a:ext cx="7645878" cy="952500"/>
          </a:xfrm>
        </p:spPr>
        <p:txBody>
          <a:bodyPr>
            <a:noAutofit/>
          </a:bodyPr>
          <a:lstStyle/>
          <a:p>
            <a:r>
              <a:rPr lang="en-US" sz="3200">
                <a:latin typeface="Segoe UI"/>
                <a:ea typeface="等线 Light"/>
                <a:cs typeface="Segoe UI"/>
              </a:rPr>
              <a:t>Target Distribution &amp; Metric Selection</a:t>
            </a:r>
            <a:endParaRPr lang="en-US" altLang="zh-CN" sz="3200">
              <a:latin typeface="Segoe UI"/>
              <a:ea typeface="等线 Light"/>
              <a:cs typeface="Segoe UI"/>
            </a:endParaRPr>
          </a:p>
        </p:txBody>
      </p:sp>
      <p:sp>
        <p:nvSpPr>
          <p:cNvPr id="6" name="Slide Number Placeholder 5">
            <a:extLst>
              <a:ext uri="{FF2B5EF4-FFF2-40B4-BE49-F238E27FC236}">
                <a16:creationId xmlns:a16="http://schemas.microsoft.com/office/drawing/2014/main" id="{4A325D4D-8D0A-C88F-C451-957C877BDD2A}"/>
              </a:ext>
            </a:extLst>
          </p:cNvPr>
          <p:cNvSpPr>
            <a:spLocks noGrp="1"/>
          </p:cNvSpPr>
          <p:nvPr>
            <p:ph type="sldNum" sz="quarter" idx="12"/>
          </p:nvPr>
        </p:nvSpPr>
        <p:spPr/>
        <p:txBody>
          <a:bodyPr/>
          <a:lstStyle/>
          <a:p>
            <a:fld id="{0BA98121-C0ED-4D12-A058-5C29F4DDA5D5}" type="slidenum">
              <a:rPr lang="en-ID" smtClean="0"/>
              <a:t>6</a:t>
            </a:fld>
            <a:endParaRPr lang="en-ID"/>
          </a:p>
        </p:txBody>
      </p:sp>
      <p:sp>
        <p:nvSpPr>
          <p:cNvPr id="41" name="TextBox 40">
            <a:extLst>
              <a:ext uri="{FF2B5EF4-FFF2-40B4-BE49-F238E27FC236}">
                <a16:creationId xmlns:a16="http://schemas.microsoft.com/office/drawing/2014/main" id="{32DA40CC-83B7-76CD-009D-876A13662F4D}"/>
              </a:ext>
            </a:extLst>
          </p:cNvPr>
          <p:cNvSpPr txBox="1"/>
          <p:nvPr/>
        </p:nvSpPr>
        <p:spPr>
          <a:xfrm>
            <a:off x="7522959" y="2695433"/>
            <a:ext cx="4670611" cy="2468368"/>
          </a:xfrm>
          <a:prstGeom prst="rect">
            <a:avLst/>
          </a:prstGeom>
          <a:noFill/>
        </p:spPr>
        <p:txBody>
          <a:bodyPr wrap="square" lIns="91440" tIns="45720" rIns="91440" bIns="45720" rtlCol="0" anchor="t">
            <a:spAutoFit/>
          </a:bodyPr>
          <a:lstStyle/>
          <a:p>
            <a:pPr marL="285750" indent="-285750">
              <a:lnSpc>
                <a:spcPct val="200000"/>
              </a:lnSpc>
              <a:buFont typeface="Arial" panose="020B0604020202020204" pitchFamily="34" charset="0"/>
              <a:buChar char="•"/>
            </a:pPr>
            <a:r>
              <a:rPr lang="en-US" sz="2000">
                <a:solidFill>
                  <a:schemeClr val="bg1"/>
                </a:solidFill>
                <a:ea typeface="+mn-lt"/>
                <a:cs typeface="+mn-lt"/>
              </a:rPr>
              <a:t>~96.4% target = 0</a:t>
            </a:r>
            <a:endParaRPr lang="en-US" altLang="zh-CN" sz="2000">
              <a:solidFill>
                <a:schemeClr val="bg1"/>
              </a:solidFill>
              <a:ea typeface="等线"/>
              <a:cs typeface="Calibri"/>
            </a:endParaRPr>
          </a:p>
          <a:p>
            <a:pPr marL="285750" indent="-285750">
              <a:lnSpc>
                <a:spcPct val="200000"/>
              </a:lnSpc>
              <a:buFont typeface="Arial" panose="020B0604020202020204" pitchFamily="34" charset="0"/>
              <a:buChar char="•"/>
            </a:pPr>
            <a:r>
              <a:rPr lang="en-US" sz="2000">
                <a:solidFill>
                  <a:schemeClr val="bg1"/>
                </a:solidFill>
                <a:ea typeface="Calibri"/>
              </a:rPr>
              <a:t>~</a:t>
            </a:r>
            <a:r>
              <a:rPr lang="en-US" sz="2000">
                <a:solidFill>
                  <a:schemeClr val="bg1"/>
                </a:solidFill>
                <a:ea typeface="+mn-lt"/>
                <a:cs typeface="+mn-lt"/>
              </a:rPr>
              <a:t>3.6% target = 1</a:t>
            </a:r>
          </a:p>
          <a:p>
            <a:pPr marL="285750" indent="-285750">
              <a:lnSpc>
                <a:spcPct val="200000"/>
              </a:lnSpc>
              <a:buFont typeface="Arial" panose="020B0604020202020204" pitchFamily="34" charset="0"/>
              <a:buChar char="•"/>
            </a:pPr>
            <a:r>
              <a:rPr lang="en-US" sz="2000">
                <a:solidFill>
                  <a:schemeClr val="bg1"/>
                </a:solidFill>
                <a:ea typeface="Calibri"/>
              </a:rPr>
              <a:t>Accuracy</a:t>
            </a:r>
            <a:r>
              <a:rPr lang="en-US" sz="2000">
                <a:solidFill>
                  <a:schemeClr val="bg1"/>
                </a:solidFill>
                <a:ea typeface="+mn-lt"/>
                <a:cs typeface="+mn-lt"/>
              </a:rPr>
              <a:t> is misleading</a:t>
            </a:r>
            <a:endParaRPr lang="en-US" altLang="zh-CN" sz="2000">
              <a:solidFill>
                <a:schemeClr val="bg1"/>
              </a:solidFill>
              <a:ea typeface="等线"/>
              <a:cs typeface="Calibri"/>
            </a:endParaRPr>
          </a:p>
          <a:p>
            <a:pPr marL="285750" indent="-285750">
              <a:lnSpc>
                <a:spcPct val="200000"/>
              </a:lnSpc>
              <a:buFont typeface="Arial" panose="020B0604020202020204" pitchFamily="34" charset="0"/>
              <a:buChar char="•"/>
            </a:pPr>
            <a:r>
              <a:rPr lang="en-US" sz="2000">
                <a:solidFill>
                  <a:schemeClr val="bg1"/>
                </a:solidFill>
                <a:ea typeface="Calibri"/>
              </a:rPr>
              <a:t>AUC</a:t>
            </a:r>
            <a:r>
              <a:rPr lang="en-US" sz="2000">
                <a:solidFill>
                  <a:schemeClr val="bg1"/>
                </a:solidFill>
                <a:ea typeface="+mn-lt"/>
                <a:cs typeface="+mn-lt"/>
              </a:rPr>
              <a:t> better reflects discrimination ability</a:t>
            </a:r>
            <a:endParaRPr lang="zh-CN" altLang="en-US" sz="2000">
              <a:solidFill>
                <a:schemeClr val="bg1"/>
              </a:solidFill>
              <a:ea typeface="等线"/>
            </a:endParaRPr>
          </a:p>
        </p:txBody>
      </p:sp>
      <p:pic>
        <p:nvPicPr>
          <p:cNvPr id="5" name="Picture 4" descr="A graph with a bar and a number of points&#10;&#10;AI-generated content may be incorrect.">
            <a:extLst>
              <a:ext uri="{FF2B5EF4-FFF2-40B4-BE49-F238E27FC236}">
                <a16:creationId xmlns:a16="http://schemas.microsoft.com/office/drawing/2014/main" id="{0551281C-2C4A-8BCD-479C-731825EB9250}"/>
              </a:ext>
            </a:extLst>
          </p:cNvPr>
          <p:cNvPicPr>
            <a:picLocks noChangeAspect="1"/>
          </p:cNvPicPr>
          <p:nvPr/>
        </p:nvPicPr>
        <p:blipFill>
          <a:blip r:embed="rId3"/>
          <a:srcRect l="553" r="92" b="418"/>
          <a:stretch>
            <a:fillRect/>
          </a:stretch>
        </p:blipFill>
        <p:spPr>
          <a:xfrm>
            <a:off x="1011879" y="1860873"/>
            <a:ext cx="5195978" cy="3444931"/>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pic>
        <p:nvPicPr>
          <p:cNvPr id="7" name="Picture 6" descr="A screenshot of a computer&#10;&#10;AI-generated content may be incorrect.">
            <a:extLst>
              <a:ext uri="{FF2B5EF4-FFF2-40B4-BE49-F238E27FC236}">
                <a16:creationId xmlns:a16="http://schemas.microsoft.com/office/drawing/2014/main" id="{5786E341-B652-2ECE-62F1-89AB2BF16595}"/>
              </a:ext>
            </a:extLst>
          </p:cNvPr>
          <p:cNvPicPr>
            <a:picLocks noChangeAspect="1"/>
          </p:cNvPicPr>
          <p:nvPr/>
        </p:nvPicPr>
        <p:blipFill>
          <a:blip r:embed="rId4"/>
          <a:stretch>
            <a:fillRect/>
          </a:stretch>
        </p:blipFill>
        <p:spPr>
          <a:xfrm>
            <a:off x="7928357" y="966245"/>
            <a:ext cx="3000375" cy="1790700"/>
          </a:xfrm>
          <a:prstGeom prst="rect">
            <a:avLst/>
          </a:prstGeom>
        </p:spPr>
      </p:pic>
    </p:spTree>
    <p:extLst>
      <p:ext uri="{BB962C8B-B14F-4D97-AF65-F5344CB8AC3E}">
        <p14:creationId xmlns:p14="http://schemas.microsoft.com/office/powerpoint/2010/main" val="32137644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CF9BDFB-3879-69C2-726F-71DD3EB7C549}"/>
              </a:ext>
            </a:extLst>
          </p:cNvPr>
          <p:cNvSpPr/>
          <p:nvPr/>
        </p:nvSpPr>
        <p:spPr>
          <a:xfrm>
            <a:off x="7499685" y="1453815"/>
            <a:ext cx="4531894" cy="3098131"/>
          </a:xfrm>
          <a:prstGeom prst="rect">
            <a:avLst/>
          </a:prstGeom>
          <a:solidFill>
            <a:schemeClr val="accent5">
              <a:lumMod val="75000"/>
            </a:schemeClr>
          </a:solidFill>
          <a:ln>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8A67224-1805-3E37-71FF-80349B64381E}"/>
              </a:ext>
            </a:extLst>
          </p:cNvPr>
          <p:cNvSpPr>
            <a:spLocks noGrp="1"/>
          </p:cNvSpPr>
          <p:nvPr>
            <p:ph type="title"/>
          </p:nvPr>
        </p:nvSpPr>
        <p:spPr>
          <a:xfrm>
            <a:off x="-135152" y="80581"/>
            <a:ext cx="10137723" cy="752889"/>
          </a:xfrm>
        </p:spPr>
        <p:txBody>
          <a:bodyPr/>
          <a:lstStyle/>
          <a:p>
            <a:r>
              <a:rPr lang="en-US">
                <a:latin typeface="Segoe UI"/>
                <a:cs typeface="Segoe UI"/>
              </a:rPr>
              <a:t> </a:t>
            </a:r>
            <a:r>
              <a:rPr lang="en-US" sz="3600">
                <a:latin typeface="Segoe UI"/>
                <a:cs typeface="Segoe UI"/>
              </a:rPr>
              <a:t>Correlation &amp; Feature Distributions</a:t>
            </a:r>
            <a:endParaRPr lang="en-ID" sz="3600">
              <a:latin typeface="Segoe UI"/>
              <a:cs typeface="Segoe UI"/>
            </a:endParaRPr>
          </a:p>
        </p:txBody>
      </p:sp>
      <p:sp>
        <p:nvSpPr>
          <p:cNvPr id="9" name="Oval 8">
            <a:extLst>
              <a:ext uri="{FF2B5EF4-FFF2-40B4-BE49-F238E27FC236}">
                <a16:creationId xmlns:a16="http://schemas.microsoft.com/office/drawing/2014/main" id="{EF8234DF-6CFB-6B99-841D-668FB9B9F2FB}"/>
              </a:ext>
            </a:extLst>
          </p:cNvPr>
          <p:cNvSpPr/>
          <p:nvPr/>
        </p:nvSpPr>
        <p:spPr>
          <a:xfrm>
            <a:off x="7022275" y="1230327"/>
            <a:ext cx="676645" cy="641363"/>
          </a:xfrm>
          <a:prstGeom prst="ellipse">
            <a:avLst/>
          </a:prstGeom>
          <a:solidFill>
            <a:srgbClr val="3663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Group 28">
            <a:extLst>
              <a:ext uri="{FF2B5EF4-FFF2-40B4-BE49-F238E27FC236}">
                <a16:creationId xmlns:a16="http://schemas.microsoft.com/office/drawing/2014/main" id="{908E57BF-F777-598F-E08B-DAA5918ECDDF}"/>
              </a:ext>
            </a:extLst>
          </p:cNvPr>
          <p:cNvGrpSpPr/>
          <p:nvPr/>
        </p:nvGrpSpPr>
        <p:grpSpPr>
          <a:xfrm>
            <a:off x="7233563" y="1359394"/>
            <a:ext cx="264095" cy="357970"/>
            <a:chOff x="4516438" y="2890838"/>
            <a:chExt cx="255588" cy="349250"/>
          </a:xfrm>
        </p:grpSpPr>
        <p:sp>
          <p:nvSpPr>
            <p:cNvPr id="30" name="Freeform 83">
              <a:extLst>
                <a:ext uri="{FF2B5EF4-FFF2-40B4-BE49-F238E27FC236}">
                  <a16:creationId xmlns:a16="http://schemas.microsoft.com/office/drawing/2014/main" id="{389311D7-369A-090D-1C0D-4905CA3F9200}"/>
                </a:ext>
              </a:extLst>
            </p:cNvPr>
            <p:cNvSpPr>
              <a:spLocks/>
            </p:cNvSpPr>
            <p:nvPr/>
          </p:nvSpPr>
          <p:spPr bwMode="auto">
            <a:xfrm>
              <a:off x="4516438" y="2890838"/>
              <a:ext cx="255588" cy="349250"/>
            </a:xfrm>
            <a:custGeom>
              <a:avLst/>
              <a:gdLst>
                <a:gd name="T0" fmla="*/ 161 w 161"/>
                <a:gd name="T1" fmla="*/ 220 h 220"/>
                <a:gd name="T2" fmla="*/ 0 w 161"/>
                <a:gd name="T3" fmla="*/ 220 h 220"/>
                <a:gd name="T4" fmla="*/ 0 w 161"/>
                <a:gd name="T5" fmla="*/ 0 h 220"/>
                <a:gd name="T6" fmla="*/ 104 w 161"/>
                <a:gd name="T7" fmla="*/ 0 h 220"/>
                <a:gd name="T8" fmla="*/ 161 w 161"/>
                <a:gd name="T9" fmla="*/ 57 h 220"/>
                <a:gd name="T10" fmla="*/ 161 w 161"/>
                <a:gd name="T11" fmla="*/ 220 h 220"/>
              </a:gdLst>
              <a:ahLst/>
              <a:cxnLst>
                <a:cxn ang="0">
                  <a:pos x="T0" y="T1"/>
                </a:cxn>
                <a:cxn ang="0">
                  <a:pos x="T2" y="T3"/>
                </a:cxn>
                <a:cxn ang="0">
                  <a:pos x="T4" y="T5"/>
                </a:cxn>
                <a:cxn ang="0">
                  <a:pos x="T6" y="T7"/>
                </a:cxn>
                <a:cxn ang="0">
                  <a:pos x="T8" y="T9"/>
                </a:cxn>
                <a:cxn ang="0">
                  <a:pos x="T10" y="T11"/>
                </a:cxn>
              </a:cxnLst>
              <a:rect l="0" t="0" r="r" b="b"/>
              <a:pathLst>
                <a:path w="161" h="220">
                  <a:moveTo>
                    <a:pt x="161" y="220"/>
                  </a:moveTo>
                  <a:lnTo>
                    <a:pt x="0" y="220"/>
                  </a:lnTo>
                  <a:lnTo>
                    <a:pt x="0" y="0"/>
                  </a:lnTo>
                  <a:lnTo>
                    <a:pt x="104" y="0"/>
                  </a:lnTo>
                  <a:lnTo>
                    <a:pt x="161" y="57"/>
                  </a:lnTo>
                  <a:lnTo>
                    <a:pt x="161" y="220"/>
                  </a:lnTo>
                  <a:close/>
                </a:path>
              </a:pathLst>
            </a:custGeom>
            <a:noFill/>
            <a:ln w="14288"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31" name="Freeform 84">
              <a:extLst>
                <a:ext uri="{FF2B5EF4-FFF2-40B4-BE49-F238E27FC236}">
                  <a16:creationId xmlns:a16="http://schemas.microsoft.com/office/drawing/2014/main" id="{955DB71D-3D6E-710A-E886-A169597A11D0}"/>
                </a:ext>
              </a:extLst>
            </p:cNvPr>
            <p:cNvSpPr>
              <a:spLocks/>
            </p:cNvSpPr>
            <p:nvPr/>
          </p:nvSpPr>
          <p:spPr bwMode="auto">
            <a:xfrm>
              <a:off x="4681538" y="2890838"/>
              <a:ext cx="90488" cy="90488"/>
            </a:xfrm>
            <a:custGeom>
              <a:avLst/>
              <a:gdLst>
                <a:gd name="T0" fmla="*/ 0 w 57"/>
                <a:gd name="T1" fmla="*/ 0 h 57"/>
                <a:gd name="T2" fmla="*/ 0 w 57"/>
                <a:gd name="T3" fmla="*/ 57 h 57"/>
                <a:gd name="T4" fmla="*/ 57 w 57"/>
                <a:gd name="T5" fmla="*/ 57 h 57"/>
              </a:gdLst>
              <a:ahLst/>
              <a:cxnLst>
                <a:cxn ang="0">
                  <a:pos x="T0" y="T1"/>
                </a:cxn>
                <a:cxn ang="0">
                  <a:pos x="T2" y="T3"/>
                </a:cxn>
                <a:cxn ang="0">
                  <a:pos x="T4" y="T5"/>
                </a:cxn>
              </a:cxnLst>
              <a:rect l="0" t="0" r="r" b="b"/>
              <a:pathLst>
                <a:path w="57" h="57">
                  <a:moveTo>
                    <a:pt x="0" y="0"/>
                  </a:moveTo>
                  <a:lnTo>
                    <a:pt x="0" y="57"/>
                  </a:lnTo>
                  <a:lnTo>
                    <a:pt x="57" y="57"/>
                  </a:lnTo>
                </a:path>
              </a:pathLst>
            </a:custGeom>
            <a:noFill/>
            <a:ln w="14288"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32" name="Line 85">
              <a:extLst>
                <a:ext uri="{FF2B5EF4-FFF2-40B4-BE49-F238E27FC236}">
                  <a16:creationId xmlns:a16="http://schemas.microsoft.com/office/drawing/2014/main" id="{8451AE61-BDD4-A91F-922A-9B1FA62E0351}"/>
                </a:ext>
              </a:extLst>
            </p:cNvPr>
            <p:cNvSpPr>
              <a:spLocks noChangeShapeType="1"/>
            </p:cNvSpPr>
            <p:nvPr/>
          </p:nvSpPr>
          <p:spPr bwMode="auto">
            <a:xfrm>
              <a:off x="4568825" y="2997200"/>
              <a:ext cx="74613" cy="0"/>
            </a:xfrm>
            <a:prstGeom prst="line">
              <a:avLst/>
            </a:prstGeom>
            <a:noFill/>
            <a:ln w="14288"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33" name="Line 86">
              <a:extLst>
                <a:ext uri="{FF2B5EF4-FFF2-40B4-BE49-F238E27FC236}">
                  <a16:creationId xmlns:a16="http://schemas.microsoft.com/office/drawing/2014/main" id="{3A86B6A9-7E1A-3243-F61F-C6E54C295499}"/>
                </a:ext>
              </a:extLst>
            </p:cNvPr>
            <p:cNvSpPr>
              <a:spLocks noChangeShapeType="1"/>
            </p:cNvSpPr>
            <p:nvPr/>
          </p:nvSpPr>
          <p:spPr bwMode="auto">
            <a:xfrm>
              <a:off x="4568825" y="3041650"/>
              <a:ext cx="134938" cy="0"/>
            </a:xfrm>
            <a:prstGeom prst="line">
              <a:avLst/>
            </a:prstGeom>
            <a:noFill/>
            <a:ln w="14288"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34" name="Line 87">
              <a:extLst>
                <a:ext uri="{FF2B5EF4-FFF2-40B4-BE49-F238E27FC236}">
                  <a16:creationId xmlns:a16="http://schemas.microsoft.com/office/drawing/2014/main" id="{EE929F15-AD7E-D7EC-F1A5-0A44B9660248}"/>
                </a:ext>
              </a:extLst>
            </p:cNvPr>
            <p:cNvSpPr>
              <a:spLocks noChangeShapeType="1"/>
            </p:cNvSpPr>
            <p:nvPr/>
          </p:nvSpPr>
          <p:spPr bwMode="auto">
            <a:xfrm>
              <a:off x="4568825" y="3087688"/>
              <a:ext cx="30163" cy="0"/>
            </a:xfrm>
            <a:prstGeom prst="line">
              <a:avLst/>
            </a:prstGeom>
            <a:noFill/>
            <a:ln w="14288"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35" name="Line 88">
              <a:extLst>
                <a:ext uri="{FF2B5EF4-FFF2-40B4-BE49-F238E27FC236}">
                  <a16:creationId xmlns:a16="http://schemas.microsoft.com/office/drawing/2014/main" id="{EB4C84E0-A1DC-BBDD-2017-95815DF6C9BA}"/>
                </a:ext>
              </a:extLst>
            </p:cNvPr>
            <p:cNvSpPr>
              <a:spLocks noChangeShapeType="1"/>
            </p:cNvSpPr>
            <p:nvPr/>
          </p:nvSpPr>
          <p:spPr bwMode="auto">
            <a:xfrm>
              <a:off x="4568825" y="3133725"/>
              <a:ext cx="30163" cy="0"/>
            </a:xfrm>
            <a:prstGeom prst="line">
              <a:avLst/>
            </a:prstGeom>
            <a:noFill/>
            <a:ln w="14288"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36" name="Line 89">
              <a:extLst>
                <a:ext uri="{FF2B5EF4-FFF2-40B4-BE49-F238E27FC236}">
                  <a16:creationId xmlns:a16="http://schemas.microsoft.com/office/drawing/2014/main" id="{60AFAEB7-3801-6C9D-E5E7-514C86077619}"/>
                </a:ext>
              </a:extLst>
            </p:cNvPr>
            <p:cNvSpPr>
              <a:spLocks noChangeShapeType="1"/>
            </p:cNvSpPr>
            <p:nvPr/>
          </p:nvSpPr>
          <p:spPr bwMode="auto">
            <a:xfrm>
              <a:off x="4568825" y="3178175"/>
              <a:ext cx="30163" cy="0"/>
            </a:xfrm>
            <a:prstGeom prst="line">
              <a:avLst/>
            </a:prstGeom>
            <a:noFill/>
            <a:ln w="14288"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37" name="Oval 36">
              <a:extLst>
                <a:ext uri="{FF2B5EF4-FFF2-40B4-BE49-F238E27FC236}">
                  <a16:creationId xmlns:a16="http://schemas.microsoft.com/office/drawing/2014/main" id="{A4CDA820-5AF6-07FC-B190-E5598B82C08D}"/>
                </a:ext>
              </a:extLst>
            </p:cNvPr>
            <p:cNvSpPr>
              <a:spLocks noChangeArrowheads="1"/>
            </p:cNvSpPr>
            <p:nvPr/>
          </p:nvSpPr>
          <p:spPr bwMode="auto">
            <a:xfrm>
              <a:off x="4637088" y="3087688"/>
              <a:ext cx="90488" cy="90488"/>
            </a:xfrm>
            <a:prstGeom prst="ellipse">
              <a:avLst/>
            </a:prstGeom>
            <a:noFill/>
            <a:ln w="14288"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38" name="Freeform 91">
              <a:extLst>
                <a:ext uri="{FF2B5EF4-FFF2-40B4-BE49-F238E27FC236}">
                  <a16:creationId xmlns:a16="http://schemas.microsoft.com/office/drawing/2014/main" id="{029542B8-9853-9D84-7548-D645FB93E9D3}"/>
                </a:ext>
              </a:extLst>
            </p:cNvPr>
            <p:cNvSpPr>
              <a:spLocks/>
            </p:cNvSpPr>
            <p:nvPr/>
          </p:nvSpPr>
          <p:spPr bwMode="auto">
            <a:xfrm>
              <a:off x="4648200" y="3087688"/>
              <a:ext cx="33338" cy="76200"/>
            </a:xfrm>
            <a:custGeom>
              <a:avLst/>
              <a:gdLst>
                <a:gd name="T0" fmla="*/ 21 w 21"/>
                <a:gd name="T1" fmla="*/ 0 h 48"/>
                <a:gd name="T2" fmla="*/ 21 w 21"/>
                <a:gd name="T3" fmla="*/ 29 h 48"/>
                <a:gd name="T4" fmla="*/ 0 w 21"/>
                <a:gd name="T5" fmla="*/ 48 h 48"/>
              </a:gdLst>
              <a:ahLst/>
              <a:cxnLst>
                <a:cxn ang="0">
                  <a:pos x="T0" y="T1"/>
                </a:cxn>
                <a:cxn ang="0">
                  <a:pos x="T2" y="T3"/>
                </a:cxn>
                <a:cxn ang="0">
                  <a:pos x="T4" y="T5"/>
                </a:cxn>
              </a:cxnLst>
              <a:rect l="0" t="0" r="r" b="b"/>
              <a:pathLst>
                <a:path w="21" h="48">
                  <a:moveTo>
                    <a:pt x="21" y="0"/>
                  </a:moveTo>
                  <a:lnTo>
                    <a:pt x="21" y="29"/>
                  </a:lnTo>
                  <a:lnTo>
                    <a:pt x="0" y="48"/>
                  </a:lnTo>
                </a:path>
              </a:pathLst>
            </a:custGeom>
            <a:noFill/>
            <a:ln w="14288"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grpSp>
      <p:sp>
        <p:nvSpPr>
          <p:cNvPr id="39" name="Rectangle 38">
            <a:extLst>
              <a:ext uri="{FF2B5EF4-FFF2-40B4-BE49-F238E27FC236}">
                <a16:creationId xmlns:a16="http://schemas.microsoft.com/office/drawing/2014/main" id="{04D0694B-B9C3-1C56-C885-B07BD6F067AD}"/>
              </a:ext>
            </a:extLst>
          </p:cNvPr>
          <p:cNvSpPr/>
          <p:nvPr/>
        </p:nvSpPr>
        <p:spPr>
          <a:xfrm>
            <a:off x="7742799" y="1715705"/>
            <a:ext cx="4034415" cy="2527245"/>
          </a:xfrm>
          <a:prstGeom prst="rect">
            <a:avLst/>
          </a:prstGeom>
        </p:spPr>
        <p:txBody>
          <a:bodyPr wrap="square" lIns="0" tIns="0" rIns="0" bIns="0" anchor="t" anchorCtr="0">
            <a:noAutofit/>
          </a:bodyPr>
          <a:lstStyle/>
          <a:p>
            <a:pPr marL="285750" indent="-285750">
              <a:buFont typeface="Arial"/>
              <a:buChar char="•"/>
            </a:pPr>
            <a:r>
              <a:rPr lang="en-US" sz="2000">
                <a:solidFill>
                  <a:schemeClr val="bg1"/>
                </a:solidFill>
                <a:latin typeface="Calibri"/>
                <a:ea typeface="Calibri"/>
                <a:cs typeface="Calibri"/>
              </a:rPr>
              <a:t>Correlation</a:t>
            </a:r>
            <a:r>
              <a:rPr lang="en-US" sz="2000">
                <a:solidFill>
                  <a:schemeClr val="bg1"/>
                </a:solidFill>
                <a:ea typeface="+mn-lt"/>
                <a:cs typeface="+mn-lt"/>
              </a:rPr>
              <a:t> heatmap shows several clusters among continuous features</a:t>
            </a:r>
            <a:endParaRPr lang="en-US" sz="2000">
              <a:solidFill>
                <a:schemeClr val="bg1"/>
              </a:solidFill>
              <a:latin typeface="Segoe UI" panose="020B0502040204020203" pitchFamily="34" charset="0"/>
              <a:cs typeface="Segoe UI" panose="020B0502040204020203" pitchFamily="34" charset="0"/>
            </a:endParaRPr>
          </a:p>
          <a:p>
            <a:endParaRPr lang="en-US" sz="2000">
              <a:solidFill>
                <a:schemeClr val="bg1"/>
              </a:solidFill>
              <a:ea typeface="+mn-lt"/>
              <a:cs typeface="+mn-lt"/>
            </a:endParaRPr>
          </a:p>
          <a:p>
            <a:pPr marL="285750" indent="-285750">
              <a:buFont typeface="Arial"/>
              <a:buChar char="•"/>
            </a:pPr>
            <a:r>
              <a:rPr lang="en-US" sz="2000">
                <a:solidFill>
                  <a:schemeClr val="bg1"/>
                </a:solidFill>
                <a:ea typeface="+mn-lt"/>
                <a:cs typeface="+mn-lt"/>
              </a:rPr>
              <a:t>Indicates potential redundancy and interactions between variables</a:t>
            </a:r>
            <a:endParaRPr lang="en-US" sz="2000">
              <a:solidFill>
                <a:schemeClr val="bg1"/>
              </a:solidFill>
              <a:ea typeface="Calibri"/>
              <a:cs typeface="Calibri"/>
            </a:endParaRPr>
          </a:p>
          <a:p>
            <a:endParaRPr lang="en-US" sz="2000">
              <a:solidFill>
                <a:schemeClr val="bg1"/>
              </a:solidFill>
              <a:ea typeface="+mn-lt"/>
              <a:cs typeface="+mn-lt"/>
            </a:endParaRPr>
          </a:p>
          <a:p>
            <a:pPr marL="285750" indent="-285750">
              <a:buFont typeface="Arial"/>
              <a:buChar char="•"/>
            </a:pPr>
            <a:r>
              <a:rPr lang="en-US" sz="2000">
                <a:solidFill>
                  <a:schemeClr val="bg1"/>
                </a:solidFill>
                <a:ea typeface="+mn-lt"/>
                <a:cs typeface="+mn-lt"/>
              </a:rPr>
              <a:t>Single features alone are not sufficient, but still provide useful signal</a:t>
            </a:r>
            <a:endParaRPr lang="en-US" sz="2000">
              <a:solidFill>
                <a:schemeClr val="bg1"/>
              </a:solidFill>
              <a:ea typeface="Calibri"/>
              <a:cs typeface="Calibri"/>
            </a:endParaRPr>
          </a:p>
        </p:txBody>
      </p:sp>
      <p:pic>
        <p:nvPicPr>
          <p:cNvPr id="7" name="Picture 6" descr="A graph of a heatmap&#10;&#10;AI-generated content may be incorrect.">
            <a:extLst>
              <a:ext uri="{FF2B5EF4-FFF2-40B4-BE49-F238E27FC236}">
                <a16:creationId xmlns:a16="http://schemas.microsoft.com/office/drawing/2014/main" id="{A757F0FE-9776-4972-E332-255F536C9E96}"/>
              </a:ext>
            </a:extLst>
          </p:cNvPr>
          <p:cNvPicPr>
            <a:picLocks noChangeAspect="1"/>
          </p:cNvPicPr>
          <p:nvPr/>
        </p:nvPicPr>
        <p:blipFill>
          <a:blip r:embed="rId3"/>
          <a:stretch>
            <a:fillRect/>
          </a:stretch>
        </p:blipFill>
        <p:spPr>
          <a:xfrm>
            <a:off x="1366406" y="834342"/>
            <a:ext cx="4728030" cy="3337367"/>
          </a:xfrm>
          <a:prstGeom prst="rect">
            <a:avLst/>
          </a:prstGeom>
        </p:spPr>
      </p:pic>
      <p:pic>
        <p:nvPicPr>
          <p:cNvPr id="24" name="Picture 23" descr="A graph with red and blue lines&#10;&#10;AI-generated content may be incorrect.">
            <a:extLst>
              <a:ext uri="{FF2B5EF4-FFF2-40B4-BE49-F238E27FC236}">
                <a16:creationId xmlns:a16="http://schemas.microsoft.com/office/drawing/2014/main" id="{D7738A9B-A191-7E77-B924-095E5E7333E3}"/>
              </a:ext>
            </a:extLst>
          </p:cNvPr>
          <p:cNvPicPr>
            <a:picLocks noChangeAspect="1"/>
          </p:cNvPicPr>
          <p:nvPr/>
        </p:nvPicPr>
        <p:blipFill>
          <a:blip r:embed="rId4"/>
          <a:stretch>
            <a:fillRect/>
          </a:stretch>
        </p:blipFill>
        <p:spPr>
          <a:xfrm>
            <a:off x="209610" y="4253154"/>
            <a:ext cx="3467944" cy="2451059"/>
          </a:xfrm>
          <a:prstGeom prst="rect">
            <a:avLst/>
          </a:prstGeom>
        </p:spPr>
      </p:pic>
      <p:pic>
        <p:nvPicPr>
          <p:cNvPr id="25" name="Picture 24" descr="A graph of a distribution of ps&#10;&#10;AI-generated content may be incorrect.">
            <a:extLst>
              <a:ext uri="{FF2B5EF4-FFF2-40B4-BE49-F238E27FC236}">
                <a16:creationId xmlns:a16="http://schemas.microsoft.com/office/drawing/2014/main" id="{28C0CD05-7957-2B73-6F69-EB90F8FF42D7}"/>
              </a:ext>
            </a:extLst>
          </p:cNvPr>
          <p:cNvPicPr>
            <a:picLocks noChangeAspect="1"/>
          </p:cNvPicPr>
          <p:nvPr/>
        </p:nvPicPr>
        <p:blipFill>
          <a:blip r:embed="rId5"/>
          <a:stretch>
            <a:fillRect/>
          </a:stretch>
        </p:blipFill>
        <p:spPr>
          <a:xfrm>
            <a:off x="3750619" y="4252911"/>
            <a:ext cx="3620103" cy="2456366"/>
          </a:xfrm>
          <a:prstGeom prst="rect">
            <a:avLst/>
          </a:prstGeom>
        </p:spPr>
      </p:pic>
    </p:spTree>
    <p:extLst>
      <p:ext uri="{BB962C8B-B14F-4D97-AF65-F5344CB8AC3E}">
        <p14:creationId xmlns:p14="http://schemas.microsoft.com/office/powerpoint/2010/main" val="14839550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10EA3-4739-8023-154F-9761EE304D62}"/>
            </a:ext>
          </a:extLst>
        </p:cNvPr>
        <p:cNvGrpSpPr/>
        <p:nvPr/>
      </p:nvGrpSpPr>
      <p:grpSpPr>
        <a:xfrm>
          <a:off x="0" y="0"/>
          <a:ext cx="0" cy="0"/>
          <a:chOff x="0" y="0"/>
          <a:chExt cx="0" cy="0"/>
        </a:xfrm>
      </p:grpSpPr>
      <p:sp>
        <p:nvSpPr>
          <p:cNvPr id="3" name="Rectángulo 5">
            <a:extLst>
              <a:ext uri="{FF2B5EF4-FFF2-40B4-BE49-F238E27FC236}">
                <a16:creationId xmlns:a16="http://schemas.microsoft.com/office/drawing/2014/main" id="{E2C787D4-D8EB-A43F-0A33-54A72F3F8B80}"/>
              </a:ext>
            </a:extLst>
          </p:cNvPr>
          <p:cNvSpPr/>
          <p:nvPr/>
        </p:nvSpPr>
        <p:spPr>
          <a:xfrm>
            <a:off x="6910466" y="0"/>
            <a:ext cx="5281534" cy="5905500"/>
          </a:xfrm>
          <a:prstGeom prst="rect">
            <a:avLst/>
          </a:prstGeom>
          <a:solidFill>
            <a:srgbClr val="264A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7CC6FF"/>
              </a:solidFill>
            </a:endParaRPr>
          </a:p>
        </p:txBody>
      </p:sp>
      <p:sp>
        <p:nvSpPr>
          <p:cNvPr id="2" name="Title 1">
            <a:extLst>
              <a:ext uri="{FF2B5EF4-FFF2-40B4-BE49-F238E27FC236}">
                <a16:creationId xmlns:a16="http://schemas.microsoft.com/office/drawing/2014/main" id="{3C110FA2-A4B0-2920-3401-39575AB45EA1}"/>
              </a:ext>
            </a:extLst>
          </p:cNvPr>
          <p:cNvSpPr>
            <a:spLocks noGrp="1"/>
          </p:cNvSpPr>
          <p:nvPr>
            <p:ph type="title"/>
          </p:nvPr>
        </p:nvSpPr>
        <p:spPr>
          <a:xfrm>
            <a:off x="535216" y="365126"/>
            <a:ext cx="6170108" cy="1415486"/>
          </a:xfrm>
        </p:spPr>
        <p:txBody>
          <a:bodyPr>
            <a:noAutofit/>
          </a:bodyPr>
          <a:lstStyle/>
          <a:p>
            <a:r>
              <a:rPr lang="en-US" altLang="zh-CN" dirty="0"/>
              <a:t>Baseline Models</a:t>
            </a:r>
            <a:endParaRPr lang="en-ID" dirty="0">
              <a:solidFill>
                <a:srgbClr val="36638D"/>
              </a:solidFill>
            </a:endParaRPr>
          </a:p>
        </p:txBody>
      </p:sp>
      <p:pic>
        <p:nvPicPr>
          <p:cNvPr id="5" name="Content Placeholder 4" descr="A white sports car&#10;&#10;Description automatically generated with medium confidence">
            <a:extLst>
              <a:ext uri="{FF2B5EF4-FFF2-40B4-BE49-F238E27FC236}">
                <a16:creationId xmlns:a16="http://schemas.microsoft.com/office/drawing/2014/main" id="{C3361C08-A569-941C-99DA-D5F9AF7D1210}"/>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rcRect l="18305" t="17951" r="14156" b="16329"/>
          <a:stretch/>
        </p:blipFill>
        <p:spPr>
          <a:xfrm>
            <a:off x="6705324" y="4065042"/>
            <a:ext cx="5063509" cy="2291308"/>
          </a:xfrm>
        </p:spPr>
      </p:pic>
      <p:sp>
        <p:nvSpPr>
          <p:cNvPr id="11" name="Rectangle 10">
            <a:extLst>
              <a:ext uri="{FF2B5EF4-FFF2-40B4-BE49-F238E27FC236}">
                <a16:creationId xmlns:a16="http://schemas.microsoft.com/office/drawing/2014/main" id="{5366F449-9957-59C1-E769-EE4636BB5A1A}"/>
              </a:ext>
            </a:extLst>
          </p:cNvPr>
          <p:cNvSpPr/>
          <p:nvPr/>
        </p:nvSpPr>
        <p:spPr>
          <a:xfrm>
            <a:off x="535215" y="3138377"/>
            <a:ext cx="2750530" cy="732776"/>
          </a:xfrm>
          <a:prstGeom prst="rect">
            <a:avLst/>
          </a:prstGeom>
        </p:spPr>
        <p:txBody>
          <a:bodyPr wrap="square" lIns="0" tIns="0" rIns="0" bIns="0" anchor="t" anchorCtr="0">
            <a:noAutofit/>
          </a:bodyPr>
          <a:lstStyle/>
          <a:p>
            <a:pPr lvl="0"/>
            <a:r>
              <a:rPr lang="en-US" altLang="zh-CN" sz="2000" b="1" dirty="0">
                <a:latin typeface="Segoe UI" panose="020B0502040204020203" pitchFamily="34" charset="0"/>
                <a:cs typeface="Segoe UI" panose="020B0502040204020203" pitchFamily="34" charset="0"/>
              </a:rPr>
              <a:t>Logistic</a:t>
            </a:r>
            <a:r>
              <a:rPr lang="en-US" altLang="zh-CN" sz="2000" dirty="0"/>
              <a:t> </a:t>
            </a:r>
            <a:r>
              <a:rPr lang="en-US" altLang="zh-CN" sz="2000" b="1" dirty="0">
                <a:latin typeface="Segoe UI" panose="020B0502040204020203" pitchFamily="34" charset="0"/>
                <a:cs typeface="Segoe UI" panose="020B0502040204020203" pitchFamily="34" charset="0"/>
              </a:rPr>
              <a:t>Regression</a:t>
            </a:r>
            <a:endParaRPr lang="en-US" sz="2000" b="1" dirty="0">
              <a:latin typeface="Segoe UI" panose="020B0502040204020203" pitchFamily="34" charset="0"/>
              <a:cs typeface="Segoe UI" panose="020B0502040204020203" pitchFamily="34" charset="0"/>
            </a:endParaRPr>
          </a:p>
        </p:txBody>
      </p:sp>
      <p:sp>
        <p:nvSpPr>
          <p:cNvPr id="12" name="Rectangle 11">
            <a:extLst>
              <a:ext uri="{FF2B5EF4-FFF2-40B4-BE49-F238E27FC236}">
                <a16:creationId xmlns:a16="http://schemas.microsoft.com/office/drawing/2014/main" id="{82DB4DAF-8C55-C27C-10CA-F13D4C282AE5}"/>
              </a:ext>
            </a:extLst>
          </p:cNvPr>
          <p:cNvSpPr/>
          <p:nvPr/>
        </p:nvSpPr>
        <p:spPr>
          <a:xfrm>
            <a:off x="3722841" y="3138376"/>
            <a:ext cx="2750530" cy="772961"/>
          </a:xfrm>
          <a:prstGeom prst="rect">
            <a:avLst/>
          </a:prstGeom>
        </p:spPr>
        <p:txBody>
          <a:bodyPr wrap="square" lIns="0" tIns="0" rIns="0" bIns="0" anchor="t" anchorCtr="0">
            <a:noAutofit/>
          </a:bodyPr>
          <a:lstStyle/>
          <a:p>
            <a:pPr lvl="0"/>
            <a:r>
              <a:rPr lang="en-US" altLang="zh-CN" sz="2000" b="1" dirty="0">
                <a:latin typeface="Segoe UI" panose="020B0502040204020203" pitchFamily="34" charset="0"/>
                <a:cs typeface="Segoe UI" panose="020B0502040204020203" pitchFamily="34" charset="0"/>
              </a:rPr>
              <a:t>Decision Tree</a:t>
            </a:r>
            <a:endParaRPr lang="en-US" sz="2000" b="1" dirty="0">
              <a:latin typeface="Segoe UI" panose="020B0502040204020203" pitchFamily="34" charset="0"/>
              <a:cs typeface="Segoe UI" panose="020B0502040204020203" pitchFamily="34" charset="0"/>
            </a:endParaRPr>
          </a:p>
        </p:txBody>
      </p:sp>
      <p:grpSp>
        <p:nvGrpSpPr>
          <p:cNvPr id="15" name="Group 14">
            <a:extLst>
              <a:ext uri="{FF2B5EF4-FFF2-40B4-BE49-F238E27FC236}">
                <a16:creationId xmlns:a16="http://schemas.microsoft.com/office/drawing/2014/main" id="{06FF7E12-F115-29AA-2F0A-BD66B249B6D2}"/>
              </a:ext>
            </a:extLst>
          </p:cNvPr>
          <p:cNvGrpSpPr/>
          <p:nvPr/>
        </p:nvGrpSpPr>
        <p:grpSpPr>
          <a:xfrm>
            <a:off x="756674" y="2275953"/>
            <a:ext cx="330042" cy="380683"/>
            <a:chOff x="7019925" y="2894013"/>
            <a:chExt cx="300038" cy="346075"/>
          </a:xfrm>
        </p:grpSpPr>
        <p:sp>
          <p:nvSpPr>
            <p:cNvPr id="16" name="Freeform 290">
              <a:extLst>
                <a:ext uri="{FF2B5EF4-FFF2-40B4-BE49-F238E27FC236}">
                  <a16:creationId xmlns:a16="http://schemas.microsoft.com/office/drawing/2014/main" id="{794E43D9-5E30-E440-36E8-5471D7E47A69}"/>
                </a:ext>
              </a:extLst>
            </p:cNvPr>
            <p:cNvSpPr>
              <a:spLocks/>
            </p:cNvSpPr>
            <p:nvPr/>
          </p:nvSpPr>
          <p:spPr bwMode="auto">
            <a:xfrm>
              <a:off x="7019925" y="2894013"/>
              <a:ext cx="300038" cy="346075"/>
            </a:xfrm>
            <a:custGeom>
              <a:avLst/>
              <a:gdLst>
                <a:gd name="T0" fmla="*/ 60 w 80"/>
                <a:gd name="T1" fmla="*/ 9 h 92"/>
                <a:gd name="T2" fmla="*/ 40 w 80"/>
                <a:gd name="T3" fmla="*/ 0 h 92"/>
                <a:gd name="T4" fmla="*/ 40 w 80"/>
                <a:gd name="T5" fmla="*/ 0 h 92"/>
                <a:gd name="T6" fmla="*/ 20 w 80"/>
                <a:gd name="T7" fmla="*/ 9 h 92"/>
                <a:gd name="T8" fmla="*/ 0 w 80"/>
                <a:gd name="T9" fmla="*/ 2 h 92"/>
                <a:gd name="T10" fmla="*/ 0 w 80"/>
                <a:gd name="T11" fmla="*/ 61 h 92"/>
                <a:gd name="T12" fmla="*/ 40 w 80"/>
                <a:gd name="T13" fmla="*/ 92 h 92"/>
                <a:gd name="T14" fmla="*/ 80 w 80"/>
                <a:gd name="T15" fmla="*/ 61 h 92"/>
                <a:gd name="T16" fmla="*/ 80 w 80"/>
                <a:gd name="T17" fmla="*/ 2 h 92"/>
                <a:gd name="T18" fmla="*/ 60 w 80"/>
                <a:gd name="T19" fmla="*/ 9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0" h="92">
                  <a:moveTo>
                    <a:pt x="60" y="9"/>
                  </a:moveTo>
                  <a:cubicBezTo>
                    <a:pt x="52" y="9"/>
                    <a:pt x="45" y="6"/>
                    <a:pt x="40" y="0"/>
                  </a:cubicBezTo>
                  <a:cubicBezTo>
                    <a:pt x="40" y="0"/>
                    <a:pt x="40" y="0"/>
                    <a:pt x="40" y="0"/>
                  </a:cubicBezTo>
                  <a:cubicBezTo>
                    <a:pt x="35" y="6"/>
                    <a:pt x="28" y="9"/>
                    <a:pt x="20" y="9"/>
                  </a:cubicBezTo>
                  <a:cubicBezTo>
                    <a:pt x="13" y="9"/>
                    <a:pt x="7" y="7"/>
                    <a:pt x="0" y="2"/>
                  </a:cubicBezTo>
                  <a:cubicBezTo>
                    <a:pt x="0" y="61"/>
                    <a:pt x="0" y="61"/>
                    <a:pt x="0" y="61"/>
                  </a:cubicBezTo>
                  <a:cubicBezTo>
                    <a:pt x="0" y="61"/>
                    <a:pt x="6" y="82"/>
                    <a:pt x="40" y="92"/>
                  </a:cubicBezTo>
                  <a:cubicBezTo>
                    <a:pt x="74" y="82"/>
                    <a:pt x="80" y="61"/>
                    <a:pt x="80" y="61"/>
                  </a:cubicBezTo>
                  <a:cubicBezTo>
                    <a:pt x="80" y="2"/>
                    <a:pt x="80" y="2"/>
                    <a:pt x="80" y="2"/>
                  </a:cubicBezTo>
                  <a:cubicBezTo>
                    <a:pt x="73" y="7"/>
                    <a:pt x="67" y="9"/>
                    <a:pt x="60" y="9"/>
                  </a:cubicBezTo>
                  <a:close/>
                </a:path>
              </a:pathLst>
            </a:custGeom>
            <a:noFill/>
            <a:ln w="14288"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17" name="Freeform 291">
              <a:extLst>
                <a:ext uri="{FF2B5EF4-FFF2-40B4-BE49-F238E27FC236}">
                  <a16:creationId xmlns:a16="http://schemas.microsoft.com/office/drawing/2014/main" id="{7E70A064-B6B5-139F-6F3B-9FC457E0AD8F}"/>
                </a:ext>
              </a:extLst>
            </p:cNvPr>
            <p:cNvSpPr>
              <a:spLocks/>
            </p:cNvSpPr>
            <p:nvPr/>
          </p:nvSpPr>
          <p:spPr bwMode="auto">
            <a:xfrm>
              <a:off x="7102475" y="3014663"/>
              <a:ext cx="158750" cy="131763"/>
            </a:xfrm>
            <a:custGeom>
              <a:avLst/>
              <a:gdLst>
                <a:gd name="T0" fmla="*/ 100 w 100"/>
                <a:gd name="T1" fmla="*/ 0 h 83"/>
                <a:gd name="T2" fmla="*/ 43 w 100"/>
                <a:gd name="T3" fmla="*/ 83 h 83"/>
                <a:gd name="T4" fmla="*/ 0 w 100"/>
                <a:gd name="T5" fmla="*/ 38 h 83"/>
              </a:gdLst>
              <a:ahLst/>
              <a:cxnLst>
                <a:cxn ang="0">
                  <a:pos x="T0" y="T1"/>
                </a:cxn>
                <a:cxn ang="0">
                  <a:pos x="T2" y="T3"/>
                </a:cxn>
                <a:cxn ang="0">
                  <a:pos x="T4" y="T5"/>
                </a:cxn>
              </a:cxnLst>
              <a:rect l="0" t="0" r="r" b="b"/>
              <a:pathLst>
                <a:path w="100" h="83">
                  <a:moveTo>
                    <a:pt x="100" y="0"/>
                  </a:moveTo>
                  <a:lnTo>
                    <a:pt x="43" y="83"/>
                  </a:lnTo>
                  <a:lnTo>
                    <a:pt x="0" y="38"/>
                  </a:lnTo>
                </a:path>
              </a:pathLst>
            </a:custGeom>
            <a:noFill/>
            <a:ln w="14288"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grpSp>
      <p:grpSp>
        <p:nvGrpSpPr>
          <p:cNvPr id="18" name="Group 17">
            <a:extLst>
              <a:ext uri="{FF2B5EF4-FFF2-40B4-BE49-F238E27FC236}">
                <a16:creationId xmlns:a16="http://schemas.microsoft.com/office/drawing/2014/main" id="{42BEB36A-831F-F50E-BEB1-304C11921D51}"/>
              </a:ext>
            </a:extLst>
          </p:cNvPr>
          <p:cNvGrpSpPr/>
          <p:nvPr/>
        </p:nvGrpSpPr>
        <p:grpSpPr>
          <a:xfrm>
            <a:off x="3935568" y="2275953"/>
            <a:ext cx="347504" cy="380683"/>
            <a:chOff x="10220929" y="2320926"/>
            <a:chExt cx="315913" cy="346075"/>
          </a:xfrm>
        </p:grpSpPr>
        <p:sp>
          <p:nvSpPr>
            <p:cNvPr id="19" name="Freeform 846">
              <a:extLst>
                <a:ext uri="{FF2B5EF4-FFF2-40B4-BE49-F238E27FC236}">
                  <a16:creationId xmlns:a16="http://schemas.microsoft.com/office/drawing/2014/main" id="{B65BE747-79F5-A7A7-788D-95B100AFECA2}"/>
                </a:ext>
              </a:extLst>
            </p:cNvPr>
            <p:cNvSpPr>
              <a:spLocks/>
            </p:cNvSpPr>
            <p:nvPr/>
          </p:nvSpPr>
          <p:spPr bwMode="auto">
            <a:xfrm>
              <a:off x="10273317" y="2320926"/>
              <a:ext cx="263525" cy="203200"/>
            </a:xfrm>
            <a:custGeom>
              <a:avLst/>
              <a:gdLst>
                <a:gd name="T0" fmla="*/ 52 w 70"/>
                <a:gd name="T1" fmla="*/ 54 h 54"/>
                <a:gd name="T2" fmla="*/ 70 w 70"/>
                <a:gd name="T3" fmla="*/ 28 h 54"/>
                <a:gd name="T4" fmla="*/ 52 w 70"/>
                <a:gd name="T5" fmla="*/ 28 h 54"/>
                <a:gd name="T6" fmla="*/ 58 w 70"/>
                <a:gd name="T7" fmla="*/ 0 h 54"/>
                <a:gd name="T8" fmla="*/ 28 w 70"/>
                <a:gd name="T9" fmla="*/ 26 h 54"/>
                <a:gd name="T10" fmla="*/ 12 w 70"/>
                <a:gd name="T11" fmla="*/ 11 h 54"/>
                <a:gd name="T12" fmla="*/ 12 w 70"/>
                <a:gd name="T13" fmla="*/ 40 h 54"/>
              </a:gdLst>
              <a:ahLst/>
              <a:cxnLst>
                <a:cxn ang="0">
                  <a:pos x="T0" y="T1"/>
                </a:cxn>
                <a:cxn ang="0">
                  <a:pos x="T2" y="T3"/>
                </a:cxn>
                <a:cxn ang="0">
                  <a:pos x="T4" y="T5"/>
                </a:cxn>
                <a:cxn ang="0">
                  <a:pos x="T6" y="T7"/>
                </a:cxn>
                <a:cxn ang="0">
                  <a:pos x="T8" y="T9"/>
                </a:cxn>
                <a:cxn ang="0">
                  <a:pos x="T10" y="T11"/>
                </a:cxn>
                <a:cxn ang="0">
                  <a:pos x="T12" y="T13"/>
                </a:cxn>
              </a:cxnLst>
              <a:rect l="0" t="0" r="r" b="b"/>
              <a:pathLst>
                <a:path w="70" h="54">
                  <a:moveTo>
                    <a:pt x="52" y="54"/>
                  </a:moveTo>
                  <a:cubicBezTo>
                    <a:pt x="70" y="48"/>
                    <a:pt x="70" y="28"/>
                    <a:pt x="70" y="28"/>
                  </a:cubicBezTo>
                  <a:cubicBezTo>
                    <a:pt x="70" y="28"/>
                    <a:pt x="62" y="32"/>
                    <a:pt x="52" y="28"/>
                  </a:cubicBezTo>
                  <a:cubicBezTo>
                    <a:pt x="52" y="28"/>
                    <a:pt x="50" y="12"/>
                    <a:pt x="58" y="0"/>
                  </a:cubicBezTo>
                  <a:cubicBezTo>
                    <a:pt x="46" y="2"/>
                    <a:pt x="26" y="12"/>
                    <a:pt x="28" y="26"/>
                  </a:cubicBezTo>
                  <a:cubicBezTo>
                    <a:pt x="20" y="26"/>
                    <a:pt x="12" y="11"/>
                    <a:pt x="12" y="11"/>
                  </a:cubicBezTo>
                  <a:cubicBezTo>
                    <a:pt x="12" y="11"/>
                    <a:pt x="0" y="30"/>
                    <a:pt x="12" y="40"/>
                  </a:cubicBezTo>
                </a:path>
              </a:pathLst>
            </a:cu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20" name="Rectangle 847">
              <a:extLst>
                <a:ext uri="{FF2B5EF4-FFF2-40B4-BE49-F238E27FC236}">
                  <a16:creationId xmlns:a16="http://schemas.microsoft.com/office/drawing/2014/main" id="{95D66BF4-91B9-43E9-7349-1F85149DFEDE}"/>
                </a:ext>
              </a:extLst>
            </p:cNvPr>
            <p:cNvSpPr>
              <a:spLocks noChangeArrowheads="1"/>
            </p:cNvSpPr>
            <p:nvPr/>
          </p:nvSpPr>
          <p:spPr bwMode="auto">
            <a:xfrm>
              <a:off x="10236804" y="2636838"/>
              <a:ext cx="44450" cy="30163"/>
            </a:xfrm>
            <a:prstGeom prst="rect">
              <a:avLst/>
            </a:pr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21" name="Rectangle 848">
              <a:extLst>
                <a:ext uri="{FF2B5EF4-FFF2-40B4-BE49-F238E27FC236}">
                  <a16:creationId xmlns:a16="http://schemas.microsoft.com/office/drawing/2014/main" id="{82E7762F-AE9B-7CFB-B911-4660F0E06841}"/>
                </a:ext>
              </a:extLst>
            </p:cNvPr>
            <p:cNvSpPr>
              <a:spLocks noChangeArrowheads="1"/>
            </p:cNvSpPr>
            <p:nvPr/>
          </p:nvSpPr>
          <p:spPr bwMode="auto">
            <a:xfrm>
              <a:off x="10446354" y="2636838"/>
              <a:ext cx="46038" cy="30163"/>
            </a:xfrm>
            <a:prstGeom prst="rect">
              <a:avLst/>
            </a:pr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22" name="Freeform 849">
              <a:extLst>
                <a:ext uri="{FF2B5EF4-FFF2-40B4-BE49-F238E27FC236}">
                  <a16:creationId xmlns:a16="http://schemas.microsoft.com/office/drawing/2014/main" id="{3732973B-5536-9E81-6699-8C155E7C79FC}"/>
                </a:ext>
              </a:extLst>
            </p:cNvPr>
            <p:cNvSpPr>
              <a:spLocks/>
            </p:cNvSpPr>
            <p:nvPr/>
          </p:nvSpPr>
          <p:spPr bwMode="auto">
            <a:xfrm>
              <a:off x="10220929" y="2546351"/>
              <a:ext cx="285750" cy="90488"/>
            </a:xfrm>
            <a:custGeom>
              <a:avLst/>
              <a:gdLst>
                <a:gd name="T0" fmla="*/ 180 w 180"/>
                <a:gd name="T1" fmla="*/ 57 h 57"/>
                <a:gd name="T2" fmla="*/ 180 w 180"/>
                <a:gd name="T3" fmla="*/ 19 h 57"/>
                <a:gd name="T4" fmla="*/ 161 w 180"/>
                <a:gd name="T5" fmla="*/ 0 h 57"/>
                <a:gd name="T6" fmla="*/ 19 w 180"/>
                <a:gd name="T7" fmla="*/ 0 h 57"/>
                <a:gd name="T8" fmla="*/ 0 w 180"/>
                <a:gd name="T9" fmla="*/ 19 h 57"/>
                <a:gd name="T10" fmla="*/ 0 w 180"/>
                <a:gd name="T11" fmla="*/ 57 h 57"/>
                <a:gd name="T12" fmla="*/ 180 w 180"/>
                <a:gd name="T13" fmla="*/ 57 h 57"/>
              </a:gdLst>
              <a:ahLst/>
              <a:cxnLst>
                <a:cxn ang="0">
                  <a:pos x="T0" y="T1"/>
                </a:cxn>
                <a:cxn ang="0">
                  <a:pos x="T2" y="T3"/>
                </a:cxn>
                <a:cxn ang="0">
                  <a:pos x="T4" y="T5"/>
                </a:cxn>
                <a:cxn ang="0">
                  <a:pos x="T6" y="T7"/>
                </a:cxn>
                <a:cxn ang="0">
                  <a:pos x="T8" y="T9"/>
                </a:cxn>
                <a:cxn ang="0">
                  <a:pos x="T10" y="T11"/>
                </a:cxn>
                <a:cxn ang="0">
                  <a:pos x="T12" y="T13"/>
                </a:cxn>
              </a:cxnLst>
              <a:rect l="0" t="0" r="r" b="b"/>
              <a:pathLst>
                <a:path w="180" h="57">
                  <a:moveTo>
                    <a:pt x="180" y="57"/>
                  </a:moveTo>
                  <a:lnTo>
                    <a:pt x="180" y="19"/>
                  </a:lnTo>
                  <a:lnTo>
                    <a:pt x="161" y="0"/>
                  </a:lnTo>
                  <a:lnTo>
                    <a:pt x="19" y="0"/>
                  </a:lnTo>
                  <a:lnTo>
                    <a:pt x="0" y="19"/>
                  </a:lnTo>
                  <a:lnTo>
                    <a:pt x="0" y="57"/>
                  </a:lnTo>
                  <a:lnTo>
                    <a:pt x="180" y="57"/>
                  </a:lnTo>
                  <a:close/>
                </a:path>
              </a:pathLst>
            </a:cu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23" name="Freeform 850">
              <a:extLst>
                <a:ext uri="{FF2B5EF4-FFF2-40B4-BE49-F238E27FC236}">
                  <a16:creationId xmlns:a16="http://schemas.microsoft.com/office/drawing/2014/main" id="{99AC1A09-8181-02E7-F57C-6918ED3ED570}"/>
                </a:ext>
              </a:extLst>
            </p:cNvPr>
            <p:cNvSpPr>
              <a:spLocks/>
            </p:cNvSpPr>
            <p:nvPr/>
          </p:nvSpPr>
          <p:spPr bwMode="auto">
            <a:xfrm>
              <a:off x="10251092" y="2471738"/>
              <a:ext cx="225425" cy="74613"/>
            </a:xfrm>
            <a:custGeom>
              <a:avLst/>
              <a:gdLst>
                <a:gd name="T0" fmla="*/ 123 w 142"/>
                <a:gd name="T1" fmla="*/ 0 h 47"/>
                <a:gd name="T2" fmla="*/ 19 w 142"/>
                <a:gd name="T3" fmla="*/ 0 h 47"/>
                <a:gd name="T4" fmla="*/ 0 w 142"/>
                <a:gd name="T5" fmla="*/ 47 h 47"/>
                <a:gd name="T6" fmla="*/ 142 w 142"/>
                <a:gd name="T7" fmla="*/ 47 h 47"/>
                <a:gd name="T8" fmla="*/ 123 w 142"/>
                <a:gd name="T9" fmla="*/ 0 h 47"/>
              </a:gdLst>
              <a:ahLst/>
              <a:cxnLst>
                <a:cxn ang="0">
                  <a:pos x="T0" y="T1"/>
                </a:cxn>
                <a:cxn ang="0">
                  <a:pos x="T2" y="T3"/>
                </a:cxn>
                <a:cxn ang="0">
                  <a:pos x="T4" y="T5"/>
                </a:cxn>
                <a:cxn ang="0">
                  <a:pos x="T6" y="T7"/>
                </a:cxn>
                <a:cxn ang="0">
                  <a:pos x="T8" y="T9"/>
                </a:cxn>
              </a:cxnLst>
              <a:rect l="0" t="0" r="r" b="b"/>
              <a:pathLst>
                <a:path w="142" h="47">
                  <a:moveTo>
                    <a:pt x="123" y="0"/>
                  </a:moveTo>
                  <a:lnTo>
                    <a:pt x="19" y="0"/>
                  </a:lnTo>
                  <a:lnTo>
                    <a:pt x="0" y="47"/>
                  </a:lnTo>
                  <a:lnTo>
                    <a:pt x="142" y="47"/>
                  </a:lnTo>
                  <a:lnTo>
                    <a:pt x="123" y="0"/>
                  </a:lnTo>
                  <a:close/>
                </a:path>
              </a:pathLst>
            </a:cu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24" name="Line 851">
              <a:extLst>
                <a:ext uri="{FF2B5EF4-FFF2-40B4-BE49-F238E27FC236}">
                  <a16:creationId xmlns:a16="http://schemas.microsoft.com/office/drawing/2014/main" id="{DAA42A2E-A8D5-DE6B-9F60-8C5A58B6414F}"/>
                </a:ext>
              </a:extLst>
            </p:cNvPr>
            <p:cNvSpPr>
              <a:spLocks noChangeShapeType="1"/>
            </p:cNvSpPr>
            <p:nvPr/>
          </p:nvSpPr>
          <p:spPr bwMode="auto">
            <a:xfrm>
              <a:off x="10220929" y="2606676"/>
              <a:ext cx="68263" cy="0"/>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25" name="Line 852">
              <a:extLst>
                <a:ext uri="{FF2B5EF4-FFF2-40B4-BE49-F238E27FC236}">
                  <a16:creationId xmlns:a16="http://schemas.microsoft.com/office/drawing/2014/main" id="{B8751ABF-E633-6D7F-99F1-65F1F8E59A20}"/>
                </a:ext>
              </a:extLst>
            </p:cNvPr>
            <p:cNvSpPr>
              <a:spLocks noChangeShapeType="1"/>
            </p:cNvSpPr>
            <p:nvPr/>
          </p:nvSpPr>
          <p:spPr bwMode="auto">
            <a:xfrm>
              <a:off x="10438417" y="2606676"/>
              <a:ext cx="68263" cy="0"/>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26" name="Freeform 853">
              <a:extLst>
                <a:ext uri="{FF2B5EF4-FFF2-40B4-BE49-F238E27FC236}">
                  <a16:creationId xmlns:a16="http://schemas.microsoft.com/office/drawing/2014/main" id="{198D64A9-04AD-8F28-0765-AD87C2975160}"/>
                </a:ext>
              </a:extLst>
            </p:cNvPr>
            <p:cNvSpPr>
              <a:spLocks/>
            </p:cNvSpPr>
            <p:nvPr/>
          </p:nvSpPr>
          <p:spPr bwMode="auto">
            <a:xfrm>
              <a:off x="10325704" y="2397126"/>
              <a:ext cx="173038" cy="104775"/>
            </a:xfrm>
            <a:custGeom>
              <a:avLst/>
              <a:gdLst>
                <a:gd name="T0" fmla="*/ 6 w 46"/>
                <a:gd name="T1" fmla="*/ 20 h 28"/>
                <a:gd name="T2" fmla="*/ 2 w 46"/>
                <a:gd name="T3" fmla="*/ 8 h 28"/>
                <a:gd name="T4" fmla="*/ 28 w 46"/>
                <a:gd name="T5" fmla="*/ 0 h 28"/>
                <a:gd name="T6" fmla="*/ 46 w 46"/>
                <a:gd name="T7" fmla="*/ 16 h 28"/>
                <a:gd name="T8" fmla="*/ 36 w 46"/>
                <a:gd name="T9" fmla="*/ 28 h 28"/>
              </a:gdLst>
              <a:ahLst/>
              <a:cxnLst>
                <a:cxn ang="0">
                  <a:pos x="T0" y="T1"/>
                </a:cxn>
                <a:cxn ang="0">
                  <a:pos x="T2" y="T3"/>
                </a:cxn>
                <a:cxn ang="0">
                  <a:pos x="T4" y="T5"/>
                </a:cxn>
                <a:cxn ang="0">
                  <a:pos x="T6" y="T7"/>
                </a:cxn>
                <a:cxn ang="0">
                  <a:pos x="T8" y="T9"/>
                </a:cxn>
              </a:cxnLst>
              <a:rect l="0" t="0" r="r" b="b"/>
              <a:pathLst>
                <a:path w="46" h="28">
                  <a:moveTo>
                    <a:pt x="6" y="20"/>
                  </a:moveTo>
                  <a:cubicBezTo>
                    <a:pt x="6" y="20"/>
                    <a:pt x="0" y="16"/>
                    <a:pt x="2" y="8"/>
                  </a:cubicBezTo>
                  <a:cubicBezTo>
                    <a:pt x="6" y="13"/>
                    <a:pt x="18" y="23"/>
                    <a:pt x="28" y="0"/>
                  </a:cubicBezTo>
                  <a:cubicBezTo>
                    <a:pt x="30" y="16"/>
                    <a:pt x="33" y="19"/>
                    <a:pt x="46" y="16"/>
                  </a:cubicBezTo>
                  <a:cubicBezTo>
                    <a:pt x="36" y="28"/>
                    <a:pt x="36" y="28"/>
                    <a:pt x="36" y="28"/>
                  </a:cubicBezTo>
                </a:path>
              </a:pathLst>
            </a:cu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grpSp>
      <p:sp>
        <p:nvSpPr>
          <p:cNvPr id="27" name="Rectangle 26">
            <a:extLst>
              <a:ext uri="{FF2B5EF4-FFF2-40B4-BE49-F238E27FC236}">
                <a16:creationId xmlns:a16="http://schemas.microsoft.com/office/drawing/2014/main" id="{A825AF5B-6307-8062-67FC-A2B2E4A64A45}"/>
              </a:ext>
            </a:extLst>
          </p:cNvPr>
          <p:cNvSpPr/>
          <p:nvPr/>
        </p:nvSpPr>
        <p:spPr>
          <a:xfrm>
            <a:off x="7421189" y="1248230"/>
            <a:ext cx="4235596" cy="2561992"/>
          </a:xfrm>
          <a:prstGeom prst="rect">
            <a:avLst/>
          </a:prstGeom>
        </p:spPr>
        <p:txBody>
          <a:bodyPr wrap="square" lIns="0" tIns="0" rIns="0" bIns="0" anchor="t" anchorCtr="0">
            <a:noAutofit/>
          </a:bodyPr>
          <a:lstStyle/>
          <a:p>
            <a:pPr lvl="0"/>
            <a:endParaRPr lang="en-US" sz="2000" i="1" dirty="0">
              <a:solidFill>
                <a:schemeClr val="bg1"/>
              </a:solidFill>
              <a:latin typeface="Segoe UI" panose="020B0502040204020203" pitchFamily="34" charset="0"/>
              <a:cs typeface="Segoe UI" panose="020B0502040204020203" pitchFamily="34" charset="0"/>
            </a:endParaRPr>
          </a:p>
        </p:txBody>
      </p:sp>
      <p:sp>
        <p:nvSpPr>
          <p:cNvPr id="6" name="Slide Number Placeholder 5">
            <a:extLst>
              <a:ext uri="{FF2B5EF4-FFF2-40B4-BE49-F238E27FC236}">
                <a16:creationId xmlns:a16="http://schemas.microsoft.com/office/drawing/2014/main" id="{FB2A26C4-CF3F-A309-8677-FA73BCBD8F82}"/>
              </a:ext>
            </a:extLst>
          </p:cNvPr>
          <p:cNvSpPr>
            <a:spLocks noGrp="1"/>
          </p:cNvSpPr>
          <p:nvPr>
            <p:ph type="sldNum" sz="quarter" idx="12"/>
          </p:nvPr>
        </p:nvSpPr>
        <p:spPr/>
        <p:txBody>
          <a:bodyPr/>
          <a:lstStyle/>
          <a:p>
            <a:fld id="{0BA98121-C0ED-4D12-A058-5C29F4DDA5D5}" type="slidenum">
              <a:rPr lang="en-ID" smtClean="0"/>
              <a:t>8</a:t>
            </a:fld>
            <a:endParaRPr lang="en-ID"/>
          </a:p>
        </p:txBody>
      </p:sp>
      <p:pic>
        <p:nvPicPr>
          <p:cNvPr id="40" name="Picture 39" descr="A black text on a white background&#10;&#10;AI-generated content may be incorrect.">
            <a:extLst>
              <a:ext uri="{FF2B5EF4-FFF2-40B4-BE49-F238E27FC236}">
                <a16:creationId xmlns:a16="http://schemas.microsoft.com/office/drawing/2014/main" id="{E5034ADF-EB3F-4AE8-736F-182F5A1971AA}"/>
              </a:ext>
            </a:extLst>
          </p:cNvPr>
          <p:cNvPicPr>
            <a:picLocks noChangeAspect="1"/>
          </p:cNvPicPr>
          <p:nvPr/>
        </p:nvPicPr>
        <p:blipFill>
          <a:blip r:embed="rId4"/>
          <a:stretch>
            <a:fillRect/>
          </a:stretch>
        </p:blipFill>
        <p:spPr>
          <a:xfrm>
            <a:off x="232566" y="3962215"/>
            <a:ext cx="2638793" cy="1057423"/>
          </a:xfrm>
          <a:prstGeom prst="rect">
            <a:avLst/>
          </a:prstGeom>
        </p:spPr>
      </p:pic>
      <p:pic>
        <p:nvPicPr>
          <p:cNvPr id="42" name="Picture 41" descr="A screenshot of a computer&#10;&#10;AI-generated content may be incorrect.">
            <a:extLst>
              <a:ext uri="{FF2B5EF4-FFF2-40B4-BE49-F238E27FC236}">
                <a16:creationId xmlns:a16="http://schemas.microsoft.com/office/drawing/2014/main" id="{7DBCC674-5CF2-6B43-AD63-B040A9A37199}"/>
              </a:ext>
            </a:extLst>
          </p:cNvPr>
          <p:cNvPicPr>
            <a:picLocks noChangeAspect="1"/>
          </p:cNvPicPr>
          <p:nvPr/>
        </p:nvPicPr>
        <p:blipFill>
          <a:blip r:embed="rId5"/>
          <a:stretch>
            <a:fillRect/>
          </a:stretch>
        </p:blipFill>
        <p:spPr>
          <a:xfrm>
            <a:off x="3278397" y="3962215"/>
            <a:ext cx="2817604" cy="749125"/>
          </a:xfrm>
          <a:prstGeom prst="rect">
            <a:avLst/>
          </a:prstGeom>
        </p:spPr>
      </p:pic>
      <p:sp>
        <p:nvSpPr>
          <p:cNvPr id="45" name="TextBox 44">
            <a:extLst>
              <a:ext uri="{FF2B5EF4-FFF2-40B4-BE49-F238E27FC236}">
                <a16:creationId xmlns:a16="http://schemas.microsoft.com/office/drawing/2014/main" id="{3335D81E-94CD-FF72-845D-91A2C2B607E6}"/>
              </a:ext>
            </a:extLst>
          </p:cNvPr>
          <p:cNvSpPr txBox="1"/>
          <p:nvPr/>
        </p:nvSpPr>
        <p:spPr>
          <a:xfrm>
            <a:off x="7314647" y="1433224"/>
            <a:ext cx="4547280" cy="2446824"/>
          </a:xfrm>
          <a:prstGeom prst="rect">
            <a:avLst/>
          </a:prstGeom>
          <a:noFill/>
        </p:spPr>
        <p:txBody>
          <a:bodyPr wrap="square" rtlCol="0">
            <a:spAutoFit/>
          </a:bodyPr>
          <a:lstStyle/>
          <a:p>
            <a:pPr lvl="0" eaLnBrk="0" fontAlgn="base" hangingPunct="0">
              <a:lnSpc>
                <a:spcPct val="150000"/>
              </a:lnSpc>
              <a:spcBef>
                <a:spcPct val="0"/>
              </a:spcBef>
              <a:spcAft>
                <a:spcPct val="0"/>
              </a:spcAft>
              <a:buFontTx/>
              <a:buChar char="•"/>
            </a:pPr>
            <a:r>
              <a:rPr lang="zh-CN" altLang="zh-CN" dirty="0">
                <a:solidFill>
                  <a:schemeClr val="bg1"/>
                </a:solidFill>
                <a:latin typeface="Arial" panose="020B0604020202020204" pitchFamily="34" charset="0"/>
              </a:rPr>
              <a:t>Logistic Regression  AUC ≈ 0.6</a:t>
            </a:r>
            <a:r>
              <a:rPr lang="en-US" altLang="zh-CN" dirty="0">
                <a:solidFill>
                  <a:schemeClr val="bg1"/>
                </a:solidFill>
                <a:latin typeface="Arial" panose="020B0604020202020204" pitchFamily="34" charset="0"/>
              </a:rPr>
              <a:t>3</a:t>
            </a:r>
            <a:endParaRPr lang="zh-CN" altLang="zh-CN" dirty="0">
              <a:solidFill>
                <a:schemeClr val="bg1"/>
              </a:solidFill>
              <a:latin typeface="Arial" panose="020B0604020202020204" pitchFamily="34" charset="0"/>
            </a:endParaRPr>
          </a:p>
          <a:p>
            <a:pPr lvl="0" eaLnBrk="0" fontAlgn="base" hangingPunct="0">
              <a:lnSpc>
                <a:spcPct val="150000"/>
              </a:lnSpc>
              <a:spcBef>
                <a:spcPct val="0"/>
              </a:spcBef>
              <a:spcAft>
                <a:spcPct val="0"/>
              </a:spcAft>
              <a:buFontTx/>
              <a:buChar char="•"/>
            </a:pPr>
            <a:r>
              <a:rPr lang="zh-CN" altLang="zh-CN" dirty="0">
                <a:solidFill>
                  <a:schemeClr val="bg1"/>
                </a:solidFill>
                <a:latin typeface="Arial" panose="020B0604020202020204" pitchFamily="34" charset="0"/>
              </a:rPr>
              <a:t>Decision Tree  AUC ≈ 0.6</a:t>
            </a:r>
            <a:r>
              <a:rPr lang="en-US" altLang="zh-CN" dirty="0">
                <a:solidFill>
                  <a:schemeClr val="bg1"/>
                </a:solidFill>
                <a:latin typeface="Arial" panose="020B0604020202020204" pitchFamily="34" charset="0"/>
              </a:rPr>
              <a:t>2</a:t>
            </a:r>
            <a:endParaRPr lang="zh-CN" altLang="zh-CN" dirty="0">
              <a:solidFill>
                <a:schemeClr val="bg1"/>
              </a:solidFill>
              <a:latin typeface="Arial" panose="020B0604020202020204" pitchFamily="34" charset="0"/>
            </a:endParaRPr>
          </a:p>
          <a:p>
            <a:pPr lvl="0" eaLnBrk="0" fontAlgn="base" hangingPunct="0">
              <a:lnSpc>
                <a:spcPct val="150000"/>
              </a:lnSpc>
              <a:spcBef>
                <a:spcPct val="0"/>
              </a:spcBef>
              <a:spcAft>
                <a:spcPct val="0"/>
              </a:spcAft>
              <a:buFontTx/>
              <a:buChar char="•"/>
            </a:pPr>
            <a:r>
              <a:rPr lang="zh-CN" altLang="zh-CN" dirty="0">
                <a:solidFill>
                  <a:schemeClr val="bg1"/>
                </a:solidFill>
                <a:latin typeface="Arial" panose="020B0604020202020204" pitchFamily="34" charset="0"/>
              </a:rPr>
              <a:t>Accuracy misleading due to imbalanced labels</a:t>
            </a:r>
          </a:p>
          <a:p>
            <a:pPr lvl="0" eaLnBrk="0" fontAlgn="base" hangingPunct="0">
              <a:lnSpc>
                <a:spcPct val="150000"/>
              </a:lnSpc>
              <a:spcBef>
                <a:spcPct val="0"/>
              </a:spcBef>
              <a:spcAft>
                <a:spcPct val="0"/>
              </a:spcAft>
              <a:buFontTx/>
              <a:buChar char="•"/>
            </a:pPr>
            <a:r>
              <a:rPr lang="zh-CN" altLang="zh-CN" dirty="0">
                <a:solidFill>
                  <a:schemeClr val="bg1"/>
                </a:solidFill>
                <a:latin typeface="Arial" panose="020B0604020202020204" pitchFamily="34" charset="0"/>
              </a:rPr>
              <a:t>AUC chosen as primary metric</a:t>
            </a:r>
          </a:p>
          <a:p>
            <a:endParaRPr lang="zh-CN" altLang="en-US" dirty="0"/>
          </a:p>
        </p:txBody>
      </p:sp>
      <p:pic>
        <p:nvPicPr>
          <p:cNvPr id="46" name="Picture 45">
            <a:extLst>
              <a:ext uri="{FF2B5EF4-FFF2-40B4-BE49-F238E27FC236}">
                <a16:creationId xmlns:a16="http://schemas.microsoft.com/office/drawing/2014/main" id="{7B911A14-5C06-5E5F-90B6-5923333D1581}"/>
              </a:ext>
            </a:extLst>
          </p:cNvPr>
          <p:cNvPicPr>
            <a:picLocks noChangeAspect="1"/>
          </p:cNvPicPr>
          <p:nvPr/>
        </p:nvPicPr>
        <p:blipFill>
          <a:blip r:embed="rId6"/>
          <a:stretch>
            <a:fillRect/>
          </a:stretch>
        </p:blipFill>
        <p:spPr>
          <a:xfrm>
            <a:off x="875863" y="1840083"/>
            <a:ext cx="1246556" cy="1057423"/>
          </a:xfrm>
          <a:prstGeom prst="rect">
            <a:avLst/>
          </a:prstGeom>
        </p:spPr>
      </p:pic>
      <p:pic>
        <p:nvPicPr>
          <p:cNvPr id="48" name="Picture 47">
            <a:extLst>
              <a:ext uri="{FF2B5EF4-FFF2-40B4-BE49-F238E27FC236}">
                <a16:creationId xmlns:a16="http://schemas.microsoft.com/office/drawing/2014/main" id="{D7B9C34F-0D14-9FC5-5BA2-EF560BDD791C}"/>
              </a:ext>
            </a:extLst>
          </p:cNvPr>
          <p:cNvPicPr>
            <a:picLocks noChangeAspect="1"/>
          </p:cNvPicPr>
          <p:nvPr/>
        </p:nvPicPr>
        <p:blipFill>
          <a:blip r:embed="rId7"/>
          <a:stretch>
            <a:fillRect/>
          </a:stretch>
        </p:blipFill>
        <p:spPr>
          <a:xfrm>
            <a:off x="3930645" y="1719897"/>
            <a:ext cx="1144792" cy="1232853"/>
          </a:xfrm>
          <a:prstGeom prst="rect">
            <a:avLst/>
          </a:prstGeom>
        </p:spPr>
      </p:pic>
    </p:spTree>
    <p:extLst>
      <p:ext uri="{BB962C8B-B14F-4D97-AF65-F5344CB8AC3E}">
        <p14:creationId xmlns:p14="http://schemas.microsoft.com/office/powerpoint/2010/main" val="6599739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D1AFC-2765-714C-AA45-13EFA905002D}"/>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B451C5FA-033D-11B8-A82D-6168EC9FCD0D}"/>
              </a:ext>
            </a:extLst>
          </p:cNvPr>
          <p:cNvSpPr/>
          <p:nvPr/>
        </p:nvSpPr>
        <p:spPr>
          <a:xfrm>
            <a:off x="0" y="2663008"/>
            <a:ext cx="12192000" cy="4194992"/>
          </a:xfrm>
          <a:prstGeom prst="rect">
            <a:avLst/>
          </a:prstGeom>
          <a:solidFill>
            <a:srgbClr val="264A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 name="Title 1">
            <a:extLst>
              <a:ext uri="{FF2B5EF4-FFF2-40B4-BE49-F238E27FC236}">
                <a16:creationId xmlns:a16="http://schemas.microsoft.com/office/drawing/2014/main" id="{3BC7C508-FD7F-5CEF-4745-749C128B373B}"/>
              </a:ext>
            </a:extLst>
          </p:cNvPr>
          <p:cNvSpPr>
            <a:spLocks noGrp="1"/>
          </p:cNvSpPr>
          <p:nvPr>
            <p:ph type="title"/>
          </p:nvPr>
        </p:nvSpPr>
        <p:spPr/>
        <p:txBody>
          <a:bodyPr/>
          <a:lstStyle/>
          <a:p>
            <a:r>
              <a:rPr lang="en-US" altLang="zh-CN" dirty="0"/>
              <a:t>Why Use an MLP?</a:t>
            </a:r>
            <a:endParaRPr lang="en-ID" dirty="0"/>
          </a:p>
        </p:txBody>
      </p:sp>
      <p:sp>
        <p:nvSpPr>
          <p:cNvPr id="24" name="Rectangle 23">
            <a:extLst>
              <a:ext uri="{FF2B5EF4-FFF2-40B4-BE49-F238E27FC236}">
                <a16:creationId xmlns:a16="http://schemas.microsoft.com/office/drawing/2014/main" id="{C6C5C439-5D64-E455-9ECF-E9445E838468}"/>
              </a:ext>
            </a:extLst>
          </p:cNvPr>
          <p:cNvSpPr/>
          <p:nvPr/>
        </p:nvSpPr>
        <p:spPr>
          <a:xfrm>
            <a:off x="4673479" y="1554480"/>
            <a:ext cx="7518521" cy="457101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5" name="Rectangle 24">
            <a:extLst>
              <a:ext uri="{FF2B5EF4-FFF2-40B4-BE49-F238E27FC236}">
                <a16:creationId xmlns:a16="http://schemas.microsoft.com/office/drawing/2014/main" id="{BA314428-5CC7-7508-F832-00C862302568}"/>
              </a:ext>
            </a:extLst>
          </p:cNvPr>
          <p:cNvSpPr/>
          <p:nvPr/>
        </p:nvSpPr>
        <p:spPr>
          <a:xfrm>
            <a:off x="4297318" y="1722264"/>
            <a:ext cx="772960" cy="772960"/>
          </a:xfrm>
          <a:prstGeom prst="rect">
            <a:avLst/>
          </a:prstGeom>
          <a:solidFill>
            <a:srgbClr val="ABD1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6" name="Rectangle 25">
            <a:extLst>
              <a:ext uri="{FF2B5EF4-FFF2-40B4-BE49-F238E27FC236}">
                <a16:creationId xmlns:a16="http://schemas.microsoft.com/office/drawing/2014/main" id="{1DE32408-6E11-623B-3402-FC54CF3095E7}"/>
              </a:ext>
            </a:extLst>
          </p:cNvPr>
          <p:cNvSpPr/>
          <p:nvPr/>
        </p:nvSpPr>
        <p:spPr>
          <a:xfrm>
            <a:off x="4297318" y="2830792"/>
            <a:ext cx="772960" cy="772960"/>
          </a:xfrm>
          <a:prstGeom prst="rect">
            <a:avLst/>
          </a:prstGeom>
          <a:solidFill>
            <a:srgbClr val="ABD1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7" name="Rectangle 26">
            <a:extLst>
              <a:ext uri="{FF2B5EF4-FFF2-40B4-BE49-F238E27FC236}">
                <a16:creationId xmlns:a16="http://schemas.microsoft.com/office/drawing/2014/main" id="{49FEE4F1-5CFB-D119-D565-22A556197C4A}"/>
              </a:ext>
            </a:extLst>
          </p:cNvPr>
          <p:cNvSpPr/>
          <p:nvPr/>
        </p:nvSpPr>
        <p:spPr>
          <a:xfrm>
            <a:off x="4297318" y="3939320"/>
            <a:ext cx="772960" cy="772960"/>
          </a:xfrm>
          <a:prstGeom prst="rect">
            <a:avLst/>
          </a:prstGeom>
          <a:solidFill>
            <a:srgbClr val="ABD1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8" name="Rectangle 27">
            <a:extLst>
              <a:ext uri="{FF2B5EF4-FFF2-40B4-BE49-F238E27FC236}">
                <a16:creationId xmlns:a16="http://schemas.microsoft.com/office/drawing/2014/main" id="{629D4E32-8AD0-35C3-9BC6-CCFC7D822E7A}"/>
              </a:ext>
            </a:extLst>
          </p:cNvPr>
          <p:cNvSpPr/>
          <p:nvPr/>
        </p:nvSpPr>
        <p:spPr>
          <a:xfrm>
            <a:off x="4297318" y="5047848"/>
            <a:ext cx="772960" cy="772960"/>
          </a:xfrm>
          <a:prstGeom prst="rect">
            <a:avLst/>
          </a:prstGeom>
          <a:solidFill>
            <a:srgbClr val="ABD1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grpSp>
        <p:nvGrpSpPr>
          <p:cNvPr id="3" name="Group 2">
            <a:extLst>
              <a:ext uri="{FF2B5EF4-FFF2-40B4-BE49-F238E27FC236}">
                <a16:creationId xmlns:a16="http://schemas.microsoft.com/office/drawing/2014/main" id="{9E76395F-8FBF-CE05-498A-5897D8BE1022}"/>
              </a:ext>
            </a:extLst>
          </p:cNvPr>
          <p:cNvGrpSpPr/>
          <p:nvPr/>
        </p:nvGrpSpPr>
        <p:grpSpPr>
          <a:xfrm>
            <a:off x="5413895" y="2663008"/>
            <a:ext cx="6003042" cy="2217056"/>
            <a:chOff x="5904411" y="2663008"/>
            <a:chExt cx="5512526" cy="2217056"/>
          </a:xfrm>
        </p:grpSpPr>
        <p:cxnSp>
          <p:nvCxnSpPr>
            <p:cNvPr id="43" name="Straight Connector 42">
              <a:extLst>
                <a:ext uri="{FF2B5EF4-FFF2-40B4-BE49-F238E27FC236}">
                  <a16:creationId xmlns:a16="http://schemas.microsoft.com/office/drawing/2014/main" id="{013D95D8-1692-649B-E9B4-5D3695B33BF4}"/>
                </a:ext>
              </a:extLst>
            </p:cNvPr>
            <p:cNvCxnSpPr>
              <a:cxnSpLocks/>
            </p:cNvCxnSpPr>
            <p:nvPr/>
          </p:nvCxnSpPr>
          <p:spPr>
            <a:xfrm>
              <a:off x="5904411" y="2663008"/>
              <a:ext cx="5512526"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66B9FF00-BF5B-4003-BAA8-E6C440AB9150}"/>
                </a:ext>
              </a:extLst>
            </p:cNvPr>
            <p:cNvCxnSpPr>
              <a:cxnSpLocks/>
            </p:cNvCxnSpPr>
            <p:nvPr/>
          </p:nvCxnSpPr>
          <p:spPr>
            <a:xfrm>
              <a:off x="5904411" y="3771536"/>
              <a:ext cx="5512526"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930FFE5E-C227-BF0C-1FDB-0EB1EFEF1502}"/>
                </a:ext>
              </a:extLst>
            </p:cNvPr>
            <p:cNvCxnSpPr>
              <a:cxnSpLocks/>
            </p:cNvCxnSpPr>
            <p:nvPr/>
          </p:nvCxnSpPr>
          <p:spPr>
            <a:xfrm>
              <a:off x="5904411" y="4880064"/>
              <a:ext cx="5512526"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49" name="Group 48">
            <a:extLst>
              <a:ext uri="{FF2B5EF4-FFF2-40B4-BE49-F238E27FC236}">
                <a16:creationId xmlns:a16="http://schemas.microsoft.com/office/drawing/2014/main" id="{5FD6BCC0-FDFA-99F6-698A-03C4C287F17B}"/>
              </a:ext>
            </a:extLst>
          </p:cNvPr>
          <p:cNvGrpSpPr/>
          <p:nvPr/>
        </p:nvGrpSpPr>
        <p:grpSpPr>
          <a:xfrm>
            <a:off x="5413895" y="1657697"/>
            <a:ext cx="6262167" cy="849842"/>
            <a:chOff x="5904411" y="1594484"/>
            <a:chExt cx="5512526" cy="849842"/>
          </a:xfrm>
        </p:grpSpPr>
        <p:sp>
          <p:nvSpPr>
            <p:cNvPr id="47" name="Rectangle 46">
              <a:extLst>
                <a:ext uri="{FF2B5EF4-FFF2-40B4-BE49-F238E27FC236}">
                  <a16:creationId xmlns:a16="http://schemas.microsoft.com/office/drawing/2014/main" id="{CF41AEAC-8646-7597-1675-3ED4068BD746}"/>
                </a:ext>
              </a:extLst>
            </p:cNvPr>
            <p:cNvSpPr/>
            <p:nvPr/>
          </p:nvSpPr>
          <p:spPr>
            <a:xfrm>
              <a:off x="5904411" y="1594484"/>
              <a:ext cx="3886619" cy="442575"/>
            </a:xfrm>
            <a:prstGeom prst="rect">
              <a:avLst/>
            </a:prstGeom>
          </p:spPr>
          <p:txBody>
            <a:bodyPr wrap="square" lIns="0" tIns="0" rIns="0" bIns="0" anchor="ctr" anchorCtr="0">
              <a:noAutofit/>
            </a:bodyPr>
            <a:lstStyle/>
            <a:p>
              <a:pPr lvl="0"/>
              <a:r>
                <a:rPr lang="en-US" altLang="zh-CN" sz="1600" dirty="0"/>
                <a:t>Dataset features are anonymized</a:t>
              </a:r>
              <a:endParaRPr lang="en-US" sz="1600" b="1" dirty="0">
                <a:latin typeface="Segoe UI" panose="020B0502040204020203" pitchFamily="34" charset="0"/>
                <a:cs typeface="Segoe UI" panose="020B0502040204020203" pitchFamily="34" charset="0"/>
              </a:endParaRPr>
            </a:p>
          </p:txBody>
        </p:sp>
        <p:sp>
          <p:nvSpPr>
            <p:cNvPr id="48" name="Rectangle 47">
              <a:extLst>
                <a:ext uri="{FF2B5EF4-FFF2-40B4-BE49-F238E27FC236}">
                  <a16:creationId xmlns:a16="http://schemas.microsoft.com/office/drawing/2014/main" id="{63B60DF8-F2D2-573C-9872-E18F626137B0}"/>
                </a:ext>
              </a:extLst>
            </p:cNvPr>
            <p:cNvSpPr/>
            <p:nvPr/>
          </p:nvSpPr>
          <p:spPr>
            <a:xfrm>
              <a:off x="5904412" y="1916534"/>
              <a:ext cx="5512525" cy="527792"/>
            </a:xfrm>
            <a:prstGeom prst="rect">
              <a:avLst/>
            </a:prstGeom>
          </p:spPr>
          <p:txBody>
            <a:bodyPr wrap="square" lIns="0" tIns="0" rIns="0" bIns="0" anchor="ctr" anchorCtr="0">
              <a:noAutofit/>
            </a:bodyPr>
            <a:lstStyle/>
            <a:p>
              <a:pPr lvl="0"/>
              <a:endParaRPr lang="en-US" sz="1400" dirty="0">
                <a:latin typeface="Segoe UI" panose="020B0502040204020203" pitchFamily="34" charset="0"/>
                <a:cs typeface="Segoe UI" panose="020B0502040204020203" pitchFamily="34" charset="0"/>
              </a:endParaRPr>
            </a:p>
          </p:txBody>
        </p:sp>
      </p:grpSp>
      <p:grpSp>
        <p:nvGrpSpPr>
          <p:cNvPr id="50" name="Group 49">
            <a:extLst>
              <a:ext uri="{FF2B5EF4-FFF2-40B4-BE49-F238E27FC236}">
                <a16:creationId xmlns:a16="http://schemas.microsoft.com/office/drawing/2014/main" id="{586DE6AE-2D29-C3DA-12B0-F2B172A629E8}"/>
              </a:ext>
            </a:extLst>
          </p:cNvPr>
          <p:cNvGrpSpPr/>
          <p:nvPr/>
        </p:nvGrpSpPr>
        <p:grpSpPr>
          <a:xfrm>
            <a:off x="5413895" y="2766225"/>
            <a:ext cx="6262167" cy="849842"/>
            <a:chOff x="5904411" y="1594484"/>
            <a:chExt cx="5512526" cy="849842"/>
          </a:xfrm>
        </p:grpSpPr>
        <p:sp>
          <p:nvSpPr>
            <p:cNvPr id="51" name="Rectangle 50">
              <a:extLst>
                <a:ext uri="{FF2B5EF4-FFF2-40B4-BE49-F238E27FC236}">
                  <a16:creationId xmlns:a16="http://schemas.microsoft.com/office/drawing/2014/main" id="{7704F736-C719-B9AA-D90E-0BE5F3F43F52}"/>
                </a:ext>
              </a:extLst>
            </p:cNvPr>
            <p:cNvSpPr/>
            <p:nvPr/>
          </p:nvSpPr>
          <p:spPr>
            <a:xfrm>
              <a:off x="5904411" y="1594484"/>
              <a:ext cx="3886619" cy="442575"/>
            </a:xfrm>
            <a:prstGeom prst="rect">
              <a:avLst/>
            </a:prstGeom>
          </p:spPr>
          <p:txBody>
            <a:bodyPr wrap="square" lIns="0" tIns="0" rIns="0" bIns="0" anchor="ctr" anchorCtr="0">
              <a:noAutofit/>
            </a:bodyPr>
            <a:lstStyle/>
            <a:p>
              <a:pPr lvl="0"/>
              <a:r>
                <a:rPr lang="en-US" altLang="zh-CN" sz="1600" dirty="0"/>
                <a:t>Manual feature engineering impossible</a:t>
              </a:r>
              <a:endParaRPr lang="en-US" sz="1600" b="1" dirty="0">
                <a:latin typeface="Segoe UI" panose="020B0502040204020203" pitchFamily="34" charset="0"/>
                <a:cs typeface="Segoe UI" panose="020B0502040204020203" pitchFamily="34" charset="0"/>
              </a:endParaRPr>
            </a:p>
          </p:txBody>
        </p:sp>
        <p:sp>
          <p:nvSpPr>
            <p:cNvPr id="52" name="Rectangle 51">
              <a:extLst>
                <a:ext uri="{FF2B5EF4-FFF2-40B4-BE49-F238E27FC236}">
                  <a16:creationId xmlns:a16="http://schemas.microsoft.com/office/drawing/2014/main" id="{F2FA6C6B-14BE-FA21-8C32-029DA3BAA932}"/>
                </a:ext>
              </a:extLst>
            </p:cNvPr>
            <p:cNvSpPr/>
            <p:nvPr/>
          </p:nvSpPr>
          <p:spPr>
            <a:xfrm>
              <a:off x="5904412" y="1916534"/>
              <a:ext cx="5512525" cy="527792"/>
            </a:xfrm>
            <a:prstGeom prst="rect">
              <a:avLst/>
            </a:prstGeom>
          </p:spPr>
          <p:txBody>
            <a:bodyPr wrap="square" lIns="0" tIns="0" rIns="0" bIns="0" anchor="ctr" anchorCtr="0">
              <a:noAutofit/>
            </a:bodyPr>
            <a:lstStyle/>
            <a:p>
              <a:pPr lvl="0"/>
              <a:endParaRPr lang="en-US" sz="1400" dirty="0">
                <a:latin typeface="Segoe UI" panose="020B0502040204020203" pitchFamily="34" charset="0"/>
                <a:cs typeface="Segoe UI" panose="020B0502040204020203" pitchFamily="34" charset="0"/>
              </a:endParaRPr>
            </a:p>
          </p:txBody>
        </p:sp>
      </p:grpSp>
      <p:grpSp>
        <p:nvGrpSpPr>
          <p:cNvPr id="53" name="Group 52">
            <a:extLst>
              <a:ext uri="{FF2B5EF4-FFF2-40B4-BE49-F238E27FC236}">
                <a16:creationId xmlns:a16="http://schemas.microsoft.com/office/drawing/2014/main" id="{7A914F8C-E36D-6FD5-5574-E13748171045}"/>
              </a:ext>
            </a:extLst>
          </p:cNvPr>
          <p:cNvGrpSpPr/>
          <p:nvPr/>
        </p:nvGrpSpPr>
        <p:grpSpPr>
          <a:xfrm>
            <a:off x="5413895" y="3874753"/>
            <a:ext cx="6262167" cy="849842"/>
            <a:chOff x="5904411" y="1594484"/>
            <a:chExt cx="5512526" cy="849842"/>
          </a:xfrm>
        </p:grpSpPr>
        <p:sp>
          <p:nvSpPr>
            <p:cNvPr id="54" name="Rectangle 53">
              <a:extLst>
                <a:ext uri="{FF2B5EF4-FFF2-40B4-BE49-F238E27FC236}">
                  <a16:creationId xmlns:a16="http://schemas.microsoft.com/office/drawing/2014/main" id="{B104DFAF-8D52-F7B5-7464-D9B9554673C6}"/>
                </a:ext>
              </a:extLst>
            </p:cNvPr>
            <p:cNvSpPr/>
            <p:nvPr/>
          </p:nvSpPr>
          <p:spPr>
            <a:xfrm>
              <a:off x="5904411" y="1594484"/>
              <a:ext cx="3886619" cy="442575"/>
            </a:xfrm>
            <a:prstGeom prst="rect">
              <a:avLst/>
            </a:prstGeom>
          </p:spPr>
          <p:txBody>
            <a:bodyPr wrap="square" lIns="0" tIns="0" rIns="0" bIns="0" anchor="ctr" anchorCtr="0">
              <a:noAutofit/>
            </a:bodyPr>
            <a:lstStyle/>
            <a:p>
              <a:pPr lvl="0"/>
              <a:r>
                <a:rPr lang="en-US" altLang="zh-CN" sz="1600" dirty="0"/>
                <a:t>Need nonlinear model</a:t>
              </a:r>
              <a:endParaRPr lang="en-US" sz="1600" b="1" dirty="0">
                <a:latin typeface="Segoe UI" panose="020B0502040204020203" pitchFamily="34" charset="0"/>
                <a:cs typeface="Segoe UI" panose="020B0502040204020203" pitchFamily="34" charset="0"/>
              </a:endParaRPr>
            </a:p>
          </p:txBody>
        </p:sp>
        <p:sp>
          <p:nvSpPr>
            <p:cNvPr id="55" name="Rectangle 54">
              <a:extLst>
                <a:ext uri="{FF2B5EF4-FFF2-40B4-BE49-F238E27FC236}">
                  <a16:creationId xmlns:a16="http://schemas.microsoft.com/office/drawing/2014/main" id="{950DAEC1-39C2-591A-FCD8-42DF1E82FE6B}"/>
                </a:ext>
              </a:extLst>
            </p:cNvPr>
            <p:cNvSpPr/>
            <p:nvPr/>
          </p:nvSpPr>
          <p:spPr>
            <a:xfrm>
              <a:off x="5904412" y="1916534"/>
              <a:ext cx="5512525" cy="527792"/>
            </a:xfrm>
            <a:prstGeom prst="rect">
              <a:avLst/>
            </a:prstGeom>
          </p:spPr>
          <p:txBody>
            <a:bodyPr wrap="square" lIns="0" tIns="0" rIns="0" bIns="0" anchor="ctr" anchorCtr="0">
              <a:noAutofit/>
            </a:bodyPr>
            <a:lstStyle/>
            <a:p>
              <a:pPr lvl="0"/>
              <a:endParaRPr lang="en-US" sz="1400" dirty="0">
                <a:latin typeface="Segoe UI" panose="020B0502040204020203" pitchFamily="34" charset="0"/>
                <a:cs typeface="Segoe UI" panose="020B0502040204020203" pitchFamily="34" charset="0"/>
              </a:endParaRPr>
            </a:p>
          </p:txBody>
        </p:sp>
      </p:grpSp>
      <p:grpSp>
        <p:nvGrpSpPr>
          <p:cNvPr id="56" name="Group 55">
            <a:extLst>
              <a:ext uri="{FF2B5EF4-FFF2-40B4-BE49-F238E27FC236}">
                <a16:creationId xmlns:a16="http://schemas.microsoft.com/office/drawing/2014/main" id="{F78C170A-D44C-F123-985B-008F7480AF35}"/>
              </a:ext>
            </a:extLst>
          </p:cNvPr>
          <p:cNvGrpSpPr/>
          <p:nvPr/>
        </p:nvGrpSpPr>
        <p:grpSpPr>
          <a:xfrm>
            <a:off x="5413895" y="4983281"/>
            <a:ext cx="6262167" cy="849842"/>
            <a:chOff x="5904411" y="1594484"/>
            <a:chExt cx="5512526" cy="849842"/>
          </a:xfrm>
        </p:grpSpPr>
        <p:sp>
          <p:nvSpPr>
            <p:cNvPr id="57" name="Rectangle 56">
              <a:extLst>
                <a:ext uri="{FF2B5EF4-FFF2-40B4-BE49-F238E27FC236}">
                  <a16:creationId xmlns:a16="http://schemas.microsoft.com/office/drawing/2014/main" id="{19DB8C09-21E9-1581-F894-1ECCC6B0173A}"/>
                </a:ext>
              </a:extLst>
            </p:cNvPr>
            <p:cNvSpPr/>
            <p:nvPr/>
          </p:nvSpPr>
          <p:spPr>
            <a:xfrm>
              <a:off x="5904411" y="1594484"/>
              <a:ext cx="3886619" cy="442575"/>
            </a:xfrm>
            <a:prstGeom prst="rect">
              <a:avLst/>
            </a:prstGeom>
          </p:spPr>
          <p:txBody>
            <a:bodyPr wrap="square" lIns="0" tIns="0" rIns="0" bIns="0" anchor="ctr" anchorCtr="0">
              <a:noAutofit/>
            </a:bodyPr>
            <a:lstStyle/>
            <a:p>
              <a:pPr lvl="0"/>
              <a:r>
                <a:rPr lang="en-US" altLang="zh-CN" sz="1600" dirty="0"/>
                <a:t>MLP learns hidden interactions automatically</a:t>
              </a:r>
              <a:endParaRPr lang="en-US" sz="1600" b="1" dirty="0">
                <a:latin typeface="Segoe UI" panose="020B0502040204020203" pitchFamily="34" charset="0"/>
                <a:cs typeface="Segoe UI" panose="020B0502040204020203" pitchFamily="34" charset="0"/>
              </a:endParaRPr>
            </a:p>
          </p:txBody>
        </p:sp>
        <p:sp>
          <p:nvSpPr>
            <p:cNvPr id="58" name="Rectangle 57">
              <a:extLst>
                <a:ext uri="{FF2B5EF4-FFF2-40B4-BE49-F238E27FC236}">
                  <a16:creationId xmlns:a16="http://schemas.microsoft.com/office/drawing/2014/main" id="{5C2426B6-63BF-A3E2-4357-7AAF3F23F9D2}"/>
                </a:ext>
              </a:extLst>
            </p:cNvPr>
            <p:cNvSpPr/>
            <p:nvPr/>
          </p:nvSpPr>
          <p:spPr>
            <a:xfrm>
              <a:off x="5904412" y="1916534"/>
              <a:ext cx="5512525" cy="527792"/>
            </a:xfrm>
            <a:prstGeom prst="rect">
              <a:avLst/>
            </a:prstGeom>
          </p:spPr>
          <p:txBody>
            <a:bodyPr wrap="square" lIns="0" tIns="0" rIns="0" bIns="0" anchor="ctr" anchorCtr="0">
              <a:noAutofit/>
            </a:bodyPr>
            <a:lstStyle/>
            <a:p>
              <a:pPr lvl="0"/>
              <a:endParaRPr lang="en-US" sz="1400" dirty="0">
                <a:latin typeface="Segoe UI" panose="020B0502040204020203" pitchFamily="34" charset="0"/>
                <a:cs typeface="Segoe UI" panose="020B0502040204020203" pitchFamily="34" charset="0"/>
              </a:endParaRPr>
            </a:p>
          </p:txBody>
        </p:sp>
      </p:grpSp>
      <p:grpSp>
        <p:nvGrpSpPr>
          <p:cNvPr id="59" name="Group 58">
            <a:extLst>
              <a:ext uri="{FF2B5EF4-FFF2-40B4-BE49-F238E27FC236}">
                <a16:creationId xmlns:a16="http://schemas.microsoft.com/office/drawing/2014/main" id="{50E4F040-2E19-C2C5-47E9-E2AA9ECCE9D5}"/>
              </a:ext>
            </a:extLst>
          </p:cNvPr>
          <p:cNvGrpSpPr/>
          <p:nvPr/>
        </p:nvGrpSpPr>
        <p:grpSpPr>
          <a:xfrm>
            <a:off x="4511554" y="1936500"/>
            <a:ext cx="344488" cy="344488"/>
            <a:chOff x="6297613" y="5080001"/>
            <a:chExt cx="344488" cy="344488"/>
          </a:xfrm>
        </p:grpSpPr>
        <p:sp>
          <p:nvSpPr>
            <p:cNvPr id="60" name="Oval 34">
              <a:extLst>
                <a:ext uri="{FF2B5EF4-FFF2-40B4-BE49-F238E27FC236}">
                  <a16:creationId xmlns:a16="http://schemas.microsoft.com/office/drawing/2014/main" id="{CEF896F9-9485-F403-D03C-4F60C8EBA09E}"/>
                </a:ext>
              </a:extLst>
            </p:cNvPr>
            <p:cNvSpPr>
              <a:spLocks noChangeArrowheads="1"/>
            </p:cNvSpPr>
            <p:nvPr/>
          </p:nvSpPr>
          <p:spPr bwMode="auto">
            <a:xfrm>
              <a:off x="6297613" y="5080001"/>
              <a:ext cx="344488" cy="344488"/>
            </a:xfrm>
            <a:prstGeom prst="ellipse">
              <a:avLst/>
            </a:pr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61" name="Oval 35">
              <a:extLst>
                <a:ext uri="{FF2B5EF4-FFF2-40B4-BE49-F238E27FC236}">
                  <a16:creationId xmlns:a16="http://schemas.microsoft.com/office/drawing/2014/main" id="{11A7504C-343E-6EEA-D318-A7C714821534}"/>
                </a:ext>
              </a:extLst>
            </p:cNvPr>
            <p:cNvSpPr>
              <a:spLocks noChangeArrowheads="1"/>
            </p:cNvSpPr>
            <p:nvPr/>
          </p:nvSpPr>
          <p:spPr bwMode="auto">
            <a:xfrm>
              <a:off x="6446838" y="5229226"/>
              <a:ext cx="46038" cy="46038"/>
            </a:xfrm>
            <a:prstGeom prst="ellipse">
              <a:avLst/>
            </a:pr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62" name="Line 36">
              <a:extLst>
                <a:ext uri="{FF2B5EF4-FFF2-40B4-BE49-F238E27FC236}">
                  <a16:creationId xmlns:a16="http://schemas.microsoft.com/office/drawing/2014/main" id="{09FC9FAE-09F2-89AF-1379-BA94FB7136AB}"/>
                </a:ext>
              </a:extLst>
            </p:cNvPr>
            <p:cNvSpPr>
              <a:spLocks noChangeShapeType="1"/>
            </p:cNvSpPr>
            <p:nvPr/>
          </p:nvSpPr>
          <p:spPr bwMode="auto">
            <a:xfrm flipV="1">
              <a:off x="6484938" y="5162551"/>
              <a:ext cx="74613" cy="74613"/>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63" name="Line 37">
              <a:extLst>
                <a:ext uri="{FF2B5EF4-FFF2-40B4-BE49-F238E27FC236}">
                  <a16:creationId xmlns:a16="http://schemas.microsoft.com/office/drawing/2014/main" id="{EC561F88-416D-D305-D6CF-C3B2F858BA62}"/>
                </a:ext>
              </a:extLst>
            </p:cNvPr>
            <p:cNvSpPr>
              <a:spLocks noChangeShapeType="1"/>
            </p:cNvSpPr>
            <p:nvPr/>
          </p:nvSpPr>
          <p:spPr bwMode="auto">
            <a:xfrm>
              <a:off x="6326188" y="5256213"/>
              <a:ext cx="30163" cy="0"/>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64" name="Line 38">
              <a:extLst>
                <a:ext uri="{FF2B5EF4-FFF2-40B4-BE49-F238E27FC236}">
                  <a16:creationId xmlns:a16="http://schemas.microsoft.com/office/drawing/2014/main" id="{5AFFDD13-8BF6-35E9-7369-35C432088230}"/>
                </a:ext>
              </a:extLst>
            </p:cNvPr>
            <p:cNvSpPr>
              <a:spLocks noChangeShapeType="1"/>
            </p:cNvSpPr>
            <p:nvPr/>
          </p:nvSpPr>
          <p:spPr bwMode="auto">
            <a:xfrm flipV="1">
              <a:off x="6338888" y="5294313"/>
              <a:ext cx="25400" cy="14288"/>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65" name="Line 39">
              <a:extLst>
                <a:ext uri="{FF2B5EF4-FFF2-40B4-BE49-F238E27FC236}">
                  <a16:creationId xmlns:a16="http://schemas.microsoft.com/office/drawing/2014/main" id="{A7E820F9-12E3-1ACD-4516-2BB2563154A5}"/>
                </a:ext>
              </a:extLst>
            </p:cNvPr>
            <p:cNvSpPr>
              <a:spLocks noChangeShapeType="1"/>
            </p:cNvSpPr>
            <p:nvPr/>
          </p:nvSpPr>
          <p:spPr bwMode="auto">
            <a:xfrm flipH="1" flipV="1">
              <a:off x="6575426" y="5294313"/>
              <a:ext cx="25400" cy="14288"/>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66" name="Line 40">
              <a:extLst>
                <a:ext uri="{FF2B5EF4-FFF2-40B4-BE49-F238E27FC236}">
                  <a16:creationId xmlns:a16="http://schemas.microsoft.com/office/drawing/2014/main" id="{63966C3B-C63D-06E1-0012-25C21CEE42A9}"/>
                </a:ext>
              </a:extLst>
            </p:cNvPr>
            <p:cNvSpPr>
              <a:spLocks noChangeShapeType="1"/>
            </p:cNvSpPr>
            <p:nvPr/>
          </p:nvSpPr>
          <p:spPr bwMode="auto">
            <a:xfrm flipH="1">
              <a:off x="6581776" y="5253038"/>
              <a:ext cx="30163" cy="0"/>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67" name="Line 41">
              <a:extLst>
                <a:ext uri="{FF2B5EF4-FFF2-40B4-BE49-F238E27FC236}">
                  <a16:creationId xmlns:a16="http://schemas.microsoft.com/office/drawing/2014/main" id="{F466DF9F-FD68-5A34-BF66-689CC24641F6}"/>
                </a:ext>
              </a:extLst>
            </p:cNvPr>
            <p:cNvSpPr>
              <a:spLocks noChangeShapeType="1"/>
            </p:cNvSpPr>
            <p:nvPr/>
          </p:nvSpPr>
          <p:spPr bwMode="auto">
            <a:xfrm flipH="1">
              <a:off x="6575426" y="5195888"/>
              <a:ext cx="25400" cy="15875"/>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68" name="Line 42">
              <a:extLst>
                <a:ext uri="{FF2B5EF4-FFF2-40B4-BE49-F238E27FC236}">
                  <a16:creationId xmlns:a16="http://schemas.microsoft.com/office/drawing/2014/main" id="{6F9AE498-300B-10F6-6C3E-01EA922AB31C}"/>
                </a:ext>
              </a:extLst>
            </p:cNvPr>
            <p:cNvSpPr>
              <a:spLocks noChangeShapeType="1"/>
            </p:cNvSpPr>
            <p:nvPr/>
          </p:nvSpPr>
          <p:spPr bwMode="auto">
            <a:xfrm flipH="1">
              <a:off x="6510338" y="5121276"/>
              <a:ext cx="15875" cy="25400"/>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69" name="Line 43">
              <a:extLst>
                <a:ext uri="{FF2B5EF4-FFF2-40B4-BE49-F238E27FC236}">
                  <a16:creationId xmlns:a16="http://schemas.microsoft.com/office/drawing/2014/main" id="{5DB42000-7589-B55F-0C18-AF0F956A42FC}"/>
                </a:ext>
              </a:extLst>
            </p:cNvPr>
            <p:cNvSpPr>
              <a:spLocks noChangeShapeType="1"/>
            </p:cNvSpPr>
            <p:nvPr/>
          </p:nvSpPr>
          <p:spPr bwMode="auto">
            <a:xfrm>
              <a:off x="6469063" y="5113338"/>
              <a:ext cx="0" cy="30163"/>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70" name="Line 44">
              <a:extLst>
                <a:ext uri="{FF2B5EF4-FFF2-40B4-BE49-F238E27FC236}">
                  <a16:creationId xmlns:a16="http://schemas.microsoft.com/office/drawing/2014/main" id="{FDAF592C-8710-DC7D-9BFF-84A75728BCF3}"/>
                </a:ext>
              </a:extLst>
            </p:cNvPr>
            <p:cNvSpPr>
              <a:spLocks noChangeShapeType="1"/>
            </p:cNvSpPr>
            <p:nvPr/>
          </p:nvSpPr>
          <p:spPr bwMode="auto">
            <a:xfrm>
              <a:off x="6413501" y="5121276"/>
              <a:ext cx="14288" cy="25400"/>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71" name="Line 45">
              <a:extLst>
                <a:ext uri="{FF2B5EF4-FFF2-40B4-BE49-F238E27FC236}">
                  <a16:creationId xmlns:a16="http://schemas.microsoft.com/office/drawing/2014/main" id="{D842E83B-6D99-D8C0-CF55-3583D1DF076A}"/>
                </a:ext>
              </a:extLst>
            </p:cNvPr>
            <p:cNvSpPr>
              <a:spLocks noChangeShapeType="1"/>
            </p:cNvSpPr>
            <p:nvPr/>
          </p:nvSpPr>
          <p:spPr bwMode="auto">
            <a:xfrm>
              <a:off x="6367463" y="5151438"/>
              <a:ext cx="23813" cy="22225"/>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72" name="Line 46">
              <a:extLst>
                <a:ext uri="{FF2B5EF4-FFF2-40B4-BE49-F238E27FC236}">
                  <a16:creationId xmlns:a16="http://schemas.microsoft.com/office/drawing/2014/main" id="{060D1C7F-EA7B-D335-9CA3-8C4B2B10D960}"/>
                </a:ext>
              </a:extLst>
            </p:cNvPr>
            <p:cNvSpPr>
              <a:spLocks noChangeShapeType="1"/>
            </p:cNvSpPr>
            <p:nvPr/>
          </p:nvSpPr>
          <p:spPr bwMode="auto">
            <a:xfrm>
              <a:off x="6338888" y="5195888"/>
              <a:ext cx="25400" cy="15875"/>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73" name="Rectangle 47">
              <a:extLst>
                <a:ext uri="{FF2B5EF4-FFF2-40B4-BE49-F238E27FC236}">
                  <a16:creationId xmlns:a16="http://schemas.microsoft.com/office/drawing/2014/main" id="{3F81076B-2DEC-2834-1B4C-63925117E9B0}"/>
                </a:ext>
              </a:extLst>
            </p:cNvPr>
            <p:cNvSpPr>
              <a:spLocks noChangeArrowheads="1"/>
            </p:cNvSpPr>
            <p:nvPr/>
          </p:nvSpPr>
          <p:spPr bwMode="auto">
            <a:xfrm>
              <a:off x="6402388" y="5319713"/>
              <a:ext cx="134938" cy="46038"/>
            </a:xfrm>
            <a:prstGeom prst="rect">
              <a:avLst/>
            </a:pr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grpSp>
      <p:grpSp>
        <p:nvGrpSpPr>
          <p:cNvPr id="74" name="Group 73">
            <a:extLst>
              <a:ext uri="{FF2B5EF4-FFF2-40B4-BE49-F238E27FC236}">
                <a16:creationId xmlns:a16="http://schemas.microsoft.com/office/drawing/2014/main" id="{6AECBD16-0A35-D529-3E41-5B400BBE7E65}"/>
              </a:ext>
            </a:extLst>
          </p:cNvPr>
          <p:cNvGrpSpPr/>
          <p:nvPr/>
        </p:nvGrpSpPr>
        <p:grpSpPr>
          <a:xfrm>
            <a:off x="4510761" y="5276372"/>
            <a:ext cx="346075" cy="315913"/>
            <a:chOff x="8763605" y="3057526"/>
            <a:chExt cx="346075" cy="315913"/>
          </a:xfrm>
        </p:grpSpPr>
        <p:sp>
          <p:nvSpPr>
            <p:cNvPr id="75" name="Rectangle 5">
              <a:extLst>
                <a:ext uri="{FF2B5EF4-FFF2-40B4-BE49-F238E27FC236}">
                  <a16:creationId xmlns:a16="http://schemas.microsoft.com/office/drawing/2014/main" id="{65135BCE-5267-873C-29AD-91858F751242}"/>
                </a:ext>
              </a:extLst>
            </p:cNvPr>
            <p:cNvSpPr>
              <a:spLocks noChangeArrowheads="1"/>
            </p:cNvSpPr>
            <p:nvPr/>
          </p:nvSpPr>
          <p:spPr bwMode="auto">
            <a:xfrm>
              <a:off x="8763605" y="3057526"/>
              <a:ext cx="195263" cy="315913"/>
            </a:xfrm>
            <a:prstGeom prst="rect">
              <a:avLst/>
            </a:pr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76" name="Rectangle 6">
              <a:extLst>
                <a:ext uri="{FF2B5EF4-FFF2-40B4-BE49-F238E27FC236}">
                  <a16:creationId xmlns:a16="http://schemas.microsoft.com/office/drawing/2014/main" id="{3F045132-B42F-F16F-075B-1355397F920F}"/>
                </a:ext>
              </a:extLst>
            </p:cNvPr>
            <p:cNvSpPr>
              <a:spLocks noChangeArrowheads="1"/>
            </p:cNvSpPr>
            <p:nvPr/>
          </p:nvSpPr>
          <p:spPr bwMode="auto">
            <a:xfrm>
              <a:off x="8884255" y="3238501"/>
              <a:ext cx="30163" cy="60325"/>
            </a:xfrm>
            <a:prstGeom prst="rect">
              <a:avLst/>
            </a:pr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77" name="Freeform 7">
              <a:extLst>
                <a:ext uri="{FF2B5EF4-FFF2-40B4-BE49-F238E27FC236}">
                  <a16:creationId xmlns:a16="http://schemas.microsoft.com/office/drawing/2014/main" id="{C1306FDD-C23B-9B4C-7400-623C5E0DEDF6}"/>
                </a:ext>
              </a:extLst>
            </p:cNvPr>
            <p:cNvSpPr>
              <a:spLocks/>
            </p:cNvSpPr>
            <p:nvPr/>
          </p:nvSpPr>
          <p:spPr bwMode="auto">
            <a:xfrm>
              <a:off x="9065230" y="3252788"/>
              <a:ext cx="28575" cy="46038"/>
            </a:xfrm>
            <a:custGeom>
              <a:avLst/>
              <a:gdLst>
                <a:gd name="T0" fmla="*/ 18 w 18"/>
                <a:gd name="T1" fmla="*/ 19 h 29"/>
                <a:gd name="T2" fmla="*/ 0 w 18"/>
                <a:gd name="T3" fmla="*/ 29 h 29"/>
                <a:gd name="T4" fmla="*/ 0 w 18"/>
                <a:gd name="T5" fmla="*/ 0 h 29"/>
                <a:gd name="T6" fmla="*/ 18 w 18"/>
                <a:gd name="T7" fmla="*/ 0 h 29"/>
                <a:gd name="T8" fmla="*/ 18 w 18"/>
                <a:gd name="T9" fmla="*/ 19 h 29"/>
              </a:gdLst>
              <a:ahLst/>
              <a:cxnLst>
                <a:cxn ang="0">
                  <a:pos x="T0" y="T1"/>
                </a:cxn>
                <a:cxn ang="0">
                  <a:pos x="T2" y="T3"/>
                </a:cxn>
                <a:cxn ang="0">
                  <a:pos x="T4" y="T5"/>
                </a:cxn>
                <a:cxn ang="0">
                  <a:pos x="T6" y="T7"/>
                </a:cxn>
                <a:cxn ang="0">
                  <a:pos x="T8" y="T9"/>
                </a:cxn>
              </a:cxnLst>
              <a:rect l="0" t="0" r="r" b="b"/>
              <a:pathLst>
                <a:path w="18" h="29">
                  <a:moveTo>
                    <a:pt x="18" y="19"/>
                  </a:moveTo>
                  <a:lnTo>
                    <a:pt x="0" y="29"/>
                  </a:lnTo>
                  <a:lnTo>
                    <a:pt x="0" y="0"/>
                  </a:lnTo>
                  <a:lnTo>
                    <a:pt x="18" y="0"/>
                  </a:lnTo>
                  <a:lnTo>
                    <a:pt x="18" y="19"/>
                  </a:lnTo>
                  <a:close/>
                </a:path>
              </a:pathLst>
            </a:cu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78" name="Freeform 8">
              <a:extLst>
                <a:ext uri="{FF2B5EF4-FFF2-40B4-BE49-F238E27FC236}">
                  <a16:creationId xmlns:a16="http://schemas.microsoft.com/office/drawing/2014/main" id="{43713E06-3E05-7A8D-F7FF-6227813D5E16}"/>
                </a:ext>
              </a:extLst>
            </p:cNvPr>
            <p:cNvSpPr>
              <a:spLocks/>
            </p:cNvSpPr>
            <p:nvPr/>
          </p:nvSpPr>
          <p:spPr bwMode="auto">
            <a:xfrm>
              <a:off x="9065230" y="3178176"/>
              <a:ext cx="44450" cy="74613"/>
            </a:xfrm>
            <a:custGeom>
              <a:avLst/>
              <a:gdLst>
                <a:gd name="T0" fmla="*/ 0 w 12"/>
                <a:gd name="T1" fmla="*/ 20 h 20"/>
                <a:gd name="T2" fmla="*/ 0 w 12"/>
                <a:gd name="T3" fmla="*/ 14 h 20"/>
                <a:gd name="T4" fmla="*/ 12 w 12"/>
                <a:gd name="T5" fmla="*/ 0 h 20"/>
              </a:gdLst>
              <a:ahLst/>
              <a:cxnLst>
                <a:cxn ang="0">
                  <a:pos x="T0" y="T1"/>
                </a:cxn>
                <a:cxn ang="0">
                  <a:pos x="T2" y="T3"/>
                </a:cxn>
                <a:cxn ang="0">
                  <a:pos x="T4" y="T5"/>
                </a:cxn>
              </a:cxnLst>
              <a:rect l="0" t="0" r="r" b="b"/>
              <a:pathLst>
                <a:path w="12" h="20">
                  <a:moveTo>
                    <a:pt x="0" y="20"/>
                  </a:moveTo>
                  <a:cubicBezTo>
                    <a:pt x="0" y="14"/>
                    <a:pt x="0" y="14"/>
                    <a:pt x="0" y="14"/>
                  </a:cubicBezTo>
                  <a:cubicBezTo>
                    <a:pt x="0" y="11"/>
                    <a:pt x="12" y="0"/>
                    <a:pt x="12" y="0"/>
                  </a:cubicBezTo>
                </a:path>
              </a:pathLst>
            </a:cu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79" name="Freeform 9">
              <a:extLst>
                <a:ext uri="{FF2B5EF4-FFF2-40B4-BE49-F238E27FC236}">
                  <a16:creationId xmlns:a16="http://schemas.microsoft.com/office/drawing/2014/main" id="{BD893BB3-A736-592E-3633-F73D10439093}"/>
                </a:ext>
              </a:extLst>
            </p:cNvPr>
            <p:cNvSpPr>
              <a:spLocks/>
            </p:cNvSpPr>
            <p:nvPr/>
          </p:nvSpPr>
          <p:spPr bwMode="auto">
            <a:xfrm>
              <a:off x="8958867" y="3117851"/>
              <a:ext cx="106363" cy="255588"/>
            </a:xfrm>
            <a:custGeom>
              <a:avLst/>
              <a:gdLst>
                <a:gd name="T0" fmla="*/ 28 w 28"/>
                <a:gd name="T1" fmla="*/ 48 h 68"/>
                <a:gd name="T2" fmla="*/ 28 w 28"/>
                <a:gd name="T3" fmla="*/ 60 h 68"/>
                <a:gd name="T4" fmla="*/ 20 w 28"/>
                <a:gd name="T5" fmla="*/ 68 h 68"/>
                <a:gd name="T6" fmla="*/ 12 w 28"/>
                <a:gd name="T7" fmla="*/ 60 h 68"/>
                <a:gd name="T8" fmla="*/ 12 w 28"/>
                <a:gd name="T9" fmla="*/ 6 h 68"/>
                <a:gd name="T10" fmla="*/ 6 w 28"/>
                <a:gd name="T11" fmla="*/ 0 h 68"/>
                <a:gd name="T12" fmla="*/ 0 w 28"/>
                <a:gd name="T13" fmla="*/ 0 h 68"/>
              </a:gdLst>
              <a:ahLst/>
              <a:cxnLst>
                <a:cxn ang="0">
                  <a:pos x="T0" y="T1"/>
                </a:cxn>
                <a:cxn ang="0">
                  <a:pos x="T2" y="T3"/>
                </a:cxn>
                <a:cxn ang="0">
                  <a:pos x="T4" y="T5"/>
                </a:cxn>
                <a:cxn ang="0">
                  <a:pos x="T6" y="T7"/>
                </a:cxn>
                <a:cxn ang="0">
                  <a:pos x="T8" y="T9"/>
                </a:cxn>
                <a:cxn ang="0">
                  <a:pos x="T10" y="T11"/>
                </a:cxn>
                <a:cxn ang="0">
                  <a:pos x="T12" y="T13"/>
                </a:cxn>
              </a:cxnLst>
              <a:rect l="0" t="0" r="r" b="b"/>
              <a:pathLst>
                <a:path w="28" h="68">
                  <a:moveTo>
                    <a:pt x="28" y="48"/>
                  </a:moveTo>
                  <a:cubicBezTo>
                    <a:pt x="28" y="60"/>
                    <a:pt x="28" y="60"/>
                    <a:pt x="28" y="60"/>
                  </a:cubicBezTo>
                  <a:cubicBezTo>
                    <a:pt x="28" y="64"/>
                    <a:pt x="24" y="68"/>
                    <a:pt x="20" y="68"/>
                  </a:cubicBezTo>
                  <a:cubicBezTo>
                    <a:pt x="16" y="68"/>
                    <a:pt x="12" y="64"/>
                    <a:pt x="12" y="60"/>
                  </a:cubicBezTo>
                  <a:cubicBezTo>
                    <a:pt x="12" y="6"/>
                    <a:pt x="12" y="6"/>
                    <a:pt x="12" y="6"/>
                  </a:cubicBezTo>
                  <a:cubicBezTo>
                    <a:pt x="12" y="3"/>
                    <a:pt x="9" y="0"/>
                    <a:pt x="6" y="0"/>
                  </a:cubicBezTo>
                  <a:cubicBezTo>
                    <a:pt x="0" y="0"/>
                    <a:pt x="0" y="0"/>
                    <a:pt x="0" y="0"/>
                  </a:cubicBezTo>
                </a:path>
              </a:pathLst>
            </a:cu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80" name="Line 10">
              <a:extLst>
                <a:ext uri="{FF2B5EF4-FFF2-40B4-BE49-F238E27FC236}">
                  <a16:creationId xmlns:a16="http://schemas.microsoft.com/office/drawing/2014/main" id="{3BDC6045-BD25-E75B-1CDC-40787D784719}"/>
                </a:ext>
              </a:extLst>
            </p:cNvPr>
            <p:cNvSpPr>
              <a:spLocks noChangeShapeType="1"/>
            </p:cNvSpPr>
            <p:nvPr/>
          </p:nvSpPr>
          <p:spPr bwMode="auto">
            <a:xfrm>
              <a:off x="8763605" y="3178176"/>
              <a:ext cx="195263" cy="0"/>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81" name="Rectangle 11">
              <a:extLst>
                <a:ext uri="{FF2B5EF4-FFF2-40B4-BE49-F238E27FC236}">
                  <a16:creationId xmlns:a16="http://schemas.microsoft.com/office/drawing/2014/main" id="{B7016335-321E-CD5F-19DF-5558575BA72E}"/>
                </a:ext>
              </a:extLst>
            </p:cNvPr>
            <p:cNvSpPr>
              <a:spLocks noChangeArrowheads="1"/>
            </p:cNvSpPr>
            <p:nvPr/>
          </p:nvSpPr>
          <p:spPr bwMode="auto">
            <a:xfrm>
              <a:off x="8793767" y="3087688"/>
              <a:ext cx="134938" cy="60325"/>
            </a:xfrm>
            <a:prstGeom prst="rect">
              <a:avLst/>
            </a:pr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82" name="Line 12">
              <a:extLst>
                <a:ext uri="{FF2B5EF4-FFF2-40B4-BE49-F238E27FC236}">
                  <a16:creationId xmlns:a16="http://schemas.microsoft.com/office/drawing/2014/main" id="{08AC5593-D99A-3911-5597-67EE6C7738F3}"/>
                </a:ext>
              </a:extLst>
            </p:cNvPr>
            <p:cNvSpPr>
              <a:spLocks noChangeShapeType="1"/>
            </p:cNvSpPr>
            <p:nvPr/>
          </p:nvSpPr>
          <p:spPr bwMode="auto">
            <a:xfrm>
              <a:off x="8884255" y="3327401"/>
              <a:ext cx="30163" cy="0"/>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grpSp>
      <p:grpSp>
        <p:nvGrpSpPr>
          <p:cNvPr id="83" name="Group 82">
            <a:extLst>
              <a:ext uri="{FF2B5EF4-FFF2-40B4-BE49-F238E27FC236}">
                <a16:creationId xmlns:a16="http://schemas.microsoft.com/office/drawing/2014/main" id="{BDE7376B-4DCC-AB7F-FCAD-3CEA1651F57E}"/>
              </a:ext>
            </a:extLst>
          </p:cNvPr>
          <p:cNvGrpSpPr/>
          <p:nvPr/>
        </p:nvGrpSpPr>
        <p:grpSpPr>
          <a:xfrm>
            <a:off x="4511555" y="3044235"/>
            <a:ext cx="344487" cy="346075"/>
            <a:chOff x="10876565" y="838073"/>
            <a:chExt cx="344487" cy="346075"/>
          </a:xfrm>
        </p:grpSpPr>
        <p:sp>
          <p:nvSpPr>
            <p:cNvPr id="84" name="Rectangle 434">
              <a:extLst>
                <a:ext uri="{FF2B5EF4-FFF2-40B4-BE49-F238E27FC236}">
                  <a16:creationId xmlns:a16="http://schemas.microsoft.com/office/drawing/2014/main" id="{2CC8A96A-E6F1-A196-0DAD-213254D25AE4}"/>
                </a:ext>
              </a:extLst>
            </p:cNvPr>
            <p:cNvSpPr>
              <a:spLocks noChangeArrowheads="1"/>
            </p:cNvSpPr>
            <p:nvPr/>
          </p:nvSpPr>
          <p:spPr bwMode="auto">
            <a:xfrm>
              <a:off x="10965465" y="974598"/>
              <a:ext cx="30163" cy="28575"/>
            </a:xfrm>
            <a:prstGeom prst="rect">
              <a:avLst/>
            </a:pr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85" name="Rectangle 435">
              <a:extLst>
                <a:ext uri="{FF2B5EF4-FFF2-40B4-BE49-F238E27FC236}">
                  <a16:creationId xmlns:a16="http://schemas.microsoft.com/office/drawing/2014/main" id="{7D11634A-AC33-FB7C-FB67-8C42E2BB198C}"/>
                </a:ext>
              </a:extLst>
            </p:cNvPr>
            <p:cNvSpPr>
              <a:spLocks noChangeArrowheads="1"/>
            </p:cNvSpPr>
            <p:nvPr/>
          </p:nvSpPr>
          <p:spPr bwMode="auto">
            <a:xfrm>
              <a:off x="11101990" y="974598"/>
              <a:ext cx="30163" cy="28575"/>
            </a:xfrm>
            <a:prstGeom prst="rect">
              <a:avLst/>
            </a:pr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86" name="Freeform 436">
              <a:extLst>
                <a:ext uri="{FF2B5EF4-FFF2-40B4-BE49-F238E27FC236}">
                  <a16:creationId xmlns:a16="http://schemas.microsoft.com/office/drawing/2014/main" id="{53E56A21-750F-A4FA-D40D-D47A573B622E}"/>
                </a:ext>
              </a:extLst>
            </p:cNvPr>
            <p:cNvSpPr>
              <a:spLocks/>
            </p:cNvSpPr>
            <p:nvPr/>
          </p:nvSpPr>
          <p:spPr bwMode="auto">
            <a:xfrm>
              <a:off x="10951177" y="898398"/>
              <a:ext cx="195263" cy="76200"/>
            </a:xfrm>
            <a:custGeom>
              <a:avLst/>
              <a:gdLst>
                <a:gd name="T0" fmla="*/ 123 w 123"/>
                <a:gd name="T1" fmla="*/ 48 h 48"/>
                <a:gd name="T2" fmla="*/ 123 w 123"/>
                <a:gd name="T3" fmla="*/ 19 h 48"/>
                <a:gd name="T4" fmla="*/ 104 w 123"/>
                <a:gd name="T5" fmla="*/ 0 h 48"/>
                <a:gd name="T6" fmla="*/ 19 w 123"/>
                <a:gd name="T7" fmla="*/ 0 h 48"/>
                <a:gd name="T8" fmla="*/ 0 w 123"/>
                <a:gd name="T9" fmla="*/ 19 h 48"/>
                <a:gd name="T10" fmla="*/ 0 w 123"/>
                <a:gd name="T11" fmla="*/ 48 h 48"/>
                <a:gd name="T12" fmla="*/ 123 w 123"/>
                <a:gd name="T13" fmla="*/ 48 h 48"/>
              </a:gdLst>
              <a:ahLst/>
              <a:cxnLst>
                <a:cxn ang="0">
                  <a:pos x="T0" y="T1"/>
                </a:cxn>
                <a:cxn ang="0">
                  <a:pos x="T2" y="T3"/>
                </a:cxn>
                <a:cxn ang="0">
                  <a:pos x="T4" y="T5"/>
                </a:cxn>
                <a:cxn ang="0">
                  <a:pos x="T6" y="T7"/>
                </a:cxn>
                <a:cxn ang="0">
                  <a:pos x="T8" y="T9"/>
                </a:cxn>
                <a:cxn ang="0">
                  <a:pos x="T10" y="T11"/>
                </a:cxn>
                <a:cxn ang="0">
                  <a:pos x="T12" y="T13"/>
                </a:cxn>
              </a:cxnLst>
              <a:rect l="0" t="0" r="r" b="b"/>
              <a:pathLst>
                <a:path w="123" h="48">
                  <a:moveTo>
                    <a:pt x="123" y="48"/>
                  </a:moveTo>
                  <a:lnTo>
                    <a:pt x="123" y="19"/>
                  </a:lnTo>
                  <a:lnTo>
                    <a:pt x="104" y="0"/>
                  </a:lnTo>
                  <a:lnTo>
                    <a:pt x="19" y="0"/>
                  </a:lnTo>
                  <a:lnTo>
                    <a:pt x="0" y="19"/>
                  </a:lnTo>
                  <a:lnTo>
                    <a:pt x="0" y="48"/>
                  </a:lnTo>
                  <a:lnTo>
                    <a:pt x="123" y="48"/>
                  </a:lnTo>
                  <a:close/>
                </a:path>
              </a:pathLst>
            </a:cu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87" name="Freeform 437">
              <a:extLst>
                <a:ext uri="{FF2B5EF4-FFF2-40B4-BE49-F238E27FC236}">
                  <a16:creationId xmlns:a16="http://schemas.microsoft.com/office/drawing/2014/main" id="{B4343F16-2F3F-5DCC-4D4F-40C34FB99F56}"/>
                </a:ext>
              </a:extLst>
            </p:cNvPr>
            <p:cNvSpPr>
              <a:spLocks/>
            </p:cNvSpPr>
            <p:nvPr/>
          </p:nvSpPr>
          <p:spPr bwMode="auto">
            <a:xfrm>
              <a:off x="10981340" y="838073"/>
              <a:ext cx="134938" cy="60325"/>
            </a:xfrm>
            <a:custGeom>
              <a:avLst/>
              <a:gdLst>
                <a:gd name="T0" fmla="*/ 76 w 85"/>
                <a:gd name="T1" fmla="*/ 0 h 38"/>
                <a:gd name="T2" fmla="*/ 9 w 85"/>
                <a:gd name="T3" fmla="*/ 0 h 38"/>
                <a:gd name="T4" fmla="*/ 0 w 85"/>
                <a:gd name="T5" fmla="*/ 38 h 38"/>
                <a:gd name="T6" fmla="*/ 85 w 85"/>
                <a:gd name="T7" fmla="*/ 38 h 38"/>
                <a:gd name="T8" fmla="*/ 76 w 85"/>
                <a:gd name="T9" fmla="*/ 0 h 38"/>
              </a:gdLst>
              <a:ahLst/>
              <a:cxnLst>
                <a:cxn ang="0">
                  <a:pos x="T0" y="T1"/>
                </a:cxn>
                <a:cxn ang="0">
                  <a:pos x="T2" y="T3"/>
                </a:cxn>
                <a:cxn ang="0">
                  <a:pos x="T4" y="T5"/>
                </a:cxn>
                <a:cxn ang="0">
                  <a:pos x="T6" y="T7"/>
                </a:cxn>
                <a:cxn ang="0">
                  <a:pos x="T8" y="T9"/>
                </a:cxn>
              </a:cxnLst>
              <a:rect l="0" t="0" r="r" b="b"/>
              <a:pathLst>
                <a:path w="85" h="38">
                  <a:moveTo>
                    <a:pt x="76" y="0"/>
                  </a:moveTo>
                  <a:lnTo>
                    <a:pt x="9" y="0"/>
                  </a:lnTo>
                  <a:lnTo>
                    <a:pt x="0" y="38"/>
                  </a:lnTo>
                  <a:lnTo>
                    <a:pt x="85" y="38"/>
                  </a:lnTo>
                  <a:lnTo>
                    <a:pt x="76" y="0"/>
                  </a:lnTo>
                  <a:close/>
                </a:path>
              </a:pathLst>
            </a:cu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88" name="Line 438">
              <a:extLst>
                <a:ext uri="{FF2B5EF4-FFF2-40B4-BE49-F238E27FC236}">
                  <a16:creationId xmlns:a16="http://schemas.microsoft.com/office/drawing/2014/main" id="{AD198A68-8761-5A18-D624-28A1FA3E34FA}"/>
                </a:ext>
              </a:extLst>
            </p:cNvPr>
            <p:cNvSpPr>
              <a:spLocks noChangeShapeType="1"/>
            </p:cNvSpPr>
            <p:nvPr/>
          </p:nvSpPr>
          <p:spPr bwMode="auto">
            <a:xfrm>
              <a:off x="10951177" y="944436"/>
              <a:ext cx="38100" cy="0"/>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89" name="Line 439">
              <a:extLst>
                <a:ext uri="{FF2B5EF4-FFF2-40B4-BE49-F238E27FC236}">
                  <a16:creationId xmlns:a16="http://schemas.microsoft.com/office/drawing/2014/main" id="{DFCE3AC0-193D-EB1C-19B0-15F96BAAF8EC}"/>
                </a:ext>
              </a:extLst>
            </p:cNvPr>
            <p:cNvSpPr>
              <a:spLocks noChangeShapeType="1"/>
            </p:cNvSpPr>
            <p:nvPr/>
          </p:nvSpPr>
          <p:spPr bwMode="auto">
            <a:xfrm>
              <a:off x="11108340" y="944436"/>
              <a:ext cx="38100" cy="0"/>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90" name="Line 440">
              <a:extLst>
                <a:ext uri="{FF2B5EF4-FFF2-40B4-BE49-F238E27FC236}">
                  <a16:creationId xmlns:a16="http://schemas.microsoft.com/office/drawing/2014/main" id="{4B413DCC-F0FC-A29A-694A-B3133EE75749}"/>
                </a:ext>
              </a:extLst>
            </p:cNvPr>
            <p:cNvSpPr>
              <a:spLocks noChangeShapeType="1"/>
            </p:cNvSpPr>
            <p:nvPr/>
          </p:nvSpPr>
          <p:spPr bwMode="auto">
            <a:xfrm>
              <a:off x="10876565" y="1184148"/>
              <a:ext cx="60325" cy="0"/>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91" name="Rectangle 441">
              <a:extLst>
                <a:ext uri="{FF2B5EF4-FFF2-40B4-BE49-F238E27FC236}">
                  <a16:creationId xmlns:a16="http://schemas.microsoft.com/office/drawing/2014/main" id="{A7B32F51-72EC-D564-EE3F-BD846562B57E}"/>
                </a:ext>
              </a:extLst>
            </p:cNvPr>
            <p:cNvSpPr>
              <a:spLocks noChangeArrowheads="1"/>
            </p:cNvSpPr>
            <p:nvPr/>
          </p:nvSpPr>
          <p:spPr bwMode="auto">
            <a:xfrm>
              <a:off x="10890852" y="914273"/>
              <a:ext cx="30163" cy="269875"/>
            </a:xfrm>
            <a:prstGeom prst="rect">
              <a:avLst/>
            </a:pr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92" name="Line 442">
              <a:extLst>
                <a:ext uri="{FF2B5EF4-FFF2-40B4-BE49-F238E27FC236}">
                  <a16:creationId xmlns:a16="http://schemas.microsoft.com/office/drawing/2014/main" id="{876E5C6B-25DB-7F49-962C-7E03578C1C1D}"/>
                </a:ext>
              </a:extLst>
            </p:cNvPr>
            <p:cNvSpPr>
              <a:spLocks noChangeShapeType="1"/>
            </p:cNvSpPr>
            <p:nvPr/>
          </p:nvSpPr>
          <p:spPr bwMode="auto">
            <a:xfrm>
              <a:off x="11160727" y="1184148"/>
              <a:ext cx="60325" cy="0"/>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93" name="Rectangle 443">
              <a:extLst>
                <a:ext uri="{FF2B5EF4-FFF2-40B4-BE49-F238E27FC236}">
                  <a16:creationId xmlns:a16="http://schemas.microsoft.com/office/drawing/2014/main" id="{64F9AF43-B503-D8ED-681B-2909DAA805E3}"/>
                </a:ext>
              </a:extLst>
            </p:cNvPr>
            <p:cNvSpPr>
              <a:spLocks noChangeArrowheads="1"/>
            </p:cNvSpPr>
            <p:nvPr/>
          </p:nvSpPr>
          <p:spPr bwMode="auto">
            <a:xfrm>
              <a:off x="11176602" y="914273"/>
              <a:ext cx="30163" cy="269875"/>
            </a:xfrm>
            <a:prstGeom prst="rect">
              <a:avLst/>
            </a:pr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94" name="Line 444">
              <a:extLst>
                <a:ext uri="{FF2B5EF4-FFF2-40B4-BE49-F238E27FC236}">
                  <a16:creationId xmlns:a16="http://schemas.microsoft.com/office/drawing/2014/main" id="{0F86538E-8BDC-4A5E-D395-52107B952835}"/>
                </a:ext>
              </a:extLst>
            </p:cNvPr>
            <p:cNvSpPr>
              <a:spLocks noChangeShapeType="1"/>
            </p:cNvSpPr>
            <p:nvPr/>
          </p:nvSpPr>
          <p:spPr bwMode="auto">
            <a:xfrm>
              <a:off x="10921015" y="1003173"/>
              <a:ext cx="255588" cy="0"/>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95" name="Oval 445">
              <a:extLst>
                <a:ext uri="{FF2B5EF4-FFF2-40B4-BE49-F238E27FC236}">
                  <a16:creationId xmlns:a16="http://schemas.microsoft.com/office/drawing/2014/main" id="{1AF26B9D-6744-B808-8F5F-6CFACD7FD7C4}"/>
                </a:ext>
              </a:extLst>
            </p:cNvPr>
            <p:cNvSpPr>
              <a:spLocks noChangeArrowheads="1"/>
            </p:cNvSpPr>
            <p:nvPr/>
          </p:nvSpPr>
          <p:spPr bwMode="auto">
            <a:xfrm>
              <a:off x="11025790" y="1079373"/>
              <a:ext cx="46038" cy="44450"/>
            </a:xfrm>
            <a:prstGeom prst="ellipse">
              <a:avLst/>
            </a:prstGeom>
            <a:noFill/>
            <a:ln w="15875"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96" name="Freeform 446">
              <a:extLst>
                <a:ext uri="{FF2B5EF4-FFF2-40B4-BE49-F238E27FC236}">
                  <a16:creationId xmlns:a16="http://schemas.microsoft.com/office/drawing/2014/main" id="{78E28F22-1913-E4EE-6638-64C2C7284999}"/>
                </a:ext>
              </a:extLst>
            </p:cNvPr>
            <p:cNvSpPr>
              <a:spLocks/>
            </p:cNvSpPr>
            <p:nvPr/>
          </p:nvSpPr>
          <p:spPr bwMode="auto">
            <a:xfrm>
              <a:off x="10981340" y="1033336"/>
              <a:ext cx="131763" cy="136525"/>
            </a:xfrm>
            <a:custGeom>
              <a:avLst/>
              <a:gdLst>
                <a:gd name="T0" fmla="*/ 32 w 35"/>
                <a:gd name="T1" fmla="*/ 18 h 36"/>
                <a:gd name="T2" fmla="*/ 31 w 35"/>
                <a:gd name="T3" fmla="*/ 15 h 36"/>
                <a:gd name="T4" fmla="*/ 35 w 35"/>
                <a:gd name="T5" fmla="*/ 12 h 36"/>
                <a:gd name="T6" fmla="*/ 31 w 35"/>
                <a:gd name="T7" fmla="*/ 6 h 36"/>
                <a:gd name="T8" fmla="*/ 27 w 35"/>
                <a:gd name="T9" fmla="*/ 8 h 36"/>
                <a:gd name="T10" fmla="*/ 22 w 35"/>
                <a:gd name="T11" fmla="*/ 5 h 36"/>
                <a:gd name="T12" fmla="*/ 22 w 35"/>
                <a:gd name="T13" fmla="*/ 0 h 36"/>
                <a:gd name="T14" fmla="*/ 14 w 35"/>
                <a:gd name="T15" fmla="*/ 0 h 36"/>
                <a:gd name="T16" fmla="*/ 14 w 35"/>
                <a:gd name="T17" fmla="*/ 5 h 36"/>
                <a:gd name="T18" fmla="*/ 8 w 35"/>
                <a:gd name="T19" fmla="*/ 8 h 36"/>
                <a:gd name="T20" fmla="*/ 4 w 35"/>
                <a:gd name="T21" fmla="*/ 6 h 36"/>
                <a:gd name="T22" fmla="*/ 0 w 35"/>
                <a:gd name="T23" fmla="*/ 12 h 36"/>
                <a:gd name="T24" fmla="*/ 4 w 35"/>
                <a:gd name="T25" fmla="*/ 15 h 36"/>
                <a:gd name="T26" fmla="*/ 4 w 35"/>
                <a:gd name="T27" fmla="*/ 18 h 36"/>
                <a:gd name="T28" fmla="*/ 4 w 35"/>
                <a:gd name="T29" fmla="*/ 21 h 36"/>
                <a:gd name="T30" fmla="*/ 0 w 35"/>
                <a:gd name="T31" fmla="*/ 24 h 36"/>
                <a:gd name="T32" fmla="*/ 4 w 35"/>
                <a:gd name="T33" fmla="*/ 30 h 36"/>
                <a:gd name="T34" fmla="*/ 8 w 35"/>
                <a:gd name="T35" fmla="*/ 28 h 36"/>
                <a:gd name="T36" fmla="*/ 14 w 35"/>
                <a:gd name="T37" fmla="*/ 31 h 36"/>
                <a:gd name="T38" fmla="*/ 14 w 35"/>
                <a:gd name="T39" fmla="*/ 36 h 36"/>
                <a:gd name="T40" fmla="*/ 22 w 35"/>
                <a:gd name="T41" fmla="*/ 36 h 36"/>
                <a:gd name="T42" fmla="*/ 22 w 35"/>
                <a:gd name="T43" fmla="*/ 31 h 36"/>
                <a:gd name="T44" fmla="*/ 27 w 35"/>
                <a:gd name="T45" fmla="*/ 28 h 36"/>
                <a:gd name="T46" fmla="*/ 31 w 35"/>
                <a:gd name="T47" fmla="*/ 30 h 36"/>
                <a:gd name="T48" fmla="*/ 35 w 35"/>
                <a:gd name="T49" fmla="*/ 24 h 36"/>
                <a:gd name="T50" fmla="*/ 31 w 35"/>
                <a:gd name="T51" fmla="*/ 21 h 36"/>
                <a:gd name="T52" fmla="*/ 32 w 35"/>
                <a:gd name="T53" fmla="*/ 18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5" h="36">
                  <a:moveTo>
                    <a:pt x="32" y="18"/>
                  </a:moveTo>
                  <a:cubicBezTo>
                    <a:pt x="32" y="17"/>
                    <a:pt x="32" y="16"/>
                    <a:pt x="31" y="15"/>
                  </a:cubicBezTo>
                  <a:cubicBezTo>
                    <a:pt x="35" y="12"/>
                    <a:pt x="35" y="12"/>
                    <a:pt x="35" y="12"/>
                  </a:cubicBezTo>
                  <a:cubicBezTo>
                    <a:pt x="31" y="6"/>
                    <a:pt x="31" y="6"/>
                    <a:pt x="31" y="6"/>
                  </a:cubicBezTo>
                  <a:cubicBezTo>
                    <a:pt x="27" y="8"/>
                    <a:pt x="27" y="8"/>
                    <a:pt x="27" y="8"/>
                  </a:cubicBezTo>
                  <a:cubicBezTo>
                    <a:pt x="26" y="6"/>
                    <a:pt x="24" y="5"/>
                    <a:pt x="22" y="5"/>
                  </a:cubicBezTo>
                  <a:cubicBezTo>
                    <a:pt x="22" y="0"/>
                    <a:pt x="22" y="0"/>
                    <a:pt x="22" y="0"/>
                  </a:cubicBezTo>
                  <a:cubicBezTo>
                    <a:pt x="14" y="0"/>
                    <a:pt x="14" y="0"/>
                    <a:pt x="14" y="0"/>
                  </a:cubicBezTo>
                  <a:cubicBezTo>
                    <a:pt x="14" y="5"/>
                    <a:pt x="14" y="5"/>
                    <a:pt x="14" y="5"/>
                  </a:cubicBezTo>
                  <a:cubicBezTo>
                    <a:pt x="12" y="5"/>
                    <a:pt x="10" y="6"/>
                    <a:pt x="8" y="8"/>
                  </a:cubicBezTo>
                  <a:cubicBezTo>
                    <a:pt x="4" y="6"/>
                    <a:pt x="4" y="6"/>
                    <a:pt x="4" y="6"/>
                  </a:cubicBezTo>
                  <a:cubicBezTo>
                    <a:pt x="0" y="12"/>
                    <a:pt x="0" y="12"/>
                    <a:pt x="0" y="12"/>
                  </a:cubicBezTo>
                  <a:cubicBezTo>
                    <a:pt x="4" y="15"/>
                    <a:pt x="4" y="15"/>
                    <a:pt x="4" y="15"/>
                  </a:cubicBezTo>
                  <a:cubicBezTo>
                    <a:pt x="4" y="16"/>
                    <a:pt x="4" y="17"/>
                    <a:pt x="4" y="18"/>
                  </a:cubicBezTo>
                  <a:cubicBezTo>
                    <a:pt x="4" y="19"/>
                    <a:pt x="4" y="20"/>
                    <a:pt x="4" y="21"/>
                  </a:cubicBezTo>
                  <a:cubicBezTo>
                    <a:pt x="0" y="24"/>
                    <a:pt x="0" y="24"/>
                    <a:pt x="0" y="24"/>
                  </a:cubicBezTo>
                  <a:cubicBezTo>
                    <a:pt x="4" y="30"/>
                    <a:pt x="4" y="30"/>
                    <a:pt x="4" y="30"/>
                  </a:cubicBezTo>
                  <a:cubicBezTo>
                    <a:pt x="8" y="28"/>
                    <a:pt x="8" y="28"/>
                    <a:pt x="8" y="28"/>
                  </a:cubicBezTo>
                  <a:cubicBezTo>
                    <a:pt x="10" y="30"/>
                    <a:pt x="12" y="31"/>
                    <a:pt x="14" y="31"/>
                  </a:cubicBezTo>
                  <a:cubicBezTo>
                    <a:pt x="14" y="36"/>
                    <a:pt x="14" y="36"/>
                    <a:pt x="14" y="36"/>
                  </a:cubicBezTo>
                  <a:cubicBezTo>
                    <a:pt x="22" y="36"/>
                    <a:pt x="22" y="36"/>
                    <a:pt x="22" y="36"/>
                  </a:cubicBezTo>
                  <a:cubicBezTo>
                    <a:pt x="22" y="31"/>
                    <a:pt x="22" y="31"/>
                    <a:pt x="22" y="31"/>
                  </a:cubicBezTo>
                  <a:cubicBezTo>
                    <a:pt x="24" y="31"/>
                    <a:pt x="26" y="30"/>
                    <a:pt x="27" y="28"/>
                  </a:cubicBezTo>
                  <a:cubicBezTo>
                    <a:pt x="31" y="30"/>
                    <a:pt x="31" y="30"/>
                    <a:pt x="31" y="30"/>
                  </a:cubicBezTo>
                  <a:cubicBezTo>
                    <a:pt x="35" y="24"/>
                    <a:pt x="35" y="24"/>
                    <a:pt x="35" y="24"/>
                  </a:cubicBezTo>
                  <a:cubicBezTo>
                    <a:pt x="31" y="21"/>
                    <a:pt x="31" y="21"/>
                    <a:pt x="31" y="21"/>
                  </a:cubicBezTo>
                  <a:cubicBezTo>
                    <a:pt x="32" y="20"/>
                    <a:pt x="32" y="19"/>
                    <a:pt x="32" y="18"/>
                  </a:cubicBezTo>
                  <a:close/>
                </a:path>
              </a:pathLst>
            </a:custGeom>
            <a:noFill/>
            <a:ln w="15875"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grpSp>
      <p:grpSp>
        <p:nvGrpSpPr>
          <p:cNvPr id="97" name="Group 96">
            <a:extLst>
              <a:ext uri="{FF2B5EF4-FFF2-40B4-BE49-F238E27FC236}">
                <a16:creationId xmlns:a16="http://schemas.microsoft.com/office/drawing/2014/main" id="{C40026D4-1448-F74B-9909-5C3F70946638}"/>
              </a:ext>
            </a:extLst>
          </p:cNvPr>
          <p:cNvGrpSpPr/>
          <p:nvPr/>
        </p:nvGrpSpPr>
        <p:grpSpPr>
          <a:xfrm>
            <a:off x="4539336" y="4152763"/>
            <a:ext cx="288925" cy="346075"/>
            <a:chOff x="2709863" y="5800726"/>
            <a:chExt cx="288925" cy="346075"/>
          </a:xfrm>
        </p:grpSpPr>
        <p:sp>
          <p:nvSpPr>
            <p:cNvPr id="98" name="Freeform 880">
              <a:extLst>
                <a:ext uri="{FF2B5EF4-FFF2-40B4-BE49-F238E27FC236}">
                  <a16:creationId xmlns:a16="http://schemas.microsoft.com/office/drawing/2014/main" id="{146AE995-556C-2B5B-81F0-9FEFC90AB506}"/>
                </a:ext>
              </a:extLst>
            </p:cNvPr>
            <p:cNvSpPr>
              <a:spLocks/>
            </p:cNvSpPr>
            <p:nvPr/>
          </p:nvSpPr>
          <p:spPr bwMode="auto">
            <a:xfrm>
              <a:off x="2720975" y="5921376"/>
              <a:ext cx="271463" cy="60325"/>
            </a:xfrm>
            <a:custGeom>
              <a:avLst/>
              <a:gdLst>
                <a:gd name="T0" fmla="*/ 0 w 72"/>
                <a:gd name="T1" fmla="*/ 0 h 16"/>
                <a:gd name="T2" fmla="*/ 0 w 72"/>
                <a:gd name="T3" fmla="*/ 0 h 16"/>
                <a:gd name="T4" fmla="*/ 16 w 72"/>
                <a:gd name="T5" fmla="*/ 16 h 16"/>
                <a:gd name="T6" fmla="*/ 72 w 72"/>
                <a:gd name="T7" fmla="*/ 16 h 16"/>
              </a:gdLst>
              <a:ahLst/>
              <a:cxnLst>
                <a:cxn ang="0">
                  <a:pos x="T0" y="T1"/>
                </a:cxn>
                <a:cxn ang="0">
                  <a:pos x="T2" y="T3"/>
                </a:cxn>
                <a:cxn ang="0">
                  <a:pos x="T4" y="T5"/>
                </a:cxn>
                <a:cxn ang="0">
                  <a:pos x="T6" y="T7"/>
                </a:cxn>
              </a:cxnLst>
              <a:rect l="0" t="0" r="r" b="b"/>
              <a:pathLst>
                <a:path w="72" h="16">
                  <a:moveTo>
                    <a:pt x="0" y="0"/>
                  </a:moveTo>
                  <a:cubicBezTo>
                    <a:pt x="0" y="0"/>
                    <a:pt x="0" y="0"/>
                    <a:pt x="0" y="0"/>
                  </a:cubicBezTo>
                  <a:cubicBezTo>
                    <a:pt x="0" y="9"/>
                    <a:pt x="7" y="16"/>
                    <a:pt x="16" y="16"/>
                  </a:cubicBezTo>
                  <a:cubicBezTo>
                    <a:pt x="72" y="16"/>
                    <a:pt x="72" y="16"/>
                    <a:pt x="72" y="16"/>
                  </a:cubicBezTo>
                </a:path>
              </a:pathLst>
            </a:cu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99" name="Line 881">
              <a:extLst>
                <a:ext uri="{FF2B5EF4-FFF2-40B4-BE49-F238E27FC236}">
                  <a16:creationId xmlns:a16="http://schemas.microsoft.com/office/drawing/2014/main" id="{2C31A433-2DD3-8680-8469-B1C2B7BF0542}"/>
                </a:ext>
              </a:extLst>
            </p:cNvPr>
            <p:cNvSpPr>
              <a:spLocks noChangeShapeType="1"/>
            </p:cNvSpPr>
            <p:nvPr/>
          </p:nvSpPr>
          <p:spPr bwMode="auto">
            <a:xfrm flipV="1">
              <a:off x="2811463" y="5921376"/>
              <a:ext cx="0" cy="119063"/>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100" name="Line 882">
              <a:extLst>
                <a:ext uri="{FF2B5EF4-FFF2-40B4-BE49-F238E27FC236}">
                  <a16:creationId xmlns:a16="http://schemas.microsoft.com/office/drawing/2014/main" id="{A58C4F07-F833-0EF0-B589-4E12A429B718}"/>
                </a:ext>
              </a:extLst>
            </p:cNvPr>
            <p:cNvSpPr>
              <a:spLocks noChangeShapeType="1"/>
            </p:cNvSpPr>
            <p:nvPr/>
          </p:nvSpPr>
          <p:spPr bwMode="auto">
            <a:xfrm flipV="1">
              <a:off x="2901950" y="5921376"/>
              <a:ext cx="0" cy="119063"/>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101" name="Line 883">
              <a:extLst>
                <a:ext uri="{FF2B5EF4-FFF2-40B4-BE49-F238E27FC236}">
                  <a16:creationId xmlns:a16="http://schemas.microsoft.com/office/drawing/2014/main" id="{75107CAA-68DF-52ED-9177-EFA6AA2DA0AE}"/>
                </a:ext>
              </a:extLst>
            </p:cNvPr>
            <p:cNvSpPr>
              <a:spLocks noChangeShapeType="1"/>
            </p:cNvSpPr>
            <p:nvPr/>
          </p:nvSpPr>
          <p:spPr bwMode="auto">
            <a:xfrm flipV="1">
              <a:off x="2992438" y="5921376"/>
              <a:ext cx="0" cy="119063"/>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102" name="Freeform 884">
              <a:extLst>
                <a:ext uri="{FF2B5EF4-FFF2-40B4-BE49-F238E27FC236}">
                  <a16:creationId xmlns:a16="http://schemas.microsoft.com/office/drawing/2014/main" id="{41F717BA-E3DC-FDE8-8E10-7E72911B7582}"/>
                </a:ext>
              </a:extLst>
            </p:cNvPr>
            <p:cNvSpPr>
              <a:spLocks/>
            </p:cNvSpPr>
            <p:nvPr/>
          </p:nvSpPr>
          <p:spPr bwMode="auto">
            <a:xfrm>
              <a:off x="2709863" y="5800726"/>
              <a:ext cx="30163" cy="63500"/>
            </a:xfrm>
            <a:custGeom>
              <a:avLst/>
              <a:gdLst>
                <a:gd name="T0" fmla="*/ 0 w 8"/>
                <a:gd name="T1" fmla="*/ 17 h 17"/>
                <a:gd name="T2" fmla="*/ 0 w 8"/>
                <a:gd name="T3" fmla="*/ 0 h 17"/>
                <a:gd name="T4" fmla="*/ 4 w 8"/>
                <a:gd name="T5" fmla="*/ 0 h 17"/>
                <a:gd name="T6" fmla="*/ 8 w 8"/>
                <a:gd name="T7" fmla="*/ 4 h 17"/>
                <a:gd name="T8" fmla="*/ 4 w 8"/>
                <a:gd name="T9" fmla="*/ 8 h 17"/>
                <a:gd name="T10" fmla="*/ 0 w 8"/>
                <a:gd name="T11" fmla="*/ 8 h 17"/>
              </a:gdLst>
              <a:ahLst/>
              <a:cxnLst>
                <a:cxn ang="0">
                  <a:pos x="T0" y="T1"/>
                </a:cxn>
                <a:cxn ang="0">
                  <a:pos x="T2" y="T3"/>
                </a:cxn>
                <a:cxn ang="0">
                  <a:pos x="T4" y="T5"/>
                </a:cxn>
                <a:cxn ang="0">
                  <a:pos x="T6" y="T7"/>
                </a:cxn>
                <a:cxn ang="0">
                  <a:pos x="T8" y="T9"/>
                </a:cxn>
                <a:cxn ang="0">
                  <a:pos x="T10" y="T11"/>
                </a:cxn>
              </a:cxnLst>
              <a:rect l="0" t="0" r="r" b="b"/>
              <a:pathLst>
                <a:path w="8" h="17">
                  <a:moveTo>
                    <a:pt x="0" y="17"/>
                  </a:moveTo>
                  <a:cubicBezTo>
                    <a:pt x="0" y="0"/>
                    <a:pt x="0" y="0"/>
                    <a:pt x="0" y="0"/>
                  </a:cubicBezTo>
                  <a:cubicBezTo>
                    <a:pt x="4" y="0"/>
                    <a:pt x="4" y="0"/>
                    <a:pt x="4" y="0"/>
                  </a:cubicBezTo>
                  <a:cubicBezTo>
                    <a:pt x="7" y="0"/>
                    <a:pt x="8" y="2"/>
                    <a:pt x="8" y="4"/>
                  </a:cubicBezTo>
                  <a:cubicBezTo>
                    <a:pt x="8" y="6"/>
                    <a:pt x="7" y="8"/>
                    <a:pt x="4" y="8"/>
                  </a:cubicBezTo>
                  <a:cubicBezTo>
                    <a:pt x="0" y="8"/>
                    <a:pt x="0" y="8"/>
                    <a:pt x="0" y="8"/>
                  </a:cubicBezTo>
                </a:path>
              </a:pathLst>
            </a:cu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103" name="Line 885">
              <a:extLst>
                <a:ext uri="{FF2B5EF4-FFF2-40B4-BE49-F238E27FC236}">
                  <a16:creationId xmlns:a16="http://schemas.microsoft.com/office/drawing/2014/main" id="{EDB021CF-E811-4420-D9CC-BB30B2D1F92C}"/>
                </a:ext>
              </a:extLst>
            </p:cNvPr>
            <p:cNvSpPr>
              <a:spLocks noChangeShapeType="1"/>
            </p:cNvSpPr>
            <p:nvPr/>
          </p:nvSpPr>
          <p:spPr bwMode="auto">
            <a:xfrm>
              <a:off x="2725738" y="5830888"/>
              <a:ext cx="14288" cy="33338"/>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104" name="Freeform 886">
              <a:extLst>
                <a:ext uri="{FF2B5EF4-FFF2-40B4-BE49-F238E27FC236}">
                  <a16:creationId xmlns:a16="http://schemas.microsoft.com/office/drawing/2014/main" id="{77C53879-BBB8-A130-CD0A-0F44B1414660}"/>
                </a:ext>
              </a:extLst>
            </p:cNvPr>
            <p:cNvSpPr>
              <a:spLocks/>
            </p:cNvSpPr>
            <p:nvPr/>
          </p:nvSpPr>
          <p:spPr bwMode="auto">
            <a:xfrm>
              <a:off x="2808288" y="5800726"/>
              <a:ext cx="7938" cy="63500"/>
            </a:xfrm>
            <a:custGeom>
              <a:avLst/>
              <a:gdLst>
                <a:gd name="T0" fmla="*/ 5 w 5"/>
                <a:gd name="T1" fmla="*/ 40 h 40"/>
                <a:gd name="T2" fmla="*/ 5 w 5"/>
                <a:gd name="T3" fmla="*/ 0 h 40"/>
                <a:gd name="T4" fmla="*/ 0 w 5"/>
                <a:gd name="T5" fmla="*/ 5 h 40"/>
              </a:gdLst>
              <a:ahLst/>
              <a:cxnLst>
                <a:cxn ang="0">
                  <a:pos x="T0" y="T1"/>
                </a:cxn>
                <a:cxn ang="0">
                  <a:pos x="T2" y="T3"/>
                </a:cxn>
                <a:cxn ang="0">
                  <a:pos x="T4" y="T5"/>
                </a:cxn>
              </a:cxnLst>
              <a:rect l="0" t="0" r="r" b="b"/>
              <a:pathLst>
                <a:path w="5" h="40">
                  <a:moveTo>
                    <a:pt x="5" y="40"/>
                  </a:moveTo>
                  <a:lnTo>
                    <a:pt x="5" y="0"/>
                  </a:lnTo>
                  <a:lnTo>
                    <a:pt x="0" y="5"/>
                  </a:lnTo>
                </a:path>
              </a:pathLst>
            </a:cu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105" name="Freeform 887">
              <a:extLst>
                <a:ext uri="{FF2B5EF4-FFF2-40B4-BE49-F238E27FC236}">
                  <a16:creationId xmlns:a16="http://schemas.microsoft.com/office/drawing/2014/main" id="{67AB98D0-FBD1-CB8A-70BE-3DA3F277DF8F}"/>
                </a:ext>
              </a:extLst>
            </p:cNvPr>
            <p:cNvSpPr>
              <a:spLocks/>
            </p:cNvSpPr>
            <p:nvPr/>
          </p:nvSpPr>
          <p:spPr bwMode="auto">
            <a:xfrm>
              <a:off x="2879725" y="6081713"/>
              <a:ext cx="30163" cy="65088"/>
            </a:xfrm>
            <a:custGeom>
              <a:avLst/>
              <a:gdLst>
                <a:gd name="T0" fmla="*/ 16 w 19"/>
                <a:gd name="T1" fmla="*/ 41 h 41"/>
                <a:gd name="T2" fmla="*/ 16 w 19"/>
                <a:gd name="T3" fmla="*/ 0 h 41"/>
                <a:gd name="T4" fmla="*/ 0 w 19"/>
                <a:gd name="T5" fmla="*/ 27 h 41"/>
                <a:gd name="T6" fmla="*/ 19 w 19"/>
                <a:gd name="T7" fmla="*/ 27 h 41"/>
              </a:gdLst>
              <a:ahLst/>
              <a:cxnLst>
                <a:cxn ang="0">
                  <a:pos x="T0" y="T1"/>
                </a:cxn>
                <a:cxn ang="0">
                  <a:pos x="T2" y="T3"/>
                </a:cxn>
                <a:cxn ang="0">
                  <a:pos x="T4" y="T5"/>
                </a:cxn>
                <a:cxn ang="0">
                  <a:pos x="T6" y="T7"/>
                </a:cxn>
              </a:cxnLst>
              <a:rect l="0" t="0" r="r" b="b"/>
              <a:pathLst>
                <a:path w="19" h="41">
                  <a:moveTo>
                    <a:pt x="16" y="41"/>
                  </a:moveTo>
                  <a:lnTo>
                    <a:pt x="16" y="0"/>
                  </a:lnTo>
                  <a:lnTo>
                    <a:pt x="0" y="27"/>
                  </a:lnTo>
                  <a:lnTo>
                    <a:pt x="19" y="27"/>
                  </a:lnTo>
                </a:path>
              </a:pathLst>
            </a:cu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106" name="Oval 888">
              <a:extLst>
                <a:ext uri="{FF2B5EF4-FFF2-40B4-BE49-F238E27FC236}">
                  <a16:creationId xmlns:a16="http://schemas.microsoft.com/office/drawing/2014/main" id="{83CE57B0-4D59-D834-B529-5F4374AB9217}"/>
                </a:ext>
              </a:extLst>
            </p:cNvPr>
            <p:cNvSpPr>
              <a:spLocks noChangeArrowheads="1"/>
            </p:cNvSpPr>
            <p:nvPr/>
          </p:nvSpPr>
          <p:spPr bwMode="auto">
            <a:xfrm>
              <a:off x="2970213" y="6108701"/>
              <a:ext cx="28575" cy="38100"/>
            </a:xfrm>
            <a:prstGeom prst="ellipse">
              <a:avLst/>
            </a:pr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107" name="Freeform 889">
              <a:extLst>
                <a:ext uri="{FF2B5EF4-FFF2-40B4-BE49-F238E27FC236}">
                  <a16:creationId xmlns:a16="http://schemas.microsoft.com/office/drawing/2014/main" id="{843B61A2-EA1B-34A7-E6A0-5FF3778D27F6}"/>
                </a:ext>
              </a:extLst>
            </p:cNvPr>
            <p:cNvSpPr>
              <a:spLocks/>
            </p:cNvSpPr>
            <p:nvPr/>
          </p:nvSpPr>
          <p:spPr bwMode="auto">
            <a:xfrm>
              <a:off x="2970213" y="6081713"/>
              <a:ext cx="22225" cy="46038"/>
            </a:xfrm>
            <a:custGeom>
              <a:avLst/>
              <a:gdLst>
                <a:gd name="T0" fmla="*/ 6 w 6"/>
                <a:gd name="T1" fmla="*/ 0 h 12"/>
                <a:gd name="T2" fmla="*/ 0 w 6"/>
                <a:gd name="T3" fmla="*/ 7 h 12"/>
                <a:gd name="T4" fmla="*/ 0 w 6"/>
                <a:gd name="T5" fmla="*/ 12 h 12"/>
              </a:gdLst>
              <a:ahLst/>
              <a:cxnLst>
                <a:cxn ang="0">
                  <a:pos x="T0" y="T1"/>
                </a:cxn>
                <a:cxn ang="0">
                  <a:pos x="T2" y="T3"/>
                </a:cxn>
                <a:cxn ang="0">
                  <a:pos x="T4" y="T5"/>
                </a:cxn>
              </a:cxnLst>
              <a:rect l="0" t="0" r="r" b="b"/>
              <a:pathLst>
                <a:path w="6" h="12">
                  <a:moveTo>
                    <a:pt x="6" y="0"/>
                  </a:moveTo>
                  <a:cubicBezTo>
                    <a:pt x="0" y="0"/>
                    <a:pt x="0" y="5"/>
                    <a:pt x="0" y="7"/>
                  </a:cubicBezTo>
                  <a:cubicBezTo>
                    <a:pt x="0" y="12"/>
                    <a:pt x="0" y="12"/>
                    <a:pt x="0" y="12"/>
                  </a:cubicBezTo>
                </a:path>
              </a:pathLst>
            </a:cu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108" name="Freeform 890">
              <a:extLst>
                <a:ext uri="{FF2B5EF4-FFF2-40B4-BE49-F238E27FC236}">
                  <a16:creationId xmlns:a16="http://schemas.microsoft.com/office/drawing/2014/main" id="{0D1A1B8B-D849-4247-80EC-CC053681EC0E}"/>
                </a:ext>
              </a:extLst>
            </p:cNvPr>
            <p:cNvSpPr>
              <a:spLocks/>
            </p:cNvSpPr>
            <p:nvPr/>
          </p:nvSpPr>
          <p:spPr bwMode="auto">
            <a:xfrm>
              <a:off x="2970213" y="5800726"/>
              <a:ext cx="25400" cy="63500"/>
            </a:xfrm>
            <a:custGeom>
              <a:avLst/>
              <a:gdLst>
                <a:gd name="T0" fmla="*/ 7 w 7"/>
                <a:gd name="T1" fmla="*/ 0 h 17"/>
                <a:gd name="T2" fmla="*/ 0 w 7"/>
                <a:gd name="T3" fmla="*/ 0 h 17"/>
                <a:gd name="T4" fmla="*/ 0 w 7"/>
                <a:gd name="T5" fmla="*/ 8 h 17"/>
                <a:gd name="T6" fmla="*/ 4 w 7"/>
                <a:gd name="T7" fmla="*/ 8 h 17"/>
                <a:gd name="T8" fmla="*/ 7 w 7"/>
                <a:gd name="T9" fmla="*/ 12 h 17"/>
                <a:gd name="T10" fmla="*/ 4 w 7"/>
                <a:gd name="T11" fmla="*/ 17 h 17"/>
                <a:gd name="T12" fmla="*/ 0 w 7"/>
                <a:gd name="T13" fmla="*/ 17 h 17"/>
              </a:gdLst>
              <a:ahLst/>
              <a:cxnLst>
                <a:cxn ang="0">
                  <a:pos x="T0" y="T1"/>
                </a:cxn>
                <a:cxn ang="0">
                  <a:pos x="T2" y="T3"/>
                </a:cxn>
                <a:cxn ang="0">
                  <a:pos x="T4" y="T5"/>
                </a:cxn>
                <a:cxn ang="0">
                  <a:pos x="T6" y="T7"/>
                </a:cxn>
                <a:cxn ang="0">
                  <a:pos x="T8" y="T9"/>
                </a:cxn>
                <a:cxn ang="0">
                  <a:pos x="T10" y="T11"/>
                </a:cxn>
                <a:cxn ang="0">
                  <a:pos x="T12" y="T13"/>
                </a:cxn>
              </a:cxnLst>
              <a:rect l="0" t="0" r="r" b="b"/>
              <a:pathLst>
                <a:path w="7" h="17">
                  <a:moveTo>
                    <a:pt x="7" y="0"/>
                  </a:moveTo>
                  <a:cubicBezTo>
                    <a:pt x="0" y="0"/>
                    <a:pt x="0" y="0"/>
                    <a:pt x="0" y="0"/>
                  </a:cubicBezTo>
                  <a:cubicBezTo>
                    <a:pt x="0" y="8"/>
                    <a:pt x="0" y="8"/>
                    <a:pt x="0" y="8"/>
                  </a:cubicBezTo>
                  <a:cubicBezTo>
                    <a:pt x="4" y="8"/>
                    <a:pt x="4" y="8"/>
                    <a:pt x="4" y="8"/>
                  </a:cubicBezTo>
                  <a:cubicBezTo>
                    <a:pt x="7" y="8"/>
                    <a:pt x="7" y="11"/>
                    <a:pt x="7" y="12"/>
                  </a:cubicBezTo>
                  <a:cubicBezTo>
                    <a:pt x="7" y="14"/>
                    <a:pt x="7" y="17"/>
                    <a:pt x="4" y="17"/>
                  </a:cubicBezTo>
                  <a:cubicBezTo>
                    <a:pt x="0" y="17"/>
                    <a:pt x="0" y="17"/>
                    <a:pt x="0" y="17"/>
                  </a:cubicBezTo>
                </a:path>
              </a:pathLst>
            </a:cu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109" name="Freeform 891">
              <a:extLst>
                <a:ext uri="{FF2B5EF4-FFF2-40B4-BE49-F238E27FC236}">
                  <a16:creationId xmlns:a16="http://schemas.microsoft.com/office/drawing/2014/main" id="{811C64AF-6A70-D342-53F0-18F1FC0770D5}"/>
                </a:ext>
              </a:extLst>
            </p:cNvPr>
            <p:cNvSpPr>
              <a:spLocks/>
            </p:cNvSpPr>
            <p:nvPr/>
          </p:nvSpPr>
          <p:spPr bwMode="auto">
            <a:xfrm>
              <a:off x="2800350" y="6081713"/>
              <a:ext cx="30163" cy="65088"/>
            </a:xfrm>
            <a:custGeom>
              <a:avLst/>
              <a:gdLst>
                <a:gd name="T0" fmla="*/ 0 w 8"/>
                <a:gd name="T1" fmla="*/ 4 h 17"/>
                <a:gd name="T2" fmla="*/ 4 w 8"/>
                <a:gd name="T3" fmla="*/ 0 h 17"/>
                <a:gd name="T4" fmla="*/ 8 w 8"/>
                <a:gd name="T5" fmla="*/ 4 h 17"/>
                <a:gd name="T6" fmla="*/ 7 w 8"/>
                <a:gd name="T7" fmla="*/ 6 h 17"/>
                <a:gd name="T8" fmla="*/ 0 w 8"/>
                <a:gd name="T9" fmla="*/ 17 h 17"/>
                <a:gd name="T10" fmla="*/ 8 w 8"/>
                <a:gd name="T11" fmla="*/ 17 h 17"/>
              </a:gdLst>
              <a:ahLst/>
              <a:cxnLst>
                <a:cxn ang="0">
                  <a:pos x="T0" y="T1"/>
                </a:cxn>
                <a:cxn ang="0">
                  <a:pos x="T2" y="T3"/>
                </a:cxn>
                <a:cxn ang="0">
                  <a:pos x="T4" y="T5"/>
                </a:cxn>
                <a:cxn ang="0">
                  <a:pos x="T6" y="T7"/>
                </a:cxn>
                <a:cxn ang="0">
                  <a:pos x="T8" y="T9"/>
                </a:cxn>
                <a:cxn ang="0">
                  <a:pos x="T10" y="T11"/>
                </a:cxn>
              </a:cxnLst>
              <a:rect l="0" t="0" r="r" b="b"/>
              <a:pathLst>
                <a:path w="8" h="17">
                  <a:moveTo>
                    <a:pt x="0" y="4"/>
                  </a:moveTo>
                  <a:cubicBezTo>
                    <a:pt x="0" y="2"/>
                    <a:pt x="1" y="0"/>
                    <a:pt x="4" y="0"/>
                  </a:cubicBezTo>
                  <a:cubicBezTo>
                    <a:pt x="6" y="0"/>
                    <a:pt x="8" y="2"/>
                    <a:pt x="8" y="4"/>
                  </a:cubicBezTo>
                  <a:cubicBezTo>
                    <a:pt x="8" y="5"/>
                    <a:pt x="7" y="6"/>
                    <a:pt x="7" y="6"/>
                  </a:cubicBezTo>
                  <a:cubicBezTo>
                    <a:pt x="0" y="17"/>
                    <a:pt x="0" y="17"/>
                    <a:pt x="0" y="17"/>
                  </a:cubicBezTo>
                  <a:cubicBezTo>
                    <a:pt x="8" y="17"/>
                    <a:pt x="8" y="17"/>
                    <a:pt x="8" y="17"/>
                  </a:cubicBezTo>
                </a:path>
              </a:pathLst>
            </a:cu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110" name="Freeform 892">
              <a:extLst>
                <a:ext uri="{FF2B5EF4-FFF2-40B4-BE49-F238E27FC236}">
                  <a16:creationId xmlns:a16="http://schemas.microsoft.com/office/drawing/2014/main" id="{7709C28D-9F70-28E9-462A-C3A08ACD45DC}"/>
                </a:ext>
              </a:extLst>
            </p:cNvPr>
            <p:cNvSpPr>
              <a:spLocks/>
            </p:cNvSpPr>
            <p:nvPr/>
          </p:nvSpPr>
          <p:spPr bwMode="auto">
            <a:xfrm>
              <a:off x="2879725" y="5800726"/>
              <a:ext cx="30163" cy="30163"/>
            </a:xfrm>
            <a:custGeom>
              <a:avLst/>
              <a:gdLst>
                <a:gd name="T0" fmla="*/ 0 w 8"/>
                <a:gd name="T1" fmla="*/ 4 h 8"/>
                <a:gd name="T2" fmla="*/ 4 w 8"/>
                <a:gd name="T3" fmla="*/ 0 h 8"/>
                <a:gd name="T4" fmla="*/ 8 w 8"/>
                <a:gd name="T5" fmla="*/ 4 h 8"/>
                <a:gd name="T6" fmla="*/ 4 w 8"/>
                <a:gd name="T7" fmla="*/ 8 h 8"/>
              </a:gdLst>
              <a:ahLst/>
              <a:cxnLst>
                <a:cxn ang="0">
                  <a:pos x="T0" y="T1"/>
                </a:cxn>
                <a:cxn ang="0">
                  <a:pos x="T2" y="T3"/>
                </a:cxn>
                <a:cxn ang="0">
                  <a:pos x="T4" y="T5"/>
                </a:cxn>
                <a:cxn ang="0">
                  <a:pos x="T6" y="T7"/>
                </a:cxn>
              </a:cxnLst>
              <a:rect l="0" t="0" r="r" b="b"/>
              <a:pathLst>
                <a:path w="8" h="8">
                  <a:moveTo>
                    <a:pt x="0" y="4"/>
                  </a:moveTo>
                  <a:cubicBezTo>
                    <a:pt x="0" y="2"/>
                    <a:pt x="1" y="0"/>
                    <a:pt x="4" y="0"/>
                  </a:cubicBezTo>
                  <a:cubicBezTo>
                    <a:pt x="7" y="0"/>
                    <a:pt x="8" y="3"/>
                    <a:pt x="8" y="4"/>
                  </a:cubicBezTo>
                  <a:cubicBezTo>
                    <a:pt x="8" y="6"/>
                    <a:pt x="7" y="8"/>
                    <a:pt x="4" y="8"/>
                  </a:cubicBezTo>
                </a:path>
              </a:pathLst>
            </a:cu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111" name="Freeform 893">
              <a:extLst>
                <a:ext uri="{FF2B5EF4-FFF2-40B4-BE49-F238E27FC236}">
                  <a16:creationId xmlns:a16="http://schemas.microsoft.com/office/drawing/2014/main" id="{EF4F17DF-1D4E-5B12-0C85-9CB959D58ACC}"/>
                </a:ext>
              </a:extLst>
            </p:cNvPr>
            <p:cNvSpPr>
              <a:spLocks/>
            </p:cNvSpPr>
            <p:nvPr/>
          </p:nvSpPr>
          <p:spPr bwMode="auto">
            <a:xfrm>
              <a:off x="2879725" y="5830888"/>
              <a:ext cx="30163" cy="33338"/>
            </a:xfrm>
            <a:custGeom>
              <a:avLst/>
              <a:gdLst>
                <a:gd name="T0" fmla="*/ 0 w 8"/>
                <a:gd name="T1" fmla="*/ 5 h 9"/>
                <a:gd name="T2" fmla="*/ 4 w 8"/>
                <a:gd name="T3" fmla="*/ 9 h 9"/>
                <a:gd name="T4" fmla="*/ 8 w 8"/>
                <a:gd name="T5" fmla="*/ 5 h 9"/>
                <a:gd name="T6" fmla="*/ 4 w 8"/>
                <a:gd name="T7" fmla="*/ 0 h 9"/>
              </a:gdLst>
              <a:ahLst/>
              <a:cxnLst>
                <a:cxn ang="0">
                  <a:pos x="T0" y="T1"/>
                </a:cxn>
                <a:cxn ang="0">
                  <a:pos x="T2" y="T3"/>
                </a:cxn>
                <a:cxn ang="0">
                  <a:pos x="T4" y="T5"/>
                </a:cxn>
                <a:cxn ang="0">
                  <a:pos x="T6" y="T7"/>
                </a:cxn>
              </a:cxnLst>
              <a:rect l="0" t="0" r="r" b="b"/>
              <a:pathLst>
                <a:path w="8" h="9">
                  <a:moveTo>
                    <a:pt x="0" y="5"/>
                  </a:moveTo>
                  <a:cubicBezTo>
                    <a:pt x="0" y="7"/>
                    <a:pt x="1" y="9"/>
                    <a:pt x="4" y="9"/>
                  </a:cubicBezTo>
                  <a:cubicBezTo>
                    <a:pt x="7" y="9"/>
                    <a:pt x="8" y="6"/>
                    <a:pt x="8" y="5"/>
                  </a:cubicBezTo>
                  <a:cubicBezTo>
                    <a:pt x="8" y="3"/>
                    <a:pt x="7" y="0"/>
                    <a:pt x="4" y="0"/>
                  </a:cubicBezTo>
                </a:path>
              </a:pathLst>
            </a:cu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grpSp>
      <p:sp>
        <p:nvSpPr>
          <p:cNvPr id="4" name="Slide Number Placeholder 3">
            <a:extLst>
              <a:ext uri="{FF2B5EF4-FFF2-40B4-BE49-F238E27FC236}">
                <a16:creationId xmlns:a16="http://schemas.microsoft.com/office/drawing/2014/main" id="{A5AD33DD-7FF2-035F-5275-2DA5AB74A9B8}"/>
              </a:ext>
            </a:extLst>
          </p:cNvPr>
          <p:cNvSpPr>
            <a:spLocks noGrp="1"/>
          </p:cNvSpPr>
          <p:nvPr>
            <p:ph type="sldNum" sz="quarter" idx="12"/>
          </p:nvPr>
        </p:nvSpPr>
        <p:spPr/>
        <p:txBody>
          <a:bodyPr/>
          <a:lstStyle/>
          <a:p>
            <a:fld id="{0BA98121-C0ED-4D12-A058-5C29F4DDA5D5}" type="slidenum">
              <a:rPr lang="en-ID" smtClean="0">
                <a:solidFill>
                  <a:schemeClr val="bg1"/>
                </a:solidFill>
              </a:rPr>
              <a:t>9</a:t>
            </a:fld>
            <a:endParaRPr lang="en-ID" dirty="0">
              <a:solidFill>
                <a:schemeClr val="bg1"/>
              </a:solidFill>
            </a:endParaRPr>
          </a:p>
        </p:txBody>
      </p:sp>
      <p:pic>
        <p:nvPicPr>
          <p:cNvPr id="6" name="Picture 5">
            <a:extLst>
              <a:ext uri="{FF2B5EF4-FFF2-40B4-BE49-F238E27FC236}">
                <a16:creationId xmlns:a16="http://schemas.microsoft.com/office/drawing/2014/main" id="{7A7A2AEB-8238-ECE7-607A-ABFE9895EF50}"/>
              </a:ext>
            </a:extLst>
          </p:cNvPr>
          <p:cNvPicPr>
            <a:picLocks noChangeAspect="1"/>
          </p:cNvPicPr>
          <p:nvPr/>
        </p:nvPicPr>
        <p:blipFill>
          <a:blip r:embed="rId3"/>
          <a:stretch>
            <a:fillRect/>
          </a:stretch>
        </p:blipFill>
        <p:spPr>
          <a:xfrm>
            <a:off x="100580" y="2592027"/>
            <a:ext cx="4096158" cy="2048079"/>
          </a:xfrm>
          <a:prstGeom prst="rect">
            <a:avLst/>
          </a:prstGeom>
        </p:spPr>
      </p:pic>
    </p:spTree>
    <p:extLst>
      <p:ext uri="{BB962C8B-B14F-4D97-AF65-F5344CB8AC3E}">
        <p14:creationId xmlns:p14="http://schemas.microsoft.com/office/powerpoint/2010/main" val="12749199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8B43A2-889F-EC65-7B4C-2697414C149C}"/>
            </a:ext>
          </a:extLst>
        </p:cNvPr>
        <p:cNvGrpSpPr/>
        <p:nvPr/>
      </p:nvGrpSpPr>
      <p:grpSpPr>
        <a:xfrm>
          <a:off x="0" y="0"/>
          <a:ext cx="0" cy="0"/>
          <a:chOff x="0" y="0"/>
          <a:chExt cx="0" cy="0"/>
        </a:xfrm>
      </p:grpSpPr>
      <p:sp>
        <p:nvSpPr>
          <p:cNvPr id="3" name="Rectángulo 5">
            <a:extLst>
              <a:ext uri="{FF2B5EF4-FFF2-40B4-BE49-F238E27FC236}">
                <a16:creationId xmlns:a16="http://schemas.microsoft.com/office/drawing/2014/main" id="{A6C663C2-69D0-3671-E51A-A60EFDFB6FBD}"/>
              </a:ext>
            </a:extLst>
          </p:cNvPr>
          <p:cNvSpPr/>
          <p:nvPr/>
        </p:nvSpPr>
        <p:spPr>
          <a:xfrm>
            <a:off x="6910466" y="0"/>
            <a:ext cx="5281534" cy="5905500"/>
          </a:xfrm>
          <a:prstGeom prst="rect">
            <a:avLst/>
          </a:prstGeom>
          <a:solidFill>
            <a:srgbClr val="264A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7CC6FF"/>
              </a:solidFill>
            </a:endParaRPr>
          </a:p>
        </p:txBody>
      </p:sp>
      <p:sp>
        <p:nvSpPr>
          <p:cNvPr id="2" name="Title 1">
            <a:extLst>
              <a:ext uri="{FF2B5EF4-FFF2-40B4-BE49-F238E27FC236}">
                <a16:creationId xmlns:a16="http://schemas.microsoft.com/office/drawing/2014/main" id="{0710A7F6-6C89-A239-7A76-EA00EE6DE2F0}"/>
              </a:ext>
            </a:extLst>
          </p:cNvPr>
          <p:cNvSpPr>
            <a:spLocks noGrp="1"/>
          </p:cNvSpPr>
          <p:nvPr>
            <p:ph type="title"/>
          </p:nvPr>
        </p:nvSpPr>
        <p:spPr>
          <a:xfrm>
            <a:off x="535216" y="365126"/>
            <a:ext cx="6170108" cy="1415486"/>
          </a:xfrm>
        </p:spPr>
        <p:txBody>
          <a:bodyPr>
            <a:noAutofit/>
          </a:bodyPr>
          <a:lstStyle/>
          <a:p>
            <a:r>
              <a:rPr lang="en-US" altLang="zh-CN" dirty="0"/>
              <a:t>Improved MLP Architecture</a:t>
            </a:r>
            <a:endParaRPr lang="en-ID" dirty="0">
              <a:solidFill>
                <a:srgbClr val="36638D"/>
              </a:solidFill>
            </a:endParaRPr>
          </a:p>
        </p:txBody>
      </p:sp>
      <p:sp>
        <p:nvSpPr>
          <p:cNvPr id="6" name="Slide Number Placeholder 5">
            <a:extLst>
              <a:ext uri="{FF2B5EF4-FFF2-40B4-BE49-F238E27FC236}">
                <a16:creationId xmlns:a16="http://schemas.microsoft.com/office/drawing/2014/main" id="{3427569E-DBBC-ABE9-0E4D-9F2C89DE8AF9}"/>
              </a:ext>
            </a:extLst>
          </p:cNvPr>
          <p:cNvSpPr>
            <a:spLocks noGrp="1"/>
          </p:cNvSpPr>
          <p:nvPr>
            <p:ph type="sldNum" sz="quarter" idx="12"/>
          </p:nvPr>
        </p:nvSpPr>
        <p:spPr/>
        <p:txBody>
          <a:bodyPr/>
          <a:lstStyle/>
          <a:p>
            <a:fld id="{0BA98121-C0ED-4D12-A058-5C29F4DDA5D5}" type="slidenum">
              <a:rPr lang="en-ID" smtClean="0"/>
              <a:t>10</a:t>
            </a:fld>
            <a:endParaRPr lang="en-ID"/>
          </a:p>
        </p:txBody>
      </p:sp>
      <p:pic>
        <p:nvPicPr>
          <p:cNvPr id="39" name="Picture 38" descr="A computer code with black text&#10;&#10;AI-generated content may be incorrect.">
            <a:extLst>
              <a:ext uri="{FF2B5EF4-FFF2-40B4-BE49-F238E27FC236}">
                <a16:creationId xmlns:a16="http://schemas.microsoft.com/office/drawing/2014/main" id="{D808AB47-71FF-4306-C8F7-0C1A2564BB51}"/>
              </a:ext>
            </a:extLst>
          </p:cNvPr>
          <p:cNvPicPr>
            <a:picLocks noChangeAspect="1"/>
          </p:cNvPicPr>
          <p:nvPr/>
        </p:nvPicPr>
        <p:blipFill>
          <a:blip r:embed="rId3"/>
          <a:stretch>
            <a:fillRect/>
          </a:stretch>
        </p:blipFill>
        <p:spPr>
          <a:xfrm>
            <a:off x="7017261" y="483891"/>
            <a:ext cx="4829849" cy="1724266"/>
          </a:xfrm>
          <a:prstGeom prst="rect">
            <a:avLst/>
          </a:prstGeom>
        </p:spPr>
      </p:pic>
      <p:sp>
        <p:nvSpPr>
          <p:cNvPr id="40" name="Title 1">
            <a:extLst>
              <a:ext uri="{FF2B5EF4-FFF2-40B4-BE49-F238E27FC236}">
                <a16:creationId xmlns:a16="http://schemas.microsoft.com/office/drawing/2014/main" id="{6CA68892-8258-3245-F324-7E1A11EFACD6}"/>
              </a:ext>
            </a:extLst>
          </p:cNvPr>
          <p:cNvSpPr txBox="1">
            <a:spLocks/>
          </p:cNvSpPr>
          <p:nvPr/>
        </p:nvSpPr>
        <p:spPr>
          <a:xfrm>
            <a:off x="6960175" y="2417399"/>
            <a:ext cx="4190787" cy="131371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kern="1200">
                <a:solidFill>
                  <a:srgbClr val="36638D"/>
                </a:solidFill>
                <a:latin typeface="Segoe UI" panose="020B0502040204020203" pitchFamily="34" charset="0"/>
                <a:ea typeface="+mj-ea"/>
                <a:cs typeface="Segoe UI" panose="020B0502040204020203" pitchFamily="34" charset="0"/>
              </a:defRPr>
            </a:lvl1pPr>
          </a:lstStyle>
          <a:p>
            <a:r>
              <a:rPr lang="en-US" altLang="zh-CN" dirty="0">
                <a:solidFill>
                  <a:schemeClr val="bg1"/>
                </a:solidFill>
              </a:rPr>
              <a:t>However</a:t>
            </a:r>
            <a:endParaRPr lang="en-ID" dirty="0">
              <a:solidFill>
                <a:schemeClr val="bg1"/>
              </a:solidFill>
            </a:endParaRPr>
          </a:p>
        </p:txBody>
      </p:sp>
      <p:sp>
        <p:nvSpPr>
          <p:cNvPr id="41" name="TextBox 40">
            <a:extLst>
              <a:ext uri="{FF2B5EF4-FFF2-40B4-BE49-F238E27FC236}">
                <a16:creationId xmlns:a16="http://schemas.microsoft.com/office/drawing/2014/main" id="{ECF4F9E9-49F1-B17D-9D58-82A7E9D05433}"/>
              </a:ext>
            </a:extLst>
          </p:cNvPr>
          <p:cNvSpPr txBox="1"/>
          <p:nvPr/>
        </p:nvSpPr>
        <p:spPr>
          <a:xfrm>
            <a:off x="7099299" y="3524856"/>
            <a:ext cx="4530751" cy="1200329"/>
          </a:xfrm>
          <a:prstGeom prst="rect">
            <a:avLst/>
          </a:prstGeom>
          <a:noFill/>
        </p:spPr>
        <p:txBody>
          <a:bodyPr wrap="square" rtlCol="0">
            <a:spAutoFit/>
          </a:bodyPr>
          <a:lstStyle/>
          <a:p>
            <a:pPr marL="285750" indent="-285750">
              <a:buFont typeface="Arial" panose="020B0604020202020204" pitchFamily="34" charset="0"/>
              <a:buChar char="•"/>
            </a:pPr>
            <a:r>
              <a:rPr lang="en-US" altLang="zh-CN" dirty="0">
                <a:solidFill>
                  <a:schemeClr val="bg1"/>
                </a:solidFill>
              </a:rPr>
              <a:t>Adding depth did NOT improve AUC</a:t>
            </a:r>
          </a:p>
          <a:p>
            <a:pPr marL="285750" indent="-285750">
              <a:buFont typeface="Arial" panose="020B0604020202020204" pitchFamily="34" charset="0"/>
              <a:buChar char="•"/>
            </a:pPr>
            <a:r>
              <a:rPr lang="en-US" altLang="zh-CN" dirty="0">
                <a:solidFill>
                  <a:schemeClr val="bg1"/>
                </a:solidFill>
              </a:rPr>
              <a:t>Validation loss fluctuated</a:t>
            </a:r>
          </a:p>
          <a:p>
            <a:pPr marL="285750" indent="-285750">
              <a:buFont typeface="Arial" panose="020B0604020202020204" pitchFamily="34" charset="0"/>
              <a:buChar char="•"/>
            </a:pPr>
            <a:r>
              <a:rPr lang="en-US" altLang="zh-CN" dirty="0">
                <a:solidFill>
                  <a:schemeClr val="bg1"/>
                </a:solidFill>
              </a:rPr>
              <a:t>Deeper not means better</a:t>
            </a:r>
          </a:p>
          <a:p>
            <a:pPr marL="285750" indent="-285750">
              <a:buFont typeface="Arial" panose="020B0604020202020204" pitchFamily="34" charset="0"/>
              <a:buChar char="•"/>
            </a:pPr>
            <a:r>
              <a:rPr lang="en-US" altLang="zh-CN" dirty="0">
                <a:solidFill>
                  <a:schemeClr val="bg1"/>
                </a:solidFill>
              </a:rPr>
              <a:t>Sensitivity to hyperparameters</a:t>
            </a:r>
            <a:endParaRPr lang="zh-CN" altLang="en-US" dirty="0">
              <a:solidFill>
                <a:schemeClr val="bg1"/>
              </a:solidFill>
            </a:endParaRPr>
          </a:p>
        </p:txBody>
      </p:sp>
      <p:pic>
        <p:nvPicPr>
          <p:cNvPr id="4099" name="Picture 3">
            <a:extLst>
              <a:ext uri="{FF2B5EF4-FFF2-40B4-BE49-F238E27FC236}">
                <a16:creationId xmlns:a16="http://schemas.microsoft.com/office/drawing/2014/main" id="{D644C33A-E8C9-726B-14B4-66C8FB892A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5613" y="2060575"/>
            <a:ext cx="5705475" cy="3714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2578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BEBC67-5FEE-3C28-54A1-E55A077AF17F}"/>
            </a:ext>
          </a:extLst>
        </p:cNvPr>
        <p:cNvGrpSpPr/>
        <p:nvPr/>
      </p:nvGrpSpPr>
      <p:grpSpPr>
        <a:xfrm>
          <a:off x="0" y="0"/>
          <a:ext cx="0" cy="0"/>
          <a:chOff x="0" y="0"/>
          <a:chExt cx="0" cy="0"/>
        </a:xfrm>
      </p:grpSpPr>
      <p:sp>
        <p:nvSpPr>
          <p:cNvPr id="3" name="Rectángulo 5">
            <a:extLst>
              <a:ext uri="{FF2B5EF4-FFF2-40B4-BE49-F238E27FC236}">
                <a16:creationId xmlns:a16="http://schemas.microsoft.com/office/drawing/2014/main" id="{BB8FF9E5-9FC8-E7CE-365B-80A0BC6BD145}"/>
              </a:ext>
            </a:extLst>
          </p:cNvPr>
          <p:cNvSpPr/>
          <p:nvPr/>
        </p:nvSpPr>
        <p:spPr>
          <a:xfrm>
            <a:off x="6910466" y="0"/>
            <a:ext cx="5281534" cy="5905500"/>
          </a:xfrm>
          <a:prstGeom prst="rect">
            <a:avLst/>
          </a:prstGeom>
          <a:solidFill>
            <a:srgbClr val="264A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7CC6FF"/>
              </a:solidFill>
            </a:endParaRPr>
          </a:p>
        </p:txBody>
      </p:sp>
      <p:sp>
        <p:nvSpPr>
          <p:cNvPr id="2" name="Title 1">
            <a:extLst>
              <a:ext uri="{FF2B5EF4-FFF2-40B4-BE49-F238E27FC236}">
                <a16:creationId xmlns:a16="http://schemas.microsoft.com/office/drawing/2014/main" id="{8E41CB75-D941-B156-AF75-BD4A050315F0}"/>
              </a:ext>
            </a:extLst>
          </p:cNvPr>
          <p:cNvSpPr>
            <a:spLocks noGrp="1"/>
          </p:cNvSpPr>
          <p:nvPr>
            <p:ph type="title"/>
          </p:nvPr>
        </p:nvSpPr>
        <p:spPr>
          <a:xfrm>
            <a:off x="535216" y="365126"/>
            <a:ext cx="6170108" cy="1415486"/>
          </a:xfrm>
        </p:spPr>
        <p:txBody>
          <a:bodyPr>
            <a:noAutofit/>
          </a:bodyPr>
          <a:lstStyle/>
          <a:p>
            <a:r>
              <a:rPr lang="en-US" altLang="zh-CN" dirty="0"/>
              <a:t>Learning Rate Experiment</a:t>
            </a:r>
            <a:endParaRPr lang="en-ID" dirty="0">
              <a:solidFill>
                <a:srgbClr val="36638D"/>
              </a:solidFill>
            </a:endParaRPr>
          </a:p>
        </p:txBody>
      </p:sp>
      <p:sp>
        <p:nvSpPr>
          <p:cNvPr id="6" name="Slide Number Placeholder 5">
            <a:extLst>
              <a:ext uri="{FF2B5EF4-FFF2-40B4-BE49-F238E27FC236}">
                <a16:creationId xmlns:a16="http://schemas.microsoft.com/office/drawing/2014/main" id="{45B83515-D502-AB68-546E-62708698BB98}"/>
              </a:ext>
            </a:extLst>
          </p:cNvPr>
          <p:cNvSpPr>
            <a:spLocks noGrp="1"/>
          </p:cNvSpPr>
          <p:nvPr>
            <p:ph type="sldNum" sz="quarter" idx="12"/>
          </p:nvPr>
        </p:nvSpPr>
        <p:spPr/>
        <p:txBody>
          <a:bodyPr/>
          <a:lstStyle/>
          <a:p>
            <a:fld id="{0BA98121-C0ED-4D12-A058-5C29F4DDA5D5}" type="slidenum">
              <a:rPr lang="en-ID" smtClean="0"/>
              <a:t>11</a:t>
            </a:fld>
            <a:endParaRPr lang="en-ID"/>
          </a:p>
        </p:txBody>
      </p:sp>
      <p:sp>
        <p:nvSpPr>
          <p:cNvPr id="41" name="TextBox 40">
            <a:extLst>
              <a:ext uri="{FF2B5EF4-FFF2-40B4-BE49-F238E27FC236}">
                <a16:creationId xmlns:a16="http://schemas.microsoft.com/office/drawing/2014/main" id="{2C7F8873-D540-2D61-B2EE-10D43EB91720}"/>
              </a:ext>
            </a:extLst>
          </p:cNvPr>
          <p:cNvSpPr txBox="1"/>
          <p:nvPr/>
        </p:nvSpPr>
        <p:spPr>
          <a:xfrm>
            <a:off x="6910466" y="1383636"/>
            <a:ext cx="4530751" cy="3338735"/>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altLang="zh-CN" dirty="0">
                <a:solidFill>
                  <a:schemeClr val="bg1"/>
                </a:solidFill>
              </a:rPr>
              <a:t>We tried 3 learning rates: 1e−3, 5e−4, 1e−4</a:t>
            </a:r>
          </a:p>
          <a:p>
            <a:pPr marL="285750" indent="-285750">
              <a:lnSpc>
                <a:spcPct val="200000"/>
              </a:lnSpc>
              <a:buFont typeface="Arial" panose="020B0604020202020204" pitchFamily="34" charset="0"/>
              <a:buChar char="•"/>
            </a:pPr>
            <a:r>
              <a:rPr lang="en-US" altLang="zh-CN" dirty="0">
                <a:solidFill>
                  <a:schemeClr val="bg1"/>
                </a:solidFill>
              </a:rPr>
              <a:t>1e−3: unstable</a:t>
            </a:r>
          </a:p>
          <a:p>
            <a:pPr marL="285750" indent="-285750">
              <a:lnSpc>
                <a:spcPct val="200000"/>
              </a:lnSpc>
              <a:buFont typeface="Arial" panose="020B0604020202020204" pitchFamily="34" charset="0"/>
              <a:buChar char="•"/>
            </a:pPr>
            <a:r>
              <a:rPr lang="en-US" altLang="zh-CN" dirty="0">
                <a:solidFill>
                  <a:schemeClr val="bg1"/>
                </a:solidFill>
              </a:rPr>
              <a:t>5e−4: better</a:t>
            </a:r>
          </a:p>
          <a:p>
            <a:pPr marL="285750" indent="-285750">
              <a:lnSpc>
                <a:spcPct val="200000"/>
              </a:lnSpc>
              <a:buFont typeface="Arial" panose="020B0604020202020204" pitchFamily="34" charset="0"/>
              <a:buChar char="•"/>
            </a:pPr>
            <a:r>
              <a:rPr lang="en-US" altLang="zh-CN" dirty="0">
                <a:solidFill>
                  <a:schemeClr val="bg1"/>
                </a:solidFill>
              </a:rPr>
              <a:t>1e−4: smoothest with highest AUC</a:t>
            </a:r>
          </a:p>
          <a:p>
            <a:pPr marL="285750" indent="-285750">
              <a:lnSpc>
                <a:spcPct val="200000"/>
              </a:lnSpc>
              <a:buFont typeface="Arial" panose="020B0604020202020204" pitchFamily="34" charset="0"/>
              <a:buChar char="•"/>
            </a:pPr>
            <a:r>
              <a:rPr lang="en-US" altLang="zh-CN" dirty="0">
                <a:solidFill>
                  <a:schemeClr val="bg1"/>
                </a:solidFill>
              </a:rPr>
              <a:t>Early stopping did not trigger</a:t>
            </a:r>
          </a:p>
          <a:p>
            <a:pPr marL="285750" indent="-285750">
              <a:lnSpc>
                <a:spcPct val="200000"/>
              </a:lnSpc>
              <a:buFont typeface="Arial" panose="020B0604020202020204" pitchFamily="34" charset="0"/>
              <a:buChar char="•"/>
            </a:pPr>
            <a:r>
              <a:rPr lang="en-US" altLang="zh-CN" dirty="0">
                <a:solidFill>
                  <a:schemeClr val="bg1"/>
                </a:solidFill>
              </a:rPr>
              <a:t>Training loss kept decreasing</a:t>
            </a:r>
            <a:endParaRPr lang="zh-CN" altLang="en-US" dirty="0">
              <a:solidFill>
                <a:schemeClr val="bg1"/>
              </a:solidFill>
            </a:endParaRPr>
          </a:p>
        </p:txBody>
      </p:sp>
      <p:pic>
        <p:nvPicPr>
          <p:cNvPr id="5" name="Picture 4">
            <a:extLst>
              <a:ext uri="{FF2B5EF4-FFF2-40B4-BE49-F238E27FC236}">
                <a16:creationId xmlns:a16="http://schemas.microsoft.com/office/drawing/2014/main" id="{E7D2E4F8-CD6A-CA58-CF28-2419BD3C72B9}"/>
              </a:ext>
            </a:extLst>
          </p:cNvPr>
          <p:cNvPicPr>
            <a:picLocks noChangeAspect="1"/>
          </p:cNvPicPr>
          <p:nvPr/>
        </p:nvPicPr>
        <p:blipFill>
          <a:blip r:embed="rId3"/>
          <a:stretch>
            <a:fillRect/>
          </a:stretch>
        </p:blipFill>
        <p:spPr>
          <a:xfrm>
            <a:off x="455295" y="1831975"/>
            <a:ext cx="5962650" cy="4524375"/>
          </a:xfrm>
          <a:prstGeom prst="rect">
            <a:avLst/>
          </a:prstGeom>
        </p:spPr>
      </p:pic>
    </p:spTree>
    <p:extLst>
      <p:ext uri="{BB962C8B-B14F-4D97-AF65-F5344CB8AC3E}">
        <p14:creationId xmlns:p14="http://schemas.microsoft.com/office/powerpoint/2010/main" val="13412364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Picture 35" descr="black car parked near green trees during daytime">
            <a:extLst>
              <a:ext uri="{FF2B5EF4-FFF2-40B4-BE49-F238E27FC236}">
                <a16:creationId xmlns:a16="http://schemas.microsoft.com/office/drawing/2014/main" id="{75D86C26-60D6-6BDC-9E7F-8A9948969D66}"/>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l="16552" t="36435" r="12998" b="670"/>
          <a:stretch/>
        </p:blipFill>
        <p:spPr bwMode="auto">
          <a:xfrm>
            <a:off x="7070826" y="0"/>
            <a:ext cx="5121175" cy="6858000"/>
          </a:xfrm>
          <a:custGeom>
            <a:avLst/>
            <a:gdLst>
              <a:gd name="connsiteX0" fmla="*/ 0 w 7940715"/>
              <a:gd name="connsiteY0" fmla="*/ 0 h 6858000"/>
              <a:gd name="connsiteX1" fmla="*/ 7940715 w 7940715"/>
              <a:gd name="connsiteY1" fmla="*/ 0 h 6858000"/>
              <a:gd name="connsiteX2" fmla="*/ 7940715 w 7940715"/>
              <a:gd name="connsiteY2" fmla="*/ 6858000 h 6858000"/>
              <a:gd name="connsiteX3" fmla="*/ 0 w 794071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940715" h="6858000">
                <a:moveTo>
                  <a:pt x="0" y="0"/>
                </a:moveTo>
                <a:lnTo>
                  <a:pt x="7940715" y="0"/>
                </a:lnTo>
                <a:lnTo>
                  <a:pt x="7940715"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a16="http://schemas.microsoft.com/office/drawing/2014/main" id="{2C43079D-092E-3F49-8FE0-070501553AB2}"/>
              </a:ext>
            </a:extLst>
          </p:cNvPr>
          <p:cNvSpPr/>
          <p:nvPr/>
        </p:nvSpPr>
        <p:spPr>
          <a:xfrm>
            <a:off x="7070826" y="3"/>
            <a:ext cx="5121174" cy="6857997"/>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 name="Title 3">
            <a:extLst>
              <a:ext uri="{FF2B5EF4-FFF2-40B4-BE49-F238E27FC236}">
                <a16:creationId xmlns:a16="http://schemas.microsoft.com/office/drawing/2014/main" id="{AD1646DF-63A5-33DF-8F9D-64A5E2553668}"/>
              </a:ext>
            </a:extLst>
          </p:cNvPr>
          <p:cNvSpPr>
            <a:spLocks noGrp="1"/>
          </p:cNvSpPr>
          <p:nvPr>
            <p:ph type="title"/>
          </p:nvPr>
        </p:nvSpPr>
        <p:spPr>
          <a:xfrm>
            <a:off x="535215" y="365126"/>
            <a:ext cx="11121571" cy="883104"/>
          </a:xfrm>
        </p:spPr>
        <p:txBody>
          <a:bodyPr/>
          <a:lstStyle/>
          <a:p>
            <a:r>
              <a:rPr lang="en-US" dirty="0"/>
              <a:t>Future works</a:t>
            </a:r>
          </a:p>
        </p:txBody>
      </p:sp>
      <p:sp>
        <p:nvSpPr>
          <p:cNvPr id="9" name="Rectangle 8">
            <a:extLst>
              <a:ext uri="{FF2B5EF4-FFF2-40B4-BE49-F238E27FC236}">
                <a16:creationId xmlns:a16="http://schemas.microsoft.com/office/drawing/2014/main" id="{D1893BA8-8CDB-9EC6-7EFC-A57E05EB6215}"/>
              </a:ext>
            </a:extLst>
          </p:cNvPr>
          <p:cNvSpPr/>
          <p:nvPr/>
        </p:nvSpPr>
        <p:spPr>
          <a:xfrm>
            <a:off x="0" y="1554480"/>
            <a:ext cx="8288594" cy="4571017"/>
          </a:xfrm>
          <a:prstGeom prst="rect">
            <a:avLst/>
          </a:prstGeom>
          <a:solidFill>
            <a:srgbClr val="264A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6" name="Rectangle 15">
            <a:extLst>
              <a:ext uri="{FF2B5EF4-FFF2-40B4-BE49-F238E27FC236}">
                <a16:creationId xmlns:a16="http://schemas.microsoft.com/office/drawing/2014/main" id="{4BBC59EE-608E-63F5-D169-1B66828C507B}"/>
              </a:ext>
            </a:extLst>
          </p:cNvPr>
          <p:cNvSpPr/>
          <p:nvPr/>
        </p:nvSpPr>
        <p:spPr>
          <a:xfrm>
            <a:off x="702088" y="6013554"/>
            <a:ext cx="745205" cy="111943"/>
          </a:xfrm>
          <a:prstGeom prst="rect">
            <a:avLst/>
          </a:prstGeom>
          <a:solidFill>
            <a:srgbClr val="FE10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2" name="Rectangle 31">
            <a:extLst>
              <a:ext uri="{FF2B5EF4-FFF2-40B4-BE49-F238E27FC236}">
                <a16:creationId xmlns:a16="http://schemas.microsoft.com/office/drawing/2014/main" id="{D880ACAE-6FCC-0019-CD51-092088E3B6A3}"/>
              </a:ext>
            </a:extLst>
          </p:cNvPr>
          <p:cNvSpPr/>
          <p:nvPr/>
        </p:nvSpPr>
        <p:spPr>
          <a:xfrm>
            <a:off x="702088" y="2654705"/>
            <a:ext cx="6689312" cy="3113635"/>
          </a:xfrm>
          <a:prstGeom prst="rect">
            <a:avLst/>
          </a:prstGeom>
        </p:spPr>
        <p:txBody>
          <a:bodyPr wrap="square" lIns="0" tIns="0" rIns="0" bIns="0" anchor="t" anchorCtr="0">
            <a:noAutofit/>
          </a:bodyPr>
          <a:lstStyle/>
          <a:p>
            <a:pPr marL="342900" lvl="0" indent="-342900">
              <a:lnSpc>
                <a:spcPct val="200000"/>
              </a:lnSpc>
              <a:buFont typeface="Arial" panose="020B0604020202020204" pitchFamily="34" charset="0"/>
              <a:buChar char="•"/>
            </a:pPr>
            <a:r>
              <a:rPr lang="en-US" altLang="zh-CN" sz="2000" b="1" dirty="0">
                <a:solidFill>
                  <a:schemeClr val="bg1"/>
                </a:solidFill>
                <a:latin typeface="Segoe UI" panose="020B0502040204020203" pitchFamily="34" charset="0"/>
                <a:cs typeface="Segoe UI" panose="020B0502040204020203" pitchFamily="34" charset="0"/>
              </a:rPr>
              <a:t>Explore better handling of imbalance</a:t>
            </a:r>
          </a:p>
          <a:p>
            <a:pPr marL="342900" lvl="0" indent="-342900">
              <a:lnSpc>
                <a:spcPct val="200000"/>
              </a:lnSpc>
              <a:buFont typeface="Arial" panose="020B0604020202020204" pitchFamily="34" charset="0"/>
              <a:buChar char="•"/>
            </a:pPr>
            <a:r>
              <a:rPr lang="en-US" altLang="zh-CN" sz="2000" b="1" dirty="0">
                <a:solidFill>
                  <a:schemeClr val="bg1"/>
                </a:solidFill>
                <a:latin typeface="Segoe UI" panose="020B0502040204020203" pitchFamily="34" charset="0"/>
                <a:cs typeface="Segoe UI" panose="020B0502040204020203" pitchFamily="34" charset="0"/>
              </a:rPr>
              <a:t>Tune hyperparameters more systematically</a:t>
            </a:r>
          </a:p>
          <a:p>
            <a:pPr marL="342900" lvl="0" indent="-342900">
              <a:lnSpc>
                <a:spcPct val="200000"/>
              </a:lnSpc>
              <a:buFont typeface="Arial" panose="020B0604020202020204" pitchFamily="34" charset="0"/>
              <a:buChar char="•"/>
            </a:pPr>
            <a:r>
              <a:rPr lang="en-US" altLang="zh-CN" sz="2000" b="1" dirty="0">
                <a:solidFill>
                  <a:schemeClr val="bg1"/>
                </a:solidFill>
                <a:latin typeface="Segoe UI" panose="020B0502040204020203" pitchFamily="34" charset="0"/>
                <a:cs typeface="Segoe UI" panose="020B0502040204020203" pitchFamily="34" charset="0"/>
              </a:rPr>
              <a:t>Investigate deeper or wider MLP architecture</a:t>
            </a:r>
          </a:p>
          <a:p>
            <a:pPr marL="342900" lvl="0" indent="-342900">
              <a:lnSpc>
                <a:spcPct val="200000"/>
              </a:lnSpc>
              <a:buFont typeface="Arial" panose="020B0604020202020204" pitchFamily="34" charset="0"/>
              <a:buChar char="•"/>
            </a:pPr>
            <a:r>
              <a:rPr lang="en-US" altLang="zh-CN" sz="2000" b="1" dirty="0">
                <a:solidFill>
                  <a:schemeClr val="bg1"/>
                </a:solidFill>
                <a:latin typeface="Segoe UI" panose="020B0502040204020203" pitchFamily="34" charset="0"/>
                <a:cs typeface="Segoe UI" panose="020B0502040204020203" pitchFamily="34" charset="0"/>
              </a:rPr>
              <a:t>Apply cross-validation for more reliable evaluation</a:t>
            </a:r>
            <a:endParaRPr lang="en-US" sz="2000" b="1" dirty="0">
              <a:solidFill>
                <a:schemeClr val="bg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0696950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704E5-348C-F91F-A2E4-5B38942CDED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B44E4A0-B049-AD56-1E2B-540324F7316B}"/>
              </a:ext>
            </a:extLst>
          </p:cNvPr>
          <p:cNvSpPr>
            <a:spLocks noGrp="1"/>
          </p:cNvSpPr>
          <p:nvPr>
            <p:ph type="title"/>
          </p:nvPr>
        </p:nvSpPr>
        <p:spPr>
          <a:xfrm>
            <a:off x="4154715" y="2788286"/>
            <a:ext cx="4349205" cy="883104"/>
          </a:xfrm>
        </p:spPr>
        <p:txBody>
          <a:bodyPr>
            <a:noAutofit/>
          </a:bodyPr>
          <a:lstStyle/>
          <a:p>
            <a:r>
              <a:rPr lang="en-US" sz="6600" dirty="0"/>
              <a:t>Thank You</a:t>
            </a:r>
          </a:p>
        </p:txBody>
      </p:sp>
      <p:sp>
        <p:nvSpPr>
          <p:cNvPr id="16" name="Rectangle 15">
            <a:extLst>
              <a:ext uri="{FF2B5EF4-FFF2-40B4-BE49-F238E27FC236}">
                <a16:creationId xmlns:a16="http://schemas.microsoft.com/office/drawing/2014/main" id="{5F13AAD2-FC2E-11DD-742B-F26AA6FFFFF2}"/>
              </a:ext>
            </a:extLst>
          </p:cNvPr>
          <p:cNvSpPr/>
          <p:nvPr/>
        </p:nvSpPr>
        <p:spPr>
          <a:xfrm>
            <a:off x="702088" y="6013554"/>
            <a:ext cx="745205" cy="111943"/>
          </a:xfrm>
          <a:prstGeom prst="rect">
            <a:avLst/>
          </a:prstGeom>
          <a:solidFill>
            <a:srgbClr val="FE10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Tree>
    <p:extLst>
      <p:ext uri="{BB962C8B-B14F-4D97-AF65-F5344CB8AC3E}">
        <p14:creationId xmlns:p14="http://schemas.microsoft.com/office/powerpoint/2010/main" val="9254840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03E491B9C6C8A48BEEEDF6289035CBD" ma:contentTypeVersion="6" ma:contentTypeDescription="Create a new document." ma:contentTypeScope="" ma:versionID="0380606a09a2334f96c8ea92676eec0f">
  <xsd:schema xmlns:xsd="http://www.w3.org/2001/XMLSchema" xmlns:xs="http://www.w3.org/2001/XMLSchema" xmlns:p="http://schemas.microsoft.com/office/2006/metadata/properties" xmlns:ns3="5b574ddc-d850-48b5-a178-85672368edca" targetNamespace="http://schemas.microsoft.com/office/2006/metadata/properties" ma:root="true" ma:fieldsID="a6a0fdb5d1f8d7cf15084d96a762b36c" ns3:_="">
    <xsd:import namespace="5b574ddc-d850-48b5-a178-85672368edca"/>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b574ddc-d850-48b5-a178-85672368edca"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5b574ddc-d850-48b5-a178-85672368edca" xsi:nil="true"/>
  </documentManagement>
</p:properties>
</file>

<file path=customXml/itemProps1.xml><?xml version="1.0" encoding="utf-8"?>
<ds:datastoreItem xmlns:ds="http://schemas.openxmlformats.org/officeDocument/2006/customXml" ds:itemID="{BB326F04-6932-4259-95AB-AD8A0402318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b574ddc-d850-48b5-a178-85672368edc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4182100-8243-4073-AAFD-BD9BDD62559C}">
  <ds:schemaRefs>
    <ds:schemaRef ds:uri="http://schemas.microsoft.com/sharepoint/v3/contenttype/forms"/>
  </ds:schemaRefs>
</ds:datastoreItem>
</file>

<file path=customXml/itemProps3.xml><?xml version="1.0" encoding="utf-8"?>
<ds:datastoreItem xmlns:ds="http://schemas.openxmlformats.org/officeDocument/2006/customXml" ds:itemID="{E4AA3377-71AE-4FDB-ACF7-73F8A1D38FDF}">
  <ds:schemaRefs>
    <ds:schemaRef ds:uri="http://purl.org/dc/terms/"/>
    <ds:schemaRef ds:uri="http://www.w3.org/XML/1998/namespace"/>
    <ds:schemaRef ds:uri="http://schemas.microsoft.com/office/2006/metadata/properties"/>
    <ds:schemaRef ds:uri="http://purl.org/dc/dcmitype/"/>
    <ds:schemaRef ds:uri="http://purl.org/dc/elements/1.1/"/>
    <ds:schemaRef ds:uri="http://schemas.microsoft.com/office/2006/documentManagement/types"/>
    <ds:schemaRef ds:uri="5b574ddc-d850-48b5-a178-85672368edca"/>
    <ds:schemaRef ds:uri="http://schemas.microsoft.com/office/infopath/2007/PartnerControl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otalTime>2039</TotalTime>
  <Words>1454</Words>
  <Application>Microsoft Office PowerPoint</Application>
  <PresentationFormat>Widescreen</PresentationFormat>
  <Paragraphs>133</Paragraphs>
  <Slides>13</Slides>
  <Notes>13</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13</vt:i4>
      </vt:variant>
    </vt:vector>
  </HeadingPairs>
  <TitlesOfParts>
    <vt:vector size="21" baseType="lpstr">
      <vt:lpstr>等线</vt:lpstr>
      <vt:lpstr>Arial</vt:lpstr>
      <vt:lpstr>Calibri</vt:lpstr>
      <vt:lpstr>Calibri Light</vt:lpstr>
      <vt:lpstr>Segoe UI</vt:lpstr>
      <vt:lpstr>Segoe UI Light</vt:lpstr>
      <vt:lpstr>Office Theme</vt:lpstr>
      <vt:lpstr>1_Office Theme</vt:lpstr>
      <vt:lpstr>Evaluating Traditional and Neural Network Models for Risk Prediction</vt:lpstr>
      <vt:lpstr>Porto Seguro: Dataset &amp; Problem Setup</vt:lpstr>
      <vt:lpstr>Feature Types &amp; Data Challenges</vt:lpstr>
      <vt:lpstr>Missing Value Patterns</vt:lpstr>
      <vt:lpstr>Preprocessing Pipeline</vt:lpstr>
      <vt:lpstr>Target Distribution &amp; Metric Selection</vt:lpstr>
      <vt:lpstr> Correlation &amp; Feature Distributions</vt:lpstr>
      <vt:lpstr>Baseline Models</vt:lpstr>
      <vt:lpstr>Why Use an MLP?</vt:lpstr>
      <vt:lpstr>Improved MLP Architecture</vt:lpstr>
      <vt:lpstr>Learning Rate Experiment</vt:lpstr>
      <vt:lpstr>Future works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 Insurance Powerpoint Template</dc:title>
  <dc:creator>it 24slides3</dc:creator>
  <cp:lastModifiedBy>Junhui Hu</cp:lastModifiedBy>
  <cp:revision>15</cp:revision>
  <dcterms:created xsi:type="dcterms:W3CDTF">2022-09-15T02:04:53Z</dcterms:created>
  <dcterms:modified xsi:type="dcterms:W3CDTF">2025-12-09T20:52:57Z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0x010100E03E491B9C6C8A48BEEEDF6289035CBD</vt:lpwstr>
  </property>
</Properties>
</file>