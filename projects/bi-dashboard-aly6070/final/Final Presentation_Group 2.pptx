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315" r:id="rId2"/>
    <p:sldId id="258" r:id="rId3"/>
    <p:sldId id="259" r:id="rId4"/>
    <p:sldId id="373" r:id="rId5"/>
    <p:sldId id="261" r:id="rId6"/>
    <p:sldId id="275" r:id="rId7"/>
    <p:sldId id="271" r:id="rId8"/>
    <p:sldId id="363" r:id="rId9"/>
    <p:sldId id="364" r:id="rId10"/>
    <p:sldId id="365" r:id="rId11"/>
    <p:sldId id="366" r:id="rId12"/>
    <p:sldId id="367" r:id="rId13"/>
    <p:sldId id="368" r:id="rId14"/>
    <p:sldId id="369" r:id="rId15"/>
    <p:sldId id="370" r:id="rId16"/>
    <p:sldId id="372" r:id="rId17"/>
    <p:sldId id="371" r:id="rId18"/>
    <p:sldId id="374" r:id="rId19"/>
    <p:sldId id="316" r:id="rId20"/>
  </p:sldIdLst>
  <p:sldSz cx="12192000" cy="6858000"/>
  <p:notesSz cx="6858000" cy="9144000"/>
  <p:custDataLst>
    <p:tags r:id="rId2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A3246"/>
    <a:srgbClr val="BA8F2D"/>
    <a:srgbClr val="DDDFE0"/>
    <a:srgbClr val="D24F59"/>
    <a:srgbClr val="1F719F"/>
    <a:srgbClr val="282627"/>
    <a:srgbClr val="4AABC8"/>
    <a:srgbClr val="FC9000"/>
    <a:srgbClr val="A5305A"/>
    <a:srgbClr val="0052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610" autoAdjust="0"/>
  </p:normalViewPr>
  <p:slideViewPr>
    <p:cSldViewPr snapToGrid="0">
      <p:cViewPr varScale="1">
        <p:scale>
          <a:sx n="142" d="100"/>
          <a:sy n="142" d="100"/>
        </p:scale>
        <p:origin x="978" y="114"/>
      </p:cViewPr>
      <p:guideLst>
        <p:guide orient="horz" pos="212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72" d="100"/>
        <a:sy n="172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8F310-488D-49C1-BF77-D485224284EB}" type="datetimeFigureOut">
              <a:rPr lang="zh-CN" altLang="en-US" smtClean="0"/>
              <a:t>2025/8/13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84E957-5221-4EB9-8C96-59AB845FBC6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84E957-5221-4EB9-8C96-59AB845FBC68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84E957-5221-4EB9-8C96-59AB845FBC68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3A0CD-204D-32A1-D28B-90BC820E7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B44570A-48F9-3F90-C015-2067A58CF9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E97A13A-2C57-268A-6D5D-5E0722E127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B78AB8B-DF9D-7010-135D-5CEA346D65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84E957-5221-4EB9-8C96-59AB845FBC6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05839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84E957-5221-4EB9-8C96-59AB845FBC68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8E24B5-153F-49DD-8DC2-609C5B5A8142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8E3A23-DE27-4733-AAD0-972943309144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8E3A23-DE27-4733-AAD0-972943309144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8E24B5-153F-49DD-8DC2-609C5B5A8142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8E3A23-DE27-4733-AAD0-972943309144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8E3A23-DE27-4733-AAD0-972943309144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248C0-3545-2050-E50F-CAD799DC8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0593785-436B-7A37-0940-5579C4C7D3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DD19E91-C91A-545C-184D-EFD9EEFA8C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Crime Rate (%) = COUNT([Arrest Key]) / AVG([Population])</a:t>
            </a:r>
          </a:p>
          <a:p>
            <a:r>
              <a:rPr lang="en-US" altLang="zh-CN" dirty="0"/>
              <a:t>People per Crime = ROUND(AVG([Population]) / COUNT([Arrest Key]), 0)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7FF6747-A7D2-FA68-7996-A7BE58A340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8E24B5-153F-49DD-8DC2-609C5B5A8142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12604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E0556-7738-EC4C-24F8-F0908F8E2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29D80BB-EC2E-3D00-8CBA-99331091F9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84073D1-0631-10F8-C452-CC9129926D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Count(Arrest case) / total population = crime rate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5BCE099-BAB9-06FC-7E53-7700884747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8E3A23-DE27-4733-AAD0-972943309144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01312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37837-FFD6-568D-D8CC-1FA1D75C3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8345F22-43A6-0162-5A6A-54D22A7FBB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FE096D7-F690-27C1-94B1-F2EE1C044C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Crime Rate (%) = COUNT([Arrest Key]) / AVG([Population])</a:t>
            </a:r>
          </a:p>
          <a:p>
            <a:r>
              <a:rPr lang="en-US" altLang="zh-CN" dirty="0"/>
              <a:t>People per Crime = ROUND(AVG([Population]) / COUNT([Arrest Key]), 0)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2A17666-D6CB-9A7D-0EF9-4BAB5FF8E0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8E24B5-153F-49DD-8DC2-609C5B5A8142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12245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809F9-3B28-F0B1-7560-C99047818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1D1FA43-FE5B-EAB8-2AA9-721486128A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130DFBC-139E-3CDC-32BF-7E82752B70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76A2B09-3DC6-5E42-BFF5-33E85FAE46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8E3A23-DE27-4733-AAD0-972943309144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73881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29D0F-336B-59B4-26ED-9BFAC6CD2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E2F1E72-D798-B74F-D6BD-C8D4EB82E4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145336B-3C84-7D42-091D-A2C204D56F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Crime Rate (%) = COUNT([Arrest Key]) / AVG([Population])</a:t>
            </a:r>
          </a:p>
          <a:p>
            <a:r>
              <a:rPr lang="en-US" altLang="zh-CN" dirty="0"/>
              <a:t>People per Crime = ROUND(AVG([Population]) / COUNT([Arrest Key]), 0)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A52C9BB-D5A6-2883-2172-DD9CAE024A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8E24B5-153F-49DD-8DC2-609C5B5A8142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31753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B2840-4F81-48B2-6D32-203EE6031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EA0C973-BE29-D48F-2366-D00F385A3E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285B8DD-1556-4D79-539E-37962D889D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Race Crime Rate (%) = COUNT([Arrest Key]) / TOTAL(COUNT([Arrest Key]))</a:t>
            </a:r>
          </a:p>
          <a:p>
            <a:r>
              <a:rPr lang="en-US" altLang="zh-CN" dirty="0"/>
              <a:t>Zone Label = IF [Race Crime Rate (%)] &lt; WINDOW_AVG([Race Crime Rate (%)])</a:t>
            </a:r>
          </a:p>
          <a:p>
            <a:r>
              <a:rPr lang="en-US" altLang="zh-CN" dirty="0"/>
              <a:t>             THEN "Below Avg" ELSE "Above Avg" END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CD1E37C-1437-F2C1-9FBF-B829A954C4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8E3A23-DE27-4733-AAD0-972943309144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193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等腰三角形 4"/>
          <p:cNvSpPr/>
          <p:nvPr userDrawn="1"/>
        </p:nvSpPr>
        <p:spPr>
          <a:xfrm rot="10800000">
            <a:off x="-169817" y="-2"/>
            <a:ext cx="1199362" cy="1117602"/>
          </a:xfrm>
          <a:prstGeom prst="triangle">
            <a:avLst/>
          </a:prstGeom>
          <a:solidFill>
            <a:srgbClr val="DDDF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等腰三角形 5"/>
          <p:cNvSpPr/>
          <p:nvPr userDrawn="1"/>
        </p:nvSpPr>
        <p:spPr>
          <a:xfrm rot="10800000">
            <a:off x="429863" y="174789"/>
            <a:ext cx="711367" cy="662873"/>
          </a:xfrm>
          <a:prstGeom prst="triangle">
            <a:avLst/>
          </a:prstGeom>
          <a:solidFill>
            <a:srgbClr val="2A3246"/>
          </a:solidFill>
          <a:ln>
            <a:noFill/>
          </a:ln>
          <a:effectLst>
            <a:outerShdw blurRad="254000" dist="635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等腰三角形 6"/>
          <p:cNvSpPr/>
          <p:nvPr userDrawn="1"/>
        </p:nvSpPr>
        <p:spPr>
          <a:xfrm rot="10800000">
            <a:off x="63193" y="629718"/>
            <a:ext cx="344197" cy="320733"/>
          </a:xfrm>
          <a:prstGeom prst="triangle">
            <a:avLst/>
          </a:prstGeom>
          <a:solidFill>
            <a:srgbClr val="BA8F2D"/>
          </a:solidFill>
          <a:ln>
            <a:noFill/>
          </a:ln>
          <a:effectLst>
            <a:outerShdw blurRad="254000" dist="635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等腰三角形 7"/>
          <p:cNvSpPr/>
          <p:nvPr userDrawn="1"/>
        </p:nvSpPr>
        <p:spPr>
          <a:xfrm>
            <a:off x="11588782" y="5952866"/>
            <a:ext cx="1206436" cy="1124195"/>
          </a:xfrm>
          <a:prstGeom prst="triangle">
            <a:avLst/>
          </a:prstGeom>
          <a:solidFill>
            <a:srgbClr val="DDDF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>
            <a:off x="11350532" y="6337988"/>
            <a:ext cx="575694" cy="536450"/>
          </a:xfrm>
          <a:prstGeom prst="triangle">
            <a:avLst/>
          </a:prstGeom>
          <a:solidFill>
            <a:srgbClr val="2A3246"/>
          </a:solidFill>
          <a:ln>
            <a:noFill/>
          </a:ln>
          <a:effectLst>
            <a:outerShdw blurRad="254000" dist="635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等腰三角形 9"/>
          <p:cNvSpPr/>
          <p:nvPr userDrawn="1"/>
        </p:nvSpPr>
        <p:spPr>
          <a:xfrm>
            <a:off x="11792820" y="6135365"/>
            <a:ext cx="266811" cy="248623"/>
          </a:xfrm>
          <a:prstGeom prst="triangle">
            <a:avLst/>
          </a:prstGeom>
          <a:solidFill>
            <a:srgbClr val="BA8F2D"/>
          </a:solidFill>
          <a:ln>
            <a:noFill/>
          </a:ln>
          <a:effectLst>
            <a:outerShdw blurRad="254000" dist="635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设计页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r.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ig Landscap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Click="0" advTm="0">
        <p14:ripple/>
      </p:transition>
    </mc:Choice>
    <mc:Fallback xmlns="">
      <p:transition spd="slow" advClick="0" advTm="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public.tableau.com/app/profile/european.environment.agency/viz/test_20190116Urban_vulnerability_ideasFR_0/mainpage" TargetMode="External"/><Relationship Id="rId2" Type="http://schemas.openxmlformats.org/officeDocument/2006/relationships/hyperlink" Target="https://www.nyc.gov/assets/planning/download/pdf/planning-level/nyc-population/population-estimates/current-population-estimates-2023-June2024-release.pdf?r=1&amp;utm_source=chatgpt.com" TargetMode="Externa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等腰三角形 12"/>
          <p:cNvSpPr/>
          <p:nvPr/>
        </p:nvSpPr>
        <p:spPr>
          <a:xfrm rot="10800000">
            <a:off x="9365673" y="0"/>
            <a:ext cx="1079724" cy="1006120"/>
          </a:xfrm>
          <a:prstGeom prst="triangle">
            <a:avLst/>
          </a:prstGeom>
          <a:solidFill>
            <a:srgbClr val="DDDF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等腰三角形 6"/>
          <p:cNvSpPr/>
          <p:nvPr/>
        </p:nvSpPr>
        <p:spPr>
          <a:xfrm>
            <a:off x="9680476" y="4290466"/>
            <a:ext cx="2755364" cy="2567534"/>
          </a:xfrm>
          <a:prstGeom prst="triangle">
            <a:avLst/>
          </a:prstGeom>
          <a:solidFill>
            <a:srgbClr val="DDDF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/>
        </p:nvSpPr>
        <p:spPr>
          <a:xfrm rot="10800000">
            <a:off x="-169817" y="-2"/>
            <a:ext cx="2760617" cy="2572428"/>
          </a:xfrm>
          <a:prstGeom prst="triangle">
            <a:avLst/>
          </a:prstGeom>
          <a:solidFill>
            <a:srgbClr val="DDDF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等腰三角形 7"/>
          <p:cNvSpPr/>
          <p:nvPr/>
        </p:nvSpPr>
        <p:spPr>
          <a:xfrm rot="10800000">
            <a:off x="-674915" y="0"/>
            <a:ext cx="2018940" cy="1881310"/>
          </a:xfrm>
          <a:prstGeom prst="triangle">
            <a:avLst/>
          </a:prstGeom>
          <a:solidFill>
            <a:srgbClr val="2A3246"/>
          </a:solidFill>
          <a:ln>
            <a:noFill/>
          </a:ln>
          <a:effectLst>
            <a:outerShdw blurRad="254000" dist="635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等腰三角形 5"/>
          <p:cNvSpPr/>
          <p:nvPr/>
        </p:nvSpPr>
        <p:spPr>
          <a:xfrm>
            <a:off x="10909183" y="4948888"/>
            <a:ext cx="2048774" cy="1909111"/>
          </a:xfrm>
          <a:prstGeom prst="triangle">
            <a:avLst/>
          </a:prstGeom>
          <a:solidFill>
            <a:srgbClr val="2A3246"/>
          </a:solidFill>
          <a:ln>
            <a:noFill/>
          </a:ln>
          <a:effectLst>
            <a:outerShdw blurRad="254000" dist="635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等腰三角形 2"/>
          <p:cNvSpPr/>
          <p:nvPr/>
        </p:nvSpPr>
        <p:spPr>
          <a:xfrm>
            <a:off x="1783930" y="-352697"/>
            <a:ext cx="1547123" cy="1441657"/>
          </a:xfrm>
          <a:prstGeom prst="triangle">
            <a:avLst/>
          </a:prstGeom>
          <a:solidFill>
            <a:srgbClr val="2A3246"/>
          </a:solidFill>
          <a:ln>
            <a:noFill/>
          </a:ln>
          <a:effectLst>
            <a:outerShdw blurRad="254000" dist="635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等腰三角形 3"/>
          <p:cNvSpPr/>
          <p:nvPr/>
        </p:nvSpPr>
        <p:spPr>
          <a:xfrm>
            <a:off x="9753832" y="4397068"/>
            <a:ext cx="748469" cy="697446"/>
          </a:xfrm>
          <a:prstGeom prst="triangle">
            <a:avLst/>
          </a:prstGeom>
          <a:solidFill>
            <a:srgbClr val="BA8F2D"/>
          </a:solidFill>
          <a:ln>
            <a:noFill/>
          </a:ln>
          <a:effectLst>
            <a:outerShdw blurRad="254000" dist="635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等腰三角形 4"/>
          <p:cNvSpPr/>
          <p:nvPr/>
        </p:nvSpPr>
        <p:spPr>
          <a:xfrm>
            <a:off x="10550403" y="6018276"/>
            <a:ext cx="760970" cy="709095"/>
          </a:xfrm>
          <a:prstGeom prst="triangle">
            <a:avLst/>
          </a:prstGeom>
          <a:solidFill>
            <a:srgbClr val="BA8F2D"/>
          </a:solidFill>
          <a:ln>
            <a:noFill/>
          </a:ln>
          <a:effectLst>
            <a:outerShdw blurRad="254000" dist="635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等腰三角形 9"/>
          <p:cNvSpPr/>
          <p:nvPr/>
        </p:nvSpPr>
        <p:spPr>
          <a:xfrm rot="10800000">
            <a:off x="1071898" y="101847"/>
            <a:ext cx="792251" cy="738244"/>
          </a:xfrm>
          <a:prstGeom prst="triangle">
            <a:avLst/>
          </a:prstGeom>
          <a:solidFill>
            <a:srgbClr val="BA8F2D"/>
          </a:solidFill>
          <a:ln>
            <a:noFill/>
          </a:ln>
          <a:effectLst>
            <a:outerShdw blurRad="254000" dist="635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等腰三角形 10"/>
          <p:cNvSpPr/>
          <p:nvPr/>
        </p:nvSpPr>
        <p:spPr>
          <a:xfrm rot="10800000">
            <a:off x="1858695" y="1577568"/>
            <a:ext cx="792251" cy="738244"/>
          </a:xfrm>
          <a:prstGeom prst="triangle">
            <a:avLst/>
          </a:prstGeom>
          <a:solidFill>
            <a:srgbClr val="BA8F2D"/>
          </a:solidFill>
          <a:ln>
            <a:noFill/>
          </a:ln>
          <a:effectLst>
            <a:outerShdw blurRad="254000" dist="635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等腰三角形 11"/>
          <p:cNvSpPr/>
          <p:nvPr/>
        </p:nvSpPr>
        <p:spPr>
          <a:xfrm rot="10800000">
            <a:off x="10193719" y="431758"/>
            <a:ext cx="634768" cy="591496"/>
          </a:xfrm>
          <a:prstGeom prst="triangle">
            <a:avLst/>
          </a:prstGeom>
          <a:solidFill>
            <a:srgbClr val="BA8F2D"/>
          </a:solidFill>
          <a:ln>
            <a:noFill/>
          </a:ln>
          <a:effectLst>
            <a:outerShdw blurRad="254000" dist="635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等腰三角形 13"/>
          <p:cNvSpPr/>
          <p:nvPr/>
        </p:nvSpPr>
        <p:spPr>
          <a:xfrm rot="10800000">
            <a:off x="8954215" y="5760400"/>
            <a:ext cx="1542375" cy="1437232"/>
          </a:xfrm>
          <a:prstGeom prst="triangle">
            <a:avLst/>
          </a:prstGeom>
          <a:solidFill>
            <a:srgbClr val="2A3246"/>
          </a:solidFill>
          <a:ln>
            <a:noFill/>
          </a:ln>
          <a:effectLst>
            <a:outerShdw blurRad="254000" dist="635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15"/>
          <p:cNvCxnSpPr/>
          <p:nvPr/>
        </p:nvCxnSpPr>
        <p:spPr>
          <a:xfrm>
            <a:off x="5285065" y="15599"/>
            <a:ext cx="462593" cy="860810"/>
          </a:xfrm>
          <a:prstGeom prst="line">
            <a:avLst/>
          </a:prstGeom>
          <a:ln w="19050">
            <a:solidFill>
              <a:srgbClr val="BA8F2D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8796482" y="-49558"/>
            <a:ext cx="427655" cy="795795"/>
          </a:xfrm>
          <a:prstGeom prst="line">
            <a:avLst/>
          </a:prstGeom>
          <a:ln w="19050">
            <a:solidFill>
              <a:srgbClr val="2A3246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3095898" y="-610951"/>
            <a:ext cx="632219" cy="1176456"/>
          </a:xfrm>
          <a:prstGeom prst="line">
            <a:avLst/>
          </a:prstGeom>
          <a:ln w="19050">
            <a:solidFill>
              <a:srgbClr val="2A3246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1210217" y="1441655"/>
            <a:ext cx="646054" cy="1202200"/>
          </a:xfrm>
          <a:prstGeom prst="line">
            <a:avLst/>
          </a:prstGeom>
          <a:ln w="19050">
            <a:solidFill>
              <a:srgbClr val="BA8F2D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10377029" y="4042998"/>
            <a:ext cx="642900" cy="1196331"/>
          </a:xfrm>
          <a:prstGeom prst="line">
            <a:avLst/>
          </a:prstGeom>
          <a:ln w="19050">
            <a:solidFill>
              <a:srgbClr val="BA8F2D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11126371" y="2594146"/>
            <a:ext cx="370003" cy="688515"/>
          </a:xfrm>
          <a:prstGeom prst="line">
            <a:avLst/>
          </a:prstGeom>
          <a:ln w="19050">
            <a:solidFill>
              <a:srgbClr val="2A3246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12092408" y="4290466"/>
            <a:ext cx="501126" cy="932513"/>
          </a:xfrm>
          <a:prstGeom prst="line">
            <a:avLst/>
          </a:prstGeom>
          <a:ln w="19050">
            <a:solidFill>
              <a:srgbClr val="BA8F2D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8580861" y="6307359"/>
            <a:ext cx="501126" cy="932513"/>
          </a:xfrm>
          <a:prstGeom prst="line">
            <a:avLst/>
          </a:prstGeom>
          <a:ln w="19050">
            <a:solidFill>
              <a:srgbClr val="2A3246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6433992" y="6190978"/>
            <a:ext cx="501126" cy="932513"/>
          </a:xfrm>
          <a:prstGeom prst="line">
            <a:avLst/>
          </a:prstGeom>
          <a:ln w="19050">
            <a:solidFill>
              <a:srgbClr val="2A3246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750810" y="3649515"/>
            <a:ext cx="388492" cy="722920"/>
          </a:xfrm>
          <a:prstGeom prst="line">
            <a:avLst/>
          </a:prstGeom>
          <a:ln w="19050">
            <a:solidFill>
              <a:srgbClr val="2A3246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-285428" y="1716983"/>
            <a:ext cx="459407" cy="854881"/>
          </a:xfrm>
          <a:prstGeom prst="line">
            <a:avLst/>
          </a:prstGeom>
          <a:ln w="19050">
            <a:solidFill>
              <a:srgbClr val="BA8F2D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/>
          <p:cNvSpPr txBox="1"/>
          <p:nvPr/>
        </p:nvSpPr>
        <p:spPr>
          <a:xfrm>
            <a:off x="2324176" y="2314681"/>
            <a:ext cx="7429524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solidFill>
                  <a:srgbClr val="2A3246"/>
                </a:solidFill>
                <a:effectLst>
                  <a:outerShdw blurRad="127000" dist="38100" dir="2700000" algn="tl">
                    <a:srgbClr val="000000">
                      <a:alpha val="20000"/>
                    </a:srgbClr>
                  </a:outerShdw>
                </a:effectLst>
                <a:latin typeface="思源黑体" panose="020B0500000000000000" pitchFamily="34" charset="-122"/>
                <a:ea typeface="思源黑体" panose="020B0500000000000000" pitchFamily="34" charset="-122"/>
              </a:rPr>
              <a:t>Final Presentation</a:t>
            </a:r>
          </a:p>
        </p:txBody>
      </p:sp>
      <p:sp>
        <p:nvSpPr>
          <p:cNvPr id="36" name="文本框 35"/>
          <p:cNvSpPr txBox="1"/>
          <p:nvPr/>
        </p:nvSpPr>
        <p:spPr>
          <a:xfrm>
            <a:off x="2898871" y="3886427"/>
            <a:ext cx="605534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endParaRPr lang="zh-CN" altLang="en-US" sz="1000" dirty="0">
              <a:solidFill>
                <a:schemeClr val="bg1">
                  <a:lumMod val="50000"/>
                </a:schemeClr>
              </a:solidFill>
              <a:effectLst>
                <a:outerShdw blurRad="127000" dist="38100" dir="2700000" algn="tl">
                  <a:srgbClr val="000000">
                    <a:alpha val="20000"/>
                  </a:srgbClr>
                </a:outerShdw>
              </a:effectLst>
              <a:latin typeface="思源黑体" panose="020B0500000000000000" pitchFamily="34" charset="-122"/>
              <a:ea typeface="思源黑体" panose="020B0500000000000000" pitchFamily="34" charset="-122"/>
            </a:endParaRPr>
          </a:p>
          <a:p>
            <a:pPr algn="ctr">
              <a:lnSpc>
                <a:spcPct val="120000"/>
              </a:lnSpc>
            </a:pPr>
            <a:endParaRPr lang="zh-CN" altLang="en-US" sz="1000" dirty="0">
              <a:solidFill>
                <a:schemeClr val="bg1">
                  <a:lumMod val="50000"/>
                </a:schemeClr>
              </a:solidFill>
              <a:effectLst>
                <a:outerShdw blurRad="127000" dist="38100" dir="2700000" algn="tl">
                  <a:srgbClr val="000000">
                    <a:alpha val="20000"/>
                  </a:srgbClr>
                </a:outerShdw>
              </a:effectLst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2898619" y="3283045"/>
            <a:ext cx="5889480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solidFill>
                  <a:srgbClr val="BA8F2D"/>
                </a:solidFill>
                <a:effectLst>
                  <a:outerShdw blurRad="127000" dist="38100" dir="2700000" algn="tl">
                    <a:srgbClr val="000000">
                      <a:alpha val="20000"/>
                    </a:srgbClr>
                  </a:outerShdw>
                </a:effectLst>
                <a:latin typeface="Aa楷体" panose="02000500000000000000" pitchFamily="2" charset="-122"/>
                <a:ea typeface="Aa楷体" panose="02000500000000000000" pitchFamily="2" charset="-122"/>
                <a:cs typeface="Aa楷体" panose="02000500000000000000" pitchFamily="2" charset="-122"/>
              </a:rPr>
              <a:t>Instructor: Professor Jack Bergersen</a:t>
            </a:r>
          </a:p>
          <a:p>
            <a:pPr algn="ctr"/>
            <a:r>
              <a:rPr lang="en-US" altLang="zh-CN" sz="2800" dirty="0">
                <a:solidFill>
                  <a:srgbClr val="BA8F2D"/>
                </a:solidFill>
                <a:effectLst>
                  <a:outerShdw blurRad="127000" dist="38100" dir="2700000" algn="tl">
                    <a:srgbClr val="000000">
                      <a:alpha val="20000"/>
                    </a:srgbClr>
                  </a:outerShdw>
                </a:effectLst>
                <a:latin typeface="Aa楷体" panose="02000500000000000000" pitchFamily="2" charset="-122"/>
                <a:ea typeface="Aa楷体" panose="02000500000000000000" pitchFamily="2" charset="-122"/>
                <a:cs typeface="Aa楷体" panose="02000500000000000000" pitchFamily="2" charset="-122"/>
              </a:rPr>
              <a:t>Term: Summer 2025</a:t>
            </a:r>
          </a:p>
          <a:p>
            <a:pPr algn="ctr"/>
            <a:endParaRPr lang="en-US" altLang="zh-CN" sz="2800" dirty="0">
              <a:solidFill>
                <a:srgbClr val="BA8F2D"/>
              </a:solidFill>
              <a:effectLst>
                <a:outerShdw blurRad="127000" dist="38100" dir="2700000" algn="tl">
                  <a:srgbClr val="000000">
                    <a:alpha val="20000"/>
                  </a:srgbClr>
                </a:outerShdw>
              </a:effectLst>
              <a:latin typeface="Aa楷体" panose="02000500000000000000" pitchFamily="2" charset="-122"/>
              <a:ea typeface="Aa楷体" panose="02000500000000000000" pitchFamily="2" charset="-122"/>
              <a:cs typeface="Aa楷体" panose="02000500000000000000" pitchFamily="2" charset="-122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3308568" y="4923015"/>
            <a:ext cx="2048510" cy="965200"/>
          </a:xfrm>
          <a:prstGeom prst="roundRect">
            <a:avLst/>
          </a:prstGeom>
          <a:solidFill>
            <a:srgbClr val="2A3246"/>
          </a:solidFill>
          <a:ln>
            <a:noFill/>
          </a:ln>
          <a:effectLst>
            <a:outerShdw blurRad="1016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effectLst>
                  <a:outerShdw blurRad="12700" dist="12700" dir="2700000" algn="tl">
                    <a:srgbClr val="000000">
                      <a:alpha val="20000"/>
                    </a:srgbClr>
                  </a:outerShdw>
                </a:effectLst>
                <a:latin typeface="思源黑体" panose="020B0500000000000000" pitchFamily="34" charset="-122"/>
                <a:ea typeface="思源黑体" panose="020B0500000000000000" pitchFamily="34" charset="-122"/>
              </a:rPr>
              <a:t>Date: </a:t>
            </a:r>
            <a:r>
              <a:rPr lang="en-US" altLang="zh-CN" sz="1600" dirty="0">
                <a:effectLst>
                  <a:outerShdw blurRad="12700" dist="12700" dir="2700000" algn="tl">
                    <a:srgbClr val="000000">
                      <a:alpha val="20000"/>
                    </a:srgbClr>
                  </a:outerShdw>
                </a:effectLst>
                <a:latin typeface="思源黑体" panose="020B0500000000000000" pitchFamily="34" charset="-122"/>
                <a:ea typeface="思源黑体" panose="020B0500000000000000" pitchFamily="34" charset="-122"/>
              </a:rPr>
              <a:t>08/12/2025</a:t>
            </a:r>
          </a:p>
        </p:txBody>
      </p:sp>
      <p:sp>
        <p:nvSpPr>
          <p:cNvPr id="39" name="圆角矩形 38"/>
          <p:cNvSpPr/>
          <p:nvPr/>
        </p:nvSpPr>
        <p:spPr>
          <a:xfrm>
            <a:off x="5746968" y="4923015"/>
            <a:ext cx="3406775" cy="948055"/>
          </a:xfrm>
          <a:prstGeom prst="roundRect">
            <a:avLst/>
          </a:prstGeom>
          <a:noFill/>
          <a:ln>
            <a:solidFill>
              <a:srgbClr val="BA8F2D"/>
            </a:solidFill>
          </a:ln>
          <a:effectLst>
            <a:outerShdw blurRad="1016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600" dirty="0">
                <a:solidFill>
                  <a:srgbClr val="2A3246"/>
                </a:solidFill>
                <a:effectLst>
                  <a:outerShdw blurRad="12700" dist="12700" dir="2700000" algn="tl">
                    <a:srgbClr val="000000">
                      <a:alpha val="20000"/>
                    </a:srgbClr>
                  </a:outerShdw>
                </a:effectLst>
                <a:latin typeface="思源黑体" panose="020B0500000000000000" pitchFamily="34" charset="-122"/>
                <a:ea typeface="思源黑体" panose="020B0500000000000000" pitchFamily="34" charset="-122"/>
                <a:sym typeface="+mn-ea"/>
              </a:rPr>
              <a:t>Group 2:</a:t>
            </a:r>
            <a:endParaRPr lang="en-US" sz="1600" dirty="0">
              <a:solidFill>
                <a:srgbClr val="2A3246"/>
              </a:solidFill>
              <a:effectLst>
                <a:outerShdw blurRad="12700" dist="12700" dir="2700000" algn="tl">
                  <a:srgbClr val="000000">
                    <a:alpha val="20000"/>
                  </a:srgbClr>
                </a:outerShdw>
              </a:effectLst>
              <a:latin typeface="思源黑体" panose="020B0500000000000000" pitchFamily="34" charset="-122"/>
              <a:ea typeface="思源黑体" panose="020B0500000000000000" pitchFamily="34" charset="-122"/>
            </a:endParaRPr>
          </a:p>
          <a:p>
            <a:pPr algn="l"/>
            <a:r>
              <a:rPr lang="en-US" sz="1600" dirty="0">
                <a:solidFill>
                  <a:srgbClr val="2A3246"/>
                </a:solidFill>
                <a:effectLst>
                  <a:outerShdw blurRad="12700" dist="12700" dir="2700000" algn="tl">
                    <a:srgbClr val="000000">
                      <a:alpha val="20000"/>
                    </a:srgbClr>
                  </a:outerShdw>
                </a:effectLst>
                <a:latin typeface="思源黑体" panose="020B0500000000000000" pitchFamily="34" charset="-122"/>
                <a:ea typeface="思源黑体" panose="020B0500000000000000" pitchFamily="34" charset="-122"/>
                <a:sym typeface="+mn-ea"/>
              </a:rPr>
              <a:t>             Ruman Liu</a:t>
            </a:r>
            <a:endParaRPr lang="en-US" sz="1600" dirty="0">
              <a:solidFill>
                <a:srgbClr val="2A3246"/>
              </a:solidFill>
              <a:effectLst>
                <a:outerShdw blurRad="12700" dist="12700" dir="2700000" algn="tl">
                  <a:srgbClr val="000000">
                    <a:alpha val="20000"/>
                  </a:srgbClr>
                </a:outerShdw>
              </a:effectLst>
              <a:latin typeface="思源黑体" panose="020B0500000000000000" pitchFamily="34" charset="-122"/>
              <a:ea typeface="思源黑体" panose="020B0500000000000000" pitchFamily="34" charset="-122"/>
            </a:endParaRPr>
          </a:p>
          <a:p>
            <a:pPr algn="l"/>
            <a:r>
              <a:rPr lang="en-US" sz="1600" dirty="0">
                <a:solidFill>
                  <a:srgbClr val="2A3246"/>
                </a:solidFill>
                <a:effectLst>
                  <a:outerShdw blurRad="12700" dist="12700" dir="2700000" algn="tl">
                    <a:srgbClr val="000000">
                      <a:alpha val="20000"/>
                    </a:srgbClr>
                  </a:outerShdw>
                </a:effectLst>
                <a:latin typeface="思源黑体" panose="020B0500000000000000" pitchFamily="34" charset="-122"/>
                <a:ea typeface="思源黑体" panose="020B0500000000000000" pitchFamily="34" charset="-122"/>
                <a:sym typeface="+mn-ea"/>
              </a:rPr>
              <a:t>             Junhui Hu</a:t>
            </a:r>
            <a:endParaRPr lang="en-US" sz="1600" dirty="0">
              <a:solidFill>
                <a:srgbClr val="2A3246"/>
              </a:solidFill>
              <a:effectLst>
                <a:outerShdw blurRad="12700" dist="12700" dir="2700000" algn="tl">
                  <a:srgbClr val="000000">
                    <a:alpha val="20000"/>
                  </a:srgbClr>
                </a:outerShdw>
              </a:effectLst>
              <a:latin typeface="思源黑体" panose="020B0500000000000000" pitchFamily="34" charset="-122"/>
              <a:ea typeface="思源黑体" panose="020B0500000000000000" pitchFamily="34" charset="-122"/>
            </a:endParaRPr>
          </a:p>
          <a:p>
            <a:pPr algn="l"/>
            <a:endParaRPr lang="en-US" sz="1600" dirty="0">
              <a:solidFill>
                <a:srgbClr val="2A3246"/>
              </a:solidFill>
              <a:effectLst>
                <a:outerShdw blurRad="12700" dist="12700" dir="2700000" algn="tl">
                  <a:srgbClr val="000000">
                    <a:alpha val="20000"/>
                  </a:srgbClr>
                </a:outerShdw>
              </a:effectLst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1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 tmFilter="0,0; .5, 1; 1, 1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37" presetClass="entr" presetSubtype="0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90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37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90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7" grpId="0" animBg="1"/>
      <p:bldP spid="9" grpId="0" animBg="1"/>
      <p:bldP spid="8" grpId="0" animBg="1"/>
      <p:bldP spid="6" grpId="0" animBg="1"/>
      <p:bldP spid="3" grpId="0" animBg="1"/>
      <p:bldP spid="4" grpId="0" animBg="1"/>
      <p:bldP spid="5" grpId="0" animBg="1"/>
      <p:bldP spid="10" grpId="0" animBg="1"/>
      <p:bldP spid="11" grpId="0" animBg="1"/>
      <p:bldP spid="12" grpId="0" animBg="1"/>
      <p:bldP spid="14" grpId="0" animBg="1"/>
      <p:bldP spid="35" grpId="0"/>
      <p:bldP spid="36" grpId="0"/>
      <p:bldP spid="37" grpId="0"/>
      <p:bldP spid="38" grpId="0" bldLvl="0" animBg="1"/>
      <p:bldP spid="39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等腰三角形 10"/>
          <p:cNvSpPr/>
          <p:nvPr/>
        </p:nvSpPr>
        <p:spPr>
          <a:xfrm>
            <a:off x="-545177" y="616920"/>
            <a:ext cx="1010653" cy="949784"/>
          </a:xfrm>
          <a:prstGeom prst="triangle">
            <a:avLst/>
          </a:prstGeom>
          <a:solidFill>
            <a:srgbClr val="BA8F2D"/>
          </a:solidFill>
          <a:ln>
            <a:noFill/>
          </a:ln>
          <a:effectLst>
            <a:outerShdw blurRad="254000" dist="635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等腰三角形 40"/>
          <p:cNvSpPr/>
          <p:nvPr/>
        </p:nvSpPr>
        <p:spPr>
          <a:xfrm rot="10800000">
            <a:off x="9112592" y="-1"/>
            <a:ext cx="1585887" cy="1477778"/>
          </a:xfrm>
          <a:prstGeom prst="triangle">
            <a:avLst/>
          </a:prstGeom>
          <a:solidFill>
            <a:srgbClr val="DDDF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等腰三角形 41"/>
          <p:cNvSpPr/>
          <p:nvPr/>
        </p:nvSpPr>
        <p:spPr>
          <a:xfrm>
            <a:off x="8926577" y="3587959"/>
            <a:ext cx="3509263" cy="3270041"/>
          </a:xfrm>
          <a:prstGeom prst="triangle">
            <a:avLst/>
          </a:prstGeom>
          <a:solidFill>
            <a:srgbClr val="DDDF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等腰三角形 42"/>
          <p:cNvSpPr/>
          <p:nvPr/>
        </p:nvSpPr>
        <p:spPr>
          <a:xfrm>
            <a:off x="10348615" y="4426534"/>
            <a:ext cx="2609342" cy="2431466"/>
          </a:xfrm>
          <a:prstGeom prst="triangle">
            <a:avLst/>
          </a:prstGeom>
          <a:solidFill>
            <a:srgbClr val="2A3246"/>
          </a:solidFill>
          <a:ln>
            <a:noFill/>
          </a:ln>
          <a:effectLst>
            <a:outerShdw blurRad="254000" dist="635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等腰三角形 43"/>
          <p:cNvSpPr/>
          <p:nvPr/>
        </p:nvSpPr>
        <p:spPr>
          <a:xfrm>
            <a:off x="9244386" y="4206239"/>
            <a:ext cx="953258" cy="888275"/>
          </a:xfrm>
          <a:prstGeom prst="triangle">
            <a:avLst/>
          </a:prstGeom>
          <a:solidFill>
            <a:srgbClr val="BA8F2D"/>
          </a:solidFill>
          <a:ln>
            <a:noFill/>
          </a:ln>
          <a:effectLst>
            <a:outerShdw blurRad="254000" dist="635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等腰三角形 44"/>
          <p:cNvSpPr/>
          <p:nvPr/>
        </p:nvSpPr>
        <p:spPr>
          <a:xfrm>
            <a:off x="10197644" y="5824260"/>
            <a:ext cx="969180" cy="903112"/>
          </a:xfrm>
          <a:prstGeom prst="triangle">
            <a:avLst/>
          </a:prstGeom>
          <a:solidFill>
            <a:srgbClr val="BA8F2D"/>
          </a:solidFill>
          <a:ln>
            <a:noFill/>
          </a:ln>
          <a:effectLst>
            <a:outerShdw blurRad="254000" dist="635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等腰三角形 45"/>
          <p:cNvSpPr/>
          <p:nvPr/>
        </p:nvSpPr>
        <p:spPr>
          <a:xfrm rot="10800000">
            <a:off x="10044933" y="528943"/>
            <a:ext cx="932340" cy="868783"/>
          </a:xfrm>
          <a:prstGeom prst="triangle">
            <a:avLst/>
          </a:prstGeom>
          <a:solidFill>
            <a:srgbClr val="BA8F2D"/>
          </a:solidFill>
          <a:ln>
            <a:noFill/>
          </a:ln>
          <a:effectLst>
            <a:outerShdw blurRad="254000" dist="635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等腰三角形 46"/>
          <p:cNvSpPr/>
          <p:nvPr/>
        </p:nvSpPr>
        <p:spPr>
          <a:xfrm rot="10800000">
            <a:off x="8227547" y="5367158"/>
            <a:ext cx="1964386" cy="1830475"/>
          </a:xfrm>
          <a:prstGeom prst="triangle">
            <a:avLst/>
          </a:prstGeom>
          <a:solidFill>
            <a:srgbClr val="2A3246"/>
          </a:solidFill>
          <a:ln>
            <a:noFill/>
          </a:ln>
          <a:effectLst>
            <a:outerShdw blurRad="254000" dist="635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8" name="直接连接符 47"/>
          <p:cNvCxnSpPr/>
          <p:nvPr/>
        </p:nvCxnSpPr>
        <p:spPr>
          <a:xfrm>
            <a:off x="8796482" y="-49558"/>
            <a:ext cx="632219" cy="1176456"/>
          </a:xfrm>
          <a:prstGeom prst="line">
            <a:avLst/>
          </a:prstGeom>
          <a:ln w="19050">
            <a:solidFill>
              <a:srgbClr val="2A3246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/>
          <p:cNvCxnSpPr/>
          <p:nvPr/>
        </p:nvCxnSpPr>
        <p:spPr>
          <a:xfrm>
            <a:off x="9807262" y="3429000"/>
            <a:ext cx="921127" cy="1714066"/>
          </a:xfrm>
          <a:prstGeom prst="line">
            <a:avLst/>
          </a:prstGeom>
          <a:ln w="19050">
            <a:solidFill>
              <a:srgbClr val="BA8F2D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/>
          <p:cNvCxnSpPr/>
          <p:nvPr/>
        </p:nvCxnSpPr>
        <p:spPr>
          <a:xfrm>
            <a:off x="10750256" y="2315812"/>
            <a:ext cx="501126" cy="932513"/>
          </a:xfrm>
          <a:prstGeom prst="line">
            <a:avLst/>
          </a:prstGeom>
          <a:ln w="19050">
            <a:solidFill>
              <a:srgbClr val="2A3246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/>
          <p:cNvCxnSpPr/>
          <p:nvPr/>
        </p:nvCxnSpPr>
        <p:spPr>
          <a:xfrm>
            <a:off x="11945209" y="4014055"/>
            <a:ext cx="501126" cy="932513"/>
          </a:xfrm>
          <a:prstGeom prst="line">
            <a:avLst/>
          </a:prstGeom>
          <a:ln w="19050">
            <a:solidFill>
              <a:srgbClr val="BA8F2D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/>
          <p:cNvCxnSpPr/>
          <p:nvPr/>
        </p:nvCxnSpPr>
        <p:spPr>
          <a:xfrm>
            <a:off x="8311054" y="6027799"/>
            <a:ext cx="501126" cy="932513"/>
          </a:xfrm>
          <a:prstGeom prst="line">
            <a:avLst/>
          </a:prstGeom>
          <a:ln w="19050">
            <a:solidFill>
              <a:srgbClr val="2A3246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/>
          <p:cNvCxnSpPr/>
          <p:nvPr/>
        </p:nvCxnSpPr>
        <p:spPr>
          <a:xfrm>
            <a:off x="754222" y="6038837"/>
            <a:ext cx="501126" cy="932513"/>
          </a:xfrm>
          <a:prstGeom prst="line">
            <a:avLst/>
          </a:prstGeom>
          <a:ln w="19050">
            <a:solidFill>
              <a:srgbClr val="2A3246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本框 55"/>
          <p:cNvSpPr txBox="1"/>
          <p:nvPr/>
        </p:nvSpPr>
        <p:spPr>
          <a:xfrm>
            <a:off x="130696" y="720204"/>
            <a:ext cx="16751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dirty="0">
                <a:solidFill>
                  <a:srgbClr val="21273E"/>
                </a:solidFill>
                <a:effectLst>
                  <a:outerShdw blurRad="38100" dist="38100" dir="2700000" algn="tl">
                    <a:srgbClr val="000000">
                      <a:alpha val="30000"/>
                    </a:srgbClr>
                  </a:outerShdw>
                </a:effectLst>
                <a:latin typeface="思源黑体" panose="020B0500000000000000" pitchFamily="34" charset="-122"/>
                <a:ea typeface="思源黑体" panose="020B0500000000000000" pitchFamily="34" charset="-122"/>
                <a:cs typeface="Aparajita" panose="020B0604020202020204" pitchFamily="34" charset="0"/>
              </a:rPr>
              <a:t>CONTENTS</a:t>
            </a:r>
            <a:endParaRPr lang="zh-CN" altLang="en-US" dirty="0">
              <a:solidFill>
                <a:srgbClr val="21273E"/>
              </a:solidFill>
              <a:effectLst>
                <a:outerShdw blurRad="38100" dist="38100" dir="2700000" algn="tl">
                  <a:srgbClr val="000000">
                    <a:alpha val="30000"/>
                  </a:srgbClr>
                </a:outerShdw>
              </a:effectLst>
              <a:latin typeface="思源黑体" panose="020B0500000000000000" pitchFamily="34" charset="-122"/>
              <a:ea typeface="思源黑体" panose="020B0500000000000000" pitchFamily="34" charset="-122"/>
              <a:cs typeface="Aparajita" panose="020B0604020202020204" pitchFamily="34" charset="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2112772" y="2062893"/>
            <a:ext cx="3308851" cy="505838"/>
            <a:chOff x="1359704" y="1966230"/>
            <a:chExt cx="3308851" cy="505838"/>
          </a:xfrm>
        </p:grpSpPr>
        <p:sp>
          <p:nvSpPr>
            <p:cNvPr id="62" name="文本框 61"/>
            <p:cNvSpPr txBox="1"/>
            <p:nvPr/>
          </p:nvSpPr>
          <p:spPr>
            <a:xfrm>
              <a:off x="2097574" y="2098310"/>
              <a:ext cx="2479675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spc="300" dirty="0">
                  <a:solidFill>
                    <a:srgbClr val="2A3246"/>
                  </a:solidFill>
                  <a:effectLst>
                    <a:outerShdw blurRad="38100" dist="38100" dir="2700000" algn="tl">
                      <a:srgbClr val="000000">
                        <a:alpha val="30000"/>
                      </a:srgbClr>
                    </a:outerShdw>
                  </a:effectLst>
                  <a:latin typeface="思源黑体" panose="020B0500000000000000" pitchFamily="34" charset="-122"/>
                  <a:ea typeface="思源黑体" panose="020B0500000000000000" pitchFamily="34" charset="-122"/>
                </a:rPr>
                <a:t>Introduction</a:t>
              </a:r>
            </a:p>
          </p:txBody>
        </p:sp>
        <p:sp>
          <p:nvSpPr>
            <p:cNvPr id="60" name="圆角矩形 59"/>
            <p:cNvSpPr/>
            <p:nvPr/>
          </p:nvSpPr>
          <p:spPr>
            <a:xfrm>
              <a:off x="1359704" y="2057914"/>
              <a:ext cx="3308851" cy="414154"/>
            </a:xfrm>
            <a:prstGeom prst="roundRect">
              <a:avLst>
                <a:gd name="adj" fmla="val 7796"/>
              </a:avLst>
            </a:prstGeom>
            <a:noFill/>
            <a:ln>
              <a:solidFill>
                <a:srgbClr val="2C344B">
                  <a:alpha val="50000"/>
                </a:srgbClr>
              </a:solidFill>
            </a:ln>
            <a:effectLst>
              <a:outerShdw blurRad="1270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  <p:sp>
          <p:nvSpPr>
            <p:cNvPr id="5" name="等腰三角形 4"/>
            <p:cNvSpPr/>
            <p:nvPr/>
          </p:nvSpPr>
          <p:spPr>
            <a:xfrm rot="10800000">
              <a:off x="1457910" y="1966230"/>
              <a:ext cx="564818" cy="397165"/>
            </a:xfrm>
            <a:prstGeom prst="triangle">
              <a:avLst/>
            </a:prstGeom>
            <a:solidFill>
              <a:srgbClr val="2A3246"/>
            </a:solidFill>
            <a:ln>
              <a:noFill/>
            </a:ln>
            <a:effectLst>
              <a:outerShdw blurRad="1016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zh-CN" altLang="en-US" dirty="0"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580461" y="1969872"/>
              <a:ext cx="2984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1</a:t>
              </a:r>
              <a:endParaRPr lang="zh-CN" altLang="en-US" sz="1600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</p:grpSp>
      <p:grpSp>
        <p:nvGrpSpPr>
          <p:cNvPr id="122" name="组合 121"/>
          <p:cNvGrpSpPr/>
          <p:nvPr/>
        </p:nvGrpSpPr>
        <p:grpSpPr>
          <a:xfrm>
            <a:off x="2721376" y="2909648"/>
            <a:ext cx="3308851" cy="505838"/>
            <a:chOff x="1359704" y="1966230"/>
            <a:chExt cx="3308851" cy="505838"/>
          </a:xfrm>
        </p:grpSpPr>
        <p:sp>
          <p:nvSpPr>
            <p:cNvPr id="127" name="文本框 126"/>
            <p:cNvSpPr txBox="1"/>
            <p:nvPr/>
          </p:nvSpPr>
          <p:spPr>
            <a:xfrm>
              <a:off x="1493689" y="2098310"/>
              <a:ext cx="167513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spc="300" dirty="0">
                  <a:solidFill>
                    <a:srgbClr val="2A3246"/>
                  </a:solidFill>
                  <a:effectLst>
                    <a:outerShdw blurRad="38100" dist="38100" dir="2700000" algn="tl">
                      <a:srgbClr val="000000">
                        <a:alpha val="30000"/>
                      </a:srgbClr>
                    </a:outerShdw>
                  </a:effectLst>
                  <a:latin typeface="思源黑体" panose="020B0500000000000000" pitchFamily="34" charset="-122"/>
                  <a:ea typeface="思源黑体" panose="020B0500000000000000" pitchFamily="34" charset="-122"/>
                </a:rPr>
                <a:t>Analysis</a:t>
              </a:r>
            </a:p>
          </p:txBody>
        </p:sp>
        <p:sp>
          <p:nvSpPr>
            <p:cNvPr id="124" name="圆角矩形 123"/>
            <p:cNvSpPr/>
            <p:nvPr/>
          </p:nvSpPr>
          <p:spPr>
            <a:xfrm>
              <a:off x="1359704" y="2057914"/>
              <a:ext cx="3308851" cy="414154"/>
            </a:xfrm>
            <a:prstGeom prst="roundRect">
              <a:avLst>
                <a:gd name="adj" fmla="val 7796"/>
              </a:avLst>
            </a:prstGeom>
            <a:noFill/>
            <a:ln>
              <a:solidFill>
                <a:srgbClr val="2C344B">
                  <a:alpha val="50000"/>
                </a:srgbClr>
              </a:solidFill>
            </a:ln>
            <a:effectLst>
              <a:outerShdw blurRad="1270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  <p:sp>
          <p:nvSpPr>
            <p:cNvPr id="125" name="等腰三角形 124"/>
            <p:cNvSpPr/>
            <p:nvPr/>
          </p:nvSpPr>
          <p:spPr>
            <a:xfrm rot="10800000">
              <a:off x="3929630" y="1966230"/>
              <a:ext cx="564818" cy="397165"/>
            </a:xfrm>
            <a:prstGeom prst="triangle">
              <a:avLst/>
            </a:prstGeom>
            <a:solidFill>
              <a:srgbClr val="BA8F2D"/>
            </a:solidFill>
            <a:ln>
              <a:noFill/>
            </a:ln>
            <a:effectLst>
              <a:outerShdw blurRad="1016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zh-CN" altLang="en-US" dirty="0"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  <p:sp>
          <p:nvSpPr>
            <p:cNvPr id="126" name="文本框 125"/>
            <p:cNvSpPr txBox="1"/>
            <p:nvPr/>
          </p:nvSpPr>
          <p:spPr>
            <a:xfrm>
              <a:off x="4052181" y="1969872"/>
              <a:ext cx="2984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2</a:t>
              </a:r>
              <a:endParaRPr lang="zh-CN" altLang="en-US" sz="1600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</p:grpSp>
      <p:grpSp>
        <p:nvGrpSpPr>
          <p:cNvPr id="150" name="组合 149"/>
          <p:cNvGrpSpPr/>
          <p:nvPr/>
        </p:nvGrpSpPr>
        <p:grpSpPr>
          <a:xfrm>
            <a:off x="2112772" y="3756403"/>
            <a:ext cx="3308851" cy="505838"/>
            <a:chOff x="1359704" y="1966230"/>
            <a:chExt cx="3308851" cy="505838"/>
          </a:xfrm>
        </p:grpSpPr>
        <p:sp>
          <p:nvSpPr>
            <p:cNvPr id="155" name="文本框 154"/>
            <p:cNvSpPr txBox="1"/>
            <p:nvPr/>
          </p:nvSpPr>
          <p:spPr>
            <a:xfrm>
              <a:off x="2097786" y="2097998"/>
              <a:ext cx="214472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spc="300" dirty="0">
                  <a:solidFill>
                    <a:srgbClr val="2A3246"/>
                  </a:solidFill>
                  <a:effectLst>
                    <a:outerShdw blurRad="38100" dist="38100" dir="2700000" algn="tl">
                      <a:srgbClr val="000000">
                        <a:alpha val="30000"/>
                      </a:srgbClr>
                    </a:outerShdw>
                  </a:effectLst>
                  <a:latin typeface="思源黑体" panose="020B0500000000000000" pitchFamily="34" charset="-122"/>
                  <a:ea typeface="思源黑体" panose="020B0500000000000000" pitchFamily="34" charset="-122"/>
                </a:rPr>
                <a:t>Conclusion</a:t>
              </a:r>
              <a:endParaRPr lang="zh-CN" altLang="en-US" b="1" spc="300" dirty="0">
                <a:solidFill>
                  <a:srgbClr val="2A3246"/>
                </a:solidFill>
                <a:effectLst>
                  <a:outerShdw blurRad="38100" dist="38100" dir="2700000" algn="tl">
                    <a:srgbClr val="000000">
                      <a:alpha val="30000"/>
                    </a:srgbClr>
                  </a:outerShdw>
                </a:effectLst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  <p:sp>
          <p:nvSpPr>
            <p:cNvPr id="152" name="圆角矩形 151"/>
            <p:cNvSpPr/>
            <p:nvPr/>
          </p:nvSpPr>
          <p:spPr>
            <a:xfrm>
              <a:off x="1359704" y="2057914"/>
              <a:ext cx="3308851" cy="414154"/>
            </a:xfrm>
            <a:prstGeom prst="roundRect">
              <a:avLst>
                <a:gd name="adj" fmla="val 7796"/>
              </a:avLst>
            </a:prstGeom>
            <a:noFill/>
            <a:ln>
              <a:solidFill>
                <a:srgbClr val="2C344B">
                  <a:alpha val="50000"/>
                </a:srgbClr>
              </a:solidFill>
            </a:ln>
            <a:effectLst>
              <a:outerShdw blurRad="1270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  <p:sp>
          <p:nvSpPr>
            <p:cNvPr id="153" name="等腰三角形 152"/>
            <p:cNvSpPr/>
            <p:nvPr/>
          </p:nvSpPr>
          <p:spPr>
            <a:xfrm rot="10800000">
              <a:off x="1457910" y="1966230"/>
              <a:ext cx="564818" cy="397165"/>
            </a:xfrm>
            <a:prstGeom prst="triangle">
              <a:avLst/>
            </a:prstGeom>
            <a:solidFill>
              <a:srgbClr val="2A3246"/>
            </a:solidFill>
            <a:ln>
              <a:noFill/>
            </a:ln>
            <a:effectLst>
              <a:outerShdw blurRad="1016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zh-CN" altLang="en-US" dirty="0"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  <p:sp>
          <p:nvSpPr>
            <p:cNvPr id="154" name="文本框 153"/>
            <p:cNvSpPr txBox="1"/>
            <p:nvPr/>
          </p:nvSpPr>
          <p:spPr>
            <a:xfrm>
              <a:off x="1580461" y="1969872"/>
              <a:ext cx="2984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3</a:t>
              </a:r>
              <a:endParaRPr lang="zh-CN" altLang="en-US" sz="1600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</p:grpSp>
      <p:sp>
        <p:nvSpPr>
          <p:cNvPr id="171" name="等腰三角形 170"/>
          <p:cNvSpPr/>
          <p:nvPr/>
        </p:nvSpPr>
        <p:spPr>
          <a:xfrm>
            <a:off x="10352120" y="932425"/>
            <a:ext cx="550817" cy="554990"/>
          </a:xfrm>
          <a:prstGeom prst="triangle">
            <a:avLst/>
          </a:prstGeom>
          <a:solidFill>
            <a:srgbClr val="2A3246"/>
          </a:solidFill>
          <a:ln>
            <a:noFill/>
          </a:ln>
          <a:effectLst>
            <a:outerShdw blurRad="254000" dist="635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2" name="等腰三角形 171"/>
          <p:cNvSpPr/>
          <p:nvPr/>
        </p:nvSpPr>
        <p:spPr>
          <a:xfrm rot="10800000">
            <a:off x="11029026" y="1399251"/>
            <a:ext cx="312742" cy="315111"/>
          </a:xfrm>
          <a:prstGeom prst="triangle">
            <a:avLst/>
          </a:prstGeom>
          <a:solidFill>
            <a:srgbClr val="2A3246"/>
          </a:solidFill>
          <a:ln>
            <a:noFill/>
          </a:ln>
          <a:effectLst>
            <a:outerShdw blurRad="254000" dist="635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5" name="直接连接符 174"/>
          <p:cNvCxnSpPr/>
          <p:nvPr/>
        </p:nvCxnSpPr>
        <p:spPr>
          <a:xfrm>
            <a:off x="-10495" y="-480552"/>
            <a:ext cx="501126" cy="932513"/>
          </a:xfrm>
          <a:prstGeom prst="line">
            <a:avLst/>
          </a:prstGeom>
          <a:ln w="19050">
            <a:solidFill>
              <a:srgbClr val="2A3246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0">
        <p15:prstTrans prst="airplane"/>
      </p:transition>
    </mc:Choice>
    <mc:Fallback xmlns="">
      <p:transition spd="slow" advClick="0" advTm="0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5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5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5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5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500" fill="hold"/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500" fill="hold"/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5" dur="5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6" dur="5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9" dur="5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0" dur="5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3" dur="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4" dur="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7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8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1" dur="5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2" dur="5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3" presetID="2" presetClass="entr" presetSubtype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5" dur="50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6" dur="50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7" presetID="2" presetClass="entr" presetSubtype="8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9" dur="500" fill="hold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0" dur="500" fill="hold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1" presetID="2" presetClass="entr" presetSubtype="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3" dur="500" fill="hold"/>
                                            <p:tgtEl>
                                              <p:spTgt spid="17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4" dur="500" fill="hold"/>
                                            <p:tgtEl>
                                              <p:spTgt spid="17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5" presetID="2" presetClass="entr" presetSubtype="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7" dur="500" fill="hold"/>
                                            <p:tgtEl>
                                              <p:spTgt spid="17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8" dur="500" fill="hold"/>
                                            <p:tgtEl>
                                              <p:spTgt spid="17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9" presetID="2" presetClass="entr" presetSubtype="9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1" dur="500" fill="hold"/>
                                            <p:tgtEl>
                                              <p:spTgt spid="17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2" dur="500" fill="hold"/>
                                            <p:tgtEl>
                                              <p:spTgt spid="17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3" presetID="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5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6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7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78" presetID="2" presetClass="entr" presetSubtype="2" fill="hold" nodeType="after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80" dur="7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1" dur="7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2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83" presetID="2" presetClass="entr" presetSubtype="2" fill="hold" nodeType="after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85" dur="750" fill="hold"/>
                                            <p:tgtEl>
                                              <p:spTgt spid="1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6" dur="750" fill="hold"/>
                                            <p:tgtEl>
                                              <p:spTgt spid="1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7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88" presetID="2" presetClass="entr" presetSubtype="2" fill="hold" nodeType="after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90" dur="750" fill="hold"/>
                                            <p:tgtEl>
                                              <p:spTgt spid="15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91" dur="750" fill="hold"/>
                                            <p:tgtEl>
                                              <p:spTgt spid="15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1" grpId="0" animBg="1"/>
          <p:bldP spid="41" grpId="0" animBg="1"/>
          <p:bldP spid="42" grpId="0" animBg="1"/>
          <p:bldP spid="43" grpId="0" animBg="1"/>
          <p:bldP spid="44" grpId="0" animBg="1"/>
          <p:bldP spid="45" grpId="0" animBg="1"/>
          <p:bldP spid="46" grpId="0" animBg="1"/>
          <p:bldP spid="47" grpId="0" animBg="1"/>
          <p:bldP spid="56" grpId="0"/>
          <p:bldP spid="171" grpId="0" animBg="1"/>
          <p:bldP spid="172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5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5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5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5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500" fill="hold"/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500" fill="hold"/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5" dur="5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6" dur="5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9" dur="5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0" dur="5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3" dur="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4" dur="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7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8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1" dur="5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2" dur="5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3" presetID="2" presetClass="entr" presetSubtype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5" dur="50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6" dur="50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7" presetID="2" presetClass="entr" presetSubtype="8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9" dur="500" fill="hold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0" dur="500" fill="hold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1" presetID="2" presetClass="entr" presetSubtype="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3" dur="500" fill="hold"/>
                                            <p:tgtEl>
                                              <p:spTgt spid="17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4" dur="500" fill="hold"/>
                                            <p:tgtEl>
                                              <p:spTgt spid="17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5" presetID="2" presetClass="entr" presetSubtype="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7" dur="500" fill="hold"/>
                                            <p:tgtEl>
                                              <p:spTgt spid="17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8" dur="500" fill="hold"/>
                                            <p:tgtEl>
                                              <p:spTgt spid="17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9" presetID="2" presetClass="entr" presetSubtype="9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1" dur="500" fill="hold"/>
                                            <p:tgtEl>
                                              <p:spTgt spid="17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2" dur="500" fill="hold"/>
                                            <p:tgtEl>
                                              <p:spTgt spid="17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3" presetID="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5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6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7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78" presetID="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0" dur="7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1" dur="7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2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83" presetID="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5" dur="750" fill="hold"/>
                                            <p:tgtEl>
                                              <p:spTgt spid="1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6" dur="750" fill="hold"/>
                                            <p:tgtEl>
                                              <p:spTgt spid="1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7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88" presetID="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0" dur="750" fill="hold"/>
                                            <p:tgtEl>
                                              <p:spTgt spid="15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1" dur="750" fill="hold"/>
                                            <p:tgtEl>
                                              <p:spTgt spid="15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2" fill="hold">
                                <p:stCondLst>
                                  <p:cond delay="3500"/>
                                </p:stCondLst>
                                <p:childTnLst>
                                  <p:par>
                                    <p:cTn id="93" presetID="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5" dur="750" fill="hold"/>
                                            <p:tgtEl>
                                              <p:spTgt spid="15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6" dur="750" fill="hold"/>
                                            <p:tgtEl>
                                              <p:spTgt spid="15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7" fill="hold">
                                <p:stCondLst>
                                  <p:cond delay="4500"/>
                                </p:stCondLst>
                                <p:childTnLst>
                                  <p:par>
                                    <p:cTn id="98" presetID="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00" dur="750" fill="hold"/>
                                            <p:tgtEl>
                                              <p:spTgt spid="16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01" dur="750" fill="hold"/>
                                            <p:tgtEl>
                                              <p:spTgt spid="16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1" grpId="0" animBg="1"/>
          <p:bldP spid="41" grpId="0" animBg="1"/>
          <p:bldP spid="42" grpId="0" animBg="1"/>
          <p:bldP spid="43" grpId="0" animBg="1"/>
          <p:bldP spid="44" grpId="0" animBg="1"/>
          <p:bldP spid="45" grpId="0" animBg="1"/>
          <p:bldP spid="46" grpId="0" animBg="1"/>
          <p:bldP spid="47" grpId="0" animBg="1"/>
          <p:bldP spid="56" grpId="0"/>
          <p:bldP spid="171" grpId="0" animBg="1"/>
          <p:bldP spid="172" grpId="0" animBg="1"/>
        </p:bldLst>
      </p:timing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6227755" y="2929505"/>
            <a:ext cx="361569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800" dirty="0">
                <a:solidFill>
                  <a:srgbClr val="2A3246"/>
                </a:solidFill>
                <a:effectLst>
                  <a:outerShdw blurRad="38100" dist="38100" dir="2700000" algn="tl">
                    <a:srgbClr val="000000">
                      <a:alpha val="20000"/>
                    </a:srgbClr>
                  </a:outerShdw>
                </a:effectLst>
                <a:latin typeface="思源黑体" panose="020B0500000000000000" pitchFamily="34" charset="-122"/>
                <a:ea typeface="思源黑体" panose="020B0500000000000000" pitchFamily="34" charset="-122"/>
              </a:rPr>
              <a:t>Introduction</a:t>
            </a:r>
          </a:p>
        </p:txBody>
      </p:sp>
      <p:sp>
        <p:nvSpPr>
          <p:cNvPr id="46" name="文本框 45"/>
          <p:cNvSpPr txBox="1"/>
          <p:nvPr/>
        </p:nvSpPr>
        <p:spPr>
          <a:xfrm>
            <a:off x="5115683" y="3809773"/>
            <a:ext cx="5839834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endParaRPr lang="zh-CN" altLang="en-US" sz="1000" dirty="0">
              <a:solidFill>
                <a:schemeClr val="bg1">
                  <a:lumMod val="65000"/>
                </a:schemeClr>
              </a:solidFill>
              <a:effectLst>
                <a:outerShdw blurRad="127000" dist="38100" dir="2700000" algn="tl">
                  <a:srgbClr val="000000">
                    <a:alpha val="20000"/>
                  </a:srgbClr>
                </a:outerShdw>
              </a:effectLst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sp>
        <p:nvSpPr>
          <p:cNvPr id="17" name="等腰三角形 16"/>
          <p:cNvSpPr/>
          <p:nvPr/>
        </p:nvSpPr>
        <p:spPr>
          <a:xfrm rot="10800000">
            <a:off x="1775848" y="2449866"/>
            <a:ext cx="2609342" cy="2431466"/>
          </a:xfrm>
          <a:prstGeom prst="triangle">
            <a:avLst/>
          </a:prstGeom>
          <a:solidFill>
            <a:srgbClr val="2A3246"/>
          </a:solidFill>
          <a:ln>
            <a:noFill/>
          </a:ln>
          <a:effectLst>
            <a:outerShdw blurRad="254000" dist="635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等腰三角形 17"/>
          <p:cNvSpPr/>
          <p:nvPr/>
        </p:nvSpPr>
        <p:spPr>
          <a:xfrm>
            <a:off x="2091766" y="3712376"/>
            <a:ext cx="1053605" cy="981782"/>
          </a:xfrm>
          <a:prstGeom prst="triangle">
            <a:avLst/>
          </a:prstGeom>
          <a:solidFill>
            <a:srgbClr val="BA8F2D"/>
          </a:solidFill>
          <a:ln>
            <a:noFill/>
          </a:ln>
          <a:effectLst>
            <a:outerShdw blurRad="254000" dist="635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9" name="直接连接符 18"/>
          <p:cNvCxnSpPr/>
          <p:nvPr/>
        </p:nvCxnSpPr>
        <p:spPr>
          <a:xfrm>
            <a:off x="1353073" y="1066800"/>
            <a:ext cx="921127" cy="1714066"/>
          </a:xfrm>
          <a:prstGeom prst="line">
            <a:avLst/>
          </a:prstGeom>
          <a:ln w="19050">
            <a:solidFill>
              <a:srgbClr val="BA8F2D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4294633" y="3761645"/>
            <a:ext cx="501126" cy="932513"/>
          </a:xfrm>
          <a:prstGeom prst="line">
            <a:avLst/>
          </a:prstGeom>
          <a:ln w="19050">
            <a:solidFill>
              <a:srgbClr val="2A3246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2558759" y="2898264"/>
            <a:ext cx="10374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6000" dirty="0">
                <a:solidFill>
                  <a:schemeClr val="bg1"/>
                </a:solidFill>
                <a:effectLst>
                  <a:outerShdw blurRad="25400" dist="25400" dir="2700000" algn="tl">
                    <a:srgbClr val="000000">
                      <a:alpha val="20000"/>
                    </a:srgbClr>
                  </a:outerShdw>
                </a:effectLst>
                <a:latin typeface="思源黑体" panose="020B0500000000000000" pitchFamily="34" charset="-122"/>
              </a:rPr>
              <a:t>01</a:t>
            </a:r>
            <a:endParaRPr lang="zh-CN" altLang="en-US" sz="6000" dirty="0">
              <a:solidFill>
                <a:schemeClr val="bg1"/>
              </a:solidFill>
              <a:effectLst>
                <a:outerShdw blurRad="25400" dist="25400" dir="2700000" algn="tl">
                  <a:srgbClr val="000000">
                    <a:alpha val="20000"/>
                  </a:srgbClr>
                </a:outerShdw>
              </a:effectLst>
              <a:latin typeface="思源黑体" panose="020B0500000000000000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2618312" y="2618826"/>
            <a:ext cx="914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dirty="0">
                <a:solidFill>
                  <a:schemeClr val="bg1"/>
                </a:solidFill>
                <a:effectLst>
                  <a:outerShdw blurRad="25400" dist="25400" dir="2700000" algn="tl">
                    <a:srgbClr val="000000">
                      <a:alpha val="20000"/>
                    </a:srgbClr>
                  </a:outerShdw>
                </a:effectLst>
                <a:latin typeface="思源黑体" panose="020B0500000000000000" pitchFamily="34" charset="-122"/>
              </a:rPr>
              <a:t>PART</a:t>
            </a:r>
            <a:endParaRPr lang="zh-CN" altLang="en-US" dirty="0">
              <a:solidFill>
                <a:schemeClr val="bg1"/>
              </a:solidFill>
              <a:effectLst>
                <a:outerShdw blurRad="25400" dist="25400" dir="2700000" algn="tl">
                  <a:srgbClr val="000000">
                    <a:alpha val="20000"/>
                  </a:srgbClr>
                </a:outerShdw>
              </a:effectLst>
              <a:latin typeface="思源黑体" panose="020B0500000000000000" pitchFamily="34" charset="-122"/>
            </a:endParaRPr>
          </a:p>
        </p:txBody>
      </p:sp>
      <p:sp>
        <p:nvSpPr>
          <p:cNvPr id="24" name="等腰三角形 23"/>
          <p:cNvSpPr/>
          <p:nvPr/>
        </p:nvSpPr>
        <p:spPr>
          <a:xfrm>
            <a:off x="3649416" y="2165938"/>
            <a:ext cx="552596" cy="514927"/>
          </a:xfrm>
          <a:prstGeom prst="triangle">
            <a:avLst/>
          </a:prstGeom>
          <a:solidFill>
            <a:srgbClr val="BA8F2D"/>
          </a:solidFill>
          <a:ln>
            <a:noFill/>
          </a:ln>
          <a:effectLst>
            <a:outerShdw blurRad="254000" dist="635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9" name="直接连接符 28"/>
          <p:cNvCxnSpPr/>
          <p:nvPr/>
        </p:nvCxnSpPr>
        <p:spPr>
          <a:xfrm>
            <a:off x="3110009" y="5844670"/>
            <a:ext cx="250563" cy="466257"/>
          </a:xfrm>
          <a:prstGeom prst="line">
            <a:avLst/>
          </a:prstGeom>
          <a:ln w="19050">
            <a:solidFill>
              <a:srgbClr val="BA8F2D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等腰三角形 29"/>
          <p:cNvSpPr/>
          <p:nvPr/>
        </p:nvSpPr>
        <p:spPr>
          <a:xfrm rot="10800000">
            <a:off x="3607662" y="4878194"/>
            <a:ext cx="308065" cy="287065"/>
          </a:xfrm>
          <a:prstGeom prst="triangle">
            <a:avLst/>
          </a:prstGeom>
          <a:solidFill>
            <a:srgbClr val="2A3246"/>
          </a:solidFill>
          <a:ln>
            <a:noFill/>
          </a:ln>
          <a:effectLst>
            <a:outerShdw blurRad="254000" dist="635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7851116" y="4646032"/>
            <a:ext cx="368968" cy="0"/>
          </a:xfrm>
          <a:prstGeom prst="line">
            <a:avLst/>
          </a:prstGeom>
          <a:ln w="38100">
            <a:solidFill>
              <a:srgbClr val="BA8F2D"/>
            </a:solidFill>
          </a:ln>
          <a:effectLst>
            <a:outerShdw blurRad="254000" dist="63500" dir="2700000" algn="tl" rotWithShape="0">
              <a:prstClr val="black">
                <a:alpha val="2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 advClick="0" advTm="0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3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1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 tmFilter="0,0; .5, 1; 1, 1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6" presetClass="entr" presetSubtype="21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46" grpId="0"/>
      <p:bldP spid="17" grpId="0" animBg="1"/>
      <p:bldP spid="18" grpId="0" animBg="1"/>
      <p:bldP spid="11" grpId="0"/>
      <p:bldP spid="21" grpId="0"/>
      <p:bldP spid="24" grpId="0" animBg="1"/>
      <p:bldP spid="3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C2AF2-BDEE-28FD-3014-982925A7E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CE5E6A8-81DE-D3CA-7D3E-E8A407AD0D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795" y="1207346"/>
            <a:ext cx="6239998" cy="4673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C2A3848-0B85-B6F7-D663-B3BF7B0B44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354" y="1294791"/>
            <a:ext cx="4744112" cy="115268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15DE84F-1E27-39F8-1A4D-6EF2657658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5648" y="2892214"/>
            <a:ext cx="4681818" cy="236754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7FC5D03-02E8-542B-2CCE-308E837213FA}"/>
              </a:ext>
            </a:extLst>
          </p:cNvPr>
          <p:cNvSpPr txBox="1"/>
          <p:nvPr/>
        </p:nvSpPr>
        <p:spPr>
          <a:xfrm>
            <a:off x="375648" y="5347765"/>
            <a:ext cx="484336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/>
              <a:t>*POPULATION FOR NEW YORK CITY AND BOROUGHS AS OF JULY 1, 2023. </a:t>
            </a:r>
            <a:endParaRPr lang="zh-CN" altLang="en-US" sz="1100" dirty="0"/>
          </a:p>
        </p:txBody>
      </p:sp>
    </p:spTree>
    <p:extLst>
      <p:ext uri="{BB962C8B-B14F-4D97-AF65-F5344CB8AC3E}">
        <p14:creationId xmlns:p14="http://schemas.microsoft.com/office/powerpoint/2010/main" val="1981353168"/>
      </p:ext>
    </p:extLst>
  </p:cSld>
  <p:clrMapOvr>
    <a:masterClrMapping/>
  </p:clrMapOvr>
  <p:transition spd="slow" advClick="0" advTm="0">
    <p:comb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/>
          <p:cNvSpPr txBox="1"/>
          <p:nvPr/>
        </p:nvSpPr>
        <p:spPr>
          <a:xfrm>
            <a:off x="6739882" y="2929505"/>
            <a:ext cx="2591435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800" dirty="0">
                <a:solidFill>
                  <a:srgbClr val="2A3246"/>
                </a:solidFill>
                <a:effectLst>
                  <a:outerShdw blurRad="38100" dist="38100" dir="2700000" algn="tl">
                    <a:srgbClr val="000000">
                      <a:alpha val="20000"/>
                    </a:srgbClr>
                  </a:outerShdw>
                </a:effectLst>
                <a:latin typeface="思源黑体" panose="020B0500000000000000" pitchFamily="34" charset="-122"/>
                <a:ea typeface="思源黑体" panose="020B0500000000000000" pitchFamily="34" charset="-122"/>
              </a:rPr>
              <a:t>Analysis</a:t>
            </a:r>
          </a:p>
        </p:txBody>
      </p:sp>
      <p:sp>
        <p:nvSpPr>
          <p:cNvPr id="18" name="等腰三角形 17"/>
          <p:cNvSpPr/>
          <p:nvPr/>
        </p:nvSpPr>
        <p:spPr>
          <a:xfrm rot="10800000">
            <a:off x="1775848" y="2449866"/>
            <a:ext cx="2609342" cy="2431466"/>
          </a:xfrm>
          <a:prstGeom prst="triangle">
            <a:avLst/>
          </a:prstGeom>
          <a:solidFill>
            <a:srgbClr val="2A3246"/>
          </a:solidFill>
          <a:ln>
            <a:noFill/>
          </a:ln>
          <a:effectLst>
            <a:outerShdw blurRad="254000" dist="635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等腰三角形 18"/>
          <p:cNvSpPr/>
          <p:nvPr/>
        </p:nvSpPr>
        <p:spPr>
          <a:xfrm>
            <a:off x="2091766" y="3712376"/>
            <a:ext cx="1053605" cy="981782"/>
          </a:xfrm>
          <a:prstGeom prst="triangle">
            <a:avLst/>
          </a:prstGeom>
          <a:solidFill>
            <a:srgbClr val="BA8F2D"/>
          </a:solidFill>
          <a:ln>
            <a:noFill/>
          </a:ln>
          <a:effectLst>
            <a:outerShdw blurRad="254000" dist="635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4" name="直接连接符 33"/>
          <p:cNvCxnSpPr/>
          <p:nvPr/>
        </p:nvCxnSpPr>
        <p:spPr>
          <a:xfrm>
            <a:off x="1353073" y="1066800"/>
            <a:ext cx="921127" cy="1714066"/>
          </a:xfrm>
          <a:prstGeom prst="line">
            <a:avLst/>
          </a:prstGeom>
          <a:ln w="19050">
            <a:solidFill>
              <a:srgbClr val="BA8F2D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4294633" y="3761645"/>
            <a:ext cx="501126" cy="932513"/>
          </a:xfrm>
          <a:prstGeom prst="line">
            <a:avLst/>
          </a:prstGeom>
          <a:ln w="19050">
            <a:solidFill>
              <a:srgbClr val="2A3246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/>
          <p:cNvSpPr txBox="1"/>
          <p:nvPr/>
        </p:nvSpPr>
        <p:spPr>
          <a:xfrm>
            <a:off x="2558759" y="2898264"/>
            <a:ext cx="10374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6000" dirty="0">
                <a:solidFill>
                  <a:schemeClr val="bg1"/>
                </a:solidFill>
                <a:effectLst>
                  <a:outerShdw blurRad="25400" dist="25400" dir="2700000" algn="tl">
                    <a:srgbClr val="000000">
                      <a:alpha val="20000"/>
                    </a:srgbClr>
                  </a:outerShdw>
                </a:effectLst>
                <a:latin typeface="思源黑体" panose="020B0500000000000000" pitchFamily="34" charset="-122"/>
              </a:rPr>
              <a:t>02</a:t>
            </a:r>
            <a:endParaRPr lang="zh-CN" altLang="en-US" sz="6000" dirty="0">
              <a:solidFill>
                <a:schemeClr val="bg1"/>
              </a:solidFill>
              <a:effectLst>
                <a:outerShdw blurRad="25400" dist="25400" dir="2700000" algn="tl">
                  <a:srgbClr val="000000">
                    <a:alpha val="20000"/>
                  </a:srgbClr>
                </a:outerShdw>
              </a:effectLst>
              <a:latin typeface="思源黑体" panose="020B0500000000000000" pitchFamily="34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2618312" y="2618826"/>
            <a:ext cx="914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dirty="0">
                <a:solidFill>
                  <a:schemeClr val="bg1"/>
                </a:solidFill>
                <a:effectLst>
                  <a:outerShdw blurRad="25400" dist="25400" dir="2700000" algn="tl">
                    <a:srgbClr val="000000">
                      <a:alpha val="20000"/>
                    </a:srgbClr>
                  </a:outerShdw>
                </a:effectLst>
                <a:latin typeface="思源黑体" panose="020B0500000000000000" pitchFamily="34" charset="-122"/>
              </a:rPr>
              <a:t>PART</a:t>
            </a:r>
            <a:endParaRPr lang="zh-CN" altLang="en-US" dirty="0">
              <a:solidFill>
                <a:schemeClr val="bg1"/>
              </a:solidFill>
              <a:effectLst>
                <a:outerShdw blurRad="25400" dist="25400" dir="2700000" algn="tl">
                  <a:srgbClr val="000000">
                    <a:alpha val="20000"/>
                  </a:srgbClr>
                </a:outerShdw>
              </a:effectLst>
              <a:latin typeface="思源黑体" panose="020B0500000000000000" pitchFamily="34" charset="-122"/>
            </a:endParaRPr>
          </a:p>
        </p:txBody>
      </p:sp>
      <p:sp>
        <p:nvSpPr>
          <p:cNvPr id="38" name="等腰三角形 37"/>
          <p:cNvSpPr/>
          <p:nvPr/>
        </p:nvSpPr>
        <p:spPr>
          <a:xfrm>
            <a:off x="3649416" y="2165938"/>
            <a:ext cx="552596" cy="514927"/>
          </a:xfrm>
          <a:prstGeom prst="triangle">
            <a:avLst/>
          </a:prstGeom>
          <a:solidFill>
            <a:srgbClr val="BA8F2D"/>
          </a:solidFill>
          <a:ln>
            <a:noFill/>
          </a:ln>
          <a:effectLst>
            <a:outerShdw blurRad="254000" dist="635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9" name="直接连接符 38"/>
          <p:cNvCxnSpPr/>
          <p:nvPr/>
        </p:nvCxnSpPr>
        <p:spPr>
          <a:xfrm>
            <a:off x="3110009" y="5844670"/>
            <a:ext cx="250563" cy="466257"/>
          </a:xfrm>
          <a:prstGeom prst="line">
            <a:avLst/>
          </a:prstGeom>
          <a:ln w="19050">
            <a:solidFill>
              <a:srgbClr val="BA8F2D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等腰三角形 39"/>
          <p:cNvSpPr/>
          <p:nvPr/>
        </p:nvSpPr>
        <p:spPr>
          <a:xfrm rot="10800000">
            <a:off x="3607662" y="4878194"/>
            <a:ext cx="308065" cy="287065"/>
          </a:xfrm>
          <a:prstGeom prst="triangle">
            <a:avLst/>
          </a:prstGeom>
          <a:solidFill>
            <a:srgbClr val="2A3246"/>
          </a:solidFill>
          <a:ln>
            <a:noFill/>
          </a:ln>
          <a:effectLst>
            <a:outerShdw blurRad="254000" dist="635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1" name="直接连接符 40"/>
          <p:cNvCxnSpPr/>
          <p:nvPr/>
        </p:nvCxnSpPr>
        <p:spPr>
          <a:xfrm>
            <a:off x="7851116" y="4646032"/>
            <a:ext cx="368968" cy="0"/>
          </a:xfrm>
          <a:prstGeom prst="line">
            <a:avLst/>
          </a:prstGeom>
          <a:ln w="38100">
            <a:solidFill>
              <a:srgbClr val="BA8F2D"/>
            </a:solidFill>
          </a:ln>
          <a:effectLst>
            <a:outerShdw blurRad="254000" dist="63500" dir="2700000" algn="tl" rotWithShape="0">
              <a:prstClr val="black">
                <a:alpha val="2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 advClick="0" advTm="0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3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1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 tmFilter="0,0; .5, 1; 1, 1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6" presetClass="entr" presetSubtype="21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 animBg="1"/>
      <p:bldP spid="19" grpId="0" animBg="1"/>
      <p:bldP spid="36" grpId="0"/>
      <p:bldP spid="37" grpId="0"/>
      <p:bldP spid="38" grpId="0" animBg="1"/>
      <p:bldP spid="4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" name="组合 265"/>
          <p:cNvGrpSpPr/>
          <p:nvPr/>
        </p:nvGrpSpPr>
        <p:grpSpPr>
          <a:xfrm>
            <a:off x="865708" y="1103111"/>
            <a:ext cx="10860405" cy="1319238"/>
            <a:chOff x="5875749" y="1414866"/>
            <a:chExt cx="10861820" cy="1319406"/>
          </a:xfrm>
        </p:grpSpPr>
        <p:sp>
          <p:nvSpPr>
            <p:cNvPr id="267" name="TextBox 11"/>
            <p:cNvSpPr txBox="1"/>
            <p:nvPr/>
          </p:nvSpPr>
          <p:spPr>
            <a:xfrm>
              <a:off x="6736921" y="2520885"/>
              <a:ext cx="3439409" cy="2133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>
                <a:lnSpc>
                  <a:spcPct val="130000"/>
                </a:lnSpc>
              </a:pPr>
              <a:endParaRPr lang="en-US" altLang="zh-CN" sz="1065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  <p:sp>
          <p:nvSpPr>
            <p:cNvPr id="268" name="TextBox 11"/>
            <p:cNvSpPr txBox="1"/>
            <p:nvPr/>
          </p:nvSpPr>
          <p:spPr>
            <a:xfrm>
              <a:off x="5875749" y="1414866"/>
              <a:ext cx="10861820" cy="61539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defTabSz="457200">
                <a:buClr>
                  <a:srgbClr val="151314"/>
                </a:buClr>
                <a:buSzPct val="25000"/>
              </a:pPr>
              <a:r>
                <a:rPr lang="zh-CN" altLang="en-US" sz="2000" b="1" kern="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思源黑体" panose="020B0500000000000000" pitchFamily="34" charset="-122"/>
                  <a:cs typeface="+mn-ea"/>
                  <a:sym typeface="+mn-lt"/>
                </a:rPr>
                <a:t>Which borough in New York City has the highest number of arrests, and what are the most common offense types in those areas?</a:t>
              </a:r>
            </a:p>
          </p:txBody>
        </p:sp>
      </p:grpSp>
      <p:sp>
        <p:nvSpPr>
          <p:cNvPr id="61" name="矩形 60"/>
          <p:cNvSpPr/>
          <p:nvPr userDrawn="1"/>
        </p:nvSpPr>
        <p:spPr>
          <a:xfrm>
            <a:off x="865505" y="219710"/>
            <a:ext cx="5482590" cy="607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800" dirty="0">
                <a:solidFill>
                  <a:srgbClr val="2A3246"/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+mn-lt"/>
              </a:rPr>
              <a:t>Research Question 1</a:t>
            </a:r>
          </a:p>
        </p:txBody>
      </p:sp>
      <p:sp>
        <p:nvSpPr>
          <p:cNvPr id="23" name="Oval 29"/>
          <p:cNvSpPr/>
          <p:nvPr/>
        </p:nvSpPr>
        <p:spPr>
          <a:xfrm>
            <a:off x="1973580" y="2141855"/>
            <a:ext cx="1161415" cy="998220"/>
          </a:xfrm>
          <a:prstGeom prst="ellipse">
            <a:avLst/>
          </a:prstGeom>
          <a:solidFill>
            <a:srgbClr val="2A3246"/>
          </a:solidFill>
          <a:ln>
            <a:noFill/>
          </a:ln>
          <a:effectLst>
            <a:outerShdw blurRad="254000" dist="635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ct val="130000"/>
              </a:lnSpc>
            </a:pPr>
            <a:r>
              <a:rPr lang="id-ID" dirty="0"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+mn-lt"/>
              </a:rPr>
              <a:t>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24225" y="1993900"/>
            <a:ext cx="8286750" cy="1170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+mn-lt"/>
              </a:rPr>
              <a:t>Purpose</a:t>
            </a:r>
          </a:p>
          <a:p>
            <a:pPr>
              <a:lnSpc>
                <a:spcPct val="130000"/>
              </a:lnSpc>
            </a:pP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+mn-lt"/>
              </a:rPr>
              <a:t>Identify NYC crime hotspots and top offense types to improve police deployment and safety strategies.</a:t>
            </a:r>
          </a:p>
        </p:txBody>
      </p:sp>
      <p:sp>
        <p:nvSpPr>
          <p:cNvPr id="25" name="Oval 31"/>
          <p:cNvSpPr/>
          <p:nvPr/>
        </p:nvSpPr>
        <p:spPr>
          <a:xfrm>
            <a:off x="1973580" y="3898900"/>
            <a:ext cx="1161415" cy="997585"/>
          </a:xfrm>
          <a:prstGeom prst="ellipse">
            <a:avLst/>
          </a:prstGeom>
          <a:solidFill>
            <a:srgbClr val="BA8F2D"/>
          </a:solidFill>
          <a:ln>
            <a:noFill/>
          </a:ln>
          <a:effectLst>
            <a:outerShdw blurRad="254000" dist="635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ct val="130000"/>
              </a:lnSpc>
            </a:pPr>
            <a:r>
              <a:rPr lang="id-ID" dirty="0"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+mn-lt"/>
              </a:rPr>
              <a:t>02</a:t>
            </a:r>
          </a:p>
        </p:txBody>
      </p:sp>
      <p:sp>
        <p:nvSpPr>
          <p:cNvPr id="3" name="TextBox 23"/>
          <p:cNvSpPr txBox="1"/>
          <p:nvPr/>
        </p:nvSpPr>
        <p:spPr>
          <a:xfrm>
            <a:off x="3324225" y="3355340"/>
            <a:ext cx="8123555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00000"/>
              </a:lnSpc>
            </a:pP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+mn-lt"/>
              </a:rPr>
              <a:t>Method</a:t>
            </a:r>
          </a:p>
          <a:p>
            <a:pPr fontAlgn="auto">
              <a:lnSpc>
                <a:spcPct val="100000"/>
              </a:lnSpc>
            </a:pP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  <a:latin typeface="思源黑体" panose="020B0500000000000000" pitchFamily="34" charset="-122"/>
              <a:ea typeface="思源黑体" panose="020B0500000000000000" pitchFamily="34" charset="-122"/>
              <a:cs typeface="+mn-ea"/>
              <a:sym typeface="+mn-lt"/>
            </a:endParaRPr>
          </a:p>
          <a:p>
            <a:pPr fontAlgn="auto">
              <a:lnSpc>
                <a:spcPct val="100000"/>
              </a:lnSpc>
            </a:pP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+mn-lt"/>
              </a:rPr>
              <a:t>Data: NYPD Arrest Data (2023)</a:t>
            </a:r>
          </a:p>
          <a:p>
            <a:pPr fontAlgn="auto">
              <a:lnSpc>
                <a:spcPct val="100000"/>
              </a:lnSpc>
            </a:pP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  <a:latin typeface="思源黑体" panose="020B0500000000000000" pitchFamily="34" charset="-122"/>
              <a:ea typeface="思源黑体" panose="020B0500000000000000" pitchFamily="34" charset="-122"/>
              <a:cs typeface="+mn-ea"/>
              <a:sym typeface="+mn-lt"/>
            </a:endParaRPr>
          </a:p>
          <a:p>
            <a:pPr fontAlgn="auto">
              <a:lnSpc>
                <a:spcPct val="100000"/>
              </a:lnSpc>
            </a:pP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+mn-lt"/>
              </a:rPr>
              <a:t>Key variables: ARREST_BORO (borough), OFNS_DESC (offense type)</a:t>
            </a:r>
          </a:p>
          <a:p>
            <a:pPr fontAlgn="auto">
              <a:lnSpc>
                <a:spcPct val="100000"/>
              </a:lnSpc>
            </a:pP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  <a:latin typeface="思源黑体" panose="020B0500000000000000" pitchFamily="34" charset="-122"/>
              <a:ea typeface="思源黑体" panose="020B0500000000000000" pitchFamily="34" charset="-122"/>
              <a:cs typeface="+mn-ea"/>
              <a:sym typeface="+mn-lt"/>
            </a:endParaRPr>
          </a:p>
          <a:p>
            <a:pPr fontAlgn="auto">
              <a:lnSpc>
                <a:spcPct val="100000"/>
              </a:lnSpc>
            </a:pP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+mn-lt"/>
              </a:rPr>
              <a:t>Tools: Tableau dashboard combining</a:t>
            </a:r>
          </a:p>
          <a:p>
            <a:pPr fontAlgn="auto">
              <a:lnSpc>
                <a:spcPct val="100000"/>
              </a:lnSpc>
            </a:pP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  <a:latin typeface="思源黑体" panose="020B0500000000000000" pitchFamily="34" charset="-122"/>
              <a:ea typeface="思源黑体" panose="020B0500000000000000" pitchFamily="34" charset="-122"/>
              <a:cs typeface="+mn-ea"/>
              <a:sym typeface="+mn-lt"/>
            </a:endParaRPr>
          </a:p>
          <a:p>
            <a:pPr fontAlgn="auto">
              <a:lnSpc>
                <a:spcPct val="100000"/>
              </a:lnSpc>
            </a:pP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+mn-lt"/>
              </a:rPr>
              <a:t>Bubble map – arrest count (size), borough (color)</a:t>
            </a:r>
          </a:p>
          <a:p>
            <a:pPr fontAlgn="auto">
              <a:lnSpc>
                <a:spcPct val="100000"/>
              </a:lnSpc>
            </a:pP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  <a:latin typeface="思源黑体" panose="020B0500000000000000" pitchFamily="34" charset="-122"/>
              <a:ea typeface="思源黑体" panose="020B0500000000000000" pitchFamily="34" charset="-122"/>
              <a:cs typeface="+mn-ea"/>
              <a:sym typeface="+mn-lt"/>
            </a:endParaRPr>
          </a:p>
          <a:p>
            <a:pPr fontAlgn="auto">
              <a:lnSpc>
                <a:spcPct val="100000"/>
              </a:lnSpc>
            </a:pP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+mn-lt"/>
              </a:rPr>
              <a:t>Stacked bar chart – top 3 offenses per borough</a:t>
            </a:r>
          </a:p>
        </p:txBody>
      </p:sp>
    </p:spTree>
  </p:cSld>
  <p:clrMapOvr>
    <a:masterClrMapping/>
  </p:clrMapOvr>
  <p:transition spd="slow" advClick="0" advTm="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ldLvl="0" animBg="1"/>
      <p:bldP spid="24" grpId="0"/>
      <p:bldP spid="25" grpId="0" bldLvl="0" animBg="1"/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>
            <a:off x="7245986" y="794385"/>
            <a:ext cx="4546599" cy="4551681"/>
            <a:chOff x="1337246" y="1850526"/>
            <a:chExt cx="6792467" cy="1851360"/>
          </a:xfrm>
        </p:grpSpPr>
        <p:grpSp>
          <p:nvGrpSpPr>
            <p:cNvPr id="19" name="Group 332"/>
            <p:cNvGrpSpPr>
              <a:grpSpLocks noChangeAspect="1"/>
            </p:cNvGrpSpPr>
            <p:nvPr/>
          </p:nvGrpSpPr>
          <p:grpSpPr>
            <a:xfrm>
              <a:off x="1337246" y="2161564"/>
              <a:ext cx="1184887" cy="321301"/>
              <a:chOff x="4630262" y="2789652"/>
              <a:chExt cx="632984" cy="171644"/>
            </a:xfrm>
          </p:grpSpPr>
          <p:sp>
            <p:nvSpPr>
              <p:cNvPr id="22" name="Oval 59"/>
              <p:cNvSpPr/>
              <p:nvPr/>
            </p:nvSpPr>
            <p:spPr>
              <a:xfrm>
                <a:off x="4630262" y="2789652"/>
                <a:ext cx="632984" cy="171644"/>
              </a:xfrm>
              <a:prstGeom prst="ellipse">
                <a:avLst/>
              </a:prstGeom>
              <a:solidFill>
                <a:srgbClr val="2A3246"/>
              </a:solidFill>
              <a:ln>
                <a:noFill/>
              </a:ln>
              <a:effectLst>
                <a:outerShdw blurRad="254000" dist="63500" dir="2700000" algn="tl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30000"/>
                  </a:lnSpc>
                </a:pPr>
                <a:endParaRPr lang="en-US" sz="1400" dirty="0">
                  <a:solidFill>
                    <a:prstClr val="white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23" name="Freeform 26"/>
              <p:cNvSpPr/>
              <p:nvPr/>
            </p:nvSpPr>
            <p:spPr bwMode="auto">
              <a:xfrm>
                <a:off x="4835513" y="2809382"/>
                <a:ext cx="182445" cy="132183"/>
              </a:xfrm>
              <a:custGeom>
                <a:avLst/>
                <a:gdLst>
                  <a:gd name="T0" fmla="*/ 103 w 274"/>
                  <a:gd name="T1" fmla="*/ 284 h 284"/>
                  <a:gd name="T2" fmla="*/ 80 w 274"/>
                  <a:gd name="T3" fmla="*/ 273 h 284"/>
                  <a:gd name="T4" fmla="*/ 9 w 274"/>
                  <a:gd name="T5" fmla="*/ 178 h 284"/>
                  <a:gd name="T6" fmla="*/ 14 w 274"/>
                  <a:gd name="T7" fmla="*/ 139 h 284"/>
                  <a:gd name="T8" fmla="*/ 53 w 274"/>
                  <a:gd name="T9" fmla="*/ 145 h 284"/>
                  <a:gd name="T10" fmla="*/ 100 w 274"/>
                  <a:gd name="T11" fmla="*/ 207 h 284"/>
                  <a:gd name="T12" fmla="*/ 219 w 274"/>
                  <a:gd name="T13" fmla="*/ 17 h 284"/>
                  <a:gd name="T14" fmla="*/ 257 w 274"/>
                  <a:gd name="T15" fmla="*/ 8 h 284"/>
                  <a:gd name="T16" fmla="*/ 266 w 274"/>
                  <a:gd name="T17" fmla="*/ 47 h 284"/>
                  <a:gd name="T18" fmla="*/ 126 w 274"/>
                  <a:gd name="T19" fmla="*/ 271 h 284"/>
                  <a:gd name="T20" fmla="*/ 104 w 274"/>
                  <a:gd name="T21" fmla="*/ 284 h 284"/>
                  <a:gd name="T22" fmla="*/ 103 w 274"/>
                  <a:gd name="T23" fmla="*/ 284 h 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74" h="284">
                    <a:moveTo>
                      <a:pt x="103" y="284"/>
                    </a:moveTo>
                    <a:cubicBezTo>
                      <a:pt x="94" y="284"/>
                      <a:pt x="86" y="280"/>
                      <a:pt x="80" y="273"/>
                    </a:cubicBezTo>
                    <a:cubicBezTo>
                      <a:pt x="9" y="178"/>
                      <a:pt x="9" y="178"/>
                      <a:pt x="9" y="178"/>
                    </a:cubicBezTo>
                    <a:cubicBezTo>
                      <a:pt x="0" y="166"/>
                      <a:pt x="2" y="149"/>
                      <a:pt x="14" y="139"/>
                    </a:cubicBezTo>
                    <a:cubicBezTo>
                      <a:pt x="27" y="130"/>
                      <a:pt x="44" y="133"/>
                      <a:pt x="53" y="145"/>
                    </a:cubicBezTo>
                    <a:cubicBezTo>
                      <a:pt x="100" y="207"/>
                      <a:pt x="100" y="207"/>
                      <a:pt x="100" y="207"/>
                    </a:cubicBezTo>
                    <a:cubicBezTo>
                      <a:pt x="219" y="17"/>
                      <a:pt x="219" y="17"/>
                      <a:pt x="219" y="17"/>
                    </a:cubicBezTo>
                    <a:cubicBezTo>
                      <a:pt x="227" y="4"/>
                      <a:pt x="244" y="0"/>
                      <a:pt x="257" y="8"/>
                    </a:cubicBezTo>
                    <a:cubicBezTo>
                      <a:pt x="270" y="16"/>
                      <a:pt x="274" y="33"/>
                      <a:pt x="266" y="47"/>
                    </a:cubicBezTo>
                    <a:cubicBezTo>
                      <a:pt x="126" y="271"/>
                      <a:pt x="126" y="271"/>
                      <a:pt x="126" y="271"/>
                    </a:cubicBezTo>
                    <a:cubicBezTo>
                      <a:pt x="121" y="279"/>
                      <a:pt x="113" y="283"/>
                      <a:pt x="104" y="284"/>
                    </a:cubicBezTo>
                    <a:cubicBezTo>
                      <a:pt x="104" y="284"/>
                      <a:pt x="103" y="284"/>
                      <a:pt x="103" y="284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lnSpc>
                    <a:spcPct val="130000"/>
                  </a:lnSpc>
                </a:pPr>
                <a:endParaRPr lang="en-US" sz="1400" dirty="0">
                  <a:solidFill>
                    <a:prstClr val="black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cs typeface="+mn-ea"/>
                  <a:sym typeface="+mn-lt"/>
                </a:endParaRPr>
              </a:p>
            </p:txBody>
          </p:sp>
        </p:grpSp>
        <p:sp>
          <p:nvSpPr>
            <p:cNvPr id="20" name="TextBox 19"/>
            <p:cNvSpPr txBox="1"/>
            <p:nvPr/>
          </p:nvSpPr>
          <p:spPr>
            <a:xfrm>
              <a:off x="2520234" y="2070582"/>
              <a:ext cx="5609479" cy="16313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endPara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+mn-lt"/>
              </a:endParaRPr>
            </a:p>
            <a:p>
              <a:pPr>
                <a:lnSpc>
                  <a:spcPct val="130000"/>
                </a:lnSpc>
              </a:pPr>
              <a:r>
                <a:rPr lang="zh-CN" alt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cs typeface="+mn-ea"/>
                  <a:sym typeface="+mn-lt"/>
                </a:rPr>
                <a:t>Brooklyn (46,825 arrests) had the highest arrest count, followed by Bronx (39,957) and Manhattan (39,652)</a:t>
              </a:r>
            </a:p>
            <a:p>
              <a:pPr>
                <a:lnSpc>
                  <a:spcPct val="130000"/>
                </a:lnSpc>
              </a:pPr>
              <a:endPara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+mn-lt"/>
              </a:endParaRPr>
            </a:p>
            <a:p>
              <a:pPr>
                <a:lnSpc>
                  <a:spcPct val="130000"/>
                </a:lnSpc>
              </a:pPr>
              <a:r>
                <a:rPr lang="zh-CN" alt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cs typeface="+mn-ea"/>
                  <a:sym typeface="+mn-lt"/>
                </a:rPr>
                <a:t>Across most boroughs, top 3 offenses: Assault 3 &amp; Related, Felony Assault, Petit Larceny</a:t>
              </a:r>
            </a:p>
            <a:p>
              <a:pPr>
                <a:lnSpc>
                  <a:spcPct val="130000"/>
                </a:lnSpc>
              </a:pPr>
              <a:r>
                <a:rPr lang="zh-CN" alt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cs typeface="+mn-ea"/>
                  <a:sym typeface="+mn-lt"/>
                </a:rPr>
                <a:t>Violent crimes more concentrated in Brooklyn and Bronx</a:t>
              </a:r>
            </a:p>
            <a:p>
              <a:pPr>
                <a:lnSpc>
                  <a:spcPct val="130000"/>
                </a:lnSpc>
              </a:pPr>
              <a:endPara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+mn-lt"/>
              </a:endParaRPr>
            </a:p>
            <a:p>
              <a:pPr algn="l">
                <a:lnSpc>
                  <a:spcPct val="130000"/>
                </a:lnSpc>
                <a:buClrTx/>
                <a:buSzTx/>
                <a:buFontTx/>
              </a:pPr>
              <a:endPara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748466" y="1850526"/>
              <a:ext cx="3035275" cy="220056"/>
            </a:xfrm>
            <a:prstGeom prst="rect">
              <a:avLst/>
            </a:prstGeom>
            <a:noFill/>
          </p:spPr>
          <p:txBody>
            <a:bodyPr wrap="square" lIns="182843" tIns="91422" rIns="182843" bIns="91422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cs typeface="+mn-ea"/>
                  <a:sym typeface="+mn-lt"/>
                </a:rPr>
                <a:t>Findings</a:t>
              </a:r>
            </a:p>
          </p:txBody>
        </p:sp>
      </p:grpSp>
      <p:sp>
        <p:nvSpPr>
          <p:cNvPr id="37" name="矩形 36"/>
          <p:cNvSpPr/>
          <p:nvPr userDrawn="1"/>
        </p:nvSpPr>
        <p:spPr>
          <a:xfrm>
            <a:off x="1033145" y="334645"/>
            <a:ext cx="4453890" cy="607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2800" dirty="0">
                <a:solidFill>
                  <a:srgbClr val="2A3246"/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+mn-lt"/>
              </a:rPr>
              <a:t>Dashboard </a:t>
            </a:r>
          </a:p>
        </p:txBody>
      </p:sp>
      <p:pic>
        <p:nvPicPr>
          <p:cNvPr id="2" name="Picture 1" descr="Dashboard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005" y="984250"/>
            <a:ext cx="7078980" cy="5398135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333375" y="6393180"/>
            <a:ext cx="69126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i="1"/>
              <a:t>Figure 1 :Dashboard showing NYC arrest counts and top 3 offense types by borough (2023).</a:t>
            </a:r>
          </a:p>
          <a:p>
            <a:r>
              <a:rPr lang="en-US" sz="1000" i="1"/>
              <a:t>Note. Bubble size represents total arrest count; colors represent borough. Data source: NYPD Arrest Data (2023).</a:t>
            </a:r>
          </a:p>
        </p:txBody>
      </p:sp>
    </p:spTree>
  </p:cSld>
  <p:clrMapOvr>
    <a:masterClrMapping/>
  </p:clrMapOvr>
  <p:transition spd="slow" advClick="0" advTm="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>
            <a:off x="7245986" y="794385"/>
            <a:ext cx="4546599" cy="4279265"/>
            <a:chOff x="1337246" y="1850526"/>
            <a:chExt cx="6792467" cy="1740557"/>
          </a:xfrm>
        </p:grpSpPr>
        <p:grpSp>
          <p:nvGrpSpPr>
            <p:cNvPr id="19" name="Group 332"/>
            <p:cNvGrpSpPr>
              <a:grpSpLocks noChangeAspect="1"/>
            </p:cNvGrpSpPr>
            <p:nvPr/>
          </p:nvGrpSpPr>
          <p:grpSpPr>
            <a:xfrm>
              <a:off x="1337246" y="2161564"/>
              <a:ext cx="1184887" cy="321301"/>
              <a:chOff x="4630262" y="2789652"/>
              <a:chExt cx="632984" cy="171644"/>
            </a:xfrm>
          </p:grpSpPr>
          <p:sp>
            <p:nvSpPr>
              <p:cNvPr id="22" name="Oval 59"/>
              <p:cNvSpPr/>
              <p:nvPr/>
            </p:nvSpPr>
            <p:spPr>
              <a:xfrm>
                <a:off x="4630262" y="2789652"/>
                <a:ext cx="632984" cy="171644"/>
              </a:xfrm>
              <a:prstGeom prst="ellipse">
                <a:avLst/>
              </a:prstGeom>
              <a:solidFill>
                <a:srgbClr val="2A3246"/>
              </a:solidFill>
              <a:ln>
                <a:noFill/>
              </a:ln>
              <a:effectLst>
                <a:outerShdw blurRad="254000" dist="63500" dir="2700000" algn="tl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30000"/>
                  </a:lnSpc>
                </a:pPr>
                <a:endParaRPr lang="en-US" sz="1400" dirty="0">
                  <a:solidFill>
                    <a:prstClr val="white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23" name="Freeform 26"/>
              <p:cNvSpPr/>
              <p:nvPr/>
            </p:nvSpPr>
            <p:spPr bwMode="auto">
              <a:xfrm>
                <a:off x="4835513" y="2809382"/>
                <a:ext cx="182445" cy="132183"/>
              </a:xfrm>
              <a:custGeom>
                <a:avLst/>
                <a:gdLst>
                  <a:gd name="T0" fmla="*/ 103 w 274"/>
                  <a:gd name="T1" fmla="*/ 284 h 284"/>
                  <a:gd name="T2" fmla="*/ 80 w 274"/>
                  <a:gd name="T3" fmla="*/ 273 h 284"/>
                  <a:gd name="T4" fmla="*/ 9 w 274"/>
                  <a:gd name="T5" fmla="*/ 178 h 284"/>
                  <a:gd name="T6" fmla="*/ 14 w 274"/>
                  <a:gd name="T7" fmla="*/ 139 h 284"/>
                  <a:gd name="T8" fmla="*/ 53 w 274"/>
                  <a:gd name="T9" fmla="*/ 145 h 284"/>
                  <a:gd name="T10" fmla="*/ 100 w 274"/>
                  <a:gd name="T11" fmla="*/ 207 h 284"/>
                  <a:gd name="T12" fmla="*/ 219 w 274"/>
                  <a:gd name="T13" fmla="*/ 17 h 284"/>
                  <a:gd name="T14" fmla="*/ 257 w 274"/>
                  <a:gd name="T15" fmla="*/ 8 h 284"/>
                  <a:gd name="T16" fmla="*/ 266 w 274"/>
                  <a:gd name="T17" fmla="*/ 47 h 284"/>
                  <a:gd name="T18" fmla="*/ 126 w 274"/>
                  <a:gd name="T19" fmla="*/ 271 h 284"/>
                  <a:gd name="T20" fmla="*/ 104 w 274"/>
                  <a:gd name="T21" fmla="*/ 284 h 284"/>
                  <a:gd name="T22" fmla="*/ 103 w 274"/>
                  <a:gd name="T23" fmla="*/ 284 h 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74" h="284">
                    <a:moveTo>
                      <a:pt x="103" y="284"/>
                    </a:moveTo>
                    <a:cubicBezTo>
                      <a:pt x="94" y="284"/>
                      <a:pt x="86" y="280"/>
                      <a:pt x="80" y="273"/>
                    </a:cubicBezTo>
                    <a:cubicBezTo>
                      <a:pt x="9" y="178"/>
                      <a:pt x="9" y="178"/>
                      <a:pt x="9" y="178"/>
                    </a:cubicBezTo>
                    <a:cubicBezTo>
                      <a:pt x="0" y="166"/>
                      <a:pt x="2" y="149"/>
                      <a:pt x="14" y="139"/>
                    </a:cubicBezTo>
                    <a:cubicBezTo>
                      <a:pt x="27" y="130"/>
                      <a:pt x="44" y="133"/>
                      <a:pt x="53" y="145"/>
                    </a:cubicBezTo>
                    <a:cubicBezTo>
                      <a:pt x="100" y="207"/>
                      <a:pt x="100" y="207"/>
                      <a:pt x="100" y="207"/>
                    </a:cubicBezTo>
                    <a:cubicBezTo>
                      <a:pt x="219" y="17"/>
                      <a:pt x="219" y="17"/>
                      <a:pt x="219" y="17"/>
                    </a:cubicBezTo>
                    <a:cubicBezTo>
                      <a:pt x="227" y="4"/>
                      <a:pt x="244" y="0"/>
                      <a:pt x="257" y="8"/>
                    </a:cubicBezTo>
                    <a:cubicBezTo>
                      <a:pt x="270" y="16"/>
                      <a:pt x="274" y="33"/>
                      <a:pt x="266" y="47"/>
                    </a:cubicBezTo>
                    <a:cubicBezTo>
                      <a:pt x="126" y="271"/>
                      <a:pt x="126" y="271"/>
                      <a:pt x="126" y="271"/>
                    </a:cubicBezTo>
                    <a:cubicBezTo>
                      <a:pt x="121" y="279"/>
                      <a:pt x="113" y="283"/>
                      <a:pt x="104" y="284"/>
                    </a:cubicBezTo>
                    <a:cubicBezTo>
                      <a:pt x="104" y="284"/>
                      <a:pt x="103" y="284"/>
                      <a:pt x="103" y="284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lnSpc>
                    <a:spcPct val="130000"/>
                  </a:lnSpc>
                </a:pPr>
                <a:endParaRPr lang="en-US" sz="1400" dirty="0">
                  <a:solidFill>
                    <a:prstClr val="black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cs typeface="+mn-ea"/>
                  <a:sym typeface="+mn-lt"/>
                </a:endParaRPr>
              </a:p>
            </p:txBody>
          </p:sp>
        </p:grpSp>
        <p:sp>
          <p:nvSpPr>
            <p:cNvPr id="20" name="TextBox 19"/>
            <p:cNvSpPr txBox="1"/>
            <p:nvPr/>
          </p:nvSpPr>
          <p:spPr>
            <a:xfrm>
              <a:off x="2520234" y="2070582"/>
              <a:ext cx="5609479" cy="15205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lnSpc>
                  <a:spcPct val="100000"/>
                </a:lnSpc>
              </a:pPr>
              <a:endPara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+mn-lt"/>
              </a:endParaRPr>
            </a:p>
            <a:p>
              <a:pPr fontAlgn="auto">
                <a:lnSpc>
                  <a:spcPct val="100000"/>
                </a:lnSpc>
              </a:pPr>
              <a:r>
                <a:rPr lang="zh-CN" alt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cs typeface="+mn-ea"/>
                  <a:sym typeface="+mn-lt"/>
                </a:rPr>
                <a:t>Brooklyn is the main crime hotspot in NYC</a:t>
              </a:r>
            </a:p>
            <a:p>
              <a:pPr fontAlgn="auto">
                <a:lnSpc>
                  <a:spcPct val="100000"/>
                </a:lnSpc>
              </a:pPr>
              <a:endPara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+mn-lt"/>
              </a:endParaRPr>
            </a:p>
            <a:p>
              <a:pPr fontAlgn="auto">
                <a:lnSpc>
                  <a:spcPct val="100000"/>
                </a:lnSpc>
              </a:pPr>
              <a:r>
                <a:rPr lang="zh-CN" alt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cs typeface="+mn-ea"/>
                  <a:sym typeface="+mn-lt"/>
                </a:rPr>
                <a:t>High prevalence of violent and property crimes suggests the need for:</a:t>
              </a:r>
            </a:p>
            <a:p>
              <a:pPr fontAlgn="auto">
                <a:lnSpc>
                  <a:spcPct val="100000"/>
                </a:lnSpc>
              </a:pPr>
              <a:endPara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+mn-lt"/>
              </a:endParaRPr>
            </a:p>
            <a:p>
              <a:pPr fontAlgn="auto">
                <a:lnSpc>
                  <a:spcPct val="100000"/>
                </a:lnSpc>
              </a:pPr>
              <a:r>
                <a:rPr lang="zh-CN" alt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cs typeface="+mn-ea"/>
                  <a:sym typeface="+mn-lt"/>
                </a:rPr>
                <a:t>Increased police patrol presence</a:t>
              </a:r>
            </a:p>
            <a:p>
              <a:pPr fontAlgn="auto">
                <a:lnSpc>
                  <a:spcPct val="100000"/>
                </a:lnSpc>
              </a:pPr>
              <a:endPara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+mn-lt"/>
              </a:endParaRPr>
            </a:p>
            <a:p>
              <a:pPr fontAlgn="auto">
                <a:lnSpc>
                  <a:spcPct val="100000"/>
                </a:lnSpc>
              </a:pPr>
              <a:r>
                <a:rPr lang="zh-CN" alt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cs typeface="+mn-ea"/>
                  <a:sym typeface="+mn-lt"/>
                </a:rPr>
                <a:t>Expanded violence prevention programs</a:t>
              </a:r>
            </a:p>
            <a:p>
              <a:pPr fontAlgn="auto">
                <a:lnSpc>
                  <a:spcPct val="100000"/>
                </a:lnSpc>
              </a:pPr>
              <a:endPara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+mn-lt"/>
              </a:endParaRPr>
            </a:p>
            <a:p>
              <a:pPr fontAlgn="auto">
                <a:lnSpc>
                  <a:spcPct val="100000"/>
                </a:lnSpc>
              </a:pPr>
              <a:r>
                <a:rPr lang="zh-CN" alt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cs typeface="+mn-ea"/>
                  <a:sym typeface="+mn-lt"/>
                </a:rPr>
                <a:t>Theft deterrence measures</a:t>
              </a:r>
            </a:p>
            <a:p>
              <a:pPr algn="l">
                <a:lnSpc>
                  <a:spcPct val="130000"/>
                </a:lnSpc>
                <a:buClrTx/>
                <a:buSzTx/>
                <a:buFontTx/>
              </a:pPr>
              <a:endPara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063424" y="1850526"/>
              <a:ext cx="3035275" cy="186479"/>
            </a:xfrm>
            <a:prstGeom prst="rect">
              <a:avLst/>
            </a:prstGeom>
            <a:noFill/>
          </p:spPr>
          <p:txBody>
            <a:bodyPr wrap="square" lIns="182843" tIns="91422" rIns="182843" bIns="91422" rtlCol="0">
              <a:spAutoFit/>
            </a:bodyPr>
            <a:lstStyle/>
            <a:p>
              <a:pPr fontAlgn="auto">
                <a:lnSpc>
                  <a:spcPct val="100000"/>
                </a:lnSpc>
              </a:pPr>
              <a:r>
                <a:rPr lang="zh-CN" altLang="en-US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cs typeface="+mn-ea"/>
                  <a:sym typeface="+mn-lt"/>
                </a:rPr>
                <a:t>Interpretation</a:t>
              </a:r>
              <a:endPara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37" name="矩形 36"/>
          <p:cNvSpPr/>
          <p:nvPr userDrawn="1"/>
        </p:nvSpPr>
        <p:spPr>
          <a:xfrm>
            <a:off x="1033145" y="334645"/>
            <a:ext cx="4453890" cy="607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2800" dirty="0">
                <a:solidFill>
                  <a:srgbClr val="2A3246"/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+mn-lt"/>
              </a:rPr>
              <a:t>Dashboard </a:t>
            </a:r>
          </a:p>
        </p:txBody>
      </p:sp>
      <p:pic>
        <p:nvPicPr>
          <p:cNvPr id="2" name="Picture 1" descr="Dashboard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005" y="984250"/>
            <a:ext cx="7078980" cy="5398135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426085" y="6248400"/>
            <a:ext cx="715772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000" i="1">
                <a:sym typeface="+mn-ea"/>
              </a:rPr>
              <a:t>Figure 1 :Dashboard showing NYC arrest counts and top 3 offense types by borough (2023).</a:t>
            </a:r>
            <a:endParaRPr lang="en-US" sz="1000" i="1"/>
          </a:p>
          <a:p>
            <a:r>
              <a:rPr lang="en-US" sz="1000" i="1">
                <a:sym typeface="+mn-ea"/>
              </a:rPr>
              <a:t>Note. Bubble size represents total arrest count; colors represent borough. Data source: NYPD Arrest Data (2023)</a:t>
            </a:r>
            <a:r>
              <a:rPr lang="en-US" i="1">
                <a:sym typeface="+mn-ea"/>
              </a:rPr>
              <a:t>.</a:t>
            </a:r>
            <a:endParaRPr lang="en-US"/>
          </a:p>
        </p:txBody>
      </p:sp>
    </p:spTree>
  </p:cSld>
  <p:clrMapOvr>
    <a:masterClrMapping/>
  </p:clrMapOvr>
  <p:transition spd="slow" advClick="0" advTm="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" name="组合 265"/>
          <p:cNvGrpSpPr/>
          <p:nvPr/>
        </p:nvGrpSpPr>
        <p:grpSpPr>
          <a:xfrm>
            <a:off x="865708" y="1103111"/>
            <a:ext cx="10860405" cy="1319238"/>
            <a:chOff x="5875749" y="1414866"/>
            <a:chExt cx="10861820" cy="1319406"/>
          </a:xfrm>
        </p:grpSpPr>
        <p:sp>
          <p:nvSpPr>
            <p:cNvPr id="267" name="TextBox 11"/>
            <p:cNvSpPr txBox="1"/>
            <p:nvPr/>
          </p:nvSpPr>
          <p:spPr>
            <a:xfrm>
              <a:off x="6736921" y="2520885"/>
              <a:ext cx="3439409" cy="2133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>
                <a:lnSpc>
                  <a:spcPct val="130000"/>
                </a:lnSpc>
              </a:pPr>
              <a:endParaRPr lang="en-US" altLang="zh-CN" sz="1065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  <p:sp>
          <p:nvSpPr>
            <p:cNvPr id="268" name="TextBox 11"/>
            <p:cNvSpPr txBox="1"/>
            <p:nvPr/>
          </p:nvSpPr>
          <p:spPr>
            <a:xfrm>
              <a:off x="5875749" y="1414866"/>
              <a:ext cx="10861820" cy="3073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defTabSz="457200">
                <a:buClr>
                  <a:srgbClr val="151314"/>
                </a:buClr>
                <a:buSzPct val="25000"/>
              </a:pPr>
              <a:r>
                <a:rPr lang="zh-CN" altLang="en-US" sz="2000" b="1" kern="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思源黑体" panose="020B0500000000000000" pitchFamily="34" charset="-122"/>
                  <a:cs typeface="+mn-ea"/>
                  <a:sym typeface="+mn-lt"/>
                </a:rPr>
                <a:t>What are the top 5 offense types for different age groups in NYC arrests (2023)?</a:t>
              </a:r>
            </a:p>
          </p:txBody>
        </p:sp>
      </p:grpSp>
      <p:sp>
        <p:nvSpPr>
          <p:cNvPr id="61" name="矩形 60"/>
          <p:cNvSpPr/>
          <p:nvPr userDrawn="1"/>
        </p:nvSpPr>
        <p:spPr>
          <a:xfrm>
            <a:off x="865505" y="219710"/>
            <a:ext cx="5482590" cy="607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800" dirty="0">
                <a:solidFill>
                  <a:srgbClr val="2A3246"/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+mn-lt"/>
              </a:rPr>
              <a:t>Research Question </a:t>
            </a:r>
            <a:r>
              <a:rPr lang="en-US" altLang="zh-CN" sz="2800" dirty="0">
                <a:solidFill>
                  <a:srgbClr val="2A3246"/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+mn-lt"/>
              </a:rPr>
              <a:t>2</a:t>
            </a:r>
          </a:p>
        </p:txBody>
      </p:sp>
      <p:sp>
        <p:nvSpPr>
          <p:cNvPr id="23" name="Oval 29"/>
          <p:cNvSpPr/>
          <p:nvPr/>
        </p:nvSpPr>
        <p:spPr>
          <a:xfrm>
            <a:off x="1973580" y="2141855"/>
            <a:ext cx="1161415" cy="998220"/>
          </a:xfrm>
          <a:prstGeom prst="ellipse">
            <a:avLst/>
          </a:prstGeom>
          <a:solidFill>
            <a:srgbClr val="92D050"/>
          </a:solidFill>
          <a:ln>
            <a:noFill/>
          </a:ln>
          <a:effectLst>
            <a:outerShdw blurRad="254000" dist="635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ct val="130000"/>
              </a:lnSpc>
            </a:pPr>
            <a:r>
              <a:rPr lang="id-ID" dirty="0"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+mn-lt"/>
              </a:rPr>
              <a:t>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24225" y="1993900"/>
            <a:ext cx="8286750" cy="1170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+mn-lt"/>
              </a:rPr>
              <a:t>Purpose</a:t>
            </a:r>
          </a:p>
          <a:p>
            <a:pPr>
              <a:lnSpc>
                <a:spcPct val="130000"/>
              </a:lnSpc>
            </a:pP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+mn-lt"/>
              </a:rPr>
              <a:t>Analyze top 5 offense types by age group in NYC arrests (2023) to guide age-specific crime prevention strategies.</a:t>
            </a:r>
          </a:p>
        </p:txBody>
      </p:sp>
      <p:sp>
        <p:nvSpPr>
          <p:cNvPr id="25" name="Oval 31"/>
          <p:cNvSpPr/>
          <p:nvPr/>
        </p:nvSpPr>
        <p:spPr>
          <a:xfrm>
            <a:off x="1973580" y="3898900"/>
            <a:ext cx="1161415" cy="997585"/>
          </a:xfrm>
          <a:prstGeom prst="ellipse">
            <a:avLst/>
          </a:prstGeom>
          <a:solidFill>
            <a:srgbClr val="FFC000"/>
          </a:solidFill>
          <a:ln>
            <a:noFill/>
          </a:ln>
          <a:effectLst>
            <a:outerShdw blurRad="254000" dist="635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ct val="130000"/>
              </a:lnSpc>
            </a:pPr>
            <a:r>
              <a:rPr lang="id-ID" dirty="0"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+mn-lt"/>
              </a:rPr>
              <a:t>02</a:t>
            </a:r>
          </a:p>
        </p:txBody>
      </p:sp>
      <p:sp>
        <p:nvSpPr>
          <p:cNvPr id="3" name="TextBox 23"/>
          <p:cNvSpPr txBox="1"/>
          <p:nvPr/>
        </p:nvSpPr>
        <p:spPr>
          <a:xfrm>
            <a:off x="3324225" y="3366135"/>
            <a:ext cx="8123555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00000"/>
              </a:lnSpc>
            </a:pP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+mn-lt"/>
              </a:rPr>
              <a:t>Method</a:t>
            </a:r>
          </a:p>
          <a:p>
            <a:pPr algn="l" fontAlgn="auto">
              <a:lnSpc>
                <a:spcPct val="100000"/>
              </a:lnSpc>
              <a:buClrTx/>
              <a:buSzTx/>
              <a:buNone/>
            </a:pP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+mn-lt"/>
              </a:rPr>
              <a:t>Data: NYPD Arrest Data (2023)</a:t>
            </a:r>
          </a:p>
          <a:p>
            <a:pPr algn="l" fontAlgn="auto">
              <a:lnSpc>
                <a:spcPct val="100000"/>
              </a:lnSpc>
              <a:buClrTx/>
              <a:buSzTx/>
              <a:buNone/>
            </a:pP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  <a:latin typeface="思源黑体" panose="020B0500000000000000" pitchFamily="34" charset="-122"/>
              <a:ea typeface="思源黑体" panose="020B0500000000000000" pitchFamily="34" charset="-122"/>
              <a:cs typeface="+mn-ea"/>
              <a:sym typeface="+mn-lt"/>
            </a:endParaRPr>
          </a:p>
          <a:p>
            <a:pPr algn="l" fontAlgn="auto">
              <a:lnSpc>
                <a:spcPct val="100000"/>
              </a:lnSpc>
              <a:buClrTx/>
              <a:buSzTx/>
              <a:buNone/>
            </a:pP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+mn-lt"/>
              </a:rPr>
              <a:t>Key variables: AGE_GROUP, OFNS_DESC</a:t>
            </a:r>
          </a:p>
          <a:p>
            <a:pPr algn="l" fontAlgn="auto">
              <a:lnSpc>
                <a:spcPct val="100000"/>
              </a:lnSpc>
              <a:buClrTx/>
              <a:buSzTx/>
              <a:buNone/>
            </a:pP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  <a:latin typeface="思源黑体" panose="020B0500000000000000" pitchFamily="34" charset="-122"/>
              <a:ea typeface="思源黑体" panose="020B0500000000000000" pitchFamily="34" charset="-122"/>
              <a:cs typeface="+mn-ea"/>
              <a:sym typeface="+mn-lt"/>
            </a:endParaRPr>
          </a:p>
          <a:p>
            <a:pPr algn="l" fontAlgn="auto">
              <a:lnSpc>
                <a:spcPct val="100000"/>
              </a:lnSpc>
              <a:buClrTx/>
              <a:buSzTx/>
              <a:buNone/>
            </a:pP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+mn-lt"/>
              </a:rPr>
              <a:t>Tool: Tableau stacked bar chart showing arrest counts by age group, color-coded by top 5 offenses</a:t>
            </a:r>
          </a:p>
        </p:txBody>
      </p:sp>
    </p:spTree>
  </p:cSld>
  <p:clrMapOvr>
    <a:masterClrMapping/>
  </p:clrMapOvr>
  <p:transition spd="slow" advClick="0" advTm="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ldLvl="0" animBg="1"/>
      <p:bldP spid="24" grpId="0"/>
      <p:bldP spid="25" grpId="0" bldLvl="0" animBg="1"/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>
            <a:off x="6623050" y="521970"/>
            <a:ext cx="5191125" cy="5888652"/>
            <a:chOff x="1337246" y="1850526"/>
            <a:chExt cx="6792467" cy="2425142"/>
          </a:xfrm>
        </p:grpSpPr>
        <p:grpSp>
          <p:nvGrpSpPr>
            <p:cNvPr id="19" name="Group 332"/>
            <p:cNvGrpSpPr>
              <a:grpSpLocks noChangeAspect="1"/>
            </p:cNvGrpSpPr>
            <p:nvPr/>
          </p:nvGrpSpPr>
          <p:grpSpPr>
            <a:xfrm>
              <a:off x="1337246" y="2161564"/>
              <a:ext cx="1184887" cy="321301"/>
              <a:chOff x="4630262" y="2789652"/>
              <a:chExt cx="632984" cy="171644"/>
            </a:xfrm>
          </p:grpSpPr>
          <p:sp>
            <p:nvSpPr>
              <p:cNvPr id="22" name="Oval 59"/>
              <p:cNvSpPr/>
              <p:nvPr/>
            </p:nvSpPr>
            <p:spPr>
              <a:xfrm>
                <a:off x="4630262" y="2789652"/>
                <a:ext cx="632984" cy="171644"/>
              </a:xfrm>
              <a:prstGeom prst="ellipse">
                <a:avLst/>
              </a:prstGeom>
              <a:gradFill>
                <a:gsLst>
                  <a:gs pos="0">
                    <a:srgbClr val="14CD68"/>
                  </a:gs>
                  <a:gs pos="100000">
                    <a:srgbClr val="0B6E38"/>
                  </a:gs>
                </a:gsLst>
                <a:lin scaled="0"/>
              </a:gradFill>
              <a:ln>
                <a:noFill/>
              </a:ln>
              <a:effectLst>
                <a:outerShdw blurRad="254000" dist="63500" dir="2700000" algn="tl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30000"/>
                  </a:lnSpc>
                </a:pPr>
                <a:endParaRPr lang="en-US" sz="1400" dirty="0">
                  <a:solidFill>
                    <a:prstClr val="white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23" name="Freeform 26"/>
              <p:cNvSpPr/>
              <p:nvPr/>
            </p:nvSpPr>
            <p:spPr bwMode="auto">
              <a:xfrm>
                <a:off x="4835513" y="2809382"/>
                <a:ext cx="182445" cy="132183"/>
              </a:xfrm>
              <a:custGeom>
                <a:avLst/>
                <a:gdLst>
                  <a:gd name="T0" fmla="*/ 103 w 274"/>
                  <a:gd name="T1" fmla="*/ 284 h 284"/>
                  <a:gd name="T2" fmla="*/ 80 w 274"/>
                  <a:gd name="T3" fmla="*/ 273 h 284"/>
                  <a:gd name="T4" fmla="*/ 9 w 274"/>
                  <a:gd name="T5" fmla="*/ 178 h 284"/>
                  <a:gd name="T6" fmla="*/ 14 w 274"/>
                  <a:gd name="T7" fmla="*/ 139 h 284"/>
                  <a:gd name="T8" fmla="*/ 53 w 274"/>
                  <a:gd name="T9" fmla="*/ 145 h 284"/>
                  <a:gd name="T10" fmla="*/ 100 w 274"/>
                  <a:gd name="T11" fmla="*/ 207 h 284"/>
                  <a:gd name="T12" fmla="*/ 219 w 274"/>
                  <a:gd name="T13" fmla="*/ 17 h 284"/>
                  <a:gd name="T14" fmla="*/ 257 w 274"/>
                  <a:gd name="T15" fmla="*/ 8 h 284"/>
                  <a:gd name="T16" fmla="*/ 266 w 274"/>
                  <a:gd name="T17" fmla="*/ 47 h 284"/>
                  <a:gd name="T18" fmla="*/ 126 w 274"/>
                  <a:gd name="T19" fmla="*/ 271 h 284"/>
                  <a:gd name="T20" fmla="*/ 104 w 274"/>
                  <a:gd name="T21" fmla="*/ 284 h 284"/>
                  <a:gd name="T22" fmla="*/ 103 w 274"/>
                  <a:gd name="T23" fmla="*/ 284 h 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74" h="284">
                    <a:moveTo>
                      <a:pt x="103" y="284"/>
                    </a:moveTo>
                    <a:cubicBezTo>
                      <a:pt x="94" y="284"/>
                      <a:pt x="86" y="280"/>
                      <a:pt x="80" y="273"/>
                    </a:cubicBezTo>
                    <a:cubicBezTo>
                      <a:pt x="9" y="178"/>
                      <a:pt x="9" y="178"/>
                      <a:pt x="9" y="178"/>
                    </a:cubicBezTo>
                    <a:cubicBezTo>
                      <a:pt x="0" y="166"/>
                      <a:pt x="2" y="149"/>
                      <a:pt x="14" y="139"/>
                    </a:cubicBezTo>
                    <a:cubicBezTo>
                      <a:pt x="27" y="130"/>
                      <a:pt x="44" y="133"/>
                      <a:pt x="53" y="145"/>
                    </a:cubicBezTo>
                    <a:cubicBezTo>
                      <a:pt x="100" y="207"/>
                      <a:pt x="100" y="207"/>
                      <a:pt x="100" y="207"/>
                    </a:cubicBezTo>
                    <a:cubicBezTo>
                      <a:pt x="219" y="17"/>
                      <a:pt x="219" y="17"/>
                      <a:pt x="219" y="17"/>
                    </a:cubicBezTo>
                    <a:cubicBezTo>
                      <a:pt x="227" y="4"/>
                      <a:pt x="244" y="0"/>
                      <a:pt x="257" y="8"/>
                    </a:cubicBezTo>
                    <a:cubicBezTo>
                      <a:pt x="270" y="16"/>
                      <a:pt x="274" y="33"/>
                      <a:pt x="266" y="47"/>
                    </a:cubicBezTo>
                    <a:cubicBezTo>
                      <a:pt x="126" y="271"/>
                      <a:pt x="126" y="271"/>
                      <a:pt x="126" y="271"/>
                    </a:cubicBezTo>
                    <a:cubicBezTo>
                      <a:pt x="121" y="279"/>
                      <a:pt x="113" y="283"/>
                      <a:pt x="104" y="284"/>
                    </a:cubicBezTo>
                    <a:cubicBezTo>
                      <a:pt x="104" y="284"/>
                      <a:pt x="103" y="284"/>
                      <a:pt x="103" y="284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lnSpc>
                    <a:spcPct val="130000"/>
                  </a:lnSpc>
                </a:pPr>
                <a:endParaRPr lang="en-US" sz="1400" dirty="0">
                  <a:solidFill>
                    <a:prstClr val="black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cs typeface="+mn-ea"/>
                  <a:sym typeface="+mn-lt"/>
                </a:endParaRPr>
              </a:p>
            </p:txBody>
          </p:sp>
        </p:grpSp>
        <p:sp>
          <p:nvSpPr>
            <p:cNvPr id="20" name="TextBox 19"/>
            <p:cNvSpPr txBox="1"/>
            <p:nvPr/>
          </p:nvSpPr>
          <p:spPr>
            <a:xfrm>
              <a:off x="2520234" y="2070582"/>
              <a:ext cx="5609479" cy="22050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lnSpc>
                  <a:spcPct val="150000"/>
                </a:lnSpc>
              </a:pPr>
              <a:endPara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+mn-lt"/>
              </a:endParaRPr>
            </a:p>
            <a:p>
              <a:pPr fontAlgn="auto">
                <a:lnSpc>
                  <a:spcPct val="150000"/>
                </a:lnSpc>
              </a:pPr>
              <a:r>
                <a:rPr lang="zh-CN" alt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cs typeface="+mn-ea"/>
                  <a:sym typeface="+mn-lt"/>
                </a:rPr>
                <a:t>25–44: highest arrests; Petit Larceny (10,028) &amp; Assault 3 (14,613) most common</a:t>
              </a:r>
            </a:p>
            <a:p>
              <a:pPr fontAlgn="auto">
                <a:lnSpc>
                  <a:spcPct val="150000"/>
                </a:lnSpc>
              </a:pPr>
              <a:endPara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+mn-lt"/>
              </a:endParaRPr>
            </a:p>
            <a:p>
              <a:pPr fontAlgn="auto">
                <a:lnSpc>
                  <a:spcPct val="150000"/>
                </a:lnSpc>
              </a:pPr>
              <a:r>
                <a:rPr lang="zh-CN" alt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cs typeface="+mn-ea"/>
                  <a:sym typeface="+mn-lt"/>
                </a:rPr>
                <a:t>45–64: fewer arrests, similar pattern</a:t>
              </a:r>
            </a:p>
            <a:p>
              <a:pPr fontAlgn="auto">
                <a:lnSpc>
                  <a:spcPct val="150000"/>
                </a:lnSpc>
              </a:pPr>
              <a:endPara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+mn-lt"/>
              </a:endParaRPr>
            </a:p>
            <a:p>
              <a:pPr fontAlgn="auto">
                <a:lnSpc>
                  <a:spcPct val="150000"/>
                </a:lnSpc>
              </a:pPr>
              <a:r>
                <a:rPr lang="zh-CN" alt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cs typeface="+mn-ea"/>
                  <a:sym typeface="+mn-lt"/>
                </a:rPr>
                <a:t>18–24: higher share of Assault 3 &amp; Dangerous Drugs</a:t>
              </a:r>
            </a:p>
            <a:p>
              <a:pPr fontAlgn="auto">
                <a:lnSpc>
                  <a:spcPct val="150000"/>
                </a:lnSpc>
              </a:pPr>
              <a:endPara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+mn-lt"/>
              </a:endParaRPr>
            </a:p>
            <a:p>
              <a:pPr fontAlgn="auto">
                <a:lnSpc>
                  <a:spcPct val="150000"/>
                </a:lnSpc>
              </a:pPr>
              <a:r>
                <a:rPr lang="zh-CN" alt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cs typeface="+mn-ea"/>
                  <a:sym typeface="+mn-lt"/>
                </a:rPr>
                <a:t>&lt;18: Robbery disproportionately high</a:t>
              </a:r>
            </a:p>
            <a:p>
              <a:pPr fontAlgn="auto">
                <a:lnSpc>
                  <a:spcPct val="150000"/>
                </a:lnSpc>
              </a:pPr>
              <a:endPara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+mn-lt"/>
              </a:endParaRPr>
            </a:p>
            <a:p>
              <a:pPr fontAlgn="auto">
                <a:lnSpc>
                  <a:spcPct val="150000"/>
                </a:lnSpc>
              </a:pPr>
              <a:r>
                <a:rPr lang="zh-CN" alt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cs typeface="+mn-ea"/>
                  <a:sym typeface="+mn-lt"/>
                </a:rPr>
                <a:t>65+: very low arrests, mostly Petit Larceny</a:t>
              </a:r>
            </a:p>
            <a:p>
              <a:pPr algn="l" fontAlgn="auto">
                <a:lnSpc>
                  <a:spcPct val="150000"/>
                </a:lnSpc>
                <a:buClrTx/>
                <a:buSzTx/>
                <a:buFontTx/>
              </a:pPr>
              <a:endPara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748466" y="1850526"/>
              <a:ext cx="3035275" cy="222810"/>
            </a:xfrm>
            <a:prstGeom prst="rect">
              <a:avLst/>
            </a:prstGeom>
            <a:noFill/>
          </p:spPr>
          <p:txBody>
            <a:bodyPr wrap="square" lIns="182843" tIns="91422" rIns="182843" bIns="91422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cs typeface="+mn-ea"/>
                  <a:sym typeface="+mn-lt"/>
                </a:rPr>
                <a:t>Findings</a:t>
              </a:r>
            </a:p>
          </p:txBody>
        </p:sp>
      </p:grpSp>
      <p:pic>
        <p:nvPicPr>
          <p:cNvPr id="3" name="Picture 2" descr="DashBoard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05" y="0"/>
            <a:ext cx="6072505" cy="6410325"/>
          </a:xfrm>
          <a:prstGeom prst="rect">
            <a:avLst/>
          </a:prstGeom>
        </p:spPr>
      </p:pic>
      <p:sp>
        <p:nvSpPr>
          <p:cNvPr id="100" name="Text Box 99"/>
          <p:cNvSpPr txBox="1"/>
          <p:nvPr/>
        </p:nvSpPr>
        <p:spPr>
          <a:xfrm>
            <a:off x="534670" y="6316345"/>
            <a:ext cx="6217920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indent="0" algn="ctr"/>
            <a:r>
              <a:rPr lang="en-US" sz="1000" i="1">
                <a:latin typeface="+mn-ea"/>
                <a:cs typeface="+mn-ea"/>
              </a:rPr>
              <a:t>Figure 2：Top 5 off</a:t>
            </a:r>
            <a:r>
              <a:rPr lang="en-US" sz="1000" b="0" i="1">
                <a:latin typeface="+mn-ea"/>
                <a:cs typeface="+mn-ea"/>
              </a:rPr>
              <a:t>ense types by age group in NYC arrests (2023).Note. Colors represent offense types; bar height represents arrest counts. Data source: NYPD Arrest Data (2023).</a:t>
            </a:r>
            <a:endParaRPr lang="en-US" sz="1000">
              <a:latin typeface="+mn-ea"/>
              <a:cs typeface="+mn-ea"/>
            </a:endParaRPr>
          </a:p>
        </p:txBody>
      </p:sp>
    </p:spTree>
  </p:cSld>
  <p:clrMapOvr>
    <a:masterClrMapping/>
  </p:clrMapOvr>
  <p:transition spd="slow" advClick="0" advTm="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>
            <a:off x="6623050" y="521970"/>
            <a:ext cx="5191125" cy="4549437"/>
            <a:chOff x="1337246" y="1850526"/>
            <a:chExt cx="6792467" cy="1873609"/>
          </a:xfrm>
        </p:grpSpPr>
        <p:grpSp>
          <p:nvGrpSpPr>
            <p:cNvPr id="19" name="Group 332"/>
            <p:cNvGrpSpPr>
              <a:grpSpLocks noChangeAspect="1"/>
            </p:cNvGrpSpPr>
            <p:nvPr/>
          </p:nvGrpSpPr>
          <p:grpSpPr>
            <a:xfrm>
              <a:off x="1337246" y="2161564"/>
              <a:ext cx="1184887" cy="321301"/>
              <a:chOff x="4630262" y="2789652"/>
              <a:chExt cx="632984" cy="171644"/>
            </a:xfrm>
          </p:grpSpPr>
          <p:sp>
            <p:nvSpPr>
              <p:cNvPr id="22" name="Oval 59"/>
              <p:cNvSpPr/>
              <p:nvPr/>
            </p:nvSpPr>
            <p:spPr>
              <a:xfrm>
                <a:off x="4630262" y="2789652"/>
                <a:ext cx="632984" cy="171644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  <a:effectLst>
                <a:outerShdw blurRad="254000" dist="63500" dir="2700000" algn="tl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30000"/>
                  </a:lnSpc>
                </a:pPr>
                <a:endParaRPr lang="en-US" sz="1400" dirty="0">
                  <a:solidFill>
                    <a:prstClr val="white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23" name="Freeform 26"/>
              <p:cNvSpPr/>
              <p:nvPr/>
            </p:nvSpPr>
            <p:spPr bwMode="auto">
              <a:xfrm>
                <a:off x="4835513" y="2809382"/>
                <a:ext cx="182445" cy="132183"/>
              </a:xfrm>
              <a:custGeom>
                <a:avLst/>
                <a:gdLst>
                  <a:gd name="T0" fmla="*/ 103 w 274"/>
                  <a:gd name="T1" fmla="*/ 284 h 284"/>
                  <a:gd name="T2" fmla="*/ 80 w 274"/>
                  <a:gd name="T3" fmla="*/ 273 h 284"/>
                  <a:gd name="T4" fmla="*/ 9 w 274"/>
                  <a:gd name="T5" fmla="*/ 178 h 284"/>
                  <a:gd name="T6" fmla="*/ 14 w 274"/>
                  <a:gd name="T7" fmla="*/ 139 h 284"/>
                  <a:gd name="T8" fmla="*/ 53 w 274"/>
                  <a:gd name="T9" fmla="*/ 145 h 284"/>
                  <a:gd name="T10" fmla="*/ 100 w 274"/>
                  <a:gd name="T11" fmla="*/ 207 h 284"/>
                  <a:gd name="T12" fmla="*/ 219 w 274"/>
                  <a:gd name="T13" fmla="*/ 17 h 284"/>
                  <a:gd name="T14" fmla="*/ 257 w 274"/>
                  <a:gd name="T15" fmla="*/ 8 h 284"/>
                  <a:gd name="T16" fmla="*/ 266 w 274"/>
                  <a:gd name="T17" fmla="*/ 47 h 284"/>
                  <a:gd name="T18" fmla="*/ 126 w 274"/>
                  <a:gd name="T19" fmla="*/ 271 h 284"/>
                  <a:gd name="T20" fmla="*/ 104 w 274"/>
                  <a:gd name="T21" fmla="*/ 284 h 284"/>
                  <a:gd name="T22" fmla="*/ 103 w 274"/>
                  <a:gd name="T23" fmla="*/ 284 h 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74" h="284">
                    <a:moveTo>
                      <a:pt x="103" y="284"/>
                    </a:moveTo>
                    <a:cubicBezTo>
                      <a:pt x="94" y="284"/>
                      <a:pt x="86" y="280"/>
                      <a:pt x="80" y="273"/>
                    </a:cubicBezTo>
                    <a:cubicBezTo>
                      <a:pt x="9" y="178"/>
                      <a:pt x="9" y="178"/>
                      <a:pt x="9" y="178"/>
                    </a:cubicBezTo>
                    <a:cubicBezTo>
                      <a:pt x="0" y="166"/>
                      <a:pt x="2" y="149"/>
                      <a:pt x="14" y="139"/>
                    </a:cubicBezTo>
                    <a:cubicBezTo>
                      <a:pt x="27" y="130"/>
                      <a:pt x="44" y="133"/>
                      <a:pt x="53" y="145"/>
                    </a:cubicBezTo>
                    <a:cubicBezTo>
                      <a:pt x="100" y="207"/>
                      <a:pt x="100" y="207"/>
                      <a:pt x="100" y="207"/>
                    </a:cubicBezTo>
                    <a:cubicBezTo>
                      <a:pt x="219" y="17"/>
                      <a:pt x="219" y="17"/>
                      <a:pt x="219" y="17"/>
                    </a:cubicBezTo>
                    <a:cubicBezTo>
                      <a:pt x="227" y="4"/>
                      <a:pt x="244" y="0"/>
                      <a:pt x="257" y="8"/>
                    </a:cubicBezTo>
                    <a:cubicBezTo>
                      <a:pt x="270" y="16"/>
                      <a:pt x="274" y="33"/>
                      <a:pt x="266" y="47"/>
                    </a:cubicBezTo>
                    <a:cubicBezTo>
                      <a:pt x="126" y="271"/>
                      <a:pt x="126" y="271"/>
                      <a:pt x="126" y="271"/>
                    </a:cubicBezTo>
                    <a:cubicBezTo>
                      <a:pt x="121" y="279"/>
                      <a:pt x="113" y="283"/>
                      <a:pt x="104" y="284"/>
                    </a:cubicBezTo>
                    <a:cubicBezTo>
                      <a:pt x="104" y="284"/>
                      <a:pt x="103" y="284"/>
                      <a:pt x="103" y="284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lnSpc>
                    <a:spcPct val="130000"/>
                  </a:lnSpc>
                </a:pPr>
                <a:endParaRPr lang="en-US" sz="1400" dirty="0">
                  <a:solidFill>
                    <a:prstClr val="black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cs typeface="+mn-ea"/>
                  <a:sym typeface="+mn-lt"/>
                </a:endParaRPr>
              </a:p>
            </p:txBody>
          </p:sp>
        </p:grpSp>
        <p:sp>
          <p:nvSpPr>
            <p:cNvPr id="20" name="TextBox 19"/>
            <p:cNvSpPr txBox="1"/>
            <p:nvPr/>
          </p:nvSpPr>
          <p:spPr>
            <a:xfrm>
              <a:off x="2520234" y="2070582"/>
              <a:ext cx="5609479" cy="1653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lnSpc>
                  <a:spcPct val="150000"/>
                </a:lnSpc>
              </a:pPr>
              <a:endPara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+mn-lt"/>
              </a:endParaRPr>
            </a:p>
            <a:p>
              <a:pPr fontAlgn="auto">
                <a:lnSpc>
                  <a:spcPct val="150000"/>
                </a:lnSpc>
              </a:pPr>
              <a:r>
                <a:rPr lang="zh-CN" alt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cs typeface="+mn-ea"/>
                  <a:sym typeface="+mn-lt"/>
                </a:rPr>
                <a:t>Interpretation</a:t>
              </a:r>
            </a:p>
            <a:p>
              <a:pPr fontAlgn="auto">
                <a:lnSpc>
                  <a:spcPct val="150000"/>
                </a:lnSpc>
              </a:pPr>
              <a:endPara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+mn-lt"/>
              </a:endParaRPr>
            </a:p>
            <a:p>
              <a:pPr fontAlgn="auto">
                <a:lnSpc>
                  <a:spcPct val="150000"/>
                </a:lnSpc>
              </a:pPr>
              <a:r>
                <a:rPr lang="zh-CN" alt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cs typeface="+mn-ea"/>
                  <a:sym typeface="+mn-lt"/>
                </a:rPr>
                <a:t>Mid-adults (25–44) drive most arrests, mainly theft &amp; assault</a:t>
              </a:r>
            </a:p>
            <a:p>
              <a:pPr fontAlgn="auto">
                <a:lnSpc>
                  <a:spcPct val="150000"/>
                </a:lnSpc>
              </a:pPr>
              <a:endPara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+mn-lt"/>
              </a:endParaRPr>
            </a:p>
            <a:p>
              <a:pPr fontAlgn="auto">
                <a:lnSpc>
                  <a:spcPct val="150000"/>
                </a:lnSpc>
              </a:pPr>
              <a:r>
                <a:rPr lang="zh-CN" alt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cs typeface="+mn-ea"/>
                  <a:sym typeface="+mn-lt"/>
                </a:rPr>
                <a:t>Youth programs should target robbery &amp; violent behavior</a:t>
              </a:r>
            </a:p>
            <a:p>
              <a:pPr fontAlgn="auto">
                <a:lnSpc>
                  <a:spcPct val="150000"/>
                </a:lnSpc>
              </a:pPr>
              <a:endPara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+mn-lt"/>
              </a:endParaRPr>
            </a:p>
            <a:p>
              <a:pPr fontAlgn="auto">
                <a:lnSpc>
                  <a:spcPct val="150000"/>
                </a:lnSpc>
              </a:pPr>
              <a:r>
                <a:rPr lang="zh-CN" alt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cs typeface="+mn-ea"/>
                  <a:sym typeface="+mn-lt"/>
                </a:rPr>
                <a:t>Older adult prevention should focus on theft reduction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748466" y="1850526"/>
              <a:ext cx="3035275" cy="245823"/>
            </a:xfrm>
            <a:prstGeom prst="rect">
              <a:avLst/>
            </a:prstGeom>
            <a:noFill/>
          </p:spPr>
          <p:txBody>
            <a:bodyPr wrap="square" lIns="182843" tIns="91422" rIns="182843" bIns="91422" rtlCol="0">
              <a:spAutoFit/>
            </a:bodyPr>
            <a:lstStyle/>
            <a:p>
              <a:pPr fontAlgn="auto">
                <a:lnSpc>
                  <a:spcPct val="150000"/>
                </a:lnSpc>
              </a:pPr>
              <a:r>
                <a:rPr lang="zh-CN" altLang="en-US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cs typeface="+mn-ea"/>
                  <a:sym typeface="+mn-lt"/>
                </a:rPr>
                <a:t>Interpretation</a:t>
              </a:r>
              <a:endPara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+mn-lt"/>
              </a:endParaRPr>
            </a:p>
          </p:txBody>
        </p:sp>
      </p:grpSp>
      <p:pic>
        <p:nvPicPr>
          <p:cNvPr id="3" name="Picture 2" descr="DashBoard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05" y="0"/>
            <a:ext cx="6072505" cy="6410325"/>
          </a:xfrm>
          <a:prstGeom prst="rect">
            <a:avLst/>
          </a:prstGeom>
        </p:spPr>
      </p:pic>
      <p:sp>
        <p:nvSpPr>
          <p:cNvPr id="100" name="Text Box 99"/>
          <p:cNvSpPr txBox="1"/>
          <p:nvPr/>
        </p:nvSpPr>
        <p:spPr>
          <a:xfrm>
            <a:off x="534670" y="6316345"/>
            <a:ext cx="6217920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indent="0" algn="ctr"/>
            <a:r>
              <a:rPr lang="en-US" sz="1000" i="1">
                <a:latin typeface="+mn-ea"/>
                <a:cs typeface="+mn-ea"/>
              </a:rPr>
              <a:t>Figure 2：Top 5 off</a:t>
            </a:r>
            <a:r>
              <a:rPr lang="en-US" sz="1000" b="0" i="1">
                <a:latin typeface="+mn-ea"/>
                <a:cs typeface="+mn-ea"/>
              </a:rPr>
              <a:t>ense types by age group in NYC arrests (2023).Note. Colors represent offense types; bar height represents arrest counts. Data source: NYPD Arrest Data (2023).</a:t>
            </a:r>
            <a:endParaRPr lang="en-US" sz="1000">
              <a:latin typeface="+mn-ea"/>
              <a:cs typeface="+mn-ea"/>
            </a:endParaRPr>
          </a:p>
        </p:txBody>
      </p:sp>
    </p:spTree>
  </p:cSld>
  <p:clrMapOvr>
    <a:masterClrMapping/>
  </p:clrMapOvr>
  <p:transition spd="slow" advClick="0" advTm="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5214E-A8D1-65CE-A7D6-59768BC7D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" name="组合 265">
            <a:extLst>
              <a:ext uri="{FF2B5EF4-FFF2-40B4-BE49-F238E27FC236}">
                <a16:creationId xmlns:a16="http://schemas.microsoft.com/office/drawing/2014/main" id="{4D02D044-FA72-00EF-B23F-25534A333101}"/>
              </a:ext>
            </a:extLst>
          </p:cNvPr>
          <p:cNvGrpSpPr/>
          <p:nvPr/>
        </p:nvGrpSpPr>
        <p:grpSpPr>
          <a:xfrm>
            <a:off x="865708" y="1103111"/>
            <a:ext cx="10860405" cy="1319238"/>
            <a:chOff x="5875749" y="1414866"/>
            <a:chExt cx="10861820" cy="1319406"/>
          </a:xfrm>
        </p:grpSpPr>
        <p:sp>
          <p:nvSpPr>
            <p:cNvPr id="267" name="TextBox 11">
              <a:extLst>
                <a:ext uri="{FF2B5EF4-FFF2-40B4-BE49-F238E27FC236}">
                  <a16:creationId xmlns:a16="http://schemas.microsoft.com/office/drawing/2014/main" id="{7C92628E-0DAF-4B4D-0991-47677D35576E}"/>
                </a:ext>
              </a:extLst>
            </p:cNvPr>
            <p:cNvSpPr txBox="1"/>
            <p:nvPr/>
          </p:nvSpPr>
          <p:spPr>
            <a:xfrm>
              <a:off x="6736921" y="2520885"/>
              <a:ext cx="3439409" cy="2133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>
                <a:lnSpc>
                  <a:spcPct val="130000"/>
                </a:lnSpc>
              </a:pPr>
              <a:endParaRPr lang="en-US" altLang="zh-CN" sz="1065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  <p:sp>
          <p:nvSpPr>
            <p:cNvPr id="268" name="TextBox 11">
              <a:extLst>
                <a:ext uri="{FF2B5EF4-FFF2-40B4-BE49-F238E27FC236}">
                  <a16:creationId xmlns:a16="http://schemas.microsoft.com/office/drawing/2014/main" id="{9D25D36A-2212-0818-5087-5960CCFBCD44}"/>
                </a:ext>
              </a:extLst>
            </p:cNvPr>
            <p:cNvSpPr txBox="1"/>
            <p:nvPr/>
          </p:nvSpPr>
          <p:spPr>
            <a:xfrm>
              <a:off x="5875749" y="1414866"/>
              <a:ext cx="10861820" cy="30781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defTabSz="457200">
                <a:buClr>
                  <a:srgbClr val="151314"/>
                </a:buClr>
                <a:buSzPct val="25000"/>
              </a:pPr>
              <a:r>
                <a:rPr lang="en-US" altLang="zh-CN" sz="2000" b="1" kern="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思源黑体" panose="020B0500000000000000" pitchFamily="34" charset="-122"/>
                  <a:cs typeface="+mn-ea"/>
                </a:rPr>
                <a:t>How do crime rates differ across NYC boroughs?</a:t>
              </a:r>
              <a:endParaRPr lang="zh-CN" altLang="en-US" sz="2000" b="1" kern="0" dirty="0">
                <a:solidFill>
                  <a:schemeClr val="tx1">
                    <a:lumMod val="85000"/>
                    <a:lumOff val="15000"/>
                  </a:schemeClr>
                </a:solidFill>
                <a:ea typeface="思源黑体" panose="020B0500000000000000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61" name="矩形 60">
            <a:extLst>
              <a:ext uri="{FF2B5EF4-FFF2-40B4-BE49-F238E27FC236}">
                <a16:creationId xmlns:a16="http://schemas.microsoft.com/office/drawing/2014/main" id="{9A3E0112-F157-0898-5EF9-FD9DE53753C6}"/>
              </a:ext>
            </a:extLst>
          </p:cNvPr>
          <p:cNvSpPr/>
          <p:nvPr userDrawn="1"/>
        </p:nvSpPr>
        <p:spPr>
          <a:xfrm>
            <a:off x="865505" y="219710"/>
            <a:ext cx="5482590" cy="5656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800" dirty="0">
                <a:solidFill>
                  <a:srgbClr val="2A3246"/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+mn-lt"/>
              </a:rPr>
              <a:t>Research Question </a:t>
            </a:r>
            <a:r>
              <a:rPr lang="en-US" altLang="zh-CN" sz="2800" dirty="0">
                <a:solidFill>
                  <a:srgbClr val="2A3246"/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+mn-lt"/>
              </a:rPr>
              <a:t>3</a:t>
            </a:r>
          </a:p>
        </p:txBody>
      </p:sp>
      <p:sp>
        <p:nvSpPr>
          <p:cNvPr id="23" name="Oval 29">
            <a:extLst>
              <a:ext uri="{FF2B5EF4-FFF2-40B4-BE49-F238E27FC236}">
                <a16:creationId xmlns:a16="http://schemas.microsoft.com/office/drawing/2014/main" id="{7D7BE4EC-B68F-FAC2-9957-820B255320EB}"/>
              </a:ext>
            </a:extLst>
          </p:cNvPr>
          <p:cNvSpPr/>
          <p:nvPr/>
        </p:nvSpPr>
        <p:spPr>
          <a:xfrm>
            <a:off x="1973580" y="2141855"/>
            <a:ext cx="1161415" cy="998220"/>
          </a:xfrm>
          <a:prstGeom prst="ellipse">
            <a:avLst/>
          </a:prstGeom>
          <a:solidFill>
            <a:srgbClr val="92D050"/>
          </a:solidFill>
          <a:ln>
            <a:noFill/>
          </a:ln>
          <a:effectLst>
            <a:outerShdw blurRad="254000" dist="635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ct val="130000"/>
              </a:lnSpc>
            </a:pPr>
            <a:r>
              <a:rPr lang="id-ID" dirty="0"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+mn-lt"/>
              </a:rPr>
              <a:t>01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A5EB597-EA0F-CE27-37B0-F2AD5FB61052}"/>
              </a:ext>
            </a:extLst>
          </p:cNvPr>
          <p:cNvSpPr txBox="1"/>
          <p:nvPr/>
        </p:nvSpPr>
        <p:spPr>
          <a:xfrm>
            <a:off x="3324225" y="1993900"/>
            <a:ext cx="8286750" cy="777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+mn-lt"/>
              </a:rPr>
              <a:t>Purpose</a:t>
            </a:r>
          </a:p>
          <a:p>
            <a:pPr>
              <a:lnSpc>
                <a:spcPct val="130000"/>
              </a:lnSpc>
            </a:pP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</a:rPr>
              <a:t>Shows crime rate and “people per crime” for each borough.</a:t>
            </a: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  <a:latin typeface="思源黑体" panose="020B0500000000000000" pitchFamily="34" charset="-122"/>
              <a:ea typeface="思源黑体" panose="020B0500000000000000" pitchFamily="34" charset="-122"/>
              <a:cs typeface="+mn-ea"/>
              <a:sym typeface="+mn-lt"/>
            </a:endParaRPr>
          </a:p>
        </p:txBody>
      </p:sp>
      <p:sp>
        <p:nvSpPr>
          <p:cNvPr id="25" name="Oval 31">
            <a:extLst>
              <a:ext uri="{FF2B5EF4-FFF2-40B4-BE49-F238E27FC236}">
                <a16:creationId xmlns:a16="http://schemas.microsoft.com/office/drawing/2014/main" id="{B08DD5BD-F1CA-C1A5-292A-1E40A21F3ACA}"/>
              </a:ext>
            </a:extLst>
          </p:cNvPr>
          <p:cNvSpPr/>
          <p:nvPr/>
        </p:nvSpPr>
        <p:spPr>
          <a:xfrm>
            <a:off x="1973580" y="3898900"/>
            <a:ext cx="1161415" cy="997585"/>
          </a:xfrm>
          <a:prstGeom prst="ellipse">
            <a:avLst/>
          </a:prstGeom>
          <a:solidFill>
            <a:srgbClr val="FFC000"/>
          </a:solidFill>
          <a:ln>
            <a:noFill/>
          </a:ln>
          <a:effectLst>
            <a:outerShdw blurRad="254000" dist="635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ct val="130000"/>
              </a:lnSpc>
            </a:pPr>
            <a:r>
              <a:rPr lang="id-ID" dirty="0"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+mn-lt"/>
              </a:rPr>
              <a:t>02</a:t>
            </a:r>
          </a:p>
        </p:txBody>
      </p:sp>
      <p:sp>
        <p:nvSpPr>
          <p:cNvPr id="3" name="TextBox 23">
            <a:extLst>
              <a:ext uri="{FF2B5EF4-FFF2-40B4-BE49-F238E27FC236}">
                <a16:creationId xmlns:a16="http://schemas.microsoft.com/office/drawing/2014/main" id="{9E79A666-6AD2-6AB1-B038-CE041E1A34DB}"/>
              </a:ext>
            </a:extLst>
          </p:cNvPr>
          <p:cNvSpPr txBox="1"/>
          <p:nvPr/>
        </p:nvSpPr>
        <p:spPr>
          <a:xfrm>
            <a:off x="3324225" y="3366135"/>
            <a:ext cx="812355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00000"/>
              </a:lnSpc>
            </a:pP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+mn-lt"/>
              </a:rPr>
              <a:t>Method</a:t>
            </a:r>
          </a:p>
          <a:p>
            <a:pPr algn="l" fontAlgn="auto">
              <a:lnSpc>
                <a:spcPct val="100000"/>
              </a:lnSpc>
              <a:buClrTx/>
              <a:buSzTx/>
              <a:buNone/>
            </a:pP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+mn-lt"/>
              </a:rPr>
              <a:t>Data: NYPD Arrest Data (2023)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+mn-lt"/>
              </a:rPr>
              <a:t>, NYC population (2023)</a:t>
            </a: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  <a:latin typeface="思源黑体" panose="020B0500000000000000" pitchFamily="34" charset="-122"/>
              <a:ea typeface="思源黑体" panose="020B0500000000000000" pitchFamily="34" charset="-122"/>
              <a:cs typeface="+mn-ea"/>
              <a:sym typeface="+mn-lt"/>
            </a:endParaRPr>
          </a:p>
          <a:p>
            <a:pPr algn="l" fontAlgn="auto">
              <a:lnSpc>
                <a:spcPct val="100000"/>
              </a:lnSpc>
              <a:buClrTx/>
              <a:buSzTx/>
              <a:buNone/>
            </a:pP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  <a:latin typeface="思源黑体" panose="020B0500000000000000" pitchFamily="34" charset="-122"/>
              <a:ea typeface="思源黑体" panose="020B0500000000000000" pitchFamily="34" charset="-122"/>
              <a:cs typeface="+mn-ea"/>
              <a:sym typeface="+mn-lt"/>
            </a:endParaRPr>
          </a:p>
          <a:p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+mn-lt"/>
              </a:rPr>
              <a:t>Key variables: 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+mn-lt"/>
              </a:rPr>
              <a:t>Arrest Key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+mn-lt"/>
              </a:rPr>
              <a:t>, 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+mn-lt"/>
              </a:rPr>
              <a:t>Population</a:t>
            </a:r>
          </a:p>
          <a:p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  <a:latin typeface="思源黑体" panose="020B0500000000000000" pitchFamily="34" charset="-122"/>
              <a:ea typeface="思源黑体" panose="020B0500000000000000" pitchFamily="34" charset="-122"/>
              <a:cs typeface="+mn-ea"/>
              <a:sym typeface="+mn-lt"/>
            </a:endParaRPr>
          </a:p>
          <a:p>
            <a:pPr algn="l" fontAlgn="auto">
              <a:lnSpc>
                <a:spcPct val="100000"/>
              </a:lnSpc>
              <a:buClrTx/>
              <a:buSzTx/>
              <a:buNone/>
            </a:pP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+mn-lt"/>
              </a:rPr>
              <a:t>Tool: 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+mn-lt"/>
              </a:rPr>
              <a:t>matrix shows borough, crime rate and people per crime</a:t>
            </a: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  <a:latin typeface="思源黑体" panose="020B0500000000000000" pitchFamily="34" charset="-122"/>
              <a:ea typeface="思源黑体" panose="020B0500000000000000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43376934"/>
      </p:ext>
    </p:extLst>
  </p:cSld>
  <p:clrMapOvr>
    <a:masterClrMapping/>
  </p:clrMapOvr>
  <p:transition spd="slow" advClick="0" advTm="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ldLvl="0" animBg="1"/>
      <p:bldP spid="24" grpId="0"/>
      <p:bldP spid="25" grpId="0" bldLvl="0" animBg="1"/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0A5C6-AF69-6DB8-D3C9-D0B87B044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>
            <a:extLst>
              <a:ext uri="{FF2B5EF4-FFF2-40B4-BE49-F238E27FC236}">
                <a16:creationId xmlns:a16="http://schemas.microsoft.com/office/drawing/2014/main" id="{9F90524C-1C88-9208-716C-0124AE86FA0F}"/>
              </a:ext>
            </a:extLst>
          </p:cNvPr>
          <p:cNvGrpSpPr/>
          <p:nvPr/>
        </p:nvGrpSpPr>
        <p:grpSpPr>
          <a:xfrm>
            <a:off x="6610609" y="920075"/>
            <a:ext cx="5191126" cy="4015799"/>
            <a:chOff x="1337246" y="1850526"/>
            <a:chExt cx="6792467" cy="1653839"/>
          </a:xfrm>
        </p:grpSpPr>
        <p:grpSp>
          <p:nvGrpSpPr>
            <p:cNvPr id="19" name="Group 332">
              <a:extLst>
                <a:ext uri="{FF2B5EF4-FFF2-40B4-BE49-F238E27FC236}">
                  <a16:creationId xmlns:a16="http://schemas.microsoft.com/office/drawing/2014/main" id="{7CD4EE70-8FA1-D829-4FA6-3FA40ACC3109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337246" y="2161564"/>
              <a:ext cx="1184887" cy="321301"/>
              <a:chOff x="4630262" y="2789652"/>
              <a:chExt cx="632984" cy="171644"/>
            </a:xfrm>
          </p:grpSpPr>
          <p:sp>
            <p:nvSpPr>
              <p:cNvPr id="22" name="Oval 59">
                <a:extLst>
                  <a:ext uri="{FF2B5EF4-FFF2-40B4-BE49-F238E27FC236}">
                    <a16:creationId xmlns:a16="http://schemas.microsoft.com/office/drawing/2014/main" id="{7FC628D6-E58A-FF32-3D0C-9D76C45139AD}"/>
                  </a:ext>
                </a:extLst>
              </p:cNvPr>
              <p:cNvSpPr/>
              <p:nvPr/>
            </p:nvSpPr>
            <p:spPr>
              <a:xfrm>
                <a:off x="4630262" y="2789652"/>
                <a:ext cx="632984" cy="171644"/>
              </a:xfrm>
              <a:prstGeom prst="ellipse">
                <a:avLst/>
              </a:prstGeom>
              <a:gradFill>
                <a:gsLst>
                  <a:gs pos="0">
                    <a:srgbClr val="14CD68"/>
                  </a:gs>
                  <a:gs pos="100000">
                    <a:srgbClr val="0B6E38"/>
                  </a:gs>
                </a:gsLst>
                <a:lin scaled="0"/>
              </a:gradFill>
              <a:ln>
                <a:noFill/>
              </a:ln>
              <a:effectLst>
                <a:outerShdw blurRad="254000" dist="63500" dir="2700000" algn="tl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30000"/>
                  </a:lnSpc>
                </a:pPr>
                <a:endParaRPr lang="en-US" sz="1400" dirty="0">
                  <a:solidFill>
                    <a:prstClr val="white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23" name="Freeform 26">
                <a:extLst>
                  <a:ext uri="{FF2B5EF4-FFF2-40B4-BE49-F238E27FC236}">
                    <a16:creationId xmlns:a16="http://schemas.microsoft.com/office/drawing/2014/main" id="{F339FFAD-5372-5CED-3039-108368C4B4A4}"/>
                  </a:ext>
                </a:extLst>
              </p:cNvPr>
              <p:cNvSpPr/>
              <p:nvPr/>
            </p:nvSpPr>
            <p:spPr bwMode="auto">
              <a:xfrm>
                <a:off x="4835513" y="2809382"/>
                <a:ext cx="182445" cy="132183"/>
              </a:xfrm>
              <a:custGeom>
                <a:avLst/>
                <a:gdLst>
                  <a:gd name="T0" fmla="*/ 103 w 274"/>
                  <a:gd name="T1" fmla="*/ 284 h 284"/>
                  <a:gd name="T2" fmla="*/ 80 w 274"/>
                  <a:gd name="T3" fmla="*/ 273 h 284"/>
                  <a:gd name="T4" fmla="*/ 9 w 274"/>
                  <a:gd name="T5" fmla="*/ 178 h 284"/>
                  <a:gd name="T6" fmla="*/ 14 w 274"/>
                  <a:gd name="T7" fmla="*/ 139 h 284"/>
                  <a:gd name="T8" fmla="*/ 53 w 274"/>
                  <a:gd name="T9" fmla="*/ 145 h 284"/>
                  <a:gd name="T10" fmla="*/ 100 w 274"/>
                  <a:gd name="T11" fmla="*/ 207 h 284"/>
                  <a:gd name="T12" fmla="*/ 219 w 274"/>
                  <a:gd name="T13" fmla="*/ 17 h 284"/>
                  <a:gd name="T14" fmla="*/ 257 w 274"/>
                  <a:gd name="T15" fmla="*/ 8 h 284"/>
                  <a:gd name="T16" fmla="*/ 266 w 274"/>
                  <a:gd name="T17" fmla="*/ 47 h 284"/>
                  <a:gd name="T18" fmla="*/ 126 w 274"/>
                  <a:gd name="T19" fmla="*/ 271 h 284"/>
                  <a:gd name="T20" fmla="*/ 104 w 274"/>
                  <a:gd name="T21" fmla="*/ 284 h 284"/>
                  <a:gd name="T22" fmla="*/ 103 w 274"/>
                  <a:gd name="T23" fmla="*/ 284 h 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74" h="284">
                    <a:moveTo>
                      <a:pt x="103" y="284"/>
                    </a:moveTo>
                    <a:cubicBezTo>
                      <a:pt x="94" y="284"/>
                      <a:pt x="86" y="280"/>
                      <a:pt x="80" y="273"/>
                    </a:cubicBezTo>
                    <a:cubicBezTo>
                      <a:pt x="9" y="178"/>
                      <a:pt x="9" y="178"/>
                      <a:pt x="9" y="178"/>
                    </a:cubicBezTo>
                    <a:cubicBezTo>
                      <a:pt x="0" y="166"/>
                      <a:pt x="2" y="149"/>
                      <a:pt x="14" y="139"/>
                    </a:cubicBezTo>
                    <a:cubicBezTo>
                      <a:pt x="27" y="130"/>
                      <a:pt x="44" y="133"/>
                      <a:pt x="53" y="145"/>
                    </a:cubicBezTo>
                    <a:cubicBezTo>
                      <a:pt x="100" y="207"/>
                      <a:pt x="100" y="207"/>
                      <a:pt x="100" y="207"/>
                    </a:cubicBezTo>
                    <a:cubicBezTo>
                      <a:pt x="219" y="17"/>
                      <a:pt x="219" y="17"/>
                      <a:pt x="219" y="17"/>
                    </a:cubicBezTo>
                    <a:cubicBezTo>
                      <a:pt x="227" y="4"/>
                      <a:pt x="244" y="0"/>
                      <a:pt x="257" y="8"/>
                    </a:cubicBezTo>
                    <a:cubicBezTo>
                      <a:pt x="270" y="16"/>
                      <a:pt x="274" y="33"/>
                      <a:pt x="266" y="47"/>
                    </a:cubicBezTo>
                    <a:cubicBezTo>
                      <a:pt x="126" y="271"/>
                      <a:pt x="126" y="271"/>
                      <a:pt x="126" y="271"/>
                    </a:cubicBezTo>
                    <a:cubicBezTo>
                      <a:pt x="121" y="279"/>
                      <a:pt x="113" y="283"/>
                      <a:pt x="104" y="284"/>
                    </a:cubicBezTo>
                    <a:cubicBezTo>
                      <a:pt x="104" y="284"/>
                      <a:pt x="103" y="284"/>
                      <a:pt x="103" y="284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lnSpc>
                    <a:spcPct val="130000"/>
                  </a:lnSpc>
                </a:pPr>
                <a:endParaRPr lang="en-US" sz="1400" dirty="0">
                  <a:solidFill>
                    <a:prstClr val="black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cs typeface="+mn-ea"/>
                  <a:sym typeface="+mn-lt"/>
                </a:endParaRP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56CFD40-47B7-37EB-A2D2-C78F1935E793}"/>
                </a:ext>
              </a:extLst>
            </p:cNvPr>
            <p:cNvSpPr txBox="1"/>
            <p:nvPr/>
          </p:nvSpPr>
          <p:spPr>
            <a:xfrm>
              <a:off x="2520233" y="2070582"/>
              <a:ext cx="5609480" cy="14337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lnSpc>
                  <a:spcPct val="150000"/>
                </a:lnSpc>
              </a:pPr>
              <a:endPara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+mn-lt"/>
              </a:endParaRPr>
            </a:p>
            <a:p>
              <a:pPr marL="285750" indent="-285750" fontAlgn="auto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cs typeface="+mn-ea"/>
                  <a:sym typeface="+mn-lt"/>
                </a:rPr>
                <a:t>Bronx has the highest crime rate (2.95%, 1 crime per 34 people).</a:t>
              </a:r>
            </a:p>
            <a:p>
              <a:pPr fontAlgn="auto">
                <a:lnSpc>
                  <a:spcPct val="150000"/>
                </a:lnSpc>
              </a:pPr>
              <a:endPara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+mn-lt"/>
              </a:endParaRPr>
            </a:p>
            <a:p>
              <a:pPr marL="285750" indent="-285750" fontAlgn="auto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cs typeface="+mn-ea"/>
                  <a:sym typeface="+mn-lt"/>
                </a:rPr>
                <a:t>Staten Island has the lowest (1.51%, 1 crime per 66 people).</a:t>
              </a:r>
            </a:p>
            <a:p>
              <a:pPr fontAlgn="auto">
                <a:lnSpc>
                  <a:spcPct val="150000"/>
                </a:lnSpc>
              </a:pPr>
              <a:endPara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+mn-lt"/>
              </a:endParaRPr>
            </a:p>
            <a:p>
              <a:pPr marL="285750" indent="-285750" fontAlgn="auto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cs typeface="+mn-ea"/>
                  <a:sym typeface="+mn-lt"/>
                </a:rPr>
                <a:t>Manhattan’s rate is higher than Brooklyn even it has lower total arrests.</a:t>
              </a:r>
              <a:endPara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+mn-lt"/>
              </a:endParaRPr>
            </a:p>
            <a:p>
              <a:pPr algn="l" fontAlgn="auto">
                <a:lnSpc>
                  <a:spcPct val="150000"/>
                </a:lnSpc>
                <a:buClrTx/>
                <a:buSzTx/>
                <a:buFontTx/>
              </a:pPr>
              <a:endPara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8545380-300A-ECD8-4F75-D7D03A89C5ED}"/>
                </a:ext>
              </a:extLst>
            </p:cNvPr>
            <p:cNvSpPr txBox="1"/>
            <p:nvPr/>
          </p:nvSpPr>
          <p:spPr>
            <a:xfrm>
              <a:off x="1748466" y="1850526"/>
              <a:ext cx="3035275" cy="222810"/>
            </a:xfrm>
            <a:prstGeom prst="rect">
              <a:avLst/>
            </a:prstGeom>
            <a:noFill/>
          </p:spPr>
          <p:txBody>
            <a:bodyPr wrap="square" lIns="182843" tIns="91422" rIns="182843" bIns="91422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cs typeface="+mn-ea"/>
                  <a:sym typeface="+mn-lt"/>
                </a:rPr>
                <a:t>Findings</a:t>
              </a: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04BDB706-CEB3-C5B5-3977-4DDDF7E7F9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062" y="2205801"/>
            <a:ext cx="6144482" cy="1600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75294"/>
      </p:ext>
    </p:extLst>
  </p:cSld>
  <p:clrMapOvr>
    <a:masterClrMapping/>
  </p:clrMapOvr>
  <p:transition spd="slow" advClick="0" advTm="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59422-6D3A-AE87-4EA7-B6DFDAD79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" name="组合 265">
            <a:extLst>
              <a:ext uri="{FF2B5EF4-FFF2-40B4-BE49-F238E27FC236}">
                <a16:creationId xmlns:a16="http://schemas.microsoft.com/office/drawing/2014/main" id="{46E8A870-BF28-CFFA-56F3-F8DF9BCF65C9}"/>
              </a:ext>
            </a:extLst>
          </p:cNvPr>
          <p:cNvGrpSpPr/>
          <p:nvPr/>
        </p:nvGrpSpPr>
        <p:grpSpPr>
          <a:xfrm>
            <a:off x="865708" y="1103111"/>
            <a:ext cx="10860405" cy="1319238"/>
            <a:chOff x="5875749" y="1414866"/>
            <a:chExt cx="10861820" cy="1319406"/>
          </a:xfrm>
        </p:grpSpPr>
        <p:sp>
          <p:nvSpPr>
            <p:cNvPr id="267" name="TextBox 11">
              <a:extLst>
                <a:ext uri="{FF2B5EF4-FFF2-40B4-BE49-F238E27FC236}">
                  <a16:creationId xmlns:a16="http://schemas.microsoft.com/office/drawing/2014/main" id="{9F7DFBBE-D1D4-9FE7-D8B7-6311C7EC048E}"/>
                </a:ext>
              </a:extLst>
            </p:cNvPr>
            <p:cNvSpPr txBox="1"/>
            <p:nvPr/>
          </p:nvSpPr>
          <p:spPr>
            <a:xfrm>
              <a:off x="6736921" y="2520885"/>
              <a:ext cx="3439409" cy="2133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>
                <a:lnSpc>
                  <a:spcPct val="130000"/>
                </a:lnSpc>
              </a:pPr>
              <a:endParaRPr lang="en-US" altLang="zh-CN" sz="1065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  <p:sp>
          <p:nvSpPr>
            <p:cNvPr id="268" name="TextBox 11">
              <a:extLst>
                <a:ext uri="{FF2B5EF4-FFF2-40B4-BE49-F238E27FC236}">
                  <a16:creationId xmlns:a16="http://schemas.microsoft.com/office/drawing/2014/main" id="{0B3768DA-4887-56CD-05F2-606669CF3BB6}"/>
                </a:ext>
              </a:extLst>
            </p:cNvPr>
            <p:cNvSpPr txBox="1"/>
            <p:nvPr/>
          </p:nvSpPr>
          <p:spPr>
            <a:xfrm>
              <a:off x="5875749" y="1414866"/>
              <a:ext cx="10861820" cy="30781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defTabSz="457200">
                <a:buClr>
                  <a:srgbClr val="151314"/>
                </a:buClr>
                <a:buSzPct val="25000"/>
              </a:pPr>
              <a:r>
                <a:rPr lang="en-US" altLang="zh-CN" sz="2000" b="1" kern="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思源黑体" panose="020B0500000000000000" pitchFamily="34" charset="-122"/>
                  <a:cs typeface="+mn-ea"/>
                </a:rPr>
                <a:t>How do monthly arrest trends vary across NYC boroughs?</a:t>
              </a:r>
              <a:endParaRPr lang="zh-CN" altLang="en-US" sz="2000" b="1" kern="0" dirty="0">
                <a:solidFill>
                  <a:schemeClr val="tx1">
                    <a:lumMod val="85000"/>
                    <a:lumOff val="15000"/>
                  </a:schemeClr>
                </a:solidFill>
                <a:ea typeface="思源黑体" panose="020B0500000000000000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61" name="矩形 60">
            <a:extLst>
              <a:ext uri="{FF2B5EF4-FFF2-40B4-BE49-F238E27FC236}">
                <a16:creationId xmlns:a16="http://schemas.microsoft.com/office/drawing/2014/main" id="{708004E2-E603-3BDE-562F-D1D0C1B01C36}"/>
              </a:ext>
            </a:extLst>
          </p:cNvPr>
          <p:cNvSpPr/>
          <p:nvPr userDrawn="1"/>
        </p:nvSpPr>
        <p:spPr>
          <a:xfrm>
            <a:off x="865505" y="219710"/>
            <a:ext cx="5482590" cy="5656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800" dirty="0">
                <a:solidFill>
                  <a:srgbClr val="2A3246"/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+mn-lt"/>
              </a:rPr>
              <a:t>Research Question </a:t>
            </a:r>
            <a:r>
              <a:rPr lang="en-US" altLang="zh-CN" sz="2800" dirty="0">
                <a:solidFill>
                  <a:srgbClr val="2A3246"/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+mn-lt"/>
              </a:rPr>
              <a:t>4</a:t>
            </a:r>
          </a:p>
        </p:txBody>
      </p:sp>
      <p:sp>
        <p:nvSpPr>
          <p:cNvPr id="23" name="Oval 29">
            <a:extLst>
              <a:ext uri="{FF2B5EF4-FFF2-40B4-BE49-F238E27FC236}">
                <a16:creationId xmlns:a16="http://schemas.microsoft.com/office/drawing/2014/main" id="{713A1D67-1FE9-71D4-D477-8DAF0B5FF128}"/>
              </a:ext>
            </a:extLst>
          </p:cNvPr>
          <p:cNvSpPr/>
          <p:nvPr/>
        </p:nvSpPr>
        <p:spPr>
          <a:xfrm>
            <a:off x="1973580" y="2141855"/>
            <a:ext cx="1161415" cy="998220"/>
          </a:xfrm>
          <a:prstGeom prst="ellipse">
            <a:avLst/>
          </a:prstGeom>
          <a:solidFill>
            <a:srgbClr val="92D050"/>
          </a:solidFill>
          <a:ln>
            <a:noFill/>
          </a:ln>
          <a:effectLst>
            <a:outerShdw blurRad="254000" dist="635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ct val="130000"/>
              </a:lnSpc>
            </a:pPr>
            <a:r>
              <a:rPr lang="id-ID" dirty="0"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+mn-lt"/>
              </a:rPr>
              <a:t>01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634D905-4DB8-B95F-D7C8-8514E254518B}"/>
              </a:ext>
            </a:extLst>
          </p:cNvPr>
          <p:cNvSpPr txBox="1"/>
          <p:nvPr/>
        </p:nvSpPr>
        <p:spPr>
          <a:xfrm>
            <a:off x="3324225" y="1993900"/>
            <a:ext cx="8286750" cy="777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+mn-lt"/>
              </a:rPr>
              <a:t>Purpose</a:t>
            </a:r>
          </a:p>
          <a:p>
            <a:pPr>
              <a:lnSpc>
                <a:spcPct val="130000"/>
              </a:lnSpc>
            </a:pP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</a:rPr>
              <a:t>Shows monthly arrest trend for each borough.</a:t>
            </a: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  <a:latin typeface="思源黑体" panose="020B0500000000000000" pitchFamily="34" charset="-122"/>
              <a:ea typeface="思源黑体" panose="020B0500000000000000" pitchFamily="34" charset="-122"/>
              <a:cs typeface="+mn-ea"/>
              <a:sym typeface="+mn-lt"/>
            </a:endParaRPr>
          </a:p>
        </p:txBody>
      </p:sp>
      <p:sp>
        <p:nvSpPr>
          <p:cNvPr id="25" name="Oval 31">
            <a:extLst>
              <a:ext uri="{FF2B5EF4-FFF2-40B4-BE49-F238E27FC236}">
                <a16:creationId xmlns:a16="http://schemas.microsoft.com/office/drawing/2014/main" id="{6651E3C6-5D5F-BFB3-BE4F-3CCFA1213417}"/>
              </a:ext>
            </a:extLst>
          </p:cNvPr>
          <p:cNvSpPr/>
          <p:nvPr/>
        </p:nvSpPr>
        <p:spPr>
          <a:xfrm>
            <a:off x="1973580" y="3898900"/>
            <a:ext cx="1161415" cy="997585"/>
          </a:xfrm>
          <a:prstGeom prst="ellipse">
            <a:avLst/>
          </a:prstGeom>
          <a:solidFill>
            <a:srgbClr val="FFC000"/>
          </a:solidFill>
          <a:ln>
            <a:noFill/>
          </a:ln>
          <a:effectLst>
            <a:outerShdw blurRad="254000" dist="635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ct val="130000"/>
              </a:lnSpc>
            </a:pPr>
            <a:r>
              <a:rPr lang="id-ID" dirty="0"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+mn-lt"/>
              </a:rPr>
              <a:t>02</a:t>
            </a:r>
          </a:p>
        </p:txBody>
      </p:sp>
      <p:sp>
        <p:nvSpPr>
          <p:cNvPr id="3" name="TextBox 23">
            <a:extLst>
              <a:ext uri="{FF2B5EF4-FFF2-40B4-BE49-F238E27FC236}">
                <a16:creationId xmlns:a16="http://schemas.microsoft.com/office/drawing/2014/main" id="{D77F2A91-EE3A-CF1F-A436-0F300A3CBD27}"/>
              </a:ext>
            </a:extLst>
          </p:cNvPr>
          <p:cNvSpPr txBox="1"/>
          <p:nvPr/>
        </p:nvSpPr>
        <p:spPr>
          <a:xfrm>
            <a:off x="3324225" y="3366135"/>
            <a:ext cx="812355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00000"/>
              </a:lnSpc>
            </a:pP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+mn-lt"/>
              </a:rPr>
              <a:t>Method</a:t>
            </a:r>
          </a:p>
          <a:p>
            <a:pPr algn="l" fontAlgn="auto">
              <a:lnSpc>
                <a:spcPct val="100000"/>
              </a:lnSpc>
              <a:buClrTx/>
              <a:buSzTx/>
              <a:buNone/>
            </a:pP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+mn-lt"/>
              </a:rPr>
              <a:t>Data: NYPD Arrest Data (2023)</a:t>
            </a:r>
          </a:p>
          <a:p>
            <a:pPr algn="l" fontAlgn="auto">
              <a:lnSpc>
                <a:spcPct val="100000"/>
              </a:lnSpc>
              <a:buClrTx/>
              <a:buSzTx/>
              <a:buNone/>
            </a:pP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  <a:latin typeface="思源黑体" panose="020B0500000000000000" pitchFamily="34" charset="-122"/>
              <a:ea typeface="思源黑体" panose="020B0500000000000000" pitchFamily="34" charset="-122"/>
              <a:cs typeface="+mn-ea"/>
              <a:sym typeface="+mn-lt"/>
            </a:endParaRPr>
          </a:p>
          <a:p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+mn-lt"/>
              </a:rPr>
              <a:t>Key variables: 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</a:rPr>
              <a:t>Borough, Arrest Date, Arrest Key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  <a:latin typeface="思源黑体" panose="020B0500000000000000" pitchFamily="34" charset="-122"/>
              <a:ea typeface="思源黑体" panose="020B0500000000000000" pitchFamily="34" charset="-122"/>
              <a:cs typeface="+mn-ea"/>
              <a:sym typeface="+mn-lt"/>
            </a:endParaRPr>
          </a:p>
          <a:p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  <a:latin typeface="思源黑体" panose="020B0500000000000000" pitchFamily="34" charset="-122"/>
              <a:ea typeface="思源黑体" panose="020B0500000000000000" pitchFamily="34" charset="-122"/>
              <a:cs typeface="+mn-ea"/>
              <a:sym typeface="+mn-lt"/>
            </a:endParaRPr>
          </a:p>
          <a:p>
            <a:pPr algn="l" fontAlgn="auto">
              <a:lnSpc>
                <a:spcPct val="100000"/>
              </a:lnSpc>
              <a:buClrTx/>
              <a:buSzTx/>
              <a:buNone/>
            </a:pP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+mn-lt"/>
              </a:rPr>
              <a:t>Tool: 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+mn-lt"/>
              </a:rPr>
              <a:t>Line chart represent every borough with individual axis </a:t>
            </a: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  <a:latin typeface="思源黑体" panose="020B0500000000000000" pitchFamily="34" charset="-122"/>
              <a:ea typeface="思源黑体" panose="020B0500000000000000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82974701"/>
      </p:ext>
    </p:extLst>
  </p:cSld>
  <p:clrMapOvr>
    <a:masterClrMapping/>
  </p:clrMapOvr>
  <p:transition spd="slow" advClick="0" advTm="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ldLvl="0" animBg="1"/>
      <p:bldP spid="24" grpId="0"/>
      <p:bldP spid="25" grpId="0" bldLvl="0" animBg="1"/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585C1-9C89-04C8-48FE-56F8C3C5F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>
            <a:extLst>
              <a:ext uri="{FF2B5EF4-FFF2-40B4-BE49-F238E27FC236}">
                <a16:creationId xmlns:a16="http://schemas.microsoft.com/office/drawing/2014/main" id="{21F373E3-7EF4-5A9A-B526-6AA2408D592F}"/>
              </a:ext>
            </a:extLst>
          </p:cNvPr>
          <p:cNvGrpSpPr/>
          <p:nvPr/>
        </p:nvGrpSpPr>
        <p:grpSpPr>
          <a:xfrm>
            <a:off x="6007229" y="1000942"/>
            <a:ext cx="5192578" cy="2545157"/>
            <a:chOff x="1337246" y="1850526"/>
            <a:chExt cx="6794367" cy="1048180"/>
          </a:xfrm>
        </p:grpSpPr>
        <p:grpSp>
          <p:nvGrpSpPr>
            <p:cNvPr id="19" name="Group 332">
              <a:extLst>
                <a:ext uri="{FF2B5EF4-FFF2-40B4-BE49-F238E27FC236}">
                  <a16:creationId xmlns:a16="http://schemas.microsoft.com/office/drawing/2014/main" id="{84BC8029-9A84-179C-3A5A-90136E1DB569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337246" y="2161564"/>
              <a:ext cx="1184887" cy="321301"/>
              <a:chOff x="4630262" y="2789652"/>
              <a:chExt cx="632984" cy="171644"/>
            </a:xfrm>
          </p:grpSpPr>
          <p:sp>
            <p:nvSpPr>
              <p:cNvPr id="22" name="Oval 59">
                <a:extLst>
                  <a:ext uri="{FF2B5EF4-FFF2-40B4-BE49-F238E27FC236}">
                    <a16:creationId xmlns:a16="http://schemas.microsoft.com/office/drawing/2014/main" id="{1E8FB953-E30D-CA5C-B1D3-01E47327C009}"/>
                  </a:ext>
                </a:extLst>
              </p:cNvPr>
              <p:cNvSpPr/>
              <p:nvPr/>
            </p:nvSpPr>
            <p:spPr>
              <a:xfrm>
                <a:off x="4630262" y="2789652"/>
                <a:ext cx="632984" cy="171644"/>
              </a:xfrm>
              <a:prstGeom prst="ellipse">
                <a:avLst/>
              </a:prstGeom>
              <a:gradFill>
                <a:gsLst>
                  <a:gs pos="0">
                    <a:srgbClr val="14CD68"/>
                  </a:gs>
                  <a:gs pos="100000">
                    <a:srgbClr val="0B6E38"/>
                  </a:gs>
                </a:gsLst>
                <a:lin scaled="0"/>
              </a:gradFill>
              <a:ln>
                <a:noFill/>
              </a:ln>
              <a:effectLst>
                <a:outerShdw blurRad="254000" dist="63500" dir="2700000" algn="tl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30000"/>
                  </a:lnSpc>
                </a:pPr>
                <a:endParaRPr lang="en-US" sz="1400" dirty="0">
                  <a:solidFill>
                    <a:prstClr val="white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23" name="Freeform 26">
                <a:extLst>
                  <a:ext uri="{FF2B5EF4-FFF2-40B4-BE49-F238E27FC236}">
                    <a16:creationId xmlns:a16="http://schemas.microsoft.com/office/drawing/2014/main" id="{BBF6CBB9-8EDE-9503-AC5A-D0BE2AEA0472}"/>
                  </a:ext>
                </a:extLst>
              </p:cNvPr>
              <p:cNvSpPr/>
              <p:nvPr/>
            </p:nvSpPr>
            <p:spPr bwMode="auto">
              <a:xfrm>
                <a:off x="4835513" y="2809382"/>
                <a:ext cx="182445" cy="132183"/>
              </a:xfrm>
              <a:custGeom>
                <a:avLst/>
                <a:gdLst>
                  <a:gd name="T0" fmla="*/ 103 w 274"/>
                  <a:gd name="T1" fmla="*/ 284 h 284"/>
                  <a:gd name="T2" fmla="*/ 80 w 274"/>
                  <a:gd name="T3" fmla="*/ 273 h 284"/>
                  <a:gd name="T4" fmla="*/ 9 w 274"/>
                  <a:gd name="T5" fmla="*/ 178 h 284"/>
                  <a:gd name="T6" fmla="*/ 14 w 274"/>
                  <a:gd name="T7" fmla="*/ 139 h 284"/>
                  <a:gd name="T8" fmla="*/ 53 w 274"/>
                  <a:gd name="T9" fmla="*/ 145 h 284"/>
                  <a:gd name="T10" fmla="*/ 100 w 274"/>
                  <a:gd name="T11" fmla="*/ 207 h 284"/>
                  <a:gd name="T12" fmla="*/ 219 w 274"/>
                  <a:gd name="T13" fmla="*/ 17 h 284"/>
                  <a:gd name="T14" fmla="*/ 257 w 274"/>
                  <a:gd name="T15" fmla="*/ 8 h 284"/>
                  <a:gd name="T16" fmla="*/ 266 w 274"/>
                  <a:gd name="T17" fmla="*/ 47 h 284"/>
                  <a:gd name="T18" fmla="*/ 126 w 274"/>
                  <a:gd name="T19" fmla="*/ 271 h 284"/>
                  <a:gd name="T20" fmla="*/ 104 w 274"/>
                  <a:gd name="T21" fmla="*/ 284 h 284"/>
                  <a:gd name="T22" fmla="*/ 103 w 274"/>
                  <a:gd name="T23" fmla="*/ 284 h 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74" h="284">
                    <a:moveTo>
                      <a:pt x="103" y="284"/>
                    </a:moveTo>
                    <a:cubicBezTo>
                      <a:pt x="94" y="284"/>
                      <a:pt x="86" y="280"/>
                      <a:pt x="80" y="273"/>
                    </a:cubicBezTo>
                    <a:cubicBezTo>
                      <a:pt x="9" y="178"/>
                      <a:pt x="9" y="178"/>
                      <a:pt x="9" y="178"/>
                    </a:cubicBezTo>
                    <a:cubicBezTo>
                      <a:pt x="0" y="166"/>
                      <a:pt x="2" y="149"/>
                      <a:pt x="14" y="139"/>
                    </a:cubicBezTo>
                    <a:cubicBezTo>
                      <a:pt x="27" y="130"/>
                      <a:pt x="44" y="133"/>
                      <a:pt x="53" y="145"/>
                    </a:cubicBezTo>
                    <a:cubicBezTo>
                      <a:pt x="100" y="207"/>
                      <a:pt x="100" y="207"/>
                      <a:pt x="100" y="207"/>
                    </a:cubicBezTo>
                    <a:cubicBezTo>
                      <a:pt x="219" y="17"/>
                      <a:pt x="219" y="17"/>
                      <a:pt x="219" y="17"/>
                    </a:cubicBezTo>
                    <a:cubicBezTo>
                      <a:pt x="227" y="4"/>
                      <a:pt x="244" y="0"/>
                      <a:pt x="257" y="8"/>
                    </a:cubicBezTo>
                    <a:cubicBezTo>
                      <a:pt x="270" y="16"/>
                      <a:pt x="274" y="33"/>
                      <a:pt x="266" y="47"/>
                    </a:cubicBezTo>
                    <a:cubicBezTo>
                      <a:pt x="126" y="271"/>
                      <a:pt x="126" y="271"/>
                      <a:pt x="126" y="271"/>
                    </a:cubicBezTo>
                    <a:cubicBezTo>
                      <a:pt x="121" y="279"/>
                      <a:pt x="113" y="283"/>
                      <a:pt x="104" y="284"/>
                    </a:cubicBezTo>
                    <a:cubicBezTo>
                      <a:pt x="104" y="284"/>
                      <a:pt x="103" y="284"/>
                      <a:pt x="103" y="284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lnSpc>
                    <a:spcPct val="130000"/>
                  </a:lnSpc>
                </a:pPr>
                <a:endParaRPr lang="en-US" sz="1400" dirty="0">
                  <a:solidFill>
                    <a:prstClr val="black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cs typeface="+mn-ea"/>
                  <a:sym typeface="+mn-lt"/>
                </a:endParaRP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5D327DB-610E-52FF-9A84-EE1835C84D90}"/>
                </a:ext>
              </a:extLst>
            </p:cNvPr>
            <p:cNvSpPr txBox="1"/>
            <p:nvPr/>
          </p:nvSpPr>
          <p:spPr>
            <a:xfrm>
              <a:off x="2522133" y="2073336"/>
              <a:ext cx="5609480" cy="8253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lnSpc>
                  <a:spcPct val="150000"/>
                </a:lnSpc>
              </a:pPr>
              <a:endPara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+mn-lt"/>
              </a:endParaRPr>
            </a:p>
            <a:p>
              <a:pPr marL="285750" indent="-285750" fontAlgn="auto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ea typeface="思源黑体" panose="020B0500000000000000" pitchFamily="34" charset="-122"/>
                  <a:cs typeface="+mn-ea"/>
                </a:rPr>
                <a:t>Seasonal fluctuations are small; overall trends are stable.</a:t>
              </a:r>
              <a:endPara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ea typeface="思源黑体" panose="020B0500000000000000" pitchFamily="34" charset="-122"/>
                <a:cs typeface="+mn-ea"/>
                <a:sym typeface="+mn-lt"/>
              </a:endParaRPr>
            </a:p>
            <a:p>
              <a:pPr marL="285750" indent="-285750" fontAlgn="auto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ea typeface="思源黑体" panose="020B0500000000000000" pitchFamily="34" charset="-122"/>
                  <a:cs typeface="+mn-ea"/>
                </a:rPr>
                <a:t>Brooklyn and Bronx consistently have high arrest numbers; Staten Island remains low.</a:t>
              </a:r>
              <a:endPara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ea typeface="思源黑体" panose="020B0500000000000000" pitchFamily="34" charset="-122"/>
                <a:cs typeface="+mn-ea"/>
                <a:sym typeface="+mn-lt"/>
              </a:endParaRPr>
            </a:p>
            <a:p>
              <a:pPr algn="l" fontAlgn="auto">
                <a:lnSpc>
                  <a:spcPct val="150000"/>
                </a:lnSpc>
                <a:buClrTx/>
                <a:buSzTx/>
                <a:buFontTx/>
              </a:pPr>
              <a:endPara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4E664C6-1732-7F86-DEC3-F1B0143FE26B}"/>
                </a:ext>
              </a:extLst>
            </p:cNvPr>
            <p:cNvSpPr txBox="1"/>
            <p:nvPr/>
          </p:nvSpPr>
          <p:spPr>
            <a:xfrm>
              <a:off x="1748466" y="1850526"/>
              <a:ext cx="3035275" cy="222810"/>
            </a:xfrm>
            <a:prstGeom prst="rect">
              <a:avLst/>
            </a:prstGeom>
            <a:noFill/>
          </p:spPr>
          <p:txBody>
            <a:bodyPr wrap="square" lIns="182843" tIns="91422" rIns="182843" bIns="91422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cs typeface="+mn-ea"/>
                  <a:sym typeface="+mn-lt"/>
                </a:rPr>
                <a:t>Findings</a:t>
              </a: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760A9C6D-B2F9-35AB-AE1F-3C92A817CE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660" y="234969"/>
            <a:ext cx="3686513" cy="6623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038825"/>
      </p:ext>
    </p:extLst>
  </p:cSld>
  <p:clrMapOvr>
    <a:masterClrMapping/>
  </p:clrMapOvr>
  <p:transition spd="slow" advClick="0" advTm="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D0259-6E42-DA9D-D18D-D40F6248D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" name="组合 265">
            <a:extLst>
              <a:ext uri="{FF2B5EF4-FFF2-40B4-BE49-F238E27FC236}">
                <a16:creationId xmlns:a16="http://schemas.microsoft.com/office/drawing/2014/main" id="{93FA93B2-D30D-8032-BDCC-165812C33996}"/>
              </a:ext>
            </a:extLst>
          </p:cNvPr>
          <p:cNvGrpSpPr/>
          <p:nvPr/>
        </p:nvGrpSpPr>
        <p:grpSpPr>
          <a:xfrm>
            <a:off x="865505" y="1109332"/>
            <a:ext cx="10860405" cy="1313017"/>
            <a:chOff x="5875546" y="1421088"/>
            <a:chExt cx="10861820" cy="1313184"/>
          </a:xfrm>
        </p:grpSpPr>
        <p:sp>
          <p:nvSpPr>
            <p:cNvPr id="267" name="TextBox 11">
              <a:extLst>
                <a:ext uri="{FF2B5EF4-FFF2-40B4-BE49-F238E27FC236}">
                  <a16:creationId xmlns:a16="http://schemas.microsoft.com/office/drawing/2014/main" id="{B2B2D0D2-740A-2DF0-B43D-D3ED51DB0871}"/>
                </a:ext>
              </a:extLst>
            </p:cNvPr>
            <p:cNvSpPr txBox="1"/>
            <p:nvPr/>
          </p:nvSpPr>
          <p:spPr>
            <a:xfrm>
              <a:off x="6736921" y="2520885"/>
              <a:ext cx="3439409" cy="2133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>
                <a:lnSpc>
                  <a:spcPct val="130000"/>
                </a:lnSpc>
              </a:pPr>
              <a:endParaRPr lang="en-US" altLang="zh-CN" sz="1065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  <p:sp>
          <p:nvSpPr>
            <p:cNvPr id="268" name="TextBox 11">
              <a:extLst>
                <a:ext uri="{FF2B5EF4-FFF2-40B4-BE49-F238E27FC236}">
                  <a16:creationId xmlns:a16="http://schemas.microsoft.com/office/drawing/2014/main" id="{8561AD0A-1218-13ED-844A-2527A0A85475}"/>
                </a:ext>
              </a:extLst>
            </p:cNvPr>
            <p:cNvSpPr txBox="1"/>
            <p:nvPr/>
          </p:nvSpPr>
          <p:spPr>
            <a:xfrm>
              <a:off x="5875546" y="1421088"/>
              <a:ext cx="10861820" cy="30781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defTabSz="457200">
                <a:buClr>
                  <a:srgbClr val="151314"/>
                </a:buClr>
                <a:buSzPct val="25000"/>
              </a:pPr>
              <a:r>
                <a:rPr lang="en-US" altLang="zh-CN" sz="2000" b="1" kern="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思源黑体" panose="020B0500000000000000" pitchFamily="34" charset="-122"/>
                  <a:cs typeface="+mn-ea"/>
                </a:rPr>
                <a:t>What is the arrest rate for each race in NYC, and which are above or below the citywide average?</a:t>
              </a:r>
              <a:endParaRPr lang="zh-CN" altLang="en-US" sz="2000" b="1" kern="0" dirty="0">
                <a:solidFill>
                  <a:schemeClr val="tx1">
                    <a:lumMod val="85000"/>
                    <a:lumOff val="15000"/>
                  </a:schemeClr>
                </a:solidFill>
                <a:ea typeface="思源黑体" panose="020B0500000000000000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61" name="矩形 60">
            <a:extLst>
              <a:ext uri="{FF2B5EF4-FFF2-40B4-BE49-F238E27FC236}">
                <a16:creationId xmlns:a16="http://schemas.microsoft.com/office/drawing/2014/main" id="{6EC3A151-9EEA-22B5-5CE9-ABE1ABD4874B}"/>
              </a:ext>
            </a:extLst>
          </p:cNvPr>
          <p:cNvSpPr/>
          <p:nvPr userDrawn="1"/>
        </p:nvSpPr>
        <p:spPr>
          <a:xfrm>
            <a:off x="865505" y="219710"/>
            <a:ext cx="5482590" cy="5656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800" dirty="0">
                <a:solidFill>
                  <a:srgbClr val="2A3246"/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+mn-lt"/>
              </a:rPr>
              <a:t>Research Question </a:t>
            </a:r>
            <a:r>
              <a:rPr lang="en-US" altLang="zh-CN" sz="2800" dirty="0">
                <a:solidFill>
                  <a:srgbClr val="2A3246"/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+mn-lt"/>
              </a:rPr>
              <a:t>5</a:t>
            </a:r>
          </a:p>
        </p:txBody>
      </p:sp>
      <p:sp>
        <p:nvSpPr>
          <p:cNvPr id="23" name="Oval 29">
            <a:extLst>
              <a:ext uri="{FF2B5EF4-FFF2-40B4-BE49-F238E27FC236}">
                <a16:creationId xmlns:a16="http://schemas.microsoft.com/office/drawing/2014/main" id="{A39341C6-A597-3402-B095-350D1BC6517E}"/>
              </a:ext>
            </a:extLst>
          </p:cNvPr>
          <p:cNvSpPr/>
          <p:nvPr/>
        </p:nvSpPr>
        <p:spPr>
          <a:xfrm>
            <a:off x="1973580" y="2141855"/>
            <a:ext cx="1161415" cy="998220"/>
          </a:xfrm>
          <a:prstGeom prst="ellipse">
            <a:avLst/>
          </a:prstGeom>
          <a:solidFill>
            <a:srgbClr val="92D050"/>
          </a:solidFill>
          <a:ln>
            <a:noFill/>
          </a:ln>
          <a:effectLst>
            <a:outerShdw blurRad="254000" dist="635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ct val="130000"/>
              </a:lnSpc>
            </a:pPr>
            <a:r>
              <a:rPr lang="id-ID" dirty="0"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+mn-lt"/>
              </a:rPr>
              <a:t>01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6C52A19-6C34-8077-00AB-33B29483C169}"/>
              </a:ext>
            </a:extLst>
          </p:cNvPr>
          <p:cNvSpPr txBox="1"/>
          <p:nvPr/>
        </p:nvSpPr>
        <p:spPr>
          <a:xfrm>
            <a:off x="3324225" y="1993900"/>
            <a:ext cx="8286750" cy="777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+mn-lt"/>
              </a:rPr>
              <a:t>Purpose</a:t>
            </a:r>
          </a:p>
          <a:p>
            <a:pPr>
              <a:lnSpc>
                <a:spcPct val="130000"/>
              </a:lnSpc>
            </a:pP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</a:rPr>
              <a:t>Shows crime rate by race with an average reference line.</a:t>
            </a: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  <a:latin typeface="思源黑体" panose="020B0500000000000000" pitchFamily="34" charset="-122"/>
              <a:ea typeface="思源黑体" panose="020B0500000000000000" pitchFamily="34" charset="-122"/>
              <a:cs typeface="+mn-ea"/>
              <a:sym typeface="+mn-lt"/>
            </a:endParaRPr>
          </a:p>
        </p:txBody>
      </p:sp>
      <p:sp>
        <p:nvSpPr>
          <p:cNvPr id="25" name="Oval 31">
            <a:extLst>
              <a:ext uri="{FF2B5EF4-FFF2-40B4-BE49-F238E27FC236}">
                <a16:creationId xmlns:a16="http://schemas.microsoft.com/office/drawing/2014/main" id="{10E471D2-3F75-40B6-13C7-2AEF99521F62}"/>
              </a:ext>
            </a:extLst>
          </p:cNvPr>
          <p:cNvSpPr/>
          <p:nvPr/>
        </p:nvSpPr>
        <p:spPr>
          <a:xfrm>
            <a:off x="1973580" y="3898900"/>
            <a:ext cx="1161415" cy="997585"/>
          </a:xfrm>
          <a:prstGeom prst="ellipse">
            <a:avLst/>
          </a:prstGeom>
          <a:solidFill>
            <a:srgbClr val="FFC000"/>
          </a:solidFill>
          <a:ln>
            <a:noFill/>
          </a:ln>
          <a:effectLst>
            <a:outerShdw blurRad="254000" dist="635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ct val="130000"/>
              </a:lnSpc>
            </a:pPr>
            <a:r>
              <a:rPr lang="id-ID" dirty="0"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+mn-lt"/>
              </a:rPr>
              <a:t>02</a:t>
            </a:r>
          </a:p>
        </p:txBody>
      </p:sp>
      <p:sp>
        <p:nvSpPr>
          <p:cNvPr id="3" name="TextBox 23">
            <a:extLst>
              <a:ext uri="{FF2B5EF4-FFF2-40B4-BE49-F238E27FC236}">
                <a16:creationId xmlns:a16="http://schemas.microsoft.com/office/drawing/2014/main" id="{7BE3BB59-47C4-5176-993B-918D964B442F}"/>
              </a:ext>
            </a:extLst>
          </p:cNvPr>
          <p:cNvSpPr txBox="1"/>
          <p:nvPr/>
        </p:nvSpPr>
        <p:spPr>
          <a:xfrm>
            <a:off x="3324225" y="3366135"/>
            <a:ext cx="812355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00000"/>
              </a:lnSpc>
            </a:pP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+mn-lt"/>
              </a:rPr>
              <a:t>Method</a:t>
            </a:r>
          </a:p>
          <a:p>
            <a:pPr algn="l" fontAlgn="auto">
              <a:lnSpc>
                <a:spcPct val="100000"/>
              </a:lnSpc>
              <a:buClrTx/>
              <a:buSzTx/>
              <a:buNone/>
            </a:pP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+mn-lt"/>
              </a:rPr>
              <a:t>Data: NYPD Arrest Data (2023)</a:t>
            </a:r>
          </a:p>
          <a:p>
            <a:pPr algn="l" fontAlgn="auto">
              <a:lnSpc>
                <a:spcPct val="100000"/>
              </a:lnSpc>
              <a:buClrTx/>
              <a:buSzTx/>
              <a:buNone/>
            </a:pP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  <a:latin typeface="思源黑体" panose="020B0500000000000000" pitchFamily="34" charset="-122"/>
              <a:ea typeface="思源黑体" panose="020B0500000000000000" pitchFamily="34" charset="-122"/>
              <a:cs typeface="+mn-ea"/>
              <a:sym typeface="+mn-lt"/>
            </a:endParaRPr>
          </a:p>
          <a:p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+mn-lt"/>
              </a:rPr>
              <a:t>Key variables: 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</a:rPr>
              <a:t>Race Crime Rate (%), Arrest Key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  <a:latin typeface="思源黑体" panose="020B0500000000000000" pitchFamily="34" charset="-122"/>
              <a:ea typeface="思源黑体" panose="020B0500000000000000" pitchFamily="34" charset="-122"/>
              <a:cs typeface="+mn-ea"/>
              <a:sym typeface="+mn-lt"/>
            </a:endParaRPr>
          </a:p>
          <a:p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  <a:latin typeface="思源黑体" panose="020B0500000000000000" pitchFamily="34" charset="-122"/>
              <a:ea typeface="思源黑体" panose="020B0500000000000000" pitchFamily="34" charset="-122"/>
              <a:cs typeface="+mn-ea"/>
              <a:sym typeface="+mn-lt"/>
            </a:endParaRPr>
          </a:p>
          <a:p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+mn-lt"/>
              </a:rPr>
              <a:t>Tool: 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</a:rPr>
              <a:t>Circle marks, average reference line, color-coded by Zone Label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+mn-lt"/>
              </a:rPr>
              <a:t> </a:t>
            </a: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  <a:latin typeface="思源黑体" panose="020B0500000000000000" pitchFamily="34" charset="-122"/>
              <a:ea typeface="思源黑体" panose="020B0500000000000000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59707549"/>
      </p:ext>
    </p:extLst>
  </p:cSld>
  <p:clrMapOvr>
    <a:masterClrMapping/>
  </p:clrMapOvr>
  <p:transition spd="slow" advClick="0" advTm="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ldLvl="0" animBg="1"/>
      <p:bldP spid="24" grpId="0"/>
      <p:bldP spid="25" grpId="0" bldLvl="0" animBg="1"/>
      <p:bldP spid="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6C640-D9F6-9771-E49A-1BB200F27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>
            <a:extLst>
              <a:ext uri="{FF2B5EF4-FFF2-40B4-BE49-F238E27FC236}">
                <a16:creationId xmlns:a16="http://schemas.microsoft.com/office/drawing/2014/main" id="{6B12A1E5-96A0-8098-D473-5A56A82B7389}"/>
              </a:ext>
            </a:extLst>
          </p:cNvPr>
          <p:cNvGrpSpPr/>
          <p:nvPr/>
        </p:nvGrpSpPr>
        <p:grpSpPr>
          <a:xfrm>
            <a:off x="5873581" y="1405269"/>
            <a:ext cx="5192578" cy="1806496"/>
            <a:chOff x="1337246" y="1850526"/>
            <a:chExt cx="6794367" cy="743975"/>
          </a:xfrm>
        </p:grpSpPr>
        <p:grpSp>
          <p:nvGrpSpPr>
            <p:cNvPr id="19" name="Group 332">
              <a:extLst>
                <a:ext uri="{FF2B5EF4-FFF2-40B4-BE49-F238E27FC236}">
                  <a16:creationId xmlns:a16="http://schemas.microsoft.com/office/drawing/2014/main" id="{D809EE2C-F4A2-A1D6-9235-6350E16B8160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337246" y="2161564"/>
              <a:ext cx="1184887" cy="321301"/>
              <a:chOff x="4630262" y="2789652"/>
              <a:chExt cx="632984" cy="171644"/>
            </a:xfrm>
          </p:grpSpPr>
          <p:sp>
            <p:nvSpPr>
              <p:cNvPr id="22" name="Oval 59">
                <a:extLst>
                  <a:ext uri="{FF2B5EF4-FFF2-40B4-BE49-F238E27FC236}">
                    <a16:creationId xmlns:a16="http://schemas.microsoft.com/office/drawing/2014/main" id="{862793EF-0CDE-1DFD-F0A1-47178D3B16E6}"/>
                  </a:ext>
                </a:extLst>
              </p:cNvPr>
              <p:cNvSpPr/>
              <p:nvPr/>
            </p:nvSpPr>
            <p:spPr>
              <a:xfrm>
                <a:off x="4630262" y="2789652"/>
                <a:ext cx="632984" cy="171644"/>
              </a:xfrm>
              <a:prstGeom prst="ellipse">
                <a:avLst/>
              </a:prstGeom>
              <a:gradFill>
                <a:gsLst>
                  <a:gs pos="0">
                    <a:srgbClr val="14CD68"/>
                  </a:gs>
                  <a:gs pos="100000">
                    <a:srgbClr val="0B6E38"/>
                  </a:gs>
                </a:gsLst>
                <a:lin scaled="0"/>
              </a:gradFill>
              <a:ln>
                <a:noFill/>
              </a:ln>
              <a:effectLst>
                <a:outerShdw blurRad="254000" dist="63500" dir="2700000" algn="tl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30000"/>
                  </a:lnSpc>
                </a:pPr>
                <a:endParaRPr lang="en-US" sz="1400" dirty="0">
                  <a:solidFill>
                    <a:prstClr val="white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23" name="Freeform 26">
                <a:extLst>
                  <a:ext uri="{FF2B5EF4-FFF2-40B4-BE49-F238E27FC236}">
                    <a16:creationId xmlns:a16="http://schemas.microsoft.com/office/drawing/2014/main" id="{BF4FF917-C223-0A90-4822-3D50C56BA816}"/>
                  </a:ext>
                </a:extLst>
              </p:cNvPr>
              <p:cNvSpPr/>
              <p:nvPr/>
            </p:nvSpPr>
            <p:spPr bwMode="auto">
              <a:xfrm>
                <a:off x="4835513" y="2809382"/>
                <a:ext cx="182445" cy="132183"/>
              </a:xfrm>
              <a:custGeom>
                <a:avLst/>
                <a:gdLst>
                  <a:gd name="T0" fmla="*/ 103 w 274"/>
                  <a:gd name="T1" fmla="*/ 284 h 284"/>
                  <a:gd name="T2" fmla="*/ 80 w 274"/>
                  <a:gd name="T3" fmla="*/ 273 h 284"/>
                  <a:gd name="T4" fmla="*/ 9 w 274"/>
                  <a:gd name="T5" fmla="*/ 178 h 284"/>
                  <a:gd name="T6" fmla="*/ 14 w 274"/>
                  <a:gd name="T7" fmla="*/ 139 h 284"/>
                  <a:gd name="T8" fmla="*/ 53 w 274"/>
                  <a:gd name="T9" fmla="*/ 145 h 284"/>
                  <a:gd name="T10" fmla="*/ 100 w 274"/>
                  <a:gd name="T11" fmla="*/ 207 h 284"/>
                  <a:gd name="T12" fmla="*/ 219 w 274"/>
                  <a:gd name="T13" fmla="*/ 17 h 284"/>
                  <a:gd name="T14" fmla="*/ 257 w 274"/>
                  <a:gd name="T15" fmla="*/ 8 h 284"/>
                  <a:gd name="T16" fmla="*/ 266 w 274"/>
                  <a:gd name="T17" fmla="*/ 47 h 284"/>
                  <a:gd name="T18" fmla="*/ 126 w 274"/>
                  <a:gd name="T19" fmla="*/ 271 h 284"/>
                  <a:gd name="T20" fmla="*/ 104 w 274"/>
                  <a:gd name="T21" fmla="*/ 284 h 284"/>
                  <a:gd name="T22" fmla="*/ 103 w 274"/>
                  <a:gd name="T23" fmla="*/ 284 h 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74" h="284">
                    <a:moveTo>
                      <a:pt x="103" y="284"/>
                    </a:moveTo>
                    <a:cubicBezTo>
                      <a:pt x="94" y="284"/>
                      <a:pt x="86" y="280"/>
                      <a:pt x="80" y="273"/>
                    </a:cubicBezTo>
                    <a:cubicBezTo>
                      <a:pt x="9" y="178"/>
                      <a:pt x="9" y="178"/>
                      <a:pt x="9" y="178"/>
                    </a:cubicBezTo>
                    <a:cubicBezTo>
                      <a:pt x="0" y="166"/>
                      <a:pt x="2" y="149"/>
                      <a:pt x="14" y="139"/>
                    </a:cubicBezTo>
                    <a:cubicBezTo>
                      <a:pt x="27" y="130"/>
                      <a:pt x="44" y="133"/>
                      <a:pt x="53" y="145"/>
                    </a:cubicBezTo>
                    <a:cubicBezTo>
                      <a:pt x="100" y="207"/>
                      <a:pt x="100" y="207"/>
                      <a:pt x="100" y="207"/>
                    </a:cubicBezTo>
                    <a:cubicBezTo>
                      <a:pt x="219" y="17"/>
                      <a:pt x="219" y="17"/>
                      <a:pt x="219" y="17"/>
                    </a:cubicBezTo>
                    <a:cubicBezTo>
                      <a:pt x="227" y="4"/>
                      <a:pt x="244" y="0"/>
                      <a:pt x="257" y="8"/>
                    </a:cubicBezTo>
                    <a:cubicBezTo>
                      <a:pt x="270" y="16"/>
                      <a:pt x="274" y="33"/>
                      <a:pt x="266" y="47"/>
                    </a:cubicBezTo>
                    <a:cubicBezTo>
                      <a:pt x="126" y="271"/>
                      <a:pt x="126" y="271"/>
                      <a:pt x="126" y="271"/>
                    </a:cubicBezTo>
                    <a:cubicBezTo>
                      <a:pt x="121" y="279"/>
                      <a:pt x="113" y="283"/>
                      <a:pt x="104" y="284"/>
                    </a:cubicBezTo>
                    <a:cubicBezTo>
                      <a:pt x="104" y="284"/>
                      <a:pt x="103" y="284"/>
                      <a:pt x="103" y="284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lnSpc>
                    <a:spcPct val="130000"/>
                  </a:lnSpc>
                </a:pPr>
                <a:endParaRPr lang="en-US" sz="1400" dirty="0">
                  <a:solidFill>
                    <a:prstClr val="black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cs typeface="+mn-ea"/>
                  <a:sym typeface="+mn-lt"/>
                </a:endParaRP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38D1A65-8618-2AF2-5381-D0FD046F0136}"/>
                </a:ext>
              </a:extLst>
            </p:cNvPr>
            <p:cNvSpPr txBox="1"/>
            <p:nvPr/>
          </p:nvSpPr>
          <p:spPr>
            <a:xfrm>
              <a:off x="2522133" y="2073336"/>
              <a:ext cx="5609480" cy="521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lnSpc>
                  <a:spcPct val="150000"/>
                </a:lnSpc>
              </a:pPr>
              <a:endPara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+mn-lt"/>
              </a:endParaRPr>
            </a:p>
            <a:p>
              <a:pPr marL="285750" indent="-285750" fontAlgn="auto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ea typeface="思源黑体" panose="020B0500000000000000" pitchFamily="34" charset="-122"/>
                  <a:cs typeface="+mn-ea"/>
                </a:rPr>
                <a:t>Black and White Hispanic are above average.</a:t>
              </a:r>
              <a:endPara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ea typeface="思源黑体" panose="020B0500000000000000" pitchFamily="34" charset="-122"/>
                <a:cs typeface="+mn-ea"/>
                <a:sym typeface="+mn-lt"/>
              </a:endParaRPr>
            </a:p>
            <a:p>
              <a:pPr marL="285750" indent="-285750" fontAlgn="auto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ea typeface="思源黑体" panose="020B0500000000000000" pitchFamily="34" charset="-122"/>
                  <a:cs typeface="+mn-ea"/>
                </a:rPr>
                <a:t>All other races are below average.</a:t>
              </a:r>
              <a:endPara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ea typeface="思源黑体" panose="020B0500000000000000" pitchFamily="34" charset="-122"/>
                <a:cs typeface="+mn-ea"/>
                <a:sym typeface="+mn-lt"/>
              </a:endParaRPr>
            </a:p>
            <a:p>
              <a:pPr algn="l" fontAlgn="auto">
                <a:lnSpc>
                  <a:spcPct val="150000"/>
                </a:lnSpc>
                <a:buClrTx/>
                <a:buSzTx/>
                <a:buFontTx/>
              </a:pPr>
              <a:endPara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F1B5C41-C44A-BF00-D165-6D26760A6D25}"/>
                </a:ext>
              </a:extLst>
            </p:cNvPr>
            <p:cNvSpPr txBox="1"/>
            <p:nvPr/>
          </p:nvSpPr>
          <p:spPr>
            <a:xfrm>
              <a:off x="1748466" y="1850526"/>
              <a:ext cx="3035275" cy="222810"/>
            </a:xfrm>
            <a:prstGeom prst="rect">
              <a:avLst/>
            </a:prstGeom>
            <a:noFill/>
          </p:spPr>
          <p:txBody>
            <a:bodyPr wrap="square" lIns="182843" tIns="91422" rIns="182843" bIns="91422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cs typeface="+mn-ea"/>
                  <a:sym typeface="+mn-lt"/>
                </a:rPr>
                <a:t>Findings</a:t>
              </a: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19580FA9-A0BA-47FE-F75D-80DDD93B69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841" y="1357349"/>
            <a:ext cx="3763400" cy="4143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619303"/>
      </p:ext>
    </p:extLst>
  </p:cSld>
  <p:clrMapOvr>
    <a:masterClrMapping/>
  </p:clrMapOvr>
  <p:transition spd="slow" advClick="0" advTm="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60">
            <a:extLst>
              <a:ext uri="{FF2B5EF4-FFF2-40B4-BE49-F238E27FC236}">
                <a16:creationId xmlns:a16="http://schemas.microsoft.com/office/drawing/2014/main" id="{5F0645FB-5DAD-3DF5-6638-35EDF404A147}"/>
              </a:ext>
            </a:extLst>
          </p:cNvPr>
          <p:cNvSpPr/>
          <p:nvPr/>
        </p:nvSpPr>
        <p:spPr>
          <a:xfrm>
            <a:off x="865505" y="219710"/>
            <a:ext cx="5482590" cy="5656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2800" dirty="0">
                <a:solidFill>
                  <a:srgbClr val="2A3246"/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+mn-lt"/>
              </a:rPr>
              <a:t>Reference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97FEFD-79D8-2193-2BAC-0C9AF3FF9A0C}"/>
              </a:ext>
            </a:extLst>
          </p:cNvPr>
          <p:cNvSpPr txBox="1"/>
          <p:nvPr/>
        </p:nvSpPr>
        <p:spPr>
          <a:xfrm>
            <a:off x="1296551" y="1606896"/>
            <a:ext cx="9598898" cy="3062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2000" dirty="0"/>
              <a:t>POPULATION ESTIMATES FOR NEW YORK CITY AND BOROUGHS AS OF JULY 1, 2023.</a:t>
            </a:r>
          </a:p>
          <a:p>
            <a:r>
              <a:rPr lang="en-US" altLang="zh-CN" sz="2000" dirty="0"/>
              <a:t> </a:t>
            </a:r>
            <a:r>
              <a:rPr lang="en-US" altLang="zh-CN" sz="2000" dirty="0">
                <a:hlinkClick r:id="rId2"/>
              </a:rPr>
              <a:t>https://www.nyc.gov/assets/planning/download/pdf/planning-level/nyc-population/population-estimates/current-population-estimates-2023-June2024-release.pdf?r=1&amp;utm_source=chatgpt.com</a:t>
            </a:r>
            <a:endParaRPr lang="en-US" altLang="zh-CN" sz="2000" dirty="0"/>
          </a:p>
          <a:p>
            <a:endParaRPr lang="en-US" altLang="zh-CN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2000" dirty="0"/>
              <a:t>Urban Audit city factsheets for 2019 Urban Adaptation Map Viewer, European Environment Agency, 2019. </a:t>
            </a:r>
            <a:r>
              <a:rPr lang="en-US" altLang="zh-CN" sz="2000" dirty="0">
                <a:hlinkClick r:id="rId3"/>
              </a:rPr>
              <a:t>https://public.tableau.com/app/profile/european.environment.agency/viz/test_20190116Urban_vulnerability_ideasFR_0/mainpage</a:t>
            </a:r>
            <a:endParaRPr lang="en-US" altLang="zh-CN" sz="2000" dirty="0"/>
          </a:p>
          <a:p>
            <a:br>
              <a:rPr lang="en-US" altLang="zh-CN" sz="1100" dirty="0"/>
            </a:br>
            <a:endParaRPr lang="zh-CN" altLang="en-US" sz="1100" dirty="0"/>
          </a:p>
        </p:txBody>
      </p:sp>
    </p:spTree>
    <p:extLst>
      <p:ext uri="{BB962C8B-B14F-4D97-AF65-F5344CB8AC3E}">
        <p14:creationId xmlns:p14="http://schemas.microsoft.com/office/powerpoint/2010/main" val="3685214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2981804" y="2739718"/>
            <a:ext cx="58894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200" dirty="0">
                <a:solidFill>
                  <a:srgbClr val="BA8F2D"/>
                </a:solidFill>
                <a:effectLst>
                  <a:outerShdw blurRad="127000" dist="38100" dir="2700000" algn="tl">
                    <a:srgbClr val="000000">
                      <a:alpha val="20000"/>
                    </a:srgbClr>
                  </a:outerShdw>
                </a:effectLst>
                <a:latin typeface="Aa楷体" panose="02000500000000000000" pitchFamily="2" charset="-122"/>
                <a:ea typeface="Aa楷体" panose="02000500000000000000" pitchFamily="2" charset="-122"/>
                <a:cs typeface="Aa楷体" panose="02000500000000000000" pitchFamily="2" charset="-122"/>
              </a:rPr>
              <a:t>THANK YOU</a:t>
            </a:r>
            <a:endParaRPr lang="zh-CN" altLang="en-US" sz="7200" dirty="0">
              <a:solidFill>
                <a:srgbClr val="BA8F2D"/>
              </a:solidFill>
              <a:effectLst>
                <a:outerShdw blurRad="127000" dist="38100" dir="2700000" algn="tl">
                  <a:srgbClr val="000000">
                    <a:alpha val="20000"/>
                  </a:srgbClr>
                </a:outerShdw>
              </a:effectLst>
              <a:latin typeface="Aa楷体" panose="02000500000000000000" pitchFamily="2" charset="-122"/>
              <a:ea typeface="Aa楷体" panose="02000500000000000000" pitchFamily="2" charset="-122"/>
              <a:cs typeface="Aa楷体" panose="02000500000000000000" pitchFamily="2" charset="-122"/>
            </a:endParaRPr>
          </a:p>
        </p:txBody>
      </p:sp>
      <p:sp>
        <p:nvSpPr>
          <p:cNvPr id="27" name="等腰三角形 26"/>
          <p:cNvSpPr/>
          <p:nvPr/>
        </p:nvSpPr>
        <p:spPr>
          <a:xfrm rot="10800000">
            <a:off x="9365673" y="0"/>
            <a:ext cx="1079724" cy="1006120"/>
          </a:xfrm>
          <a:prstGeom prst="triangle">
            <a:avLst/>
          </a:prstGeom>
          <a:solidFill>
            <a:srgbClr val="DDDF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等腰三角形 31"/>
          <p:cNvSpPr/>
          <p:nvPr/>
        </p:nvSpPr>
        <p:spPr>
          <a:xfrm>
            <a:off x="9680476" y="4290466"/>
            <a:ext cx="2755364" cy="2567534"/>
          </a:xfrm>
          <a:prstGeom prst="triangle">
            <a:avLst/>
          </a:prstGeom>
          <a:solidFill>
            <a:srgbClr val="DDDF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等腰三角形 32"/>
          <p:cNvSpPr/>
          <p:nvPr/>
        </p:nvSpPr>
        <p:spPr>
          <a:xfrm rot="10800000">
            <a:off x="-169817" y="-2"/>
            <a:ext cx="2760617" cy="2572428"/>
          </a:xfrm>
          <a:prstGeom prst="triangle">
            <a:avLst/>
          </a:prstGeom>
          <a:solidFill>
            <a:srgbClr val="DDDF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等腰三角形 35"/>
          <p:cNvSpPr/>
          <p:nvPr/>
        </p:nvSpPr>
        <p:spPr>
          <a:xfrm rot="10800000">
            <a:off x="-674915" y="0"/>
            <a:ext cx="2018940" cy="1881310"/>
          </a:xfrm>
          <a:prstGeom prst="triangle">
            <a:avLst/>
          </a:prstGeom>
          <a:solidFill>
            <a:srgbClr val="2A3246"/>
          </a:solidFill>
          <a:ln>
            <a:noFill/>
          </a:ln>
          <a:effectLst>
            <a:outerShdw blurRad="254000" dist="635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等腰三角形 37"/>
          <p:cNvSpPr/>
          <p:nvPr/>
        </p:nvSpPr>
        <p:spPr>
          <a:xfrm>
            <a:off x="10909183" y="4948888"/>
            <a:ext cx="2048774" cy="1909111"/>
          </a:xfrm>
          <a:prstGeom prst="triangle">
            <a:avLst/>
          </a:prstGeom>
          <a:solidFill>
            <a:srgbClr val="2A3246"/>
          </a:solidFill>
          <a:ln>
            <a:noFill/>
          </a:ln>
          <a:effectLst>
            <a:outerShdw blurRad="254000" dist="635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等腰三角形 38"/>
          <p:cNvSpPr/>
          <p:nvPr/>
        </p:nvSpPr>
        <p:spPr>
          <a:xfrm>
            <a:off x="1783930" y="-352697"/>
            <a:ext cx="1547123" cy="1441657"/>
          </a:xfrm>
          <a:prstGeom prst="triangle">
            <a:avLst/>
          </a:prstGeom>
          <a:solidFill>
            <a:srgbClr val="2A3246"/>
          </a:solidFill>
          <a:ln>
            <a:noFill/>
          </a:ln>
          <a:effectLst>
            <a:outerShdw blurRad="254000" dist="635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等腰三角形 39"/>
          <p:cNvSpPr/>
          <p:nvPr/>
        </p:nvSpPr>
        <p:spPr>
          <a:xfrm>
            <a:off x="9753832" y="4397068"/>
            <a:ext cx="748469" cy="697446"/>
          </a:xfrm>
          <a:prstGeom prst="triangle">
            <a:avLst/>
          </a:prstGeom>
          <a:solidFill>
            <a:srgbClr val="BA8F2D"/>
          </a:solidFill>
          <a:ln>
            <a:noFill/>
          </a:ln>
          <a:effectLst>
            <a:outerShdw blurRad="254000" dist="635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等腰三角形 40"/>
          <p:cNvSpPr/>
          <p:nvPr/>
        </p:nvSpPr>
        <p:spPr>
          <a:xfrm>
            <a:off x="10550403" y="6018276"/>
            <a:ext cx="760970" cy="709095"/>
          </a:xfrm>
          <a:prstGeom prst="triangle">
            <a:avLst/>
          </a:prstGeom>
          <a:solidFill>
            <a:srgbClr val="BA8F2D"/>
          </a:solidFill>
          <a:ln>
            <a:noFill/>
          </a:ln>
          <a:effectLst>
            <a:outerShdw blurRad="254000" dist="635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等腰三角形 41"/>
          <p:cNvSpPr/>
          <p:nvPr/>
        </p:nvSpPr>
        <p:spPr>
          <a:xfrm rot="10800000">
            <a:off x="1071898" y="101847"/>
            <a:ext cx="792251" cy="738244"/>
          </a:xfrm>
          <a:prstGeom prst="triangle">
            <a:avLst/>
          </a:prstGeom>
          <a:solidFill>
            <a:srgbClr val="BA8F2D"/>
          </a:solidFill>
          <a:ln>
            <a:noFill/>
          </a:ln>
          <a:effectLst>
            <a:outerShdw blurRad="254000" dist="635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等腰三角形 42"/>
          <p:cNvSpPr/>
          <p:nvPr/>
        </p:nvSpPr>
        <p:spPr>
          <a:xfrm rot="10800000">
            <a:off x="1858695" y="1577568"/>
            <a:ext cx="792251" cy="738244"/>
          </a:xfrm>
          <a:prstGeom prst="triangle">
            <a:avLst/>
          </a:prstGeom>
          <a:solidFill>
            <a:srgbClr val="BA8F2D"/>
          </a:solidFill>
          <a:ln>
            <a:noFill/>
          </a:ln>
          <a:effectLst>
            <a:outerShdw blurRad="254000" dist="635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等腰三角形 43"/>
          <p:cNvSpPr/>
          <p:nvPr/>
        </p:nvSpPr>
        <p:spPr>
          <a:xfrm rot="10800000">
            <a:off x="10193719" y="431758"/>
            <a:ext cx="634768" cy="591496"/>
          </a:xfrm>
          <a:prstGeom prst="triangle">
            <a:avLst/>
          </a:prstGeom>
          <a:solidFill>
            <a:srgbClr val="BA8F2D"/>
          </a:solidFill>
          <a:ln>
            <a:noFill/>
          </a:ln>
          <a:effectLst>
            <a:outerShdw blurRad="254000" dist="635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等腰三角形 44"/>
          <p:cNvSpPr/>
          <p:nvPr/>
        </p:nvSpPr>
        <p:spPr>
          <a:xfrm rot="10800000">
            <a:off x="8954215" y="5760400"/>
            <a:ext cx="1542375" cy="1437232"/>
          </a:xfrm>
          <a:prstGeom prst="triangle">
            <a:avLst/>
          </a:prstGeom>
          <a:solidFill>
            <a:srgbClr val="2A3246"/>
          </a:solidFill>
          <a:ln>
            <a:noFill/>
          </a:ln>
          <a:effectLst>
            <a:outerShdw blurRad="254000" dist="635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6" name="直接连接符 45"/>
          <p:cNvCxnSpPr/>
          <p:nvPr/>
        </p:nvCxnSpPr>
        <p:spPr>
          <a:xfrm>
            <a:off x="5285065" y="15599"/>
            <a:ext cx="462593" cy="860810"/>
          </a:xfrm>
          <a:prstGeom prst="line">
            <a:avLst/>
          </a:prstGeom>
          <a:ln w="19050">
            <a:solidFill>
              <a:srgbClr val="BA8F2D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/>
        </p:nvCxnSpPr>
        <p:spPr>
          <a:xfrm>
            <a:off x="8796482" y="-49558"/>
            <a:ext cx="427655" cy="795795"/>
          </a:xfrm>
          <a:prstGeom prst="line">
            <a:avLst/>
          </a:prstGeom>
          <a:ln w="19050">
            <a:solidFill>
              <a:srgbClr val="2A3246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>
            <a:off x="3095898" y="-610951"/>
            <a:ext cx="632219" cy="1176456"/>
          </a:xfrm>
          <a:prstGeom prst="line">
            <a:avLst/>
          </a:prstGeom>
          <a:ln w="19050">
            <a:solidFill>
              <a:srgbClr val="2A3246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/>
          <p:cNvCxnSpPr/>
          <p:nvPr/>
        </p:nvCxnSpPr>
        <p:spPr>
          <a:xfrm>
            <a:off x="1210217" y="1441655"/>
            <a:ext cx="646054" cy="1202200"/>
          </a:xfrm>
          <a:prstGeom prst="line">
            <a:avLst/>
          </a:prstGeom>
          <a:ln w="19050">
            <a:solidFill>
              <a:srgbClr val="BA8F2D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/>
          <p:cNvCxnSpPr/>
          <p:nvPr/>
        </p:nvCxnSpPr>
        <p:spPr>
          <a:xfrm>
            <a:off x="10377029" y="4042998"/>
            <a:ext cx="642900" cy="1196331"/>
          </a:xfrm>
          <a:prstGeom prst="line">
            <a:avLst/>
          </a:prstGeom>
          <a:ln w="19050">
            <a:solidFill>
              <a:srgbClr val="BA8F2D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/>
          <p:cNvCxnSpPr/>
          <p:nvPr/>
        </p:nvCxnSpPr>
        <p:spPr>
          <a:xfrm>
            <a:off x="11126371" y="2594146"/>
            <a:ext cx="370003" cy="688515"/>
          </a:xfrm>
          <a:prstGeom prst="line">
            <a:avLst/>
          </a:prstGeom>
          <a:ln w="19050">
            <a:solidFill>
              <a:srgbClr val="2A3246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/>
          <p:cNvCxnSpPr/>
          <p:nvPr/>
        </p:nvCxnSpPr>
        <p:spPr>
          <a:xfrm>
            <a:off x="12092408" y="4290466"/>
            <a:ext cx="501126" cy="932513"/>
          </a:xfrm>
          <a:prstGeom prst="line">
            <a:avLst/>
          </a:prstGeom>
          <a:ln w="19050">
            <a:solidFill>
              <a:srgbClr val="BA8F2D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/>
          <p:cNvCxnSpPr/>
          <p:nvPr/>
        </p:nvCxnSpPr>
        <p:spPr>
          <a:xfrm>
            <a:off x="8580861" y="6307359"/>
            <a:ext cx="501126" cy="932513"/>
          </a:xfrm>
          <a:prstGeom prst="line">
            <a:avLst/>
          </a:prstGeom>
          <a:ln w="19050">
            <a:solidFill>
              <a:srgbClr val="2A3246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/>
          <p:cNvCxnSpPr/>
          <p:nvPr/>
        </p:nvCxnSpPr>
        <p:spPr>
          <a:xfrm>
            <a:off x="6433992" y="6190978"/>
            <a:ext cx="501126" cy="932513"/>
          </a:xfrm>
          <a:prstGeom prst="line">
            <a:avLst/>
          </a:prstGeom>
          <a:ln w="19050">
            <a:solidFill>
              <a:srgbClr val="2A3246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/>
          <p:cNvCxnSpPr/>
          <p:nvPr/>
        </p:nvCxnSpPr>
        <p:spPr>
          <a:xfrm>
            <a:off x="750810" y="3649515"/>
            <a:ext cx="388492" cy="722920"/>
          </a:xfrm>
          <a:prstGeom prst="line">
            <a:avLst/>
          </a:prstGeom>
          <a:ln w="19050">
            <a:solidFill>
              <a:srgbClr val="2A3246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/>
          <p:cNvCxnSpPr/>
          <p:nvPr/>
        </p:nvCxnSpPr>
        <p:spPr>
          <a:xfrm>
            <a:off x="-285428" y="1716983"/>
            <a:ext cx="459407" cy="854881"/>
          </a:xfrm>
          <a:prstGeom prst="line">
            <a:avLst/>
          </a:prstGeom>
          <a:ln w="19050">
            <a:solidFill>
              <a:srgbClr val="BA8F2D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 advClick="0" advTm="0">
        <p14:vortex dir="r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27" grpId="0" animBg="1"/>
      <p:bldP spid="32" grpId="0" animBg="1"/>
      <p:bldP spid="33" grpId="0" animBg="1"/>
      <p:bldP spid="36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ULTRA_SCORM_COURSE_ID" val="A180DDAE-8180-43EE-A166-F6A17B7CDD36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SCORM_RATE_SLIDES" val="1"/>
  <p:tag name="ISPRINGONLINEFOLDERID" val="0"/>
  <p:tag name="ISPRINGONLINEFOLDERPATH" val="内容列表"/>
  <p:tag name="ISPRINGCLOUDFOLDERID" val="0"/>
  <p:tag name="ISPRINGCLOUDFOLDERPATH" val="资源库"/>
  <p:tag name="ISPRING_PLAYERS_CUSTOMIZATION" val="UEsDBBQAAgAIAEOUV0cNwDEewAEAANoDAAAPAAAAbm9uZS9wbGF5ZXIueG1spZJPb9QwEMXPW6nfIfK9dpYKUa0cekDKiaJKC4jbyptME1PHDp4Ju/vtmfzZpFuQQOKQaPIy72fPs/X9sXHJT4hog8/EWqYiAV+E0voqE18+5zd34v799ZVunTlBTGyZCR88iKQELKJtiX2PhupMvBAkQ0XCL4+bI9pM1ETtRqnD4SAPtzLESr1J07X69vBxW9TQmBvrkYwvmLvs5VYkbbQhWjpl4l0qrq9WA/ICZ5F7fIXBdf3KKIvQqDYCgieIatz2bN3Q3838NMErOrWAgkdfDbPvTfH8EMrOAfbaSo9tWyDqCYO20rSx6zufYCwyMTbsGkA0FaB0vhJq9Ko/mPWTM1hPHLzA9ty22zuLNYsjfejeLerubBmyVxNHXYJ0M0wwnGLeOZeDoS5CKZIIPzrLVd5jv85HkK7FuJzn7h0+Wy/xULDGVW4KCvH0gR18JFOUco5ejtHLwdTbh+ITF49TnNsFMgezhKBratzbf86j7/6fOEp4Mp0jcV7B+hKOueW/BA2PQsAz9pqk1sl+tTOVd9ftmxdX40Iadzdl8R1FQiZWwNewNGTUos8w9Zqm1fg5JTTHotXv91JPRC5/AVBLAQIAABQAAgAIAEOUV0cNwDEewAEAANoDAAAPAAAAAAAAAAEAAAAAAAAAAABub25lL3BsYXllci54bWxQSwUGAAAAAAEAAQA9AAAA7QEAAAAA"/>
  <p:tag name="ISPRING_PRESENTATION_TITLE" val="跨越年终总结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394</TotalTime>
  <Words>2464</Words>
  <Application>Microsoft Office PowerPoint</Application>
  <PresentationFormat>Widescreen</PresentationFormat>
  <Paragraphs>179</Paragraphs>
  <Slides>19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Aa楷体</vt:lpstr>
      <vt:lpstr>思源黑体</vt:lpstr>
      <vt:lpstr>Arial</vt:lpstr>
      <vt:lpstr>Calibri</vt:lpstr>
      <vt:lpstr>Office 主题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JunhuiHuTEST</dc:creator>
  <cp:keywords>http:/www.ypppt.com</cp:keywords>
  <cp:lastModifiedBy>Junhui Hu</cp:lastModifiedBy>
  <cp:revision>4</cp:revision>
  <dcterms:created xsi:type="dcterms:W3CDTF">2025-08-13T20:10:11Z</dcterms:created>
  <dcterms:modified xsi:type="dcterms:W3CDTF">2025-08-14T02:46:10Z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C35A4C03508B84ED23F19C6890E26D64_43</vt:lpwstr>
  </property>
  <property fmtid="{D5CDD505-2E9C-101B-9397-08002B2CF9AE}" pid="3" name="KSOProductBuildVer">
    <vt:lpwstr>1033-5.5.1.7991</vt:lpwstr>
  </property>
</Properties>
</file>