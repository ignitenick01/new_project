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93" r:id="rId6"/>
    <p:sldId id="285" r:id="rId7"/>
    <p:sldId id="286" r:id="rId8"/>
    <p:sldId id="287" r:id="rId9"/>
    <p:sldId id="279" r:id="rId10"/>
    <p:sldId id="283" r:id="rId11"/>
    <p:sldId id="284" r:id="rId12"/>
    <p:sldId id="294" r:id="rId13"/>
    <p:sldId id="292" r:id="rId14"/>
    <p:sldId id="291" r:id="rId15"/>
    <p:sldId id="290" r:id="rId16"/>
    <p:sldId id="289" r:id="rId17"/>
    <p:sldId id="288" r:id="rId18"/>
    <p:sldId id="297" r:id="rId19"/>
    <p:sldId id="298" r:id="rId20"/>
    <p:sldId id="274" r:id="rId21"/>
  </p:sldIdLst>
  <p:sldSz cx="9144000" cy="6858000" type="screen4x3"/>
  <p:notesSz cx="6858000" cy="9144000"/>
  <p:embeddedFontLst>
    <p:embeddedFont>
      <p:font typeface="Consolas" panose="020B0609020204030204" pitchFamily="49" charset="0"/>
      <p:regular r:id="rId23"/>
      <p:bold r:id="rId24"/>
      <p:italic r:id="rId25"/>
      <p:boldItalic r:id="rId26"/>
    </p:embeddedFont>
    <p:embeddedFont>
      <p:font typeface="Helvetica Neue" panose="02010600030101010101"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gXUkuSzG6Asq/LLdI/zsp0r2+oo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2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CE99FF-13BB-477D-9C4A-8803B9B1E6A7}" v="522" dt="2025-06-25T20:08:20.815"/>
    <p1510:client id="{3DF06174-3548-DF98-3BE2-C4E97A67189C}" v="395" dt="2025-06-25T17:40:36.992"/>
    <p1510:client id="{BD8FA63B-6F53-016D-CA61-EBC3FA014FF2}" v="3" dt="2025-06-25T19:43:57.311"/>
    <p1510:client id="{BFBB1D90-BBB2-0A40-B16B-E6E08F9F39A4}" v="17" dt="2025-06-25T20:08:17.789"/>
    <p1510:client id="{E508AF66-F0FE-85BA-AAAB-F124F93D5EDD}" v="111" dt="2025-06-25T19:58:20.697"/>
    <p1510:client id="{E61AF1D3-90CB-F65B-2CA5-AD6FBED1EF4E}" v="9" dt="2025-06-25T17:55:49.645"/>
    <p1510:client id="{F48023B3-7699-C5DC-E413-10DB35CE3F49}" v="4" dt="2025-06-25T19:42:09.2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44" autoAdjust="0"/>
    <p:restoredTop sz="92044" autoAdjust="0"/>
  </p:normalViewPr>
  <p:slideViewPr>
    <p:cSldViewPr snapToGrid="0">
      <p:cViewPr varScale="1">
        <p:scale>
          <a:sx n="147" d="100"/>
          <a:sy n="147" d="100"/>
        </p:scale>
        <p:origin x="2190"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customschemas.google.com/relationships/presentationmetadata" Target="metadata"/><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 name="Google Shape;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Base on our </a:t>
            </a:r>
            <a:r>
              <a:rPr lang="en-US" altLang="zh-CN" dirty="0" err="1"/>
              <a:t>eda</a:t>
            </a:r>
            <a:r>
              <a:rPr lang="en-US" altLang="zh-CN" dirty="0"/>
              <a:t>, we find some features that has high association with readmit, so we want dig more on them</a:t>
            </a:r>
          </a:p>
          <a:p>
            <a:r>
              <a:rPr lang="en-US" altLang="zh-CN" dirty="0"/>
              <a:t>The first, we </a:t>
            </a:r>
            <a:r>
              <a:rPr lang="en-US" altLang="zh-CN" sz="1200" dirty="0"/>
              <a:t>Flags patients who had more than one hospital visit </a:t>
            </a:r>
            <a:endParaRPr lang="en-US" altLang="zh-CN" dirty="0"/>
          </a:p>
          <a:p>
            <a:r>
              <a:rPr lang="en-US" altLang="zh-CN" dirty="0"/>
              <a:t>The average  medications is calculated over the whole dataset, and patients above this threshold are marked as 1.</a:t>
            </a:r>
          </a:p>
          <a:p>
            <a:r>
              <a:rPr lang="en-US" altLang="zh-CN" dirty="0"/>
              <a:t>And we create new feature, If a patient is flagged in any of the three insulin columns, </a:t>
            </a:r>
            <a:r>
              <a:rPr lang="en-US" altLang="zh-CN" dirty="0" err="1"/>
              <a:t>insulin_user</a:t>
            </a:r>
            <a:r>
              <a:rPr lang="en-US" altLang="zh-CN" dirty="0"/>
              <a:t> becomes 1; otherwise, 0.</a:t>
            </a:r>
            <a:endParaRPr lang="zh-CN" alt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662416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3D08BF61-6EA9-0AD1-E73E-41FFC6C141C0}"/>
            </a:ext>
          </a:extLst>
        </p:cNvPr>
        <p:cNvGrpSpPr/>
        <p:nvPr/>
      </p:nvGrpSpPr>
      <p:grpSpPr>
        <a:xfrm>
          <a:off x="0" y="0"/>
          <a:ext cx="0" cy="0"/>
          <a:chOff x="0" y="0"/>
          <a:chExt cx="0" cy="0"/>
        </a:xfrm>
      </p:grpSpPr>
      <p:sp>
        <p:nvSpPr>
          <p:cNvPr id="98" name="Google Shape;98;p4:notes">
            <a:extLst>
              <a:ext uri="{FF2B5EF4-FFF2-40B4-BE49-F238E27FC236}">
                <a16:creationId xmlns:a16="http://schemas.microsoft.com/office/drawing/2014/main" id="{E5C1E0AA-1C91-6954-FC0C-D495681C497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t>In traditional two-way splits, the dataset is divided into a training set and a test set</a:t>
            </a:r>
          </a:p>
          <a:p>
            <a:pPr marL="0" lvl="0" indent="0" algn="l" rtl="0">
              <a:spcBef>
                <a:spcPts val="0"/>
              </a:spcBef>
              <a:spcAft>
                <a:spcPts val="0"/>
              </a:spcAft>
              <a:buNone/>
            </a:pPr>
            <a:r>
              <a:rPr lang="en-US" altLang="zh-CN" dirty="0"/>
              <a:t>However, the training process often involves extensive hyperparameter tuning and model adjustments, including threshold optimization</a:t>
            </a:r>
          </a:p>
          <a:p>
            <a:pPr marL="0" lvl="0" indent="0" algn="l" rtl="0">
              <a:spcBef>
                <a:spcPts val="0"/>
              </a:spcBef>
              <a:spcAft>
                <a:spcPts val="0"/>
              </a:spcAft>
              <a:buNone/>
            </a:pPr>
            <a:r>
              <a:rPr lang="en-US" altLang="zh-CN" dirty="0"/>
              <a:t>If we tune our model using the test set, we risk overfitting to the test data, which compromises the model’s ability to generalize</a:t>
            </a:r>
            <a:endParaRPr dirty="0"/>
          </a:p>
        </p:txBody>
      </p:sp>
      <p:sp>
        <p:nvSpPr>
          <p:cNvPr id="99" name="Google Shape;99;p4:notes">
            <a:extLst>
              <a:ext uri="{FF2B5EF4-FFF2-40B4-BE49-F238E27FC236}">
                <a16:creationId xmlns:a16="http://schemas.microsoft.com/office/drawing/2014/main" id="{9E526CF0-2674-6039-7BD9-59E67EB44AF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2152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16805E4C-E43D-A6C9-96B0-BB26A6AAD227}"/>
            </a:ext>
          </a:extLst>
        </p:cNvPr>
        <p:cNvGrpSpPr/>
        <p:nvPr/>
      </p:nvGrpSpPr>
      <p:grpSpPr>
        <a:xfrm>
          <a:off x="0" y="0"/>
          <a:ext cx="0" cy="0"/>
          <a:chOff x="0" y="0"/>
          <a:chExt cx="0" cy="0"/>
        </a:xfrm>
      </p:grpSpPr>
      <p:sp>
        <p:nvSpPr>
          <p:cNvPr id="98" name="Google Shape;98;p4:notes">
            <a:extLst>
              <a:ext uri="{FF2B5EF4-FFF2-40B4-BE49-F238E27FC236}">
                <a16:creationId xmlns:a16="http://schemas.microsoft.com/office/drawing/2014/main" id="{197A4043-8E90-4FB0-2631-CE62CBEDD9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dirty="0"/>
              <a:t>Before we started tuning our models, we realized that we would need a consistent way to evaluate performance beyond just using the default threshold of 0.5. </a:t>
            </a:r>
          </a:p>
          <a:p>
            <a:pPr marL="0" lvl="0" indent="0" algn="l" rtl="0">
              <a:spcBef>
                <a:spcPts val="0"/>
              </a:spcBef>
              <a:spcAft>
                <a:spcPts val="0"/>
              </a:spcAft>
              <a:buNone/>
            </a:pPr>
            <a:r>
              <a:rPr lang="en-US" altLang="zh-CN" dirty="0"/>
              <a:t>Especially since we’re dealing with an imbalanced dataset, using 0.5 as a cutoff often gives us very poor recall on the positive class. </a:t>
            </a:r>
          </a:p>
          <a:p>
            <a:pPr marL="0" lvl="0" indent="0" algn="l" rtl="0">
              <a:spcBef>
                <a:spcPts val="0"/>
              </a:spcBef>
              <a:spcAft>
                <a:spcPts val="0"/>
              </a:spcAft>
              <a:buNone/>
            </a:pPr>
            <a:r>
              <a:rPr lang="en-US" altLang="zh-CN" dirty="0"/>
              <a:t>So we created a reusable function to </a:t>
            </a:r>
            <a:r>
              <a:rPr lang="en-US" altLang="zh-CN" b="1" dirty="0"/>
              <a:t>find the best classification threshold</a:t>
            </a:r>
            <a:r>
              <a:rPr lang="en-US" altLang="zh-CN" dirty="0"/>
              <a:t> based on the ROC curve. This was done using </a:t>
            </a:r>
            <a:r>
              <a:rPr lang="en-US" altLang="zh-CN" b="1" dirty="0"/>
              <a:t>Youden’s J statistic </a:t>
            </a:r>
          </a:p>
          <a:p>
            <a:pPr marL="0" lvl="0" indent="0" algn="l" rtl="0">
              <a:spcBef>
                <a:spcPts val="0"/>
              </a:spcBef>
              <a:spcAft>
                <a:spcPts val="0"/>
              </a:spcAft>
              <a:buNone/>
            </a:pPr>
            <a:r>
              <a:rPr lang="en-US" altLang="zh-CN" dirty="0"/>
              <a:t>In screenshot, we use </a:t>
            </a:r>
            <a:r>
              <a:rPr lang="en-US" altLang="zh-CN" dirty="0" err="1"/>
              <a:t>roc_curve</a:t>
            </a:r>
            <a:r>
              <a:rPr lang="en-US" altLang="zh-CN" dirty="0"/>
              <a:t>() to get arrays of true positive and false positive rates at various thresholds. Then, we compute the J score as TPR - FPR, and we select the threshold where this difference is the largest. </a:t>
            </a:r>
            <a:endParaRPr dirty="0"/>
          </a:p>
        </p:txBody>
      </p:sp>
      <p:sp>
        <p:nvSpPr>
          <p:cNvPr id="99" name="Google Shape;99;p4:notes">
            <a:extLst>
              <a:ext uri="{FF2B5EF4-FFF2-40B4-BE49-F238E27FC236}">
                <a16:creationId xmlns:a16="http://schemas.microsoft.com/office/drawing/2014/main" id="{75B9640E-A73C-9822-1649-2C3CE984ABC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44219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75775DA0-CBBD-6C3A-4664-4E89AE1D0E74}"/>
            </a:ext>
          </a:extLst>
        </p:cNvPr>
        <p:cNvGrpSpPr/>
        <p:nvPr/>
      </p:nvGrpSpPr>
      <p:grpSpPr>
        <a:xfrm>
          <a:off x="0" y="0"/>
          <a:ext cx="0" cy="0"/>
          <a:chOff x="0" y="0"/>
          <a:chExt cx="0" cy="0"/>
        </a:xfrm>
      </p:grpSpPr>
      <p:sp>
        <p:nvSpPr>
          <p:cNvPr id="98" name="Google Shape;98;p4:notes">
            <a:extLst>
              <a:ext uri="{FF2B5EF4-FFF2-40B4-BE49-F238E27FC236}">
                <a16:creationId xmlns:a16="http://schemas.microsoft.com/office/drawing/2014/main" id="{6C5C2FD3-11DA-99BD-ECA5-D76568DF16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CN" dirty="0" err="1"/>
              <a:t>CatBoost</a:t>
            </a:r>
            <a:r>
              <a:rPr lang="en-US" altLang="zh-CN" dirty="0"/>
              <a:t> is specifically designed to process categorical features which are very common in healthcare datasets </a:t>
            </a:r>
            <a:endParaRPr lang="en-US"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dirty="0"/>
              <a:t>Best </a:t>
            </a:r>
            <a:r>
              <a:rPr lang="en-US" altLang="zh-CN" sz="1200" b="1" dirty="0">
                <a:latin typeface="Times New Roman" panose="02020603050405020304" pitchFamily="18" charset="0"/>
                <a:cs typeface="Times New Roman" panose="02020603050405020304" pitchFamily="18" charset="0"/>
              </a:rPr>
              <a:t>Estimator Parameters </a:t>
            </a:r>
            <a:r>
              <a:rPr lang="en-US" altLang="zh-CN" sz="1200" b="0" i="0" u="none" strike="noStrike" cap="none" dirty="0">
                <a:solidFill>
                  <a:schemeClr val="dk1"/>
                </a:solidFill>
                <a:effectLst/>
                <a:latin typeface="Calibri"/>
                <a:ea typeface="Calibri"/>
                <a:cs typeface="Calibri"/>
                <a:sym typeface="Calibri"/>
              </a:rPr>
              <a:t>were selected using </a:t>
            </a:r>
            <a:r>
              <a:rPr lang="en-US" altLang="zh-CN" sz="1200" b="0" i="0" u="none" strike="noStrike" cap="none" dirty="0" err="1">
                <a:solidFill>
                  <a:schemeClr val="dk1"/>
                </a:solidFill>
                <a:effectLst/>
                <a:latin typeface="Calibri"/>
                <a:ea typeface="Calibri"/>
                <a:cs typeface="Calibri"/>
                <a:sym typeface="Calibri"/>
              </a:rPr>
              <a:t>GridSearchCV</a:t>
            </a:r>
            <a:r>
              <a:rPr lang="en-US" altLang="zh-CN" sz="1200" b="0" i="0" u="none" strike="noStrike" cap="none" dirty="0">
                <a:solidFill>
                  <a:schemeClr val="dk1"/>
                </a:solidFill>
                <a:effectLst/>
                <a:latin typeface="Calibri"/>
                <a:ea typeface="Calibri"/>
                <a:cs typeface="Calibri"/>
                <a:sym typeface="Calibri"/>
              </a:rPr>
              <a:t>. </a:t>
            </a:r>
            <a:r>
              <a:rPr lang="en-US" altLang="zh-CN" dirty="0"/>
              <a:t>We tested 8 parameter combinations across 3-fold cross-validation. And set </a:t>
            </a:r>
            <a:r>
              <a:rPr lang="en-US" altLang="zh-CN" sz="1200" b="0" i="0" u="none" strike="noStrike" cap="none" dirty="0">
                <a:solidFill>
                  <a:schemeClr val="dk1"/>
                </a:solidFill>
                <a:effectLst/>
                <a:latin typeface="Calibri"/>
                <a:ea typeface="Calibri"/>
                <a:cs typeface="Calibri"/>
                <a:sym typeface="Calibri"/>
              </a:rPr>
              <a:t>scoring='f1’ (</a:t>
            </a:r>
            <a:r>
              <a:rPr lang="en-US" altLang="zh-CN" dirty="0"/>
              <a:t>mean of precision and recall</a:t>
            </a:r>
            <a:r>
              <a:rPr lang="en-US" altLang="zh-CN" sz="1200" b="0" i="0" u="none" strike="noStrike" cap="none" dirty="0">
                <a:solidFill>
                  <a:schemeClr val="dk1"/>
                </a:solidFill>
                <a:effectLst/>
                <a:latin typeface="Calibri"/>
                <a:ea typeface="Calibri"/>
                <a:cs typeface="Calibri"/>
                <a:sym typeface="Calibri"/>
              </a:rPr>
              <a:t>). </a:t>
            </a:r>
            <a:r>
              <a:rPr lang="en-US" altLang="zh-CN" sz="1200" b="0" i="0" u="none" strike="noStrike" cap="none" dirty="0" err="1">
                <a:solidFill>
                  <a:schemeClr val="dk1"/>
                </a:solidFill>
                <a:effectLst/>
                <a:latin typeface="Calibri"/>
                <a:ea typeface="Calibri"/>
                <a:cs typeface="Calibri"/>
                <a:sym typeface="Calibri"/>
              </a:rPr>
              <a:t>n_jobs</a:t>
            </a:r>
            <a:r>
              <a:rPr lang="en-US" altLang="zh-CN" sz="1200" b="0" i="0" u="none" strike="noStrike" cap="none" dirty="0">
                <a:solidFill>
                  <a:schemeClr val="dk1"/>
                </a:solidFill>
                <a:effectLst/>
                <a:latin typeface="Calibri"/>
                <a:ea typeface="Calibri"/>
                <a:cs typeface="Calibri"/>
                <a:sym typeface="Calibri"/>
              </a:rPr>
              <a:t>=-1, really base on </a:t>
            </a:r>
            <a:r>
              <a:rPr lang="en-US" altLang="zh-CN" sz="1200" b="0" i="0" u="none" strike="noStrike" cap="none" dirty="0" err="1">
                <a:solidFill>
                  <a:schemeClr val="dk1"/>
                </a:solidFill>
                <a:effectLst/>
                <a:latin typeface="Calibri"/>
                <a:ea typeface="Calibri"/>
                <a:cs typeface="Calibri"/>
                <a:sym typeface="Calibri"/>
              </a:rPr>
              <a:t>ur</a:t>
            </a:r>
            <a:r>
              <a:rPr lang="en-US" altLang="zh-CN" sz="1200" b="0" i="0" u="none" strike="noStrike" cap="none" dirty="0">
                <a:solidFill>
                  <a:schemeClr val="dk1"/>
                </a:solidFill>
                <a:effectLst/>
                <a:latin typeface="Calibri"/>
                <a:ea typeface="Calibri"/>
                <a:cs typeface="Calibri"/>
                <a:sym typeface="Calibri"/>
              </a:rPr>
              <a:t> CPU.</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CN" dirty="0"/>
              <a:t>The best parameters were a depth of 6, 300 iterations, and a learning rate of 0.1.</a:t>
            </a:r>
          </a:p>
          <a:p>
            <a:pPr marL="0" lvl="0" indent="0" algn="l" rtl="0">
              <a:spcBef>
                <a:spcPts val="0"/>
              </a:spcBef>
              <a:spcAft>
                <a:spcPts val="0"/>
              </a:spcAft>
              <a:buNone/>
            </a:pPr>
            <a:endParaRPr lang="en-US" altLang="zh-CN"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altLang="zh-CN" dirty="0"/>
              <a:t>After </a:t>
            </a:r>
            <a:r>
              <a:rPr lang="en-US" altLang="zh-CN" sz="1200" b="0" i="0" u="none" strike="noStrike" cap="none" dirty="0">
                <a:solidFill>
                  <a:schemeClr val="dk1"/>
                </a:solidFill>
                <a:effectLst/>
                <a:latin typeface="Calibri"/>
                <a:ea typeface="Calibri"/>
                <a:cs typeface="Calibri"/>
                <a:sym typeface="Calibri"/>
              </a:rPr>
              <a:t>Validation performance at threshold=0.5, </a:t>
            </a:r>
            <a:r>
              <a:rPr lang="en-US" altLang="zh-CN" dirty="0"/>
              <a:t>recall for the positive class is only 2%. which is unacceptable for our goal</a:t>
            </a:r>
          </a:p>
          <a:p>
            <a:pPr marL="0" lvl="0" indent="0" algn="l" rtl="0">
              <a:spcBef>
                <a:spcPts val="0"/>
              </a:spcBef>
              <a:spcAft>
                <a:spcPts val="0"/>
              </a:spcAft>
              <a:buNone/>
            </a:pPr>
            <a:r>
              <a:rPr lang="en-US" altLang="zh-CN" dirty="0"/>
              <a:t>After threshold tuning, recall on the validation set improved dramatically to 0.63. While accuracy dropped from 0.89 to 0.64, the model became much more effective at identifying positive cases.</a:t>
            </a:r>
          </a:p>
          <a:p>
            <a:pPr marL="0" lvl="0" indent="0" algn="l" rtl="0">
              <a:spcBef>
                <a:spcPts val="0"/>
              </a:spcBef>
              <a:spcAft>
                <a:spcPts val="0"/>
              </a:spcAft>
              <a:buNone/>
            </a:pPr>
            <a:r>
              <a:rPr lang="en-US" altLang="zh-CN" dirty="0"/>
              <a:t>The macro F1 score also improved from 0.49 to 0.63, indicating a better balance between precision and recall. </a:t>
            </a:r>
          </a:p>
          <a:p>
            <a:pPr marL="0" lvl="0" indent="0" algn="l" rtl="0">
              <a:spcBef>
                <a:spcPts val="0"/>
              </a:spcBef>
              <a:spcAft>
                <a:spcPts val="0"/>
              </a:spcAft>
              <a:buNone/>
            </a:pPr>
            <a:endParaRPr lang="en-US" altLang="zh-CN" dirty="0"/>
          </a:p>
          <a:p>
            <a:pPr marL="0" lvl="0" indent="0" algn="l" rtl="0">
              <a:spcBef>
                <a:spcPts val="0"/>
              </a:spcBef>
              <a:spcAft>
                <a:spcPts val="0"/>
              </a:spcAft>
              <a:buNone/>
            </a:pPr>
            <a:r>
              <a:rPr lang="en-US" altLang="zh-CN" dirty="0"/>
              <a:t>Now, looking at the test dataset — we applied the same threshold and evaluated final performance. The test recall for the positive class remained at 0.63, and a ROC AUC of 0.6893. </a:t>
            </a:r>
          </a:p>
          <a:p>
            <a:pPr marL="0" lvl="0" indent="0" algn="l" rtl="0">
              <a:spcBef>
                <a:spcPts val="0"/>
              </a:spcBef>
              <a:spcAft>
                <a:spcPts val="0"/>
              </a:spcAft>
              <a:buNone/>
            </a:pPr>
            <a:r>
              <a:rPr lang="en-US" altLang="zh-CN" dirty="0"/>
              <a:t>This shows that our threshold tuning generalized well beyond the validation set,</a:t>
            </a:r>
            <a:r>
              <a:rPr lang="zh-CN" altLang="en-US" dirty="0"/>
              <a:t> </a:t>
            </a:r>
            <a:r>
              <a:rPr lang="en-US" altLang="zh-CN" dirty="0"/>
              <a:t> the model is effective at ranking high-risk vs. low-risk cases, but there’s room for improvement.</a:t>
            </a:r>
          </a:p>
          <a:p>
            <a:pPr marL="0" lvl="0" indent="0" algn="l" rtl="0">
              <a:spcBef>
                <a:spcPts val="0"/>
              </a:spcBef>
              <a:spcAft>
                <a:spcPts val="0"/>
              </a:spcAft>
              <a:buNone/>
            </a:pPr>
            <a:endParaRPr dirty="0"/>
          </a:p>
        </p:txBody>
      </p:sp>
      <p:sp>
        <p:nvSpPr>
          <p:cNvPr id="99" name="Google Shape;99;p4:notes">
            <a:extLst>
              <a:ext uri="{FF2B5EF4-FFF2-40B4-BE49-F238E27FC236}">
                <a16:creationId xmlns:a16="http://schemas.microsoft.com/office/drawing/2014/main" id="{DDDBBB75-FF23-7ED2-D758-98413411CB5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53746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A988DDDC-0DD2-38D7-7E26-2C7455094331}"/>
            </a:ext>
          </a:extLst>
        </p:cNvPr>
        <p:cNvGrpSpPr/>
        <p:nvPr/>
      </p:nvGrpSpPr>
      <p:grpSpPr>
        <a:xfrm>
          <a:off x="0" y="0"/>
          <a:ext cx="0" cy="0"/>
          <a:chOff x="0" y="0"/>
          <a:chExt cx="0" cy="0"/>
        </a:xfrm>
      </p:grpSpPr>
      <p:sp>
        <p:nvSpPr>
          <p:cNvPr id="98" name="Google Shape;98;p4:notes">
            <a:extLst>
              <a:ext uri="{FF2B5EF4-FFF2-40B4-BE49-F238E27FC236}">
                <a16:creationId xmlns:a16="http://schemas.microsoft.com/office/drawing/2014/main" id="{2252F9B0-0EC6-760E-CAC3-9018CC9471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9" name="Google Shape;99;p4:notes">
            <a:extLst>
              <a:ext uri="{FF2B5EF4-FFF2-40B4-BE49-F238E27FC236}">
                <a16:creationId xmlns:a16="http://schemas.microsoft.com/office/drawing/2014/main" id="{602166ED-1492-A196-7E51-0C814B9DCED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4712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14C67159-D28A-2AB3-C374-AE14D485297F}"/>
            </a:ext>
          </a:extLst>
        </p:cNvPr>
        <p:cNvGrpSpPr/>
        <p:nvPr/>
      </p:nvGrpSpPr>
      <p:grpSpPr>
        <a:xfrm>
          <a:off x="0" y="0"/>
          <a:ext cx="0" cy="0"/>
          <a:chOff x="0" y="0"/>
          <a:chExt cx="0" cy="0"/>
        </a:xfrm>
      </p:grpSpPr>
      <p:sp>
        <p:nvSpPr>
          <p:cNvPr id="98" name="Google Shape;98;p4:notes">
            <a:extLst>
              <a:ext uri="{FF2B5EF4-FFF2-40B4-BE49-F238E27FC236}">
                <a16:creationId xmlns:a16="http://schemas.microsoft.com/office/drawing/2014/main" id="{33E0EA45-E037-18D4-9299-ADE7DD4663B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4:notes">
            <a:extLst>
              <a:ext uri="{FF2B5EF4-FFF2-40B4-BE49-F238E27FC236}">
                <a16:creationId xmlns:a16="http://schemas.microsoft.com/office/drawing/2014/main" id="{7ACEB84D-7BD9-1FB1-4280-90B7FC4A4FB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9489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sp>
        <p:nvSpPr>
          <p:cNvPr id="18" name="Google Shape;18;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9" name="Google Shape;19;p14"/>
          <p:cNvSpPr txBox="1">
            <a:spLocks noGrp="1"/>
          </p:cNvSpPr>
          <p:nvPr>
            <p:ph type="ctrTitle"/>
          </p:nvPr>
        </p:nvSpPr>
        <p:spPr>
          <a:xfrm>
            <a:off x="457200" y="838201"/>
            <a:ext cx="8229600" cy="7620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0" name="Google Shape;2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0" i="0" u="none" strike="noStrike" cap="none">
                <a:solidFill>
                  <a:srgbClr val="898989"/>
                </a:solidFill>
                <a:latin typeface="Calibri"/>
                <a:ea typeface="Calibri"/>
                <a:cs typeface="Calibri"/>
                <a:sym typeface="Calibri"/>
              </a:defRPr>
            </a:lvl1pPr>
            <a:lvl2pPr marL="0" lvl="1" indent="0" algn="r">
              <a:spcBef>
                <a:spcPts val="0"/>
              </a:spcBef>
              <a:spcAft>
                <a:spcPts val="0"/>
              </a:spcAft>
              <a:buNone/>
              <a:defRPr sz="1200" b="0" i="0" u="none" strike="noStrike" cap="none">
                <a:solidFill>
                  <a:srgbClr val="898989"/>
                </a:solidFill>
                <a:latin typeface="Calibri"/>
                <a:ea typeface="Calibri"/>
                <a:cs typeface="Calibri"/>
                <a:sym typeface="Calibri"/>
              </a:defRPr>
            </a:lvl2pPr>
            <a:lvl3pPr marL="0" lvl="2" indent="0" algn="r">
              <a:spcBef>
                <a:spcPts val="0"/>
              </a:spcBef>
              <a:spcAft>
                <a:spcPts val="0"/>
              </a:spcAft>
              <a:buNone/>
              <a:defRPr sz="1200" b="0" i="0" u="none" strike="noStrike" cap="none">
                <a:solidFill>
                  <a:srgbClr val="898989"/>
                </a:solidFill>
                <a:latin typeface="Calibri"/>
                <a:ea typeface="Calibri"/>
                <a:cs typeface="Calibri"/>
                <a:sym typeface="Calibri"/>
              </a:defRPr>
            </a:lvl3pPr>
            <a:lvl4pPr marL="0" lvl="3" indent="0" algn="r">
              <a:spcBef>
                <a:spcPts val="0"/>
              </a:spcBef>
              <a:spcAft>
                <a:spcPts val="0"/>
              </a:spcAft>
              <a:buNone/>
              <a:defRPr sz="1200" b="0" i="0" u="none" strike="noStrike" cap="none">
                <a:solidFill>
                  <a:srgbClr val="898989"/>
                </a:solidFill>
                <a:latin typeface="Calibri"/>
                <a:ea typeface="Calibri"/>
                <a:cs typeface="Calibri"/>
                <a:sym typeface="Calibri"/>
              </a:defRPr>
            </a:lvl4pPr>
            <a:lvl5pPr marL="0" lvl="4" indent="0" algn="r">
              <a:spcBef>
                <a:spcPts val="0"/>
              </a:spcBef>
              <a:spcAft>
                <a:spcPts val="0"/>
              </a:spcAft>
              <a:buNone/>
              <a:defRPr sz="1200" b="0" i="0" u="none" strike="noStrike" cap="none">
                <a:solidFill>
                  <a:srgbClr val="898989"/>
                </a:solidFill>
                <a:latin typeface="Calibri"/>
                <a:ea typeface="Calibri"/>
                <a:cs typeface="Calibri"/>
                <a:sym typeface="Calibri"/>
              </a:defRPr>
            </a:lvl5pPr>
            <a:lvl6pPr marL="0" lvl="5" indent="0" algn="r">
              <a:spcBef>
                <a:spcPts val="0"/>
              </a:spcBef>
              <a:spcAft>
                <a:spcPts val="0"/>
              </a:spcAft>
              <a:buNone/>
              <a:defRPr sz="1200" b="0" i="0" u="none" strike="noStrike" cap="none">
                <a:solidFill>
                  <a:srgbClr val="898989"/>
                </a:solidFill>
                <a:latin typeface="Calibri"/>
                <a:ea typeface="Calibri"/>
                <a:cs typeface="Calibri"/>
                <a:sym typeface="Calibri"/>
              </a:defRPr>
            </a:lvl6pPr>
            <a:lvl7pPr marL="0" lvl="6" indent="0" algn="r">
              <a:spcBef>
                <a:spcPts val="0"/>
              </a:spcBef>
              <a:spcAft>
                <a:spcPts val="0"/>
              </a:spcAft>
              <a:buNone/>
              <a:defRPr sz="1200" b="0" i="0" u="none" strike="noStrike" cap="none">
                <a:solidFill>
                  <a:srgbClr val="898989"/>
                </a:solidFill>
                <a:latin typeface="Calibri"/>
                <a:ea typeface="Calibri"/>
                <a:cs typeface="Calibri"/>
                <a:sym typeface="Calibri"/>
              </a:defRPr>
            </a:lvl7pPr>
            <a:lvl8pPr marL="0" lvl="7" indent="0" algn="r">
              <a:spcBef>
                <a:spcPts val="0"/>
              </a:spcBef>
              <a:spcAft>
                <a:spcPts val="0"/>
              </a:spcAft>
              <a:buNone/>
              <a:defRPr sz="1200" b="0" i="0" u="none" strike="noStrike" cap="none">
                <a:solidFill>
                  <a:srgbClr val="898989"/>
                </a:solidFill>
                <a:latin typeface="Calibri"/>
                <a:ea typeface="Calibri"/>
                <a:cs typeface="Calibri"/>
                <a:sym typeface="Calibri"/>
              </a:defRPr>
            </a:lvl8pPr>
            <a:lvl9pPr marL="0" lvl="8" indent="0" algn="r">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5"/>
        <p:cNvGrpSpPr/>
        <p:nvPr/>
      </p:nvGrpSpPr>
      <p:grpSpPr>
        <a:xfrm>
          <a:off x="0" y="0"/>
          <a:ext cx="0" cy="0"/>
          <a:chOff x="0" y="0"/>
          <a:chExt cx="0" cy="0"/>
        </a:xfrm>
      </p:grpSpPr>
      <p:sp>
        <p:nvSpPr>
          <p:cNvPr id="36" name="Google Shape;36;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8" name="Google Shape;38;p17"/>
          <p:cNvSpPr txBox="1">
            <a:spLocks noGrp="1"/>
          </p:cNvSpPr>
          <p:nvPr>
            <p:ph type="ctrTitle"/>
          </p:nvPr>
        </p:nvSpPr>
        <p:spPr>
          <a:xfrm>
            <a:off x="457200" y="838201"/>
            <a:ext cx="8229600" cy="7620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18"/>
          <p:cNvSpPr txBox="1">
            <a:spLocks noGrp="1"/>
          </p:cNvSpPr>
          <p:nvPr>
            <p:ph type="title"/>
          </p:nvPr>
        </p:nvSpPr>
        <p:spPr>
          <a:xfrm>
            <a:off x="457200" y="609600"/>
            <a:ext cx="8229600" cy="80803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19"/>
          <p:cNvSpPr txBox="1">
            <a:spLocks noGrp="1"/>
          </p:cNvSpPr>
          <p:nvPr>
            <p:ph type="title"/>
          </p:nvPr>
        </p:nvSpPr>
        <p:spPr>
          <a:xfrm>
            <a:off x="457200" y="792162"/>
            <a:ext cx="8229600" cy="96043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3" name="Google Shape;53;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1"/>
          <p:cNvSpPr txBox="1">
            <a:spLocks noGrp="1"/>
          </p:cNvSpPr>
          <p:nvPr>
            <p:ph type="title"/>
          </p:nvPr>
        </p:nvSpPr>
        <p:spPr>
          <a:xfrm>
            <a:off x="457200" y="762000"/>
            <a:ext cx="3008313" cy="6731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2" name="Google Shape;62;p21"/>
          <p:cNvSpPr txBox="1">
            <a:spLocks noGrp="1"/>
          </p:cNvSpPr>
          <p:nvPr>
            <p:ph type="body" idx="1"/>
          </p:nvPr>
        </p:nvSpPr>
        <p:spPr>
          <a:xfrm>
            <a:off x="3575050" y="762000"/>
            <a:ext cx="5111750" cy="536416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3" name="Google Shape;63;p21"/>
          <p:cNvSpPr txBox="1">
            <a:spLocks noGrp="1"/>
          </p:cNvSpPr>
          <p:nvPr>
            <p:ph type="body" idx="2"/>
          </p:nvPr>
        </p:nvSpPr>
        <p:spPr>
          <a:xfrm>
            <a:off x="457200" y="1524000"/>
            <a:ext cx="3008313" cy="46021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4" name="Google Shape;64;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9" name="Google Shape;69;p22"/>
          <p:cNvSpPr>
            <a:spLocks noGrp="1"/>
          </p:cNvSpPr>
          <p:nvPr>
            <p:ph type="pic" idx="2"/>
          </p:nvPr>
        </p:nvSpPr>
        <p:spPr>
          <a:xfrm>
            <a:off x="1792288" y="838199"/>
            <a:ext cx="5486400" cy="3889375"/>
          </a:xfrm>
          <a:prstGeom prst="rect">
            <a:avLst/>
          </a:prstGeom>
          <a:noFill/>
          <a:ln>
            <a:noFill/>
          </a:ln>
        </p:spPr>
      </p:sp>
      <p:sp>
        <p:nvSpPr>
          <p:cNvPr id="70" name="Google Shape;70;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a:solidFill>
                  <a:srgbClr val="898989"/>
                </a:solidFill>
                <a:latin typeface="Calibri"/>
                <a:ea typeface="Calibri"/>
                <a:cs typeface="Calibri"/>
                <a:sym typeface="Calibri"/>
              </a:defRPr>
            </a:lvl1pPr>
            <a:lvl2pPr marL="0" lvl="1" indent="0" algn="r">
              <a:spcBef>
                <a:spcPts val="0"/>
              </a:spcBef>
              <a:spcAft>
                <a:spcPts val="0"/>
              </a:spcAft>
              <a:buNone/>
              <a:defRPr sz="1200">
                <a:solidFill>
                  <a:srgbClr val="898989"/>
                </a:solidFill>
                <a:latin typeface="Calibri"/>
                <a:ea typeface="Calibri"/>
                <a:cs typeface="Calibri"/>
                <a:sym typeface="Calibri"/>
              </a:defRPr>
            </a:lvl2pPr>
            <a:lvl3pPr marL="0" lvl="2" indent="0" algn="r">
              <a:spcBef>
                <a:spcPts val="0"/>
              </a:spcBef>
              <a:spcAft>
                <a:spcPts val="0"/>
              </a:spcAft>
              <a:buNone/>
              <a:defRPr sz="1200">
                <a:solidFill>
                  <a:srgbClr val="898989"/>
                </a:solidFill>
                <a:latin typeface="Calibri"/>
                <a:ea typeface="Calibri"/>
                <a:cs typeface="Calibri"/>
                <a:sym typeface="Calibri"/>
              </a:defRPr>
            </a:lvl3pPr>
            <a:lvl4pPr marL="0" lvl="3" indent="0" algn="r">
              <a:spcBef>
                <a:spcPts val="0"/>
              </a:spcBef>
              <a:spcAft>
                <a:spcPts val="0"/>
              </a:spcAft>
              <a:buNone/>
              <a:defRPr sz="1200">
                <a:solidFill>
                  <a:srgbClr val="898989"/>
                </a:solidFill>
                <a:latin typeface="Calibri"/>
                <a:ea typeface="Calibri"/>
                <a:cs typeface="Calibri"/>
                <a:sym typeface="Calibri"/>
              </a:defRPr>
            </a:lvl4pPr>
            <a:lvl5pPr marL="0" lvl="4" indent="0" algn="r">
              <a:spcBef>
                <a:spcPts val="0"/>
              </a:spcBef>
              <a:spcAft>
                <a:spcPts val="0"/>
              </a:spcAft>
              <a:buNone/>
              <a:defRPr sz="1200">
                <a:solidFill>
                  <a:srgbClr val="898989"/>
                </a:solidFill>
                <a:latin typeface="Calibri"/>
                <a:ea typeface="Calibri"/>
                <a:cs typeface="Calibri"/>
                <a:sym typeface="Calibri"/>
              </a:defRPr>
            </a:lvl5pPr>
            <a:lvl6pPr marL="0" lvl="5" indent="0" algn="r">
              <a:spcBef>
                <a:spcPts val="0"/>
              </a:spcBef>
              <a:spcAft>
                <a:spcPts val="0"/>
              </a:spcAft>
              <a:buNone/>
              <a:defRPr sz="1200">
                <a:solidFill>
                  <a:srgbClr val="898989"/>
                </a:solidFill>
                <a:latin typeface="Calibri"/>
                <a:ea typeface="Calibri"/>
                <a:cs typeface="Calibri"/>
                <a:sym typeface="Calibri"/>
              </a:defRPr>
            </a:lvl6pPr>
            <a:lvl7pPr marL="0" lvl="6" indent="0" algn="r">
              <a:spcBef>
                <a:spcPts val="0"/>
              </a:spcBef>
              <a:spcAft>
                <a:spcPts val="0"/>
              </a:spcAft>
              <a:buNone/>
              <a:defRPr sz="1200">
                <a:solidFill>
                  <a:srgbClr val="898989"/>
                </a:solidFill>
                <a:latin typeface="Calibri"/>
                <a:ea typeface="Calibri"/>
                <a:cs typeface="Calibri"/>
                <a:sym typeface="Calibri"/>
              </a:defRPr>
            </a:lvl7pPr>
            <a:lvl8pPr marL="0" lvl="7" indent="0" algn="r">
              <a:spcBef>
                <a:spcPts val="0"/>
              </a:spcBef>
              <a:spcAft>
                <a:spcPts val="0"/>
              </a:spcAft>
              <a:buNone/>
              <a:defRPr sz="1200">
                <a:solidFill>
                  <a:srgbClr val="898989"/>
                </a:solidFill>
                <a:latin typeface="Calibri"/>
                <a:ea typeface="Calibri"/>
                <a:cs typeface="Calibri"/>
                <a:sym typeface="Calibri"/>
              </a:defRPr>
            </a:lvl8pPr>
            <a:lvl9pPr marL="0" lvl="8" indent="0" algn="r">
              <a:spcBef>
                <a:spcPts val="0"/>
              </a:spcBef>
              <a:spcAft>
                <a:spcPts val="0"/>
              </a:spcAft>
              <a:buNone/>
              <a:defRPr sz="1200">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74"/>
        <p:cNvGrpSpPr/>
        <p:nvPr/>
      </p:nvGrpSpPr>
      <p:grpSpPr>
        <a:xfrm>
          <a:off x="0" y="0"/>
          <a:ext cx="0" cy="0"/>
          <a:chOff x="0" y="0"/>
          <a:chExt cx="0" cy="0"/>
        </a:xfrm>
      </p:grpSpPr>
      <p:pic>
        <p:nvPicPr>
          <p:cNvPr id="75" name="Google Shape;75;p23" descr="title.png"/>
          <p:cNvPicPr preferRelativeResize="0"/>
          <p:nvPr/>
        </p:nvPicPr>
        <p:blipFill rotWithShape="1">
          <a:blip r:embed="rId2">
            <a:alphaModFix/>
          </a:blip>
          <a:srcRect/>
          <a:stretch/>
        </p:blipFill>
        <p:spPr>
          <a:xfrm>
            <a:off x="0" y="-6350"/>
            <a:ext cx="9144000" cy="6858000"/>
          </a:xfrm>
          <a:prstGeom prst="rect">
            <a:avLst/>
          </a:prstGeom>
          <a:noFill/>
          <a:ln>
            <a:noFill/>
          </a:ln>
        </p:spPr>
      </p:pic>
      <p:pic>
        <p:nvPicPr>
          <p:cNvPr id="76" name="Google Shape;76;p23" descr="title.png"/>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Helvetica Neue"/>
                <a:ea typeface="Helvetica Neue"/>
                <a:cs typeface="Helvetica Neue"/>
                <a:sym typeface="Helvetica Neue"/>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Helvetica Neue"/>
                <a:ea typeface="Helvetica Neue"/>
                <a:cs typeface="Helvetica Neue"/>
                <a:sym typeface="Helvetica Neue"/>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Helvetica Neue"/>
                <a:ea typeface="Helvetica Neue"/>
                <a:cs typeface="Helvetica Neue"/>
                <a:sym typeface="Helvetica Neue"/>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Helvetica Neue"/>
                <a:ea typeface="Helvetica Neue"/>
                <a:cs typeface="Helvetica Neue"/>
                <a:sym typeface="Helvetica Neue"/>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1" name="Google Shape;11;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2" name="Google Shape;12;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3"/>
          <p:cNvSpPr txBox="1">
            <a:spLocks noGrp="1"/>
          </p:cNvSpPr>
          <p:nvPr>
            <p:ph type="title"/>
          </p:nvPr>
        </p:nvSpPr>
        <p:spPr>
          <a:xfrm>
            <a:off x="457200" y="762000"/>
            <a:ext cx="8229600" cy="609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1pPr>
            <a:lvl2pPr marR="0" lvl="1"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2pPr>
            <a:lvl3pPr marR="0" lvl="2"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3pPr>
            <a:lvl4pPr marR="0" lvl="3"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4pPr>
            <a:lvl5pPr marR="0" lvl="4"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5pPr>
            <a:lvl6pPr marR="0" lvl="5"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6pPr>
            <a:lvl7pPr marR="0" lvl="6"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7pPr>
            <a:lvl8pPr marR="0" lvl="7"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8pPr>
            <a:lvl9pPr marR="0" lvl="8" algn="ctr" rtl="0">
              <a:spcBef>
                <a:spcPts val="0"/>
              </a:spcBef>
              <a:spcAft>
                <a:spcPts val="0"/>
              </a:spcAft>
              <a:buSzPts val="1400"/>
              <a:buNone/>
              <a:defRPr sz="3600" b="0" i="0" u="none" strike="noStrike" cap="none">
                <a:solidFill>
                  <a:srgbClr val="C12030"/>
                </a:solidFill>
                <a:latin typeface="Helvetica Neue"/>
                <a:ea typeface="Helvetica Neue"/>
                <a:cs typeface="Helvetica Neue"/>
                <a:sym typeface="Helvetica Neue"/>
              </a:defRPr>
            </a:lvl9pPr>
          </a:lstStyle>
          <a:p>
            <a:endParaRPr/>
          </a:p>
        </p:txBody>
      </p:sp>
      <p:pic>
        <p:nvPicPr>
          <p:cNvPr id="15" name="Google Shape;15;p13" descr="red_neu_logo.png"/>
          <p:cNvPicPr preferRelativeResize="0"/>
          <p:nvPr/>
        </p:nvPicPr>
        <p:blipFill rotWithShape="1">
          <a:blip r:embed="rId10">
            <a:alphaModFix/>
          </a:blip>
          <a:srcRect/>
          <a:stretch/>
        </p:blipFill>
        <p:spPr>
          <a:xfrm>
            <a:off x="457200" y="274638"/>
            <a:ext cx="2743200" cy="258762"/>
          </a:xfrm>
          <a:prstGeom prst="rect">
            <a:avLst/>
          </a:prstGeom>
          <a:noFill/>
          <a:ln>
            <a:noFill/>
          </a:ln>
        </p:spPr>
      </p:pic>
      <p:cxnSp>
        <p:nvCxnSpPr>
          <p:cNvPr id="16" name="Google Shape;16;p13"/>
          <p:cNvCxnSpPr/>
          <p:nvPr/>
        </p:nvCxnSpPr>
        <p:spPr>
          <a:xfrm>
            <a:off x="457200" y="609600"/>
            <a:ext cx="8229600" cy="0"/>
          </a:xfrm>
          <a:prstGeom prst="straightConnector1">
            <a:avLst/>
          </a:prstGeom>
          <a:noFill/>
          <a:ln w="25400" cap="flat" cmpd="sng">
            <a:solidFill>
              <a:srgbClr val="D8D8D8"/>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4" r:id="rId4"/>
    <p:sldLayoutId id="2147483655" r:id="rId5"/>
    <p:sldLayoutId id="2147483656" r:id="rId6"/>
    <p:sldLayoutId id="2147483657" r:id="rId7"/>
    <p:sldLayoutId id="2147483658"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 descr="Image result for neu logo"/>
          <p:cNvPicPr preferRelativeResize="0"/>
          <p:nvPr/>
        </p:nvPicPr>
        <p:blipFill rotWithShape="1">
          <a:blip r:embed="rId3">
            <a:alphaModFix/>
          </a:blip>
          <a:srcRect/>
          <a:stretch/>
        </p:blipFill>
        <p:spPr>
          <a:xfrm>
            <a:off x="3668486" y="849472"/>
            <a:ext cx="1995855" cy="1995855"/>
          </a:xfrm>
          <a:prstGeom prst="rect">
            <a:avLst/>
          </a:prstGeom>
          <a:noFill/>
          <a:ln>
            <a:noFill/>
          </a:ln>
        </p:spPr>
      </p:pic>
      <p:sp>
        <p:nvSpPr>
          <p:cNvPr id="82" name="Google Shape;82;p1"/>
          <p:cNvSpPr txBox="1">
            <a:spLocks noGrp="1"/>
          </p:cNvSpPr>
          <p:nvPr>
            <p:ph type="ctrTitle"/>
          </p:nvPr>
        </p:nvSpPr>
        <p:spPr>
          <a:xfrm>
            <a:off x="502627" y="3251659"/>
            <a:ext cx="8327572" cy="3279383"/>
          </a:xfrm>
          <a:prstGeom prst="rect">
            <a:avLst/>
          </a:prstGeom>
          <a:noFill/>
          <a:ln>
            <a:noFill/>
          </a:ln>
        </p:spPr>
        <p:txBody>
          <a:bodyPr spcFirstLastPara="1" wrap="square" lIns="91425" tIns="45700" rIns="91425" bIns="45700" anchor="t" anchorCtr="0">
            <a:noAutofit/>
          </a:bodyPr>
          <a:lstStyle/>
          <a:p>
            <a:r>
              <a:rPr lang="en-US" sz="2200" b="1">
                <a:solidFill>
                  <a:schemeClr val="tx1"/>
                </a:solidFill>
                <a:latin typeface="Times New Roman"/>
                <a:cs typeface="Times New Roman"/>
              </a:rPr>
              <a:t> </a:t>
            </a:r>
            <a:r>
              <a:rPr lang="en-US" altLang="zh-CN" sz="2200" b="1">
                <a:solidFill>
                  <a:schemeClr val="tx1"/>
                </a:solidFill>
                <a:latin typeface="Times New Roman"/>
                <a:cs typeface="Times New Roman"/>
              </a:rPr>
              <a:t>Predicting 30-Day Hospital Readmission for Diabetes Patients</a:t>
            </a:r>
            <a:br>
              <a:rPr lang="zh-CN" altLang="zh-CN" dirty="0"/>
            </a:br>
            <a:br>
              <a:rPr lang="en-US" altLang="zh-CN" sz="2400" b="1">
                <a:latin typeface="Times New Roman" panose="02020603050405020304" pitchFamily="18" charset="0"/>
                <a:cs typeface="Times New Roman" panose="02020603050405020304" pitchFamily="18" charset="0"/>
              </a:rPr>
            </a:br>
            <a:br>
              <a:rPr lang="en-US" sz="2400" b="1" i="0" u="none" strike="noStrike" baseline="0">
                <a:latin typeface="Times New Roman" panose="02020603050405020304" pitchFamily="18" charset="0"/>
                <a:cs typeface="Times New Roman" panose="02020603050405020304" pitchFamily="18" charset="0"/>
              </a:rPr>
            </a:br>
            <a:r>
              <a:rPr lang="en-US" sz="2200" b="1" i="0" u="none" strike="noStrike" baseline="0">
                <a:solidFill>
                  <a:schemeClr val="tx1"/>
                </a:solidFill>
                <a:latin typeface="Times New Roman"/>
                <a:cs typeface="Times New Roman"/>
              </a:rPr>
              <a:t> Group </a:t>
            </a:r>
            <a:r>
              <a:rPr lang="en-US" sz="2200" b="1">
                <a:solidFill>
                  <a:schemeClr val="tx1"/>
                </a:solidFill>
                <a:latin typeface="Times New Roman"/>
                <a:cs typeface="Times New Roman"/>
              </a:rPr>
              <a:t>3</a:t>
            </a:r>
            <a:r>
              <a:rPr lang="en-US" sz="2200" b="1" i="0" u="none" strike="noStrike" baseline="0">
                <a:solidFill>
                  <a:schemeClr val="tx1"/>
                </a:solidFill>
                <a:latin typeface="Times New Roman"/>
                <a:cs typeface="Times New Roman"/>
              </a:rPr>
              <a:t>: </a:t>
            </a:r>
            <a:r>
              <a:rPr lang="en-US" altLang="zh-CN" sz="2200" b="1">
                <a:solidFill>
                  <a:schemeClr val="tx1"/>
                </a:solidFill>
                <a:latin typeface="Times New Roman"/>
                <a:cs typeface="Times New Roman"/>
              </a:rPr>
              <a:t>Sahil Niranjan, Nimisha Sharma, Laxmi Priya Samal, Junhui Hu</a:t>
            </a:r>
            <a:br>
              <a:rPr lang="en-US" sz="2200" b="1" i="0" u="none" strike="noStrike" baseline="0">
                <a:latin typeface="Times New Roman" panose="02020603050405020304" pitchFamily="18" charset="0"/>
                <a:cs typeface="Times New Roman" panose="02020603050405020304" pitchFamily="18" charset="0"/>
              </a:rPr>
            </a:br>
            <a:r>
              <a:rPr lang="en-US" sz="2200" b="1" i="0" u="none" strike="noStrike" baseline="0">
                <a:solidFill>
                  <a:schemeClr val="tx1"/>
                </a:solidFill>
                <a:latin typeface="Times New Roman"/>
                <a:cs typeface="Times New Roman"/>
              </a:rPr>
              <a:t>ALY60</a:t>
            </a:r>
            <a:r>
              <a:rPr lang="en-US" sz="2200" b="1">
                <a:solidFill>
                  <a:schemeClr val="tx1"/>
                </a:solidFill>
                <a:latin typeface="Times New Roman"/>
                <a:cs typeface="Times New Roman"/>
              </a:rPr>
              <a:t>4</a:t>
            </a:r>
            <a:r>
              <a:rPr lang="en-US" sz="2200" b="1" i="0" u="none" strike="noStrike" baseline="0">
                <a:solidFill>
                  <a:schemeClr val="tx1"/>
                </a:solidFill>
                <a:latin typeface="Times New Roman"/>
                <a:cs typeface="Times New Roman"/>
              </a:rPr>
              <a:t>0 </a:t>
            </a:r>
            <a:r>
              <a:rPr lang="en-US" sz="2200" b="1">
                <a:solidFill>
                  <a:schemeClr val="tx1"/>
                </a:solidFill>
                <a:latin typeface="Times New Roman"/>
                <a:cs typeface="Times New Roman"/>
              </a:rPr>
              <a:t>Data Mining</a:t>
            </a:r>
            <a:br>
              <a:rPr lang="en-US" sz="2200" b="1" i="0" u="none" strike="noStrike" baseline="0">
                <a:latin typeface="Times New Roman" panose="02020603050405020304" pitchFamily="18" charset="0"/>
                <a:cs typeface="Times New Roman" panose="02020603050405020304" pitchFamily="18" charset="0"/>
              </a:rPr>
            </a:br>
            <a:r>
              <a:rPr lang="en-US" sz="2200" b="1" i="0" u="none" strike="noStrike" baseline="0">
                <a:solidFill>
                  <a:schemeClr val="tx1"/>
                </a:solidFill>
                <a:latin typeface="Times New Roman"/>
                <a:cs typeface="Times New Roman"/>
              </a:rPr>
              <a:t>College of Professional Studies, Northeastern University </a:t>
            </a:r>
            <a:br>
              <a:rPr lang="en-US" sz="2200" b="1" i="0" u="none" strike="noStrike" baseline="0">
                <a:latin typeface="Times New Roman" panose="02020603050405020304" pitchFamily="18" charset="0"/>
                <a:cs typeface="Times New Roman" panose="02020603050405020304" pitchFamily="18" charset="0"/>
              </a:rPr>
            </a:br>
            <a:r>
              <a:rPr lang="en-US" altLang="zh-CN" sz="2200" b="1">
                <a:solidFill>
                  <a:schemeClr val="tx1"/>
                </a:solidFill>
                <a:latin typeface="Times New Roman"/>
                <a:cs typeface="Times New Roman"/>
              </a:rPr>
              <a:t>Professor: Kasun Samarasinghe</a:t>
            </a:r>
            <a:br>
              <a:rPr lang="en-US" sz="2200" b="1" i="0" u="none" strike="noStrike" baseline="0">
                <a:latin typeface="Times New Roman" panose="02020603050405020304" pitchFamily="18" charset="0"/>
                <a:cs typeface="Times New Roman" panose="02020603050405020304" pitchFamily="18" charset="0"/>
              </a:rPr>
            </a:br>
            <a:r>
              <a:rPr lang="en-US" sz="2200" b="1">
                <a:solidFill>
                  <a:schemeClr val="tx1"/>
                </a:solidFill>
                <a:latin typeface="Times New Roman"/>
                <a:cs typeface="Times New Roman"/>
              </a:rPr>
              <a:t>25</a:t>
            </a:r>
            <a:r>
              <a:rPr lang="en-US" sz="2200" b="1" baseline="30000">
                <a:solidFill>
                  <a:schemeClr val="tx1"/>
                </a:solidFill>
                <a:latin typeface="Times New Roman"/>
                <a:cs typeface="Times New Roman"/>
              </a:rPr>
              <a:t>th</a:t>
            </a:r>
            <a:r>
              <a:rPr lang="en-US" sz="2200" b="1" i="0" u="none" strike="noStrike" baseline="0">
                <a:solidFill>
                  <a:schemeClr val="tx1"/>
                </a:solidFill>
                <a:latin typeface="Times New Roman"/>
                <a:cs typeface="Times New Roman"/>
              </a:rPr>
              <a:t> June, 2025 </a:t>
            </a:r>
            <a:endParaRPr lang="en-US" sz="2200" b="1">
              <a:solidFill>
                <a:schemeClr val="tx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E853F72-FB4E-80A7-3EE1-AFA30AD15BF1}"/>
              </a:ext>
            </a:extLst>
          </p:cNvPr>
          <p:cNvSpPr>
            <a:spLocks noGrp="1"/>
          </p:cNvSpPr>
          <p:nvPr>
            <p:ph type="body" idx="1"/>
          </p:nvPr>
        </p:nvSpPr>
        <p:spPr>
          <a:xfrm>
            <a:off x="638526" y="1936948"/>
            <a:ext cx="8239897" cy="4923144"/>
          </a:xfrm>
        </p:spPr>
        <p:txBody>
          <a:bodyPr/>
          <a:lstStyle/>
          <a:p>
            <a:r>
              <a:rPr lang="en-US" sz="2400" b="1"/>
              <a:t>Challenge</a:t>
            </a:r>
            <a:r>
              <a:rPr lang="en-US" sz="2400"/>
              <a:t>: Hospitals often deal with unplanned readmissions that increase costs and affect patient recovery.</a:t>
            </a:r>
          </a:p>
          <a:p>
            <a:r>
              <a:rPr lang="en-US" sz="2400" b="1"/>
              <a:t>Why diabetes?</a:t>
            </a:r>
            <a:r>
              <a:rPr lang="en-US" sz="2400"/>
              <a:t> </a:t>
            </a:r>
            <a:br>
              <a:rPr lang="en-US" sz="2400"/>
            </a:br>
            <a:r>
              <a:rPr lang="en-US" sz="2400"/>
              <a:t>People with diabetes are more likely to come back within 30 days because their condition is harder to manage.</a:t>
            </a:r>
          </a:p>
          <a:p>
            <a:r>
              <a:rPr lang="en-US" sz="2400" b="1"/>
              <a:t>Our goal</a:t>
            </a:r>
            <a:r>
              <a:rPr lang="en-US" sz="2400"/>
              <a:t>: Build a model to spot these high-risk patients early and help prevent readmissions.</a:t>
            </a:r>
          </a:p>
          <a:p>
            <a:endParaRPr lang="en-US" sz="2400"/>
          </a:p>
        </p:txBody>
      </p:sp>
      <p:sp>
        <p:nvSpPr>
          <p:cNvPr id="4" name="Title 3">
            <a:extLst>
              <a:ext uri="{FF2B5EF4-FFF2-40B4-BE49-F238E27FC236}">
                <a16:creationId xmlns:a16="http://schemas.microsoft.com/office/drawing/2014/main" id="{FC95A9AB-1DDB-BAED-EF0F-B7A888BCF775}"/>
              </a:ext>
            </a:extLst>
          </p:cNvPr>
          <p:cNvSpPr>
            <a:spLocks noGrp="1"/>
          </p:cNvSpPr>
          <p:nvPr>
            <p:ph type="ctrTitle"/>
          </p:nvPr>
        </p:nvSpPr>
        <p:spPr>
          <a:xfrm>
            <a:off x="457200" y="948292"/>
            <a:ext cx="8229600" cy="762000"/>
          </a:xfrm>
        </p:spPr>
        <p:txBody>
          <a:bodyPr/>
          <a:lstStyle/>
          <a:p>
            <a:r>
              <a:rPr lang="en-US" dirty="0"/>
              <a:t>Real-World Problem – </a:t>
            </a:r>
            <a:r>
              <a:rPr lang="en-US"/>
              <a:t>Nimisha</a:t>
            </a:r>
            <a:endParaRPr lang="en-US" dirty="0"/>
          </a:p>
          <a:p>
            <a:endParaRPr lang="en-US" dirty="0"/>
          </a:p>
        </p:txBody>
      </p:sp>
    </p:spTree>
    <p:extLst>
      <p:ext uri="{BB962C8B-B14F-4D97-AF65-F5344CB8AC3E}">
        <p14:creationId xmlns:p14="http://schemas.microsoft.com/office/powerpoint/2010/main" val="2192743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B49B6AF-4D54-BBAF-82F3-478155D4D432}"/>
              </a:ext>
            </a:extLst>
          </p:cNvPr>
          <p:cNvSpPr>
            <a:spLocks noGrp="1"/>
          </p:cNvSpPr>
          <p:nvPr>
            <p:ph type="body" idx="1"/>
          </p:nvPr>
        </p:nvSpPr>
        <p:spPr>
          <a:xfrm>
            <a:off x="457200" y="1706114"/>
            <a:ext cx="8231072" cy="4473006"/>
          </a:xfrm>
        </p:spPr>
        <p:txBody>
          <a:bodyPr/>
          <a:lstStyle/>
          <a:p>
            <a:r>
              <a:rPr lang="en-US" sz="2400" b="1"/>
              <a:t>Dataset</a:t>
            </a:r>
            <a:r>
              <a:rPr lang="en-US" sz="2400"/>
              <a:t>: UCI Diabetes 130-US hospitals (</a:t>
            </a:r>
            <a:r>
              <a:rPr lang="en-US" sz="2400">
                <a:latin typeface="Consolas"/>
              </a:rPr>
              <a:t>diabetic_data.csv</a:t>
            </a:r>
            <a:r>
              <a:rPr lang="en-US" sz="2400"/>
              <a:t>)</a:t>
            </a:r>
          </a:p>
          <a:p>
            <a:r>
              <a:rPr lang="en-US" sz="2400" b="1"/>
              <a:t>Scope</a:t>
            </a:r>
            <a:r>
              <a:rPr lang="en-US" sz="2400"/>
              <a:t>: 100,000+ inpatient admissions (1999–2008)</a:t>
            </a:r>
            <a:endParaRPr lang="en-US"/>
          </a:p>
          <a:p>
            <a:r>
              <a:rPr lang="en-US" sz="2400" b="1"/>
              <a:t>Features</a:t>
            </a:r>
            <a:r>
              <a:rPr lang="en-US" sz="2400"/>
              <a:t>: Demographics, diagnoses, procedures, medications</a:t>
            </a:r>
            <a:endParaRPr lang="en-US"/>
          </a:p>
          <a:p>
            <a:r>
              <a:rPr lang="en-US" sz="2400" b="1"/>
              <a:t>Objective</a:t>
            </a:r>
            <a:r>
              <a:rPr lang="en-US" sz="2400"/>
              <a:t>: Predict risk of patient readmission within 30 days</a:t>
            </a:r>
            <a:endParaRPr lang="en-US"/>
          </a:p>
          <a:p>
            <a:r>
              <a:rPr lang="en-US" sz="2400" b="1"/>
              <a:t>Why this dataset?</a:t>
            </a:r>
            <a:br>
              <a:rPr lang="en-US" sz="2400" b="1"/>
            </a:br>
            <a:r>
              <a:rPr lang="en-US" sz="2400" b="1"/>
              <a:t> </a:t>
            </a:r>
            <a:r>
              <a:rPr lang="en-US" sz="2400"/>
              <a:t>Real-world hospital data offering diverse patterns to explore clinical predictors and support outcome-based modeling</a:t>
            </a:r>
            <a:endParaRPr lang="en-US"/>
          </a:p>
          <a:p>
            <a:endParaRPr lang="en-US" sz="2400"/>
          </a:p>
          <a:p>
            <a:pPr marL="50800" indent="0">
              <a:buNone/>
            </a:pPr>
            <a:endParaRPr lang="en-US"/>
          </a:p>
        </p:txBody>
      </p:sp>
      <p:sp>
        <p:nvSpPr>
          <p:cNvPr id="4" name="Title 3">
            <a:extLst>
              <a:ext uri="{FF2B5EF4-FFF2-40B4-BE49-F238E27FC236}">
                <a16:creationId xmlns:a16="http://schemas.microsoft.com/office/drawing/2014/main" id="{9C4531BF-7AEB-0944-0828-480AEFDA5A62}"/>
              </a:ext>
            </a:extLst>
          </p:cNvPr>
          <p:cNvSpPr>
            <a:spLocks noGrp="1"/>
          </p:cNvSpPr>
          <p:nvPr>
            <p:ph type="ctrTitle"/>
          </p:nvPr>
        </p:nvSpPr>
        <p:spPr/>
        <p:txBody>
          <a:bodyPr/>
          <a:lstStyle/>
          <a:p>
            <a:r>
              <a:rPr lang="en-US" dirty="0"/>
              <a:t>Dataset Overview and EDA – Laxmi</a:t>
            </a:r>
          </a:p>
        </p:txBody>
      </p:sp>
    </p:spTree>
    <p:extLst>
      <p:ext uri="{BB962C8B-B14F-4D97-AF65-F5344CB8AC3E}">
        <p14:creationId xmlns:p14="http://schemas.microsoft.com/office/powerpoint/2010/main" val="246223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46F4A9-8231-DF85-89D7-1D18BF7FB124}"/>
              </a:ext>
            </a:extLst>
          </p:cNvPr>
          <p:cNvSpPr>
            <a:spLocks noGrp="1"/>
          </p:cNvSpPr>
          <p:nvPr>
            <p:ph type="body" idx="1"/>
          </p:nvPr>
        </p:nvSpPr>
        <p:spPr>
          <a:xfrm>
            <a:off x="457200" y="1600200"/>
            <a:ext cx="8328159" cy="4720140"/>
          </a:xfrm>
        </p:spPr>
        <p:txBody>
          <a:bodyPr/>
          <a:lstStyle/>
          <a:p>
            <a:r>
              <a:rPr lang="en-US" sz="2400" b="1" dirty="0"/>
              <a:t>Target Defined:</a:t>
            </a:r>
            <a:r>
              <a:rPr lang="en-US" sz="2400" dirty="0"/>
              <a:t> Converted readmission to binary (</a:t>
            </a:r>
            <a:r>
              <a:rPr lang="en-US" sz="2400" dirty="0">
                <a:latin typeface="Consolas"/>
              </a:rPr>
              <a:t>&lt;30 days</a:t>
            </a:r>
            <a:r>
              <a:rPr lang="en-US" sz="2400" dirty="0"/>
              <a:t> = 1, else = 0)</a:t>
            </a:r>
          </a:p>
          <a:p>
            <a:r>
              <a:rPr lang="en-US" sz="2400" b="1" dirty="0"/>
              <a:t>Cleaned Data:</a:t>
            </a:r>
            <a:r>
              <a:rPr lang="en-US" sz="2400" dirty="0"/>
              <a:t> Dropped columns with too many missing values or no useful variance</a:t>
            </a:r>
          </a:p>
          <a:p>
            <a:r>
              <a:rPr lang="en-US" sz="2400" b="1" dirty="0"/>
              <a:t>One-Hot Encoding:</a:t>
            </a:r>
            <a:r>
              <a:rPr lang="en-US" sz="2400" dirty="0"/>
              <a:t> Transformed categorical features to numeric — avoids misleading order assumptions</a:t>
            </a:r>
          </a:p>
          <a:p>
            <a:r>
              <a:rPr lang="en-US" sz="2400" b="1" dirty="0"/>
              <a:t>Outcome:</a:t>
            </a:r>
            <a:r>
              <a:rPr lang="en-US" sz="2400" dirty="0"/>
              <a:t> Ready, structured dataset aligned to prediction goal</a:t>
            </a:r>
          </a:p>
          <a:p>
            <a:endParaRPr lang="en-US" dirty="0"/>
          </a:p>
        </p:txBody>
      </p:sp>
      <p:sp>
        <p:nvSpPr>
          <p:cNvPr id="4" name="Title 3">
            <a:extLst>
              <a:ext uri="{FF2B5EF4-FFF2-40B4-BE49-F238E27FC236}">
                <a16:creationId xmlns:a16="http://schemas.microsoft.com/office/drawing/2014/main" id="{064F02FF-3A55-D8AD-0131-F946CEF9E185}"/>
              </a:ext>
            </a:extLst>
          </p:cNvPr>
          <p:cNvSpPr>
            <a:spLocks noGrp="1"/>
          </p:cNvSpPr>
          <p:nvPr>
            <p:ph type="ctrTitle"/>
          </p:nvPr>
        </p:nvSpPr>
        <p:spPr/>
        <p:txBody>
          <a:bodyPr/>
          <a:lstStyle/>
          <a:p>
            <a:r>
              <a:rPr lang="en-US"/>
              <a:t>Data Preparation - Laxmi</a:t>
            </a:r>
          </a:p>
        </p:txBody>
      </p:sp>
    </p:spTree>
    <p:extLst>
      <p:ext uri="{BB962C8B-B14F-4D97-AF65-F5344CB8AC3E}">
        <p14:creationId xmlns:p14="http://schemas.microsoft.com/office/powerpoint/2010/main" val="2954460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B65DE7-E390-B028-044F-43F8987CAC94}"/>
              </a:ext>
            </a:extLst>
          </p:cNvPr>
          <p:cNvSpPr>
            <a:spLocks noGrp="1"/>
          </p:cNvSpPr>
          <p:nvPr>
            <p:ph type="body" idx="1"/>
          </p:nvPr>
        </p:nvSpPr>
        <p:spPr>
          <a:xfrm>
            <a:off x="457200" y="1600200"/>
            <a:ext cx="8231071" cy="4684835"/>
          </a:xfrm>
        </p:spPr>
        <p:txBody>
          <a:bodyPr/>
          <a:lstStyle/>
          <a:p>
            <a:r>
              <a:rPr lang="en-US" altLang="zh-CN" sz="2400" dirty="0"/>
              <a:t>Flags patients who had more than one hospital visit (inpatient, emergency, or outpatient) during the data period. </a:t>
            </a:r>
          </a:p>
          <a:p>
            <a:r>
              <a:rPr lang="en-US" altLang="zh-CN" sz="2400" dirty="0"/>
              <a:t>Flags patients who had more medications prescribed than the average. </a:t>
            </a:r>
          </a:p>
          <a:p>
            <a:r>
              <a:rPr lang="en-US" altLang="zh-CN" sz="2400" dirty="0"/>
              <a:t>To avoid duplicate features, any pre-existing columns indicating insulin status are dropped, flags any patient who is on any type of insulin regimen (Steady, Up, Down)</a:t>
            </a:r>
          </a:p>
          <a:p>
            <a:pPr marL="50800" indent="0">
              <a:buNone/>
            </a:pPr>
            <a:endParaRPr lang="en-US" dirty="0"/>
          </a:p>
        </p:txBody>
      </p:sp>
      <p:sp>
        <p:nvSpPr>
          <p:cNvPr id="4" name="Title 3">
            <a:extLst>
              <a:ext uri="{FF2B5EF4-FFF2-40B4-BE49-F238E27FC236}">
                <a16:creationId xmlns:a16="http://schemas.microsoft.com/office/drawing/2014/main" id="{8FE7A551-FDEE-F768-6442-59BB61B83FCB}"/>
              </a:ext>
            </a:extLst>
          </p:cNvPr>
          <p:cNvSpPr>
            <a:spLocks noGrp="1"/>
          </p:cNvSpPr>
          <p:nvPr>
            <p:ph type="ctrTitle"/>
          </p:nvPr>
        </p:nvSpPr>
        <p:spPr/>
        <p:txBody>
          <a:bodyPr/>
          <a:lstStyle/>
          <a:p>
            <a:r>
              <a:rPr lang="en-US" dirty="0"/>
              <a:t>Feature Engineering – nick</a:t>
            </a:r>
          </a:p>
        </p:txBody>
      </p:sp>
    </p:spTree>
    <p:extLst>
      <p:ext uri="{BB962C8B-B14F-4D97-AF65-F5344CB8AC3E}">
        <p14:creationId xmlns:p14="http://schemas.microsoft.com/office/powerpoint/2010/main" val="3966919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0510D4CD-DE96-BAEF-AD8D-B02649B48C42}"/>
            </a:ext>
          </a:extLst>
        </p:cNvPr>
        <p:cNvGrpSpPr/>
        <p:nvPr/>
      </p:nvGrpSpPr>
      <p:grpSpPr>
        <a:xfrm>
          <a:off x="0" y="0"/>
          <a:ext cx="0" cy="0"/>
          <a:chOff x="0" y="0"/>
          <a:chExt cx="0" cy="0"/>
        </a:xfrm>
      </p:grpSpPr>
      <p:sp>
        <p:nvSpPr>
          <p:cNvPr id="101" name="Google Shape;101;p4">
            <a:extLst>
              <a:ext uri="{FF2B5EF4-FFF2-40B4-BE49-F238E27FC236}">
                <a16:creationId xmlns:a16="http://schemas.microsoft.com/office/drawing/2014/main" id="{7B2CE681-2832-F54D-C9E3-88429AAC4B45}"/>
              </a:ext>
            </a:extLst>
          </p:cNvPr>
          <p:cNvSpPr txBox="1">
            <a:spLocks noGrp="1"/>
          </p:cNvSpPr>
          <p:nvPr>
            <p:ph type="body" idx="1"/>
          </p:nvPr>
        </p:nvSpPr>
        <p:spPr>
          <a:xfrm>
            <a:off x="457200" y="1686590"/>
            <a:ext cx="8392885" cy="4980099"/>
          </a:xfrm>
          <a:prstGeom prst="rect">
            <a:avLst/>
          </a:prstGeom>
          <a:noFill/>
          <a:ln>
            <a:noFill/>
          </a:ln>
        </p:spPr>
        <p:txBody>
          <a:bodyPr spcFirstLastPara="1" wrap="square" lIns="91425" tIns="45700" rIns="91425" bIns="45700" anchor="t" anchorCtr="0">
            <a:noAutofit/>
          </a:bodyPr>
          <a:lstStyle/>
          <a:p>
            <a:r>
              <a:rPr lang="en-US" altLang="zh-CN" sz="2400" b="1" dirty="0"/>
              <a:t>Why three-way split?</a:t>
            </a:r>
            <a:endParaRPr lang="zh-CN" altLang="zh-CN" sz="2400" b="1" dirty="0"/>
          </a:p>
          <a:p>
            <a:pPr lvl="1"/>
            <a:r>
              <a:rPr lang="en-US" altLang="zh-CN" sz="2400" dirty="0"/>
              <a:t>Training set to build the model.</a:t>
            </a:r>
            <a:endParaRPr lang="zh-CN" altLang="zh-CN" sz="2400" dirty="0"/>
          </a:p>
          <a:p>
            <a:pPr lvl="1"/>
            <a:r>
              <a:rPr lang="en-US" altLang="zh-CN" sz="2400" dirty="0"/>
              <a:t>Validation set to fine-tune hyperparameters and prevent overfitting.</a:t>
            </a:r>
            <a:endParaRPr lang="zh-CN" altLang="zh-CN" sz="2400" dirty="0"/>
          </a:p>
          <a:p>
            <a:pPr lvl="1"/>
            <a:r>
              <a:rPr lang="en-US" altLang="zh-CN" sz="2400" dirty="0"/>
              <a:t>Test set to evaluate generalization performance on completely unseen data.</a:t>
            </a:r>
            <a:endParaRPr lang="zh-CN" altLang="zh-CN" sz="2400" dirty="0"/>
          </a:p>
          <a:p>
            <a:pPr lvl="0"/>
            <a:r>
              <a:rPr lang="en-US" altLang="zh-CN" sz="2400" dirty="0"/>
              <a:t>Employed a stratified three-way split to maintain the distribution of readmissions:</a:t>
            </a:r>
            <a:endParaRPr lang="zh-CN" altLang="zh-CN" sz="2400" dirty="0"/>
          </a:p>
          <a:p>
            <a:pPr lvl="1"/>
            <a:r>
              <a:rPr lang="en-US" altLang="zh-CN" sz="2400" dirty="0"/>
              <a:t>Training set: 64%</a:t>
            </a:r>
            <a:endParaRPr lang="zh-CN" altLang="zh-CN" sz="2400" dirty="0"/>
          </a:p>
          <a:p>
            <a:pPr lvl="1"/>
            <a:r>
              <a:rPr lang="en-US" altLang="zh-CN" sz="2400" dirty="0"/>
              <a:t>Validation set: 16%</a:t>
            </a:r>
            <a:endParaRPr lang="zh-CN" altLang="zh-CN" sz="2400" dirty="0"/>
          </a:p>
          <a:p>
            <a:pPr lvl="1"/>
            <a:r>
              <a:rPr lang="en-US" altLang="zh-CN" sz="2400" dirty="0"/>
              <a:t>Test set: 20%</a:t>
            </a:r>
            <a:endParaRPr lang="zh-CN" altLang="zh-CN" sz="2400" dirty="0"/>
          </a:p>
          <a:p>
            <a:endParaRPr lang="en-IN" sz="22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102" name="Google Shape;102;p4">
            <a:extLst>
              <a:ext uri="{FF2B5EF4-FFF2-40B4-BE49-F238E27FC236}">
                <a16:creationId xmlns:a16="http://schemas.microsoft.com/office/drawing/2014/main" id="{EDAB39B1-D768-BFE4-BB4D-5595592B681A}"/>
              </a:ext>
            </a:extLst>
          </p:cNvPr>
          <p:cNvSpPr txBox="1">
            <a:spLocks noGrp="1"/>
          </p:cNvSpPr>
          <p:nvPr>
            <p:ph type="ctrTitle"/>
          </p:nvPr>
        </p:nvSpPr>
        <p:spPr>
          <a:xfrm>
            <a:off x="457200" y="653418"/>
            <a:ext cx="8229600" cy="838199"/>
          </a:xfrm>
          <a:prstGeom prst="rect">
            <a:avLst/>
          </a:prstGeom>
          <a:noFill/>
          <a:ln>
            <a:noFill/>
          </a:ln>
        </p:spPr>
        <p:txBody>
          <a:bodyPr spcFirstLastPara="1" wrap="square" lIns="91425" tIns="45700" rIns="91425" bIns="45700" anchor="t" anchorCtr="0">
            <a:noAutofit/>
          </a:bodyPr>
          <a:lstStyle/>
          <a:p>
            <a:pPr lvl="0"/>
            <a:r>
              <a:rPr lang="en-US" altLang="zh-CN" dirty="0"/>
              <a:t>Train-Validation-Test Splitting Strategy </a:t>
            </a:r>
            <a:endParaRPr dirty="0"/>
          </a:p>
        </p:txBody>
      </p:sp>
      <p:sp>
        <p:nvSpPr>
          <p:cNvPr id="2" name="Rectangle 1">
            <a:extLst>
              <a:ext uri="{FF2B5EF4-FFF2-40B4-BE49-F238E27FC236}">
                <a16:creationId xmlns:a16="http://schemas.microsoft.com/office/drawing/2014/main" id="{B2BD9160-9A31-C4C3-F174-B71EDBD4F9F5}"/>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107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38A93592-5061-8E99-D40D-34ED53038BCC}"/>
            </a:ext>
          </a:extLst>
        </p:cNvPr>
        <p:cNvGrpSpPr/>
        <p:nvPr/>
      </p:nvGrpSpPr>
      <p:grpSpPr>
        <a:xfrm>
          <a:off x="0" y="0"/>
          <a:ext cx="0" cy="0"/>
          <a:chOff x="0" y="0"/>
          <a:chExt cx="0" cy="0"/>
        </a:xfrm>
      </p:grpSpPr>
      <p:sp>
        <p:nvSpPr>
          <p:cNvPr id="101" name="Google Shape;101;p4">
            <a:extLst>
              <a:ext uri="{FF2B5EF4-FFF2-40B4-BE49-F238E27FC236}">
                <a16:creationId xmlns:a16="http://schemas.microsoft.com/office/drawing/2014/main" id="{2CB9B46D-15A7-3B2E-B805-769B4104DF92}"/>
              </a:ext>
            </a:extLst>
          </p:cNvPr>
          <p:cNvSpPr txBox="1">
            <a:spLocks noGrp="1"/>
          </p:cNvSpPr>
          <p:nvPr>
            <p:ph type="body" idx="1"/>
          </p:nvPr>
        </p:nvSpPr>
        <p:spPr>
          <a:xfrm>
            <a:off x="457200" y="2220685"/>
            <a:ext cx="8392885" cy="3983897"/>
          </a:xfrm>
          <a:prstGeom prst="rect">
            <a:avLst/>
          </a:prstGeom>
          <a:noFill/>
          <a:ln>
            <a:noFill/>
          </a:ln>
        </p:spPr>
        <p:txBody>
          <a:bodyPr spcFirstLastPara="1" wrap="square" lIns="91425" tIns="45700" rIns="91425" bIns="45700" anchor="t" anchorCtr="0">
            <a:noAutofit/>
          </a:bodyPr>
          <a:lstStyle/>
          <a:p>
            <a:pPr marL="114300" indent="0">
              <a:buNone/>
            </a:pPr>
            <a:r>
              <a:rPr lang="en-US" altLang="zh-CN" sz="2000" b="1" dirty="0"/>
              <a:t>Why Not Just Use Threshold = 0.5?</a:t>
            </a:r>
          </a:p>
          <a:p>
            <a:r>
              <a:rPr lang="en-US" sz="2000" dirty="0"/>
              <a:t>In imbalanced datasets (like ours), a default threshold of 0.5 often favors the majority class.</a:t>
            </a:r>
          </a:p>
          <a:p>
            <a:r>
              <a:rPr lang="en-US" sz="2000" dirty="0"/>
              <a:t>This leads to extremely poor recall for the minority class (e.g., readmitted patients).</a:t>
            </a:r>
          </a:p>
          <a:p>
            <a:endParaRPr lang="en-US" sz="2000" dirty="0">
              <a:latin typeface="Times New Roman" panose="02020603050405020304" pitchFamily="18" charset="0"/>
              <a:cs typeface="Times New Roman" panose="02020603050405020304" pitchFamily="18" charset="0"/>
            </a:endParaRPr>
          </a:p>
          <a:p>
            <a:pPr marL="114300" indent="0">
              <a:buNone/>
            </a:pPr>
            <a:r>
              <a:rPr lang="en-US" altLang="zh-CN" sz="2000" b="1" dirty="0"/>
              <a:t>Youden’s J: </a:t>
            </a:r>
            <a:r>
              <a:rPr lang="en-US" altLang="zh-CN" sz="2000" dirty="0"/>
              <a:t>Maximize true positive rate while minimizing false positive rate</a:t>
            </a:r>
            <a:endParaRPr lang="en-IN" sz="2000" b="1" dirty="0">
              <a:latin typeface="Times New Roman" panose="02020603050405020304" pitchFamily="18" charset="0"/>
              <a:cs typeface="Times New Roman" panose="02020603050405020304" pitchFamily="18" charset="0"/>
            </a:endParaRPr>
          </a:p>
        </p:txBody>
      </p:sp>
      <p:sp>
        <p:nvSpPr>
          <p:cNvPr id="102" name="Google Shape;102;p4">
            <a:extLst>
              <a:ext uri="{FF2B5EF4-FFF2-40B4-BE49-F238E27FC236}">
                <a16:creationId xmlns:a16="http://schemas.microsoft.com/office/drawing/2014/main" id="{B74E57A6-EA28-6C7B-C6CD-D2E6AFA6CFE5}"/>
              </a:ext>
            </a:extLst>
          </p:cNvPr>
          <p:cNvSpPr txBox="1">
            <a:spLocks noGrp="1"/>
          </p:cNvSpPr>
          <p:nvPr>
            <p:ph type="ctrTitle"/>
          </p:nvPr>
        </p:nvSpPr>
        <p:spPr>
          <a:xfrm>
            <a:off x="457200" y="653418"/>
            <a:ext cx="8229600" cy="838199"/>
          </a:xfrm>
          <a:prstGeom prst="rect">
            <a:avLst/>
          </a:prstGeom>
          <a:noFill/>
          <a:ln>
            <a:noFill/>
          </a:ln>
        </p:spPr>
        <p:txBody>
          <a:bodyPr spcFirstLastPara="1" wrap="square" lIns="91425" tIns="45700" rIns="91425" bIns="45700" anchor="t" anchorCtr="0">
            <a:noAutofit/>
          </a:bodyPr>
          <a:lstStyle/>
          <a:p>
            <a:pPr lvl="0" algn="l"/>
            <a:r>
              <a:rPr lang="en-US" altLang="zh-CN" dirty="0"/>
              <a:t>Finding the ROC-Optimal Threshold Using Youden’s J Statistic nick</a:t>
            </a:r>
            <a:endParaRPr dirty="0"/>
          </a:p>
        </p:txBody>
      </p:sp>
      <p:sp>
        <p:nvSpPr>
          <p:cNvPr id="2" name="Rectangle 1">
            <a:extLst>
              <a:ext uri="{FF2B5EF4-FFF2-40B4-BE49-F238E27FC236}">
                <a16:creationId xmlns:a16="http://schemas.microsoft.com/office/drawing/2014/main" id="{5A46D6BE-54D7-8AE9-EC71-291619601A4A}"/>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7A6092A9-5CA3-D876-70F2-197262F2D9B6}"/>
              </a:ext>
            </a:extLst>
          </p:cNvPr>
          <p:cNvPicPr>
            <a:picLocks noChangeAspect="1"/>
          </p:cNvPicPr>
          <p:nvPr/>
        </p:nvPicPr>
        <p:blipFill>
          <a:blip r:embed="rId3"/>
          <a:stretch>
            <a:fillRect/>
          </a:stretch>
        </p:blipFill>
        <p:spPr>
          <a:xfrm>
            <a:off x="1599785" y="5003696"/>
            <a:ext cx="5944430" cy="1486107"/>
          </a:xfrm>
          <a:prstGeom prst="rect">
            <a:avLst/>
          </a:prstGeom>
        </p:spPr>
      </p:pic>
    </p:spTree>
    <p:extLst>
      <p:ext uri="{BB962C8B-B14F-4D97-AF65-F5344CB8AC3E}">
        <p14:creationId xmlns:p14="http://schemas.microsoft.com/office/powerpoint/2010/main" val="3779602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2B975F08-7925-1148-A73F-033BDDE64BD3}"/>
            </a:ext>
          </a:extLst>
        </p:cNvPr>
        <p:cNvGrpSpPr/>
        <p:nvPr/>
      </p:nvGrpSpPr>
      <p:grpSpPr>
        <a:xfrm>
          <a:off x="0" y="0"/>
          <a:ext cx="0" cy="0"/>
          <a:chOff x="0" y="0"/>
          <a:chExt cx="0" cy="0"/>
        </a:xfrm>
      </p:grpSpPr>
      <p:sp>
        <p:nvSpPr>
          <p:cNvPr id="101" name="Google Shape;101;p4">
            <a:extLst>
              <a:ext uri="{FF2B5EF4-FFF2-40B4-BE49-F238E27FC236}">
                <a16:creationId xmlns:a16="http://schemas.microsoft.com/office/drawing/2014/main" id="{39944B7A-724E-FAA5-DB4B-1EF0334B0480}"/>
              </a:ext>
            </a:extLst>
          </p:cNvPr>
          <p:cNvSpPr txBox="1">
            <a:spLocks noGrp="1"/>
          </p:cNvSpPr>
          <p:nvPr>
            <p:ph type="body" idx="1"/>
          </p:nvPr>
        </p:nvSpPr>
        <p:spPr>
          <a:xfrm>
            <a:off x="457200" y="2055585"/>
            <a:ext cx="8392885" cy="3983897"/>
          </a:xfrm>
          <a:prstGeom prst="rect">
            <a:avLst/>
          </a:prstGeom>
          <a:noFill/>
          <a:ln>
            <a:noFill/>
          </a:ln>
        </p:spPr>
        <p:txBody>
          <a:bodyPr spcFirstLastPara="1" wrap="square" lIns="91425" tIns="45700" rIns="91425" bIns="45700" anchor="t" anchorCtr="0">
            <a:noAutofit/>
          </a:bodyPr>
          <a:lstStyle/>
          <a:p>
            <a:pPr lvl="0"/>
            <a:r>
              <a:rPr lang="en-US" altLang="zh-CN" sz="1800" b="1" dirty="0">
                <a:latin typeface="Helvetica Neue" panose="02010600030101010101" charset="0"/>
                <a:cs typeface="Times New Roman" panose="02020603050405020304" pitchFamily="18" charset="0"/>
              </a:rPr>
              <a:t>Best Estimator Parameters:</a:t>
            </a:r>
            <a:endParaRPr lang="zh-CN" altLang="zh-CN" sz="1800" dirty="0">
              <a:latin typeface="Helvetica Neue" panose="02010600030101010101" charset="0"/>
              <a:cs typeface="Times New Roman" panose="02020603050405020304" pitchFamily="18" charset="0"/>
            </a:endParaRPr>
          </a:p>
          <a:p>
            <a:pPr lvl="1"/>
            <a:r>
              <a:rPr lang="en-US" altLang="zh-CN" sz="1800" dirty="0">
                <a:latin typeface="Helvetica Neue" panose="02010600030101010101" charset="0"/>
                <a:cs typeface="Times New Roman" panose="02020603050405020304" pitchFamily="18" charset="0"/>
              </a:rPr>
              <a:t>Depth: 6</a:t>
            </a:r>
            <a:endParaRPr lang="zh-CN" altLang="zh-CN" sz="1800" dirty="0">
              <a:latin typeface="Helvetica Neue" panose="02010600030101010101" charset="0"/>
              <a:cs typeface="Times New Roman" panose="02020603050405020304" pitchFamily="18" charset="0"/>
            </a:endParaRPr>
          </a:p>
          <a:p>
            <a:pPr lvl="1"/>
            <a:r>
              <a:rPr lang="en-US" altLang="zh-CN" sz="1800" dirty="0">
                <a:latin typeface="Helvetica Neue" panose="02010600030101010101" charset="0"/>
                <a:cs typeface="Times New Roman" panose="02020603050405020304" pitchFamily="18" charset="0"/>
              </a:rPr>
              <a:t>Iterations: 300</a:t>
            </a:r>
            <a:endParaRPr lang="zh-CN" altLang="zh-CN" sz="1800" dirty="0">
              <a:latin typeface="Helvetica Neue" panose="02010600030101010101" charset="0"/>
              <a:cs typeface="Times New Roman" panose="02020603050405020304" pitchFamily="18" charset="0"/>
            </a:endParaRPr>
          </a:p>
          <a:p>
            <a:pPr lvl="1"/>
            <a:r>
              <a:rPr lang="en-US" altLang="zh-CN" sz="1800" dirty="0">
                <a:latin typeface="Helvetica Neue" panose="02010600030101010101" charset="0"/>
                <a:cs typeface="Times New Roman" panose="02020603050405020304" pitchFamily="18" charset="0"/>
              </a:rPr>
              <a:t>Learning Rate: 0.1</a:t>
            </a:r>
          </a:p>
          <a:p>
            <a:r>
              <a:rPr lang="en-US" altLang="zh-CN" sz="1800" b="1" dirty="0">
                <a:latin typeface="Helvetica Neue" panose="02010600030101010101" charset="0"/>
                <a:cs typeface="Times New Roman" panose="02020603050405020304" pitchFamily="18" charset="0"/>
              </a:rPr>
              <a:t>ROC-optimal threshold determined to be 0.108, which improved recall of class 1 to 0.63</a:t>
            </a:r>
            <a:endParaRPr lang="zh-CN" altLang="zh-CN" sz="1800" b="1" dirty="0">
              <a:latin typeface="Helvetica Neue" panose="02010600030101010101" charset="0"/>
              <a:cs typeface="Times New Roman" panose="02020603050405020304" pitchFamily="18" charset="0"/>
            </a:endParaRPr>
          </a:p>
          <a:p>
            <a:r>
              <a:rPr lang="en-US" altLang="zh-CN" sz="1800" b="1" dirty="0">
                <a:latin typeface="Helvetica Neue" panose="02010600030101010101" charset="0"/>
                <a:cs typeface="Times New Roman" panose="02020603050405020304" pitchFamily="18" charset="0"/>
              </a:rPr>
              <a:t>Validation Results Comparison</a:t>
            </a:r>
            <a:endParaRPr lang="zh-CN" altLang="zh-CN" sz="1800" dirty="0">
              <a:latin typeface="Helvetica Neue" panose="02010600030101010101" charset="0"/>
            </a:endParaRPr>
          </a:p>
          <a:p>
            <a:pPr lvl="1"/>
            <a:r>
              <a:rPr lang="en-US" altLang="zh-CN" sz="1800" dirty="0">
                <a:latin typeface="Helvetica Neue" panose="02010600030101010101" charset="0"/>
                <a:cs typeface="Times New Roman" panose="02020603050405020304" pitchFamily="18" charset="0"/>
              </a:rPr>
              <a:t>Accuracy dropped from 0.89 → 0.64</a:t>
            </a:r>
            <a:endParaRPr lang="zh-CN" altLang="zh-CN" sz="1800" dirty="0">
              <a:latin typeface="Helvetica Neue" panose="02010600030101010101" charset="0"/>
              <a:cs typeface="Times New Roman" panose="02020603050405020304" pitchFamily="18" charset="0"/>
            </a:endParaRPr>
          </a:p>
          <a:p>
            <a:pPr lvl="1"/>
            <a:r>
              <a:rPr lang="en-US" altLang="zh-CN" sz="1800" dirty="0">
                <a:latin typeface="Helvetica Neue" panose="02010600030101010101" charset="0"/>
                <a:cs typeface="Times New Roman" panose="02020603050405020304" pitchFamily="18" charset="0"/>
              </a:rPr>
              <a:t>Recall improved significantly (from 0.02 → 0.63), at the cost of lower precision</a:t>
            </a:r>
            <a:endParaRPr lang="zh-CN" altLang="zh-CN" sz="1800" dirty="0">
              <a:latin typeface="Helvetica Neue" panose="02010600030101010101" charset="0"/>
              <a:cs typeface="Times New Roman" panose="02020603050405020304" pitchFamily="18" charset="0"/>
            </a:endParaRPr>
          </a:p>
          <a:p>
            <a:pPr lvl="1"/>
            <a:r>
              <a:rPr lang="en-US" altLang="zh-CN" sz="1800" dirty="0">
                <a:latin typeface="Helvetica Neue" panose="02010600030101010101" charset="0"/>
                <a:cs typeface="Times New Roman" panose="02020603050405020304" pitchFamily="18" charset="0"/>
              </a:rPr>
              <a:t>Macro F1 Score improved from 0.49 to 0.63</a:t>
            </a:r>
            <a:endParaRPr lang="zh-CN" altLang="zh-CN" sz="1800" dirty="0">
              <a:latin typeface="Helvetica Neue" panose="02010600030101010101"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p:txBody>
      </p:sp>
      <p:sp>
        <p:nvSpPr>
          <p:cNvPr id="102" name="Google Shape;102;p4">
            <a:extLst>
              <a:ext uri="{FF2B5EF4-FFF2-40B4-BE49-F238E27FC236}">
                <a16:creationId xmlns:a16="http://schemas.microsoft.com/office/drawing/2014/main" id="{47B4701A-7B26-1346-D5ED-B4C795103AAB}"/>
              </a:ext>
            </a:extLst>
          </p:cNvPr>
          <p:cNvSpPr txBox="1">
            <a:spLocks noGrp="1"/>
          </p:cNvSpPr>
          <p:nvPr>
            <p:ph type="ctrTitle"/>
          </p:nvPr>
        </p:nvSpPr>
        <p:spPr>
          <a:xfrm>
            <a:off x="457200" y="653418"/>
            <a:ext cx="8229600" cy="838199"/>
          </a:xfrm>
          <a:prstGeom prst="rect">
            <a:avLst/>
          </a:prstGeom>
          <a:noFill/>
          <a:ln>
            <a:noFill/>
          </a:ln>
        </p:spPr>
        <p:txBody>
          <a:bodyPr spcFirstLastPara="1" wrap="square" lIns="91425" tIns="45700" rIns="91425" bIns="45700" anchor="t" anchorCtr="0">
            <a:noAutofit/>
          </a:bodyPr>
          <a:lstStyle/>
          <a:p>
            <a:pPr lvl="0" algn="l"/>
            <a:r>
              <a:rPr lang="en-US" altLang="zh-CN" dirty="0" err="1"/>
              <a:t>CatBoost</a:t>
            </a:r>
            <a:r>
              <a:rPr lang="en-US" altLang="zh-CN" dirty="0"/>
              <a:t> - Final Model Performance Summary nick</a:t>
            </a:r>
            <a:endParaRPr dirty="0"/>
          </a:p>
        </p:txBody>
      </p:sp>
      <p:sp>
        <p:nvSpPr>
          <p:cNvPr id="2" name="Rectangle 1">
            <a:extLst>
              <a:ext uri="{FF2B5EF4-FFF2-40B4-BE49-F238E27FC236}">
                <a16:creationId xmlns:a16="http://schemas.microsoft.com/office/drawing/2014/main" id="{68DC131D-2DFD-00D7-C0DC-0C9FAC3822A2}"/>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4E423763-B525-26E6-50A1-34983C883E44}"/>
              </a:ext>
            </a:extLst>
          </p:cNvPr>
          <p:cNvPicPr>
            <a:picLocks noChangeAspect="1"/>
          </p:cNvPicPr>
          <p:nvPr/>
        </p:nvPicPr>
        <p:blipFill>
          <a:blip r:embed="rId3"/>
          <a:stretch>
            <a:fillRect/>
          </a:stretch>
        </p:blipFill>
        <p:spPr>
          <a:xfrm>
            <a:off x="4736675" y="2559050"/>
            <a:ext cx="3956334" cy="581087"/>
          </a:xfrm>
          <a:prstGeom prst="rect">
            <a:avLst/>
          </a:prstGeom>
        </p:spPr>
      </p:pic>
      <p:pic>
        <p:nvPicPr>
          <p:cNvPr id="7" name="Picture 6">
            <a:extLst>
              <a:ext uri="{FF2B5EF4-FFF2-40B4-BE49-F238E27FC236}">
                <a16:creationId xmlns:a16="http://schemas.microsoft.com/office/drawing/2014/main" id="{E3ECD742-E520-9669-0962-E1A72091212E}"/>
              </a:ext>
            </a:extLst>
          </p:cNvPr>
          <p:cNvPicPr>
            <a:picLocks noChangeAspect="1"/>
          </p:cNvPicPr>
          <p:nvPr/>
        </p:nvPicPr>
        <p:blipFill>
          <a:blip r:embed="rId4"/>
          <a:stretch>
            <a:fillRect/>
          </a:stretch>
        </p:blipFill>
        <p:spPr>
          <a:xfrm>
            <a:off x="6133797" y="5305043"/>
            <a:ext cx="2603803" cy="1456074"/>
          </a:xfrm>
          <a:prstGeom prst="rect">
            <a:avLst/>
          </a:prstGeom>
        </p:spPr>
      </p:pic>
    </p:spTree>
    <p:extLst>
      <p:ext uri="{BB962C8B-B14F-4D97-AF65-F5344CB8AC3E}">
        <p14:creationId xmlns:p14="http://schemas.microsoft.com/office/powerpoint/2010/main" val="98492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AEBCBEA7-6798-606C-0C50-5F79D9CB06AD}"/>
            </a:ext>
          </a:extLst>
        </p:cNvPr>
        <p:cNvGrpSpPr/>
        <p:nvPr/>
      </p:nvGrpSpPr>
      <p:grpSpPr>
        <a:xfrm>
          <a:off x="0" y="0"/>
          <a:ext cx="0" cy="0"/>
          <a:chOff x="0" y="0"/>
          <a:chExt cx="0" cy="0"/>
        </a:xfrm>
      </p:grpSpPr>
      <p:sp>
        <p:nvSpPr>
          <p:cNvPr id="101" name="Google Shape;101;p4">
            <a:extLst>
              <a:ext uri="{FF2B5EF4-FFF2-40B4-BE49-F238E27FC236}">
                <a16:creationId xmlns:a16="http://schemas.microsoft.com/office/drawing/2014/main" id="{FE429FC0-876A-CD6E-B083-209643E3B523}"/>
              </a:ext>
            </a:extLst>
          </p:cNvPr>
          <p:cNvSpPr txBox="1">
            <a:spLocks noGrp="1"/>
          </p:cNvSpPr>
          <p:nvPr>
            <p:ph type="body" idx="1"/>
          </p:nvPr>
        </p:nvSpPr>
        <p:spPr>
          <a:xfrm>
            <a:off x="130629" y="1490705"/>
            <a:ext cx="8551758" cy="2483433"/>
          </a:xfrm>
          <a:prstGeom prst="rect">
            <a:avLst/>
          </a:prstGeom>
          <a:noFill/>
          <a:ln>
            <a:noFill/>
          </a:ln>
        </p:spPr>
        <p:txBody>
          <a:bodyPr spcFirstLastPara="1" wrap="square" lIns="91425" tIns="45700" rIns="91425" bIns="45700" anchor="t" anchorCtr="0">
            <a:noAutofit/>
          </a:bodyPr>
          <a:lstStyle/>
          <a:p>
            <a:r>
              <a:rPr lang="en-IN" sz="1600" b="1">
                <a:cs typeface="Times New Roman"/>
              </a:rPr>
              <a:t>Threshold tuning</a:t>
            </a:r>
            <a:r>
              <a:rPr lang="en-IN" sz="1600">
                <a:cs typeface="Times New Roman"/>
              </a:rPr>
              <a:t> (0.5 → 0.130) improved </a:t>
            </a:r>
            <a:r>
              <a:rPr lang="en-IN" sz="1600" b="1">
                <a:cs typeface="Times New Roman"/>
              </a:rPr>
              <a:t>recall for readmitted patients</a:t>
            </a:r>
            <a:r>
              <a:rPr lang="en-IN" sz="1600">
                <a:cs typeface="Times New Roman"/>
              </a:rPr>
              <a:t> (Class 1) from </a:t>
            </a:r>
            <a:r>
              <a:rPr lang="en-IN" sz="1600" b="1">
                <a:cs typeface="Times New Roman"/>
              </a:rPr>
              <a:t>0.01 to 0.56</a:t>
            </a:r>
            <a:endParaRPr lang="en-IN" sz="1600" b="1">
              <a:latin typeface="Times New Roman" panose="02020603050405020304" pitchFamily="18" charset="0"/>
              <a:cs typeface="Times New Roman"/>
            </a:endParaRPr>
          </a:p>
          <a:p>
            <a:r>
              <a:rPr lang="en-IN" sz="1600" b="1">
                <a:cs typeface="Times New Roman"/>
              </a:rPr>
              <a:t>Accuracy dropped</a:t>
            </a:r>
            <a:r>
              <a:rPr lang="en-IN" sz="1600">
                <a:cs typeface="Times New Roman"/>
              </a:rPr>
              <a:t> slightly (0.89 → 0.64), but the model became more </a:t>
            </a:r>
            <a:r>
              <a:rPr lang="en-IN" sz="1600" b="1">
                <a:cs typeface="Times New Roman"/>
              </a:rPr>
              <a:t>balanced and useful for real-world healthcare</a:t>
            </a:r>
            <a:r>
              <a:rPr lang="en-IN" sz="1600">
                <a:cs typeface="Times New Roman"/>
              </a:rPr>
              <a:t> decisions</a:t>
            </a:r>
            <a:endParaRPr lang="en-IN" sz="1600"/>
          </a:p>
          <a:p>
            <a:endParaRPr lang="en-IN" sz="1600">
              <a:cs typeface="Times New Roman"/>
            </a:endParaRPr>
          </a:p>
        </p:txBody>
      </p:sp>
      <p:sp>
        <p:nvSpPr>
          <p:cNvPr id="102" name="Google Shape;102;p4">
            <a:extLst>
              <a:ext uri="{FF2B5EF4-FFF2-40B4-BE49-F238E27FC236}">
                <a16:creationId xmlns:a16="http://schemas.microsoft.com/office/drawing/2014/main" id="{83AA5584-772E-2D03-60FF-37F5067A98B8}"/>
              </a:ext>
            </a:extLst>
          </p:cNvPr>
          <p:cNvSpPr txBox="1">
            <a:spLocks noGrp="1"/>
          </p:cNvSpPr>
          <p:nvPr>
            <p:ph type="ctrTitle"/>
          </p:nvPr>
        </p:nvSpPr>
        <p:spPr>
          <a:xfrm>
            <a:off x="688694" y="653418"/>
            <a:ext cx="8229600" cy="838199"/>
          </a:xfrm>
          <a:prstGeom prst="rect">
            <a:avLst/>
          </a:prstGeom>
          <a:noFill/>
          <a:ln>
            <a:noFill/>
          </a:ln>
        </p:spPr>
        <p:txBody>
          <a:bodyPr spcFirstLastPara="1" wrap="square" lIns="91425" tIns="45700" rIns="91425" bIns="45700" anchor="t" anchorCtr="0">
            <a:noAutofit/>
          </a:bodyPr>
          <a:lstStyle/>
          <a:p>
            <a:pPr algn="l"/>
            <a:r>
              <a:rPr lang="en-US" sz="3200"/>
              <a:t>Random Forest – Final Model Performance</a:t>
            </a:r>
          </a:p>
        </p:txBody>
      </p:sp>
      <p:sp>
        <p:nvSpPr>
          <p:cNvPr id="2" name="Rectangle 1">
            <a:extLst>
              <a:ext uri="{FF2B5EF4-FFF2-40B4-BE49-F238E27FC236}">
                <a16:creationId xmlns:a16="http://schemas.microsoft.com/office/drawing/2014/main" id="{9E16F791-4573-4F2F-A7E3-A19E6C70464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descr="A screenshot of a computer&#10;&#10;AI-generated content may be incorrect., Picture">
            <a:extLst>
              <a:ext uri="{FF2B5EF4-FFF2-40B4-BE49-F238E27FC236}">
                <a16:creationId xmlns:a16="http://schemas.microsoft.com/office/drawing/2014/main" id="{6668882D-693D-33F1-F024-3E67CB412C5B}"/>
              </a:ext>
            </a:extLst>
          </p:cNvPr>
          <p:cNvPicPr>
            <a:picLocks noChangeAspect="1"/>
          </p:cNvPicPr>
          <p:nvPr/>
        </p:nvPicPr>
        <p:blipFill>
          <a:blip r:embed="rId3"/>
          <a:stretch>
            <a:fillRect/>
          </a:stretch>
        </p:blipFill>
        <p:spPr>
          <a:xfrm>
            <a:off x="2279269" y="2948890"/>
            <a:ext cx="4576633" cy="3572795"/>
          </a:xfrm>
          <a:prstGeom prst="rect">
            <a:avLst/>
          </a:prstGeom>
        </p:spPr>
      </p:pic>
    </p:spTree>
    <p:extLst>
      <p:ext uri="{BB962C8B-B14F-4D97-AF65-F5344CB8AC3E}">
        <p14:creationId xmlns:p14="http://schemas.microsoft.com/office/powerpoint/2010/main" val="1301394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51EDD0B-DB7B-DF95-00F4-C9A229300548}"/>
              </a:ext>
            </a:extLst>
          </p:cNvPr>
          <p:cNvSpPr>
            <a:spLocks noGrp="1"/>
          </p:cNvSpPr>
          <p:nvPr>
            <p:ph type="body" idx="1"/>
          </p:nvPr>
        </p:nvSpPr>
        <p:spPr>
          <a:xfrm>
            <a:off x="457200" y="1481060"/>
            <a:ext cx="4038600" cy="4525963"/>
          </a:xfrm>
        </p:spPr>
        <p:txBody>
          <a:bodyPr/>
          <a:lstStyle/>
          <a:p>
            <a:pPr marL="50800" indent="0">
              <a:buNone/>
            </a:pPr>
            <a:endParaRPr lang="en-GB" sz="1200"/>
          </a:p>
          <a:p>
            <a:r>
              <a:rPr lang="en-GB" sz="1200" b="1" err="1"/>
              <a:t>max_depth</a:t>
            </a:r>
            <a:r>
              <a:rPr lang="en-GB" sz="1200" b="1"/>
              <a:t> : </a:t>
            </a:r>
            <a:r>
              <a:rPr lang="en-GB" sz="1200"/>
              <a:t>None  </a:t>
            </a:r>
          </a:p>
          <a:p>
            <a:r>
              <a:rPr lang="en-GB" sz="1200"/>
              <a:t>Enables the tree to reach its greatest potential and aids in capturing intricate relationships. But it might also make overfitting more likely.</a:t>
            </a:r>
            <a:endParaRPr lang="en-GB"/>
          </a:p>
          <a:p>
            <a:r>
              <a:rPr lang="en-GB" sz="1200" b="1" err="1"/>
              <a:t>min_samples_split</a:t>
            </a:r>
            <a:r>
              <a:rPr lang="en-GB" sz="1200" b="1"/>
              <a:t>: </a:t>
            </a:r>
            <a:r>
              <a:rPr lang="en-GB" sz="1200"/>
              <a:t> 2     </a:t>
            </a:r>
          </a:p>
          <a:p>
            <a:r>
              <a:rPr lang="en-GB" sz="1200"/>
              <a:t>The model can split aggressively and learn fine-grained patterns by using the smallest split size permitted.                  </a:t>
            </a:r>
            <a:endParaRPr lang="en-GB"/>
          </a:p>
          <a:p>
            <a:r>
              <a:rPr lang="en-GB" sz="1200" b="1" err="1"/>
              <a:t>min_samples_leaf</a:t>
            </a:r>
            <a:r>
              <a:rPr lang="en-GB" sz="1200" b="1"/>
              <a:t>: </a:t>
            </a:r>
            <a:r>
              <a:rPr lang="en-GB" sz="1200"/>
              <a:t>1     </a:t>
            </a:r>
          </a:p>
          <a:p>
            <a:r>
              <a:rPr lang="en-GB" sz="1200"/>
              <a:t>One observation can be represented by a leaf. Despite its flexibility, it becomes more sensitive to noise.                        </a:t>
            </a:r>
            <a:endParaRPr lang="en-GB"/>
          </a:p>
          <a:p>
            <a:r>
              <a:rPr lang="en-GB" sz="1200" b="1"/>
              <a:t>Why this matters</a:t>
            </a:r>
            <a:r>
              <a:rPr lang="en-GB" sz="1200"/>
              <a:t>: To determine the optimal hyperparameters that maximize</a:t>
            </a:r>
            <a:r>
              <a:rPr lang="en-GB" sz="1200" b="1"/>
              <a:t> F1-score</a:t>
            </a:r>
            <a:r>
              <a:rPr lang="en-GB" sz="1200"/>
              <a:t>—which helps balance </a:t>
            </a:r>
            <a:r>
              <a:rPr lang="en-GB" sz="1200" b="1"/>
              <a:t>precision and recall </a:t>
            </a:r>
            <a:r>
              <a:rPr lang="en-GB" sz="1200"/>
              <a:t>and is particularly important in imbalanced datasets—we performed 108 combinations using 3-fold CV.</a:t>
            </a:r>
          </a:p>
          <a:p>
            <a:endParaRPr lang="en-GB" sz="1200"/>
          </a:p>
        </p:txBody>
      </p:sp>
      <p:sp>
        <p:nvSpPr>
          <p:cNvPr id="3" name="Text Placeholder 2">
            <a:extLst>
              <a:ext uri="{FF2B5EF4-FFF2-40B4-BE49-F238E27FC236}">
                <a16:creationId xmlns:a16="http://schemas.microsoft.com/office/drawing/2014/main" id="{DB41AA60-09C1-F590-F76C-D39B56F5B40D}"/>
              </a:ext>
            </a:extLst>
          </p:cNvPr>
          <p:cNvSpPr>
            <a:spLocks noGrp="1"/>
          </p:cNvSpPr>
          <p:nvPr>
            <p:ph type="body" idx="2"/>
          </p:nvPr>
        </p:nvSpPr>
        <p:spPr>
          <a:xfrm>
            <a:off x="4648200" y="1711894"/>
            <a:ext cx="4038600" cy="4525963"/>
          </a:xfrm>
        </p:spPr>
        <p:txBody>
          <a:bodyPr/>
          <a:lstStyle/>
          <a:p>
            <a:r>
              <a:rPr lang="en-GB" sz="1100" b="1"/>
              <a:t>Threshold Tuning Using ROC-Optimal Value:</a:t>
            </a:r>
            <a:endParaRPr lang="en-GB" sz="1100"/>
          </a:p>
          <a:p>
            <a:r>
              <a:rPr lang="en-GB" sz="1100"/>
              <a:t>Recall for the minority class is decreased by a d</a:t>
            </a:r>
            <a:r>
              <a:rPr lang="en-GB" sz="1100" b="1"/>
              <a:t>efault categorization threshold of 0.5</a:t>
            </a:r>
            <a:r>
              <a:rPr lang="en-GB" sz="1100"/>
              <a:t>, which tends to </a:t>
            </a:r>
            <a:r>
              <a:rPr lang="en-GB" sz="1100" b="1"/>
              <a:t>favour the majority class. </a:t>
            </a:r>
          </a:p>
          <a:p>
            <a:r>
              <a:rPr lang="en-GB" sz="1100"/>
              <a:t>To determine the threshold that maximizes </a:t>
            </a:r>
            <a:r>
              <a:rPr lang="en-GB" sz="1100" b="1"/>
              <a:t>(True Positive Rate – False Positive Rate)</a:t>
            </a:r>
            <a:r>
              <a:rPr lang="en-GB" sz="1100"/>
              <a:t>, we used </a:t>
            </a:r>
            <a:r>
              <a:rPr lang="en-GB" sz="1100" b="1"/>
              <a:t>Youden's J statistic.</a:t>
            </a:r>
          </a:p>
          <a:p>
            <a:r>
              <a:rPr lang="en-GB" sz="1100"/>
              <a:t>Recall for Class 1 was marginally enhanced by the </a:t>
            </a:r>
            <a:r>
              <a:rPr lang="en-GB" sz="1100" b="1"/>
              <a:t>ROC-optimal threshold of 1.0. </a:t>
            </a:r>
            <a:endParaRPr lang="en-GB" b="1"/>
          </a:p>
          <a:p>
            <a:r>
              <a:rPr lang="en-GB" sz="1100" b="1"/>
              <a:t>Why this matters</a:t>
            </a:r>
            <a:r>
              <a:rPr lang="en-GB" sz="1100"/>
              <a:t>: When it comes to </a:t>
            </a:r>
            <a:r>
              <a:rPr lang="en-GB" sz="1100" b="1"/>
              <a:t>healthcare issues, where false negatives (such as failing to detect a condition) </a:t>
            </a:r>
            <a:r>
              <a:rPr lang="en-GB" sz="1100"/>
              <a:t>can be expensive, selecting the appropriate threshold is just as crucial as the model itself. </a:t>
            </a:r>
          </a:p>
          <a:p>
            <a:endParaRPr lang="en-GB" sz="1100"/>
          </a:p>
        </p:txBody>
      </p:sp>
      <p:sp>
        <p:nvSpPr>
          <p:cNvPr id="4" name="Title 3">
            <a:extLst>
              <a:ext uri="{FF2B5EF4-FFF2-40B4-BE49-F238E27FC236}">
                <a16:creationId xmlns:a16="http://schemas.microsoft.com/office/drawing/2014/main" id="{4925FC5B-5C82-1B4A-080D-C744BD330330}"/>
              </a:ext>
            </a:extLst>
          </p:cNvPr>
          <p:cNvSpPr>
            <a:spLocks noGrp="1"/>
          </p:cNvSpPr>
          <p:nvPr>
            <p:ph type="ctrTitle"/>
          </p:nvPr>
        </p:nvSpPr>
        <p:spPr/>
        <p:txBody>
          <a:bodyPr/>
          <a:lstStyle/>
          <a:p>
            <a:r>
              <a:rPr lang="en-GB"/>
              <a:t>DECISION TREE - Sahil</a:t>
            </a:r>
            <a:endParaRPr lang="en-US"/>
          </a:p>
        </p:txBody>
      </p:sp>
      <p:pic>
        <p:nvPicPr>
          <p:cNvPr id="5" name="Picture 4" descr="A black text on a white background&#10;&#10;AI-generated content may be incorrect.">
            <a:extLst>
              <a:ext uri="{FF2B5EF4-FFF2-40B4-BE49-F238E27FC236}">
                <a16:creationId xmlns:a16="http://schemas.microsoft.com/office/drawing/2014/main" id="{5E041AAF-E51D-A2BF-1A66-376E809F78E8}"/>
              </a:ext>
            </a:extLst>
          </p:cNvPr>
          <p:cNvPicPr>
            <a:picLocks noChangeAspect="1"/>
          </p:cNvPicPr>
          <p:nvPr/>
        </p:nvPicPr>
        <p:blipFill>
          <a:blip r:embed="rId2"/>
          <a:stretch>
            <a:fillRect/>
          </a:stretch>
        </p:blipFill>
        <p:spPr>
          <a:xfrm>
            <a:off x="647824" y="5741378"/>
            <a:ext cx="7848353" cy="498266"/>
          </a:xfrm>
          <a:prstGeom prst="rect">
            <a:avLst/>
          </a:prstGeom>
        </p:spPr>
      </p:pic>
    </p:spTree>
    <p:extLst>
      <p:ext uri="{BB962C8B-B14F-4D97-AF65-F5344CB8AC3E}">
        <p14:creationId xmlns:p14="http://schemas.microsoft.com/office/powerpoint/2010/main" val="2551792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62BBB7D-7A15-AFE6-8CAF-4B82DB9364F7}"/>
              </a:ext>
            </a:extLst>
          </p:cNvPr>
          <p:cNvSpPr>
            <a:spLocks noGrp="1"/>
          </p:cNvSpPr>
          <p:nvPr>
            <p:ph type="body" idx="1"/>
          </p:nvPr>
        </p:nvSpPr>
        <p:spPr>
          <a:xfrm>
            <a:off x="457200" y="1875711"/>
            <a:ext cx="4038600" cy="4525963"/>
          </a:xfrm>
        </p:spPr>
        <p:txBody>
          <a:bodyPr/>
          <a:lstStyle/>
          <a:p>
            <a:r>
              <a:rPr lang="en-GB" sz="1200" b="1"/>
              <a:t>Threshold Tuning Using ROC-Optimal Value</a:t>
            </a:r>
            <a:endParaRPr lang="en-GB" sz="1200"/>
          </a:p>
          <a:p>
            <a:r>
              <a:rPr lang="en-GB" sz="1200"/>
              <a:t>Default threshold (0.5) biased toward majority class, hurting Class 1 recall.</a:t>
            </a:r>
          </a:p>
          <a:p>
            <a:r>
              <a:rPr lang="en-GB" sz="1200"/>
              <a:t>Applied </a:t>
            </a:r>
            <a:r>
              <a:rPr lang="en-GB" sz="1200" b="1"/>
              <a:t>Youden’s J statistic</a:t>
            </a:r>
            <a:r>
              <a:rPr lang="en-GB" sz="1200"/>
              <a:t> to find the optimal threshold: </a:t>
            </a:r>
            <a:r>
              <a:rPr lang="en-GB" sz="1200" b="1"/>
              <a:t>1.0</a:t>
            </a:r>
            <a:endParaRPr lang="en-GB" sz="1200"/>
          </a:p>
          <a:p>
            <a:r>
              <a:rPr lang="en-GB" sz="1200"/>
              <a:t>Slight recall improvement for minority class.</a:t>
            </a:r>
          </a:p>
          <a:p>
            <a:r>
              <a:rPr lang="en-GB" sz="1200" b="1"/>
              <a:t>Why this matters</a:t>
            </a:r>
            <a:r>
              <a:rPr lang="en-GB" sz="1200"/>
              <a:t>: When it comes to </a:t>
            </a:r>
            <a:r>
              <a:rPr lang="en-GB" sz="1200" b="1"/>
              <a:t>healthcare issues</a:t>
            </a:r>
            <a:r>
              <a:rPr lang="en-GB" sz="1200"/>
              <a:t>, where </a:t>
            </a:r>
            <a:r>
              <a:rPr lang="en-GB" sz="1200" b="1"/>
              <a:t>false negatives </a:t>
            </a:r>
            <a:r>
              <a:rPr lang="en-GB" sz="1200"/>
              <a:t>(such as failing to detect a condition) can be expensive, selecting the appropriate threshold is just as crucial as the model itself. </a:t>
            </a:r>
          </a:p>
          <a:p>
            <a:endParaRPr lang="en-GB" sz="1200"/>
          </a:p>
          <a:p>
            <a:endParaRPr lang="en-GB" sz="1200"/>
          </a:p>
        </p:txBody>
      </p:sp>
      <p:sp>
        <p:nvSpPr>
          <p:cNvPr id="3" name="Text Placeholder 2">
            <a:extLst>
              <a:ext uri="{FF2B5EF4-FFF2-40B4-BE49-F238E27FC236}">
                <a16:creationId xmlns:a16="http://schemas.microsoft.com/office/drawing/2014/main" id="{88443A67-E1E1-81A3-30FE-C5DD11A163DF}"/>
              </a:ext>
            </a:extLst>
          </p:cNvPr>
          <p:cNvSpPr>
            <a:spLocks noGrp="1"/>
          </p:cNvSpPr>
          <p:nvPr>
            <p:ph type="body" idx="2"/>
          </p:nvPr>
        </p:nvSpPr>
        <p:spPr>
          <a:xfrm>
            <a:off x="4648200" y="2724585"/>
            <a:ext cx="4038600" cy="4525963"/>
          </a:xfrm>
        </p:spPr>
        <p:txBody>
          <a:bodyPr/>
          <a:lstStyle/>
          <a:p>
            <a:r>
              <a:rPr lang="en-GB" sz="1200" b="1"/>
              <a:t>Why this matters</a:t>
            </a:r>
            <a:r>
              <a:rPr lang="en-GB" sz="1200"/>
              <a:t>:</a:t>
            </a:r>
          </a:p>
          <a:p>
            <a:r>
              <a:rPr lang="en-GB" sz="1200"/>
              <a:t>Although the model is very accurate, </a:t>
            </a:r>
            <a:r>
              <a:rPr lang="en-GB" sz="1200" b="1"/>
              <a:t>it only represents performance on the majority class,</a:t>
            </a:r>
            <a:r>
              <a:rPr lang="en-GB" sz="1200"/>
              <a:t> which is </a:t>
            </a:r>
            <a:r>
              <a:rPr lang="en-GB" sz="1200" b="1"/>
              <a:t>misleading</a:t>
            </a:r>
            <a:r>
              <a:rPr lang="en-GB" sz="1200"/>
              <a:t>. </a:t>
            </a:r>
            <a:endParaRPr lang="en-GB"/>
          </a:p>
          <a:p>
            <a:r>
              <a:rPr lang="en-GB" sz="1200"/>
              <a:t>The </a:t>
            </a:r>
            <a:r>
              <a:rPr lang="en-GB" sz="1200" b="1"/>
              <a:t>Class 1 F1-score (0.18)</a:t>
            </a:r>
            <a:r>
              <a:rPr lang="en-GB" sz="1200"/>
              <a:t> is too low, indicating the model fails to generalize well for underrepresented classes.</a:t>
            </a:r>
          </a:p>
          <a:p>
            <a:r>
              <a:rPr lang="en-GB" sz="1200" b="1"/>
              <a:t>Macro average</a:t>
            </a:r>
            <a:r>
              <a:rPr lang="en-GB" sz="1200"/>
              <a:t> F1-score (0.53) gives equal weight to both classes, showing the model’s </a:t>
            </a:r>
            <a:r>
              <a:rPr lang="en-GB" sz="1200" b="1"/>
              <a:t>true performance</a:t>
            </a:r>
            <a:r>
              <a:rPr lang="en-GB" sz="1200"/>
              <a:t>.</a:t>
            </a:r>
          </a:p>
          <a:p>
            <a:endParaRPr lang="en-GB" sz="1400" b="1"/>
          </a:p>
          <a:p>
            <a:endParaRPr lang="en-GB"/>
          </a:p>
        </p:txBody>
      </p:sp>
      <p:sp>
        <p:nvSpPr>
          <p:cNvPr id="4" name="Title 3">
            <a:extLst>
              <a:ext uri="{FF2B5EF4-FFF2-40B4-BE49-F238E27FC236}">
                <a16:creationId xmlns:a16="http://schemas.microsoft.com/office/drawing/2014/main" id="{CA6366F3-4D08-32C8-4DC1-BE636C8AE94A}"/>
              </a:ext>
            </a:extLst>
          </p:cNvPr>
          <p:cNvSpPr>
            <a:spLocks noGrp="1"/>
          </p:cNvSpPr>
          <p:nvPr>
            <p:ph type="ctrTitle"/>
          </p:nvPr>
        </p:nvSpPr>
        <p:spPr/>
        <p:txBody>
          <a:bodyPr/>
          <a:lstStyle/>
          <a:p>
            <a:r>
              <a:rPr lang="en-GB"/>
              <a:t>DECISION TREE - Sahil</a:t>
            </a:r>
            <a:endParaRPr lang="en-GB">
              <a:solidFill>
                <a:srgbClr val="000000"/>
              </a:solidFill>
            </a:endParaRPr>
          </a:p>
          <a:p>
            <a:endParaRPr lang="en-GB"/>
          </a:p>
        </p:txBody>
      </p:sp>
      <p:pic>
        <p:nvPicPr>
          <p:cNvPr id="5" name="Picture 4" descr="A screenshot of a computer&#10;&#10;AI-generated content may be incorrect.">
            <a:extLst>
              <a:ext uri="{FF2B5EF4-FFF2-40B4-BE49-F238E27FC236}">
                <a16:creationId xmlns:a16="http://schemas.microsoft.com/office/drawing/2014/main" id="{141FE550-CD92-3D2E-0D70-5681B08C981A}"/>
              </a:ext>
            </a:extLst>
          </p:cNvPr>
          <p:cNvPicPr>
            <a:picLocks noChangeAspect="1"/>
          </p:cNvPicPr>
          <p:nvPr/>
        </p:nvPicPr>
        <p:blipFill>
          <a:blip r:embed="rId2"/>
          <a:stretch>
            <a:fillRect/>
          </a:stretch>
        </p:blipFill>
        <p:spPr>
          <a:xfrm>
            <a:off x="760946" y="4494559"/>
            <a:ext cx="3429868" cy="1346283"/>
          </a:xfrm>
          <a:prstGeom prst="rect">
            <a:avLst/>
          </a:prstGeom>
        </p:spPr>
      </p:pic>
    </p:spTree>
    <p:extLst>
      <p:ext uri="{BB962C8B-B14F-4D97-AF65-F5344CB8AC3E}">
        <p14:creationId xmlns:p14="http://schemas.microsoft.com/office/powerpoint/2010/main" val="2675295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C6869D-E44A-0E48-D97A-5D929AFD82FE}"/>
              </a:ext>
            </a:extLst>
          </p:cNvPr>
          <p:cNvSpPr>
            <a:spLocks noGrp="1"/>
          </p:cNvSpPr>
          <p:nvPr>
            <p:ph type="body" idx="1"/>
          </p:nvPr>
        </p:nvSpPr>
        <p:spPr>
          <a:xfrm>
            <a:off x="457200" y="2843724"/>
            <a:ext cx="8409551" cy="4525963"/>
          </a:xfrm>
        </p:spPr>
        <p:txBody>
          <a:bodyPr/>
          <a:lstStyle/>
          <a:p>
            <a:r>
              <a:rPr lang="en-GB" sz="1400" b="1"/>
              <a:t>Interpretation &amp; Rationale:</a:t>
            </a:r>
            <a:endParaRPr lang="en-GB" sz="1400"/>
          </a:p>
          <a:p>
            <a:r>
              <a:rPr lang="en-GB" sz="1400" b="1"/>
              <a:t>Decision Tree </a:t>
            </a:r>
            <a:r>
              <a:rPr lang="en-GB" sz="1400"/>
              <a:t>was selected as a robust baseline model due to its </a:t>
            </a:r>
            <a:r>
              <a:rPr lang="en-GB" sz="1400" b="1"/>
              <a:t>ease of interpretation and simplicity. </a:t>
            </a:r>
          </a:p>
          <a:p>
            <a:r>
              <a:rPr lang="en-GB" sz="1400"/>
              <a:t>Its limitations on </a:t>
            </a:r>
            <a:r>
              <a:rPr lang="en-GB" sz="1400" b="1"/>
              <a:t>imbalanced datasets</a:t>
            </a:r>
            <a:r>
              <a:rPr lang="en-GB" sz="1400"/>
              <a:t> were expected—The low recall for Class 1 can be explained by </a:t>
            </a:r>
            <a:r>
              <a:rPr lang="en-GB" sz="1400" b="1"/>
              <a:t>overfitting to the majority class. </a:t>
            </a:r>
          </a:p>
          <a:p>
            <a:r>
              <a:rPr lang="en-GB" sz="1400"/>
              <a:t>Despite tuning and ROC-threshold adjustment, </a:t>
            </a:r>
            <a:r>
              <a:rPr lang="en-GB" sz="1400" b="1"/>
              <a:t>minority class detection remained weak</a:t>
            </a:r>
            <a:r>
              <a:rPr lang="en-GB" sz="1400"/>
              <a:t>.</a:t>
            </a:r>
          </a:p>
          <a:p>
            <a:r>
              <a:rPr lang="en-GB" sz="1400"/>
              <a:t>The shift to ensemble approaches like </a:t>
            </a:r>
            <a:r>
              <a:rPr lang="en-GB" sz="1400" b="1"/>
              <a:t>CatBoost and XGBoost</a:t>
            </a:r>
            <a:r>
              <a:rPr lang="en-GB" sz="1400"/>
              <a:t>, which are more appropriate for managing class imbalance through boosting techniques, was spurred by these drawbacks. </a:t>
            </a:r>
            <a:endParaRPr lang="en-GB"/>
          </a:p>
          <a:p>
            <a:endParaRPr lang="en-GB"/>
          </a:p>
          <a:p>
            <a:pPr marL="50800" indent="0">
              <a:buNone/>
            </a:pPr>
            <a:endParaRPr lang="en-GB"/>
          </a:p>
        </p:txBody>
      </p:sp>
      <p:sp>
        <p:nvSpPr>
          <p:cNvPr id="4" name="Title 3">
            <a:extLst>
              <a:ext uri="{FF2B5EF4-FFF2-40B4-BE49-F238E27FC236}">
                <a16:creationId xmlns:a16="http://schemas.microsoft.com/office/drawing/2014/main" id="{A9BB378E-D6F8-0E28-4A21-7539062E1E94}"/>
              </a:ext>
            </a:extLst>
          </p:cNvPr>
          <p:cNvSpPr>
            <a:spLocks noGrp="1"/>
          </p:cNvSpPr>
          <p:nvPr>
            <p:ph type="ctrTitle"/>
          </p:nvPr>
        </p:nvSpPr>
        <p:spPr>
          <a:xfrm>
            <a:off x="457200" y="1716859"/>
            <a:ext cx="8229600" cy="762000"/>
          </a:xfrm>
        </p:spPr>
        <p:txBody>
          <a:bodyPr/>
          <a:lstStyle/>
          <a:p>
            <a:r>
              <a:rPr lang="en-GB" sz="2400" b="1"/>
              <a:t>Rationale Behind: Decision Tree</a:t>
            </a:r>
            <a:endParaRPr lang="en-US" sz="2400"/>
          </a:p>
        </p:txBody>
      </p:sp>
    </p:spTree>
    <p:extLst>
      <p:ext uri="{BB962C8B-B14F-4D97-AF65-F5344CB8AC3E}">
        <p14:creationId xmlns:p14="http://schemas.microsoft.com/office/powerpoint/2010/main" val="1837599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89C1D47-5BCB-02C1-B628-17076A4E8819}"/>
              </a:ext>
            </a:extLst>
          </p:cNvPr>
          <p:cNvSpPr>
            <a:spLocks noGrp="1"/>
          </p:cNvSpPr>
          <p:nvPr>
            <p:ph type="body" idx="1"/>
          </p:nvPr>
        </p:nvSpPr>
        <p:spPr>
          <a:xfrm>
            <a:off x="457200" y="2866063"/>
            <a:ext cx="4075831" cy="3260100"/>
          </a:xfrm>
        </p:spPr>
        <p:txBody>
          <a:bodyPr/>
          <a:lstStyle/>
          <a:p>
            <a:r>
              <a:rPr lang="en-GB" sz="1100" b="1"/>
              <a:t>Best Estimator Parameters (via </a:t>
            </a:r>
            <a:r>
              <a:rPr lang="en-GB" sz="1100" b="1" err="1"/>
              <a:t>GridSearchCV</a:t>
            </a:r>
            <a:r>
              <a:rPr lang="en-GB" sz="1100" b="1"/>
              <a:t>)</a:t>
            </a:r>
            <a:endParaRPr lang="en-GB" sz="1100"/>
          </a:p>
          <a:p>
            <a:r>
              <a:rPr lang="en-GB" sz="1100" err="1">
                <a:latin typeface="Consolas"/>
              </a:rPr>
              <a:t>n_estimators</a:t>
            </a:r>
            <a:r>
              <a:rPr lang="en-GB" sz="1100"/>
              <a:t>: </a:t>
            </a:r>
            <a:r>
              <a:rPr lang="en-GB" sz="1100" b="1"/>
              <a:t>200</a:t>
            </a:r>
            <a:endParaRPr lang="en-GB" sz="1100"/>
          </a:p>
          <a:p>
            <a:r>
              <a:rPr lang="en-GB" sz="1100" err="1">
                <a:latin typeface="Consolas"/>
              </a:rPr>
              <a:t>learning_rate</a:t>
            </a:r>
            <a:r>
              <a:rPr lang="en-GB" sz="1100"/>
              <a:t>: </a:t>
            </a:r>
            <a:r>
              <a:rPr lang="en-GB" sz="1100" b="1"/>
              <a:t>0.1</a:t>
            </a:r>
            <a:endParaRPr lang="en-GB" sz="1100"/>
          </a:p>
          <a:p>
            <a:r>
              <a:rPr lang="en-GB" sz="1100" err="1">
                <a:latin typeface="Consolas"/>
              </a:rPr>
              <a:t>max_depth</a:t>
            </a:r>
            <a:r>
              <a:rPr lang="en-GB" sz="1100"/>
              <a:t>: </a:t>
            </a:r>
            <a:r>
              <a:rPr lang="en-GB" sz="1100" b="1"/>
              <a:t>7</a:t>
            </a:r>
            <a:endParaRPr lang="en-GB" sz="1100"/>
          </a:p>
          <a:p>
            <a:r>
              <a:rPr lang="en-GB" sz="1100">
                <a:latin typeface="Consolas"/>
              </a:rPr>
              <a:t>subsample</a:t>
            </a:r>
            <a:r>
              <a:rPr lang="en-GB" sz="1100"/>
              <a:t>: </a:t>
            </a:r>
            <a:r>
              <a:rPr lang="en-GB" sz="1100" b="1"/>
              <a:t>1.0</a:t>
            </a:r>
            <a:endParaRPr lang="en-GB" sz="1100"/>
          </a:p>
          <a:p>
            <a:r>
              <a:rPr lang="en-GB" sz="1100" err="1">
                <a:latin typeface="Consolas"/>
              </a:rPr>
              <a:t>colsample_bytree</a:t>
            </a:r>
            <a:r>
              <a:rPr lang="en-GB" sz="1100"/>
              <a:t>: </a:t>
            </a:r>
            <a:r>
              <a:rPr lang="en-GB" sz="1100" b="1"/>
              <a:t>0.8</a:t>
            </a:r>
            <a:endParaRPr lang="en-GB" sz="1100"/>
          </a:p>
          <a:p>
            <a:r>
              <a:rPr lang="en-GB" sz="1100"/>
              <a:t>Total of </a:t>
            </a:r>
            <a:r>
              <a:rPr lang="en-GB" sz="1100" b="1"/>
              <a:t>48 combinations</a:t>
            </a:r>
            <a:r>
              <a:rPr lang="en-GB" sz="1100"/>
              <a:t> tested over 3-fold CV = </a:t>
            </a:r>
            <a:r>
              <a:rPr lang="en-GB" sz="1100" b="1"/>
              <a:t>144 fits</a:t>
            </a:r>
          </a:p>
          <a:p>
            <a:r>
              <a:rPr lang="en-GB" sz="1100" b="1"/>
              <a:t>Optimization metric: F1-score</a:t>
            </a:r>
            <a:r>
              <a:rPr lang="en-GB" sz="1100"/>
              <a:t>, chosen to address class imbalance</a:t>
            </a:r>
            <a:endParaRPr lang="en-GB"/>
          </a:p>
          <a:p>
            <a:endParaRPr lang="en-GB" sz="1100"/>
          </a:p>
          <a:p>
            <a:endParaRPr lang="en-GB" sz="1100"/>
          </a:p>
        </p:txBody>
      </p:sp>
      <p:sp>
        <p:nvSpPr>
          <p:cNvPr id="3" name="Text Placeholder 2">
            <a:extLst>
              <a:ext uri="{FF2B5EF4-FFF2-40B4-BE49-F238E27FC236}">
                <a16:creationId xmlns:a16="http://schemas.microsoft.com/office/drawing/2014/main" id="{DBE6BC7A-38B1-6A06-392D-E7BCCCC01C56}"/>
              </a:ext>
            </a:extLst>
          </p:cNvPr>
          <p:cNvSpPr>
            <a:spLocks noGrp="1"/>
          </p:cNvSpPr>
          <p:nvPr>
            <p:ph type="body" idx="2"/>
          </p:nvPr>
        </p:nvSpPr>
        <p:spPr/>
        <p:txBody>
          <a:bodyPr/>
          <a:lstStyle/>
          <a:p>
            <a:r>
              <a:rPr lang="en-GB" sz="1100" b="1"/>
              <a:t>Threshold Tuning</a:t>
            </a:r>
            <a:endParaRPr lang="en-GB" sz="1100"/>
          </a:p>
          <a:p>
            <a:r>
              <a:rPr lang="en-GB" sz="1100"/>
              <a:t>Default threshold = </a:t>
            </a:r>
            <a:r>
              <a:rPr lang="en-GB" sz="1100" b="1"/>
              <a:t>0.5</a:t>
            </a:r>
            <a:r>
              <a:rPr lang="en-GB" sz="1100"/>
              <a:t> led to </a:t>
            </a:r>
            <a:r>
              <a:rPr lang="en-GB" sz="1100" b="1"/>
              <a:t>poor recall</a:t>
            </a:r>
            <a:r>
              <a:rPr lang="en-GB" sz="1100"/>
              <a:t> for Class 1 (recall = 0.02)</a:t>
            </a:r>
          </a:p>
          <a:p>
            <a:r>
              <a:rPr lang="en-GB" sz="1100"/>
              <a:t>ROC-optimal threshold = </a:t>
            </a:r>
            <a:r>
              <a:rPr lang="en-GB" sz="1100" b="1"/>
              <a:t>0.106</a:t>
            </a:r>
            <a:r>
              <a:rPr lang="en-GB" sz="1100"/>
              <a:t> (found via Youden’s J statistic)</a:t>
            </a:r>
          </a:p>
          <a:p>
            <a:r>
              <a:rPr lang="en-GB" sz="1100"/>
              <a:t>Improved Class 1 recall to </a:t>
            </a:r>
            <a:r>
              <a:rPr lang="en-GB" sz="1100" b="1"/>
              <a:t>0.62</a:t>
            </a:r>
            <a:r>
              <a:rPr lang="en-GB" sz="1100"/>
              <a:t>, precision = 0.17</a:t>
            </a:r>
          </a:p>
          <a:p>
            <a:r>
              <a:rPr lang="en-GB" sz="1100" b="1"/>
              <a:t>Test Set Classification Performance</a:t>
            </a:r>
          </a:p>
          <a:p>
            <a:endParaRPr lang="en-GB" sz="1100"/>
          </a:p>
          <a:p>
            <a:endParaRPr lang="en-GB" sz="1100"/>
          </a:p>
        </p:txBody>
      </p:sp>
      <p:sp>
        <p:nvSpPr>
          <p:cNvPr id="4" name="Title 3">
            <a:extLst>
              <a:ext uri="{FF2B5EF4-FFF2-40B4-BE49-F238E27FC236}">
                <a16:creationId xmlns:a16="http://schemas.microsoft.com/office/drawing/2014/main" id="{6730F31F-C1AA-F012-6300-E18BE5D67821}"/>
              </a:ext>
            </a:extLst>
          </p:cNvPr>
          <p:cNvSpPr>
            <a:spLocks noGrp="1"/>
          </p:cNvSpPr>
          <p:nvPr>
            <p:ph type="ctrTitle"/>
          </p:nvPr>
        </p:nvSpPr>
        <p:spPr/>
        <p:txBody>
          <a:bodyPr/>
          <a:lstStyle/>
          <a:p>
            <a:r>
              <a:rPr lang="en-GB" b="1" err="1"/>
              <a:t>XGBoost</a:t>
            </a:r>
            <a:r>
              <a:rPr lang="en-GB" b="1"/>
              <a:t> – Sahil</a:t>
            </a:r>
            <a:endParaRPr lang="en-US"/>
          </a:p>
        </p:txBody>
      </p:sp>
      <p:pic>
        <p:nvPicPr>
          <p:cNvPr id="5" name="Picture 4" descr="A screenshot of a computer&#10;&#10;AI-generated content may be incorrect.">
            <a:extLst>
              <a:ext uri="{FF2B5EF4-FFF2-40B4-BE49-F238E27FC236}">
                <a16:creationId xmlns:a16="http://schemas.microsoft.com/office/drawing/2014/main" id="{8B1AB75E-FC46-EDEF-5CB6-6D9E4B5787CE}"/>
              </a:ext>
            </a:extLst>
          </p:cNvPr>
          <p:cNvPicPr>
            <a:picLocks noChangeAspect="1"/>
          </p:cNvPicPr>
          <p:nvPr/>
        </p:nvPicPr>
        <p:blipFill>
          <a:blip r:embed="rId2"/>
          <a:stretch>
            <a:fillRect/>
          </a:stretch>
        </p:blipFill>
        <p:spPr>
          <a:xfrm>
            <a:off x="4881639" y="3712951"/>
            <a:ext cx="3587854" cy="2418047"/>
          </a:xfrm>
          <a:prstGeom prst="rect">
            <a:avLst/>
          </a:prstGeom>
        </p:spPr>
      </p:pic>
    </p:spTree>
    <p:extLst>
      <p:ext uri="{BB962C8B-B14F-4D97-AF65-F5344CB8AC3E}">
        <p14:creationId xmlns:p14="http://schemas.microsoft.com/office/powerpoint/2010/main" val="4246046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3BB39A-D034-8791-BFDC-3F1347E35A18}"/>
              </a:ext>
            </a:extLst>
          </p:cNvPr>
          <p:cNvSpPr>
            <a:spLocks noGrp="1"/>
          </p:cNvSpPr>
          <p:nvPr>
            <p:ph type="body" idx="1"/>
          </p:nvPr>
        </p:nvSpPr>
        <p:spPr/>
        <p:txBody>
          <a:bodyPr/>
          <a:lstStyle/>
          <a:p>
            <a:r>
              <a:rPr lang="en-GB" sz="1200" b="1"/>
              <a:t>Top 5 Most Important Features</a:t>
            </a:r>
            <a:r>
              <a:rPr lang="en-GB" sz="1200"/>
              <a:t> (based on feature importance score):</a:t>
            </a:r>
          </a:p>
          <a:p>
            <a:r>
              <a:rPr lang="en-GB" sz="1200" err="1">
                <a:latin typeface="Consolas"/>
              </a:rPr>
              <a:t>had_inpatient</a:t>
            </a:r>
            <a:r>
              <a:rPr lang="en-GB" sz="1200"/>
              <a:t> – 0.095</a:t>
            </a:r>
          </a:p>
          <a:p>
            <a:r>
              <a:rPr lang="en-GB" sz="1200" err="1">
                <a:latin typeface="Consolas"/>
              </a:rPr>
              <a:t>number_inpatient</a:t>
            </a:r>
            <a:r>
              <a:rPr lang="en-GB" sz="1200"/>
              <a:t> – 0.039</a:t>
            </a:r>
          </a:p>
          <a:p>
            <a:r>
              <a:rPr lang="en-GB" sz="1200" err="1">
                <a:latin typeface="Consolas"/>
              </a:rPr>
              <a:t>discharge_disposition_id</a:t>
            </a:r>
            <a:r>
              <a:rPr lang="en-GB" sz="1200"/>
              <a:t> – 0.021</a:t>
            </a:r>
          </a:p>
          <a:p>
            <a:r>
              <a:rPr lang="en-GB" sz="1200">
                <a:latin typeface="Consolas"/>
              </a:rPr>
              <a:t>diag1_External/Supplemental</a:t>
            </a:r>
            <a:r>
              <a:rPr lang="en-GB" sz="1200"/>
              <a:t> – 0.019</a:t>
            </a:r>
          </a:p>
          <a:p>
            <a:r>
              <a:rPr lang="en-GB" sz="1200">
                <a:latin typeface="Consolas"/>
              </a:rPr>
              <a:t>glyburide-</a:t>
            </a:r>
            <a:r>
              <a:rPr lang="en-GB" sz="1200" err="1">
                <a:latin typeface="Consolas"/>
              </a:rPr>
              <a:t>metformin_Steady</a:t>
            </a:r>
            <a:r>
              <a:rPr lang="en-GB" sz="1200"/>
              <a:t> – 0.014</a:t>
            </a:r>
          </a:p>
          <a:p>
            <a:endParaRPr lang="en-GB" sz="1200" b="1"/>
          </a:p>
          <a:p>
            <a:endParaRPr lang="en-GB" sz="1200"/>
          </a:p>
        </p:txBody>
      </p:sp>
      <p:sp>
        <p:nvSpPr>
          <p:cNvPr id="3" name="Text Placeholder 2">
            <a:extLst>
              <a:ext uri="{FF2B5EF4-FFF2-40B4-BE49-F238E27FC236}">
                <a16:creationId xmlns:a16="http://schemas.microsoft.com/office/drawing/2014/main" id="{870D1669-FA6D-A480-BF52-A261AFF8AC0C}"/>
              </a:ext>
            </a:extLst>
          </p:cNvPr>
          <p:cNvSpPr>
            <a:spLocks noGrp="1"/>
          </p:cNvSpPr>
          <p:nvPr>
            <p:ph type="body" idx="2"/>
          </p:nvPr>
        </p:nvSpPr>
        <p:spPr/>
        <p:txBody>
          <a:bodyPr/>
          <a:lstStyle/>
          <a:p>
            <a:r>
              <a:rPr lang="en-GB" sz="1200" b="1"/>
              <a:t>Why </a:t>
            </a:r>
            <a:r>
              <a:rPr lang="en-GB" sz="1200" b="1" err="1"/>
              <a:t>XGBoost</a:t>
            </a:r>
            <a:r>
              <a:rPr lang="en-GB" sz="1200" b="1"/>
              <a:t>?</a:t>
            </a:r>
            <a:endParaRPr lang="en-GB" sz="1200"/>
          </a:p>
          <a:p>
            <a:r>
              <a:rPr lang="en-GB" sz="1200" b="1"/>
              <a:t>Significantly improved recall for Class </a:t>
            </a:r>
            <a:r>
              <a:rPr lang="en-GB" sz="1200" b="1">
                <a:latin typeface="Consolas"/>
              </a:rPr>
              <a:t>&lt;30</a:t>
            </a:r>
            <a:br>
              <a:rPr lang="en-GB" sz="1200" b="1">
                <a:latin typeface="Consolas"/>
              </a:rPr>
            </a:br>
            <a:r>
              <a:rPr lang="en-GB" sz="1200"/>
              <a:t>After adjusting, recall rose from 0.02 at the default threshold to 0.65, significantly improving the detection of early readmissions.</a:t>
            </a:r>
            <a:endParaRPr lang="en-US" sz="1200"/>
          </a:p>
          <a:p>
            <a:r>
              <a:rPr lang="en-GB" sz="1200" b="1"/>
              <a:t>Captured complex clinical interactions</a:t>
            </a:r>
            <a:br>
              <a:rPr lang="en-GB" sz="1200" b="1"/>
            </a:br>
            <a:r>
              <a:rPr lang="en-GB" sz="1200" b="1" err="1"/>
              <a:t>XGBoost</a:t>
            </a:r>
            <a:r>
              <a:rPr lang="en-GB" sz="1200" b="1"/>
              <a:t> </a:t>
            </a:r>
            <a:r>
              <a:rPr lang="en-GB" sz="1200" b="1" err="1"/>
              <a:t>modeled</a:t>
            </a:r>
            <a:r>
              <a:rPr lang="en-GB" sz="1200" b="1"/>
              <a:t> </a:t>
            </a:r>
            <a:r>
              <a:rPr lang="en-GB" sz="1200"/>
              <a:t>non-linear correlations between characteristics like discharge disposition and past inpatient experience.</a:t>
            </a:r>
            <a:endParaRPr lang="en-US"/>
          </a:p>
          <a:p>
            <a:r>
              <a:rPr lang="en-GB" sz="1200" b="1"/>
              <a:t>Produced clinically meaningful feature rankings</a:t>
            </a:r>
            <a:br>
              <a:rPr lang="en-GB" sz="1200" b="1"/>
            </a:br>
            <a:r>
              <a:rPr lang="en-GB" sz="1200" b="1"/>
              <a:t>Important features like </a:t>
            </a:r>
            <a:r>
              <a:rPr lang="en-GB" sz="1200" err="1">
                <a:latin typeface="Consolas"/>
              </a:rPr>
              <a:t>had_inpatient</a:t>
            </a:r>
            <a:r>
              <a:rPr lang="en-GB" sz="1200"/>
              <a:t> and </a:t>
            </a:r>
            <a:r>
              <a:rPr lang="en-GB" sz="1200" err="1">
                <a:latin typeface="Consolas"/>
              </a:rPr>
              <a:t>number_inpatient</a:t>
            </a:r>
            <a:endParaRPr lang="en-GB" sz="1200">
              <a:latin typeface="Consolas"/>
            </a:endParaRPr>
          </a:p>
          <a:p>
            <a:r>
              <a:rPr lang="en-GB" sz="1200" b="1"/>
              <a:t>Delivered balanced and robust performance</a:t>
            </a:r>
            <a:br>
              <a:rPr lang="en-GB" sz="1200" b="1"/>
            </a:br>
            <a:r>
              <a:rPr lang="en-GB" sz="1200" b="1"/>
              <a:t>Achieved strong test </a:t>
            </a:r>
            <a:r>
              <a:rPr lang="en-GB" sz="1200" b="1" err="1"/>
              <a:t>metrics</a:t>
            </a:r>
            <a:r>
              <a:rPr lang="en-GB" sz="1200" err="1"/>
              <a:t>s</a:t>
            </a:r>
            <a:r>
              <a:rPr lang="en-GB" sz="1200"/>
              <a:t> </a:t>
            </a:r>
            <a:r>
              <a:rPr lang="en-GB" sz="1200" err="1"/>
              <a:t>ubstantially</a:t>
            </a:r>
            <a:r>
              <a:rPr lang="en-GB" sz="1200"/>
              <a:t> lower overfitting risk, such as a macro F1-score of 0.51 and a ROC AUC of 0.686.</a:t>
            </a:r>
            <a:endParaRPr lang="en-GB"/>
          </a:p>
          <a:p>
            <a:r>
              <a:rPr lang="en-GB" sz="1200" b="1"/>
              <a:t>Proved to be the most practical and adaptable model </a:t>
            </a:r>
            <a:endParaRPr lang="en-GB"/>
          </a:p>
          <a:p>
            <a:r>
              <a:rPr lang="en-GB" sz="1200"/>
              <a:t>It was appropriate for real-world applications since it outperformed baseline models and permitted threshold tweaking. </a:t>
            </a:r>
            <a:endParaRPr lang="en-GB"/>
          </a:p>
          <a:p>
            <a:endParaRPr lang="en-GB"/>
          </a:p>
          <a:p>
            <a:endParaRPr lang="en-GB"/>
          </a:p>
        </p:txBody>
      </p:sp>
      <p:sp>
        <p:nvSpPr>
          <p:cNvPr id="4" name="Title 3">
            <a:extLst>
              <a:ext uri="{FF2B5EF4-FFF2-40B4-BE49-F238E27FC236}">
                <a16:creationId xmlns:a16="http://schemas.microsoft.com/office/drawing/2014/main" id="{1FA593AD-7583-7EAB-AB98-8E6A2FB6BD7F}"/>
              </a:ext>
            </a:extLst>
          </p:cNvPr>
          <p:cNvSpPr>
            <a:spLocks noGrp="1"/>
          </p:cNvSpPr>
          <p:nvPr>
            <p:ph type="ctrTitle"/>
          </p:nvPr>
        </p:nvSpPr>
        <p:spPr/>
        <p:txBody>
          <a:bodyPr/>
          <a:lstStyle/>
          <a:p>
            <a:r>
              <a:rPr lang="en-GB" dirty="0" err="1"/>
              <a:t>XGBoost</a:t>
            </a:r>
            <a:r>
              <a:rPr lang="en-GB" dirty="0"/>
              <a:t> - Sahil</a:t>
            </a:r>
          </a:p>
        </p:txBody>
      </p:sp>
      <p:pic>
        <p:nvPicPr>
          <p:cNvPr id="5" name="Picture 4" descr="A graph of a number of blue and white bars&#10;&#10;AI-generated content may be incorrect.">
            <a:extLst>
              <a:ext uri="{FF2B5EF4-FFF2-40B4-BE49-F238E27FC236}">
                <a16:creationId xmlns:a16="http://schemas.microsoft.com/office/drawing/2014/main" id="{1A490F9C-2FF0-F764-5C1F-0B01EB7E2C9D}"/>
              </a:ext>
            </a:extLst>
          </p:cNvPr>
          <p:cNvPicPr>
            <a:picLocks noChangeAspect="1"/>
          </p:cNvPicPr>
          <p:nvPr/>
        </p:nvPicPr>
        <p:blipFill>
          <a:blip r:embed="rId2"/>
          <a:stretch>
            <a:fillRect/>
          </a:stretch>
        </p:blipFill>
        <p:spPr>
          <a:xfrm>
            <a:off x="59570" y="3648011"/>
            <a:ext cx="4586894" cy="2897896"/>
          </a:xfrm>
          <a:prstGeom prst="rect">
            <a:avLst/>
          </a:prstGeom>
        </p:spPr>
      </p:pic>
    </p:spTree>
    <p:extLst>
      <p:ext uri="{BB962C8B-B14F-4D97-AF65-F5344CB8AC3E}">
        <p14:creationId xmlns:p14="http://schemas.microsoft.com/office/powerpoint/2010/main" val="1138959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954457-5C43-30B2-4816-9929899E1F8E}"/>
              </a:ext>
            </a:extLst>
          </p:cNvPr>
          <p:cNvSpPr>
            <a:spLocks noGrp="1"/>
          </p:cNvSpPr>
          <p:nvPr>
            <p:ph type="body" idx="1"/>
          </p:nvPr>
        </p:nvSpPr>
        <p:spPr>
          <a:xfrm>
            <a:off x="457200" y="2210793"/>
            <a:ext cx="3874783" cy="4972738"/>
          </a:xfrm>
        </p:spPr>
        <p:txBody>
          <a:bodyPr/>
          <a:lstStyle/>
          <a:p>
            <a:r>
              <a:rPr lang="en-GB" sz="1400" b="1"/>
              <a:t>Key Observations:</a:t>
            </a:r>
            <a:endParaRPr lang="en-GB" sz="1400"/>
          </a:p>
          <a:p>
            <a:r>
              <a:rPr lang="en-GB" sz="1400" b="1" err="1"/>
              <a:t>CatBoost</a:t>
            </a:r>
            <a:r>
              <a:rPr lang="en-GB" sz="1400"/>
              <a:t>: Highest AUC (0.689), slightly better than </a:t>
            </a:r>
            <a:r>
              <a:rPr lang="en-GB" sz="1400" err="1"/>
              <a:t>XGBoost</a:t>
            </a:r>
            <a:endParaRPr lang="en-GB" sz="1400"/>
          </a:p>
          <a:p>
            <a:r>
              <a:rPr lang="en-GB" sz="1400" b="1" err="1"/>
              <a:t>XGBoost</a:t>
            </a:r>
            <a:r>
              <a:rPr lang="en-GB" sz="1400"/>
              <a:t>: AUC = 0.686, strong class separation</a:t>
            </a:r>
          </a:p>
          <a:p>
            <a:r>
              <a:rPr lang="en-GB" sz="1400" b="1"/>
              <a:t>Random Forest</a:t>
            </a:r>
            <a:r>
              <a:rPr lang="en-GB" sz="1400"/>
              <a:t>: Moderate performance (AUC = 0.642)</a:t>
            </a:r>
          </a:p>
          <a:p>
            <a:r>
              <a:rPr lang="en-GB" sz="1400" b="1"/>
              <a:t>Decision Tree</a:t>
            </a:r>
            <a:r>
              <a:rPr lang="en-GB" sz="1400"/>
              <a:t>: Weak performance (AUC = 0.527), close to random guessing</a:t>
            </a:r>
          </a:p>
          <a:p>
            <a:r>
              <a:rPr lang="en-GB" sz="1400" b="1"/>
              <a:t>Conclusion:</a:t>
            </a:r>
            <a:r>
              <a:rPr lang="en-GB" sz="1400"/>
              <a:t> </a:t>
            </a:r>
            <a:r>
              <a:rPr lang="en-GB" sz="1400" err="1"/>
              <a:t>XGBoost</a:t>
            </a:r>
            <a:r>
              <a:rPr lang="en-GB" sz="1400"/>
              <a:t> provided a strong balance of interpretability, accuracy, and recall—making it a preferred model for deployment consideration.</a:t>
            </a:r>
          </a:p>
          <a:p>
            <a:endParaRPr lang="en-GB" sz="1400"/>
          </a:p>
        </p:txBody>
      </p:sp>
      <p:sp>
        <p:nvSpPr>
          <p:cNvPr id="4" name="Title 3">
            <a:extLst>
              <a:ext uri="{FF2B5EF4-FFF2-40B4-BE49-F238E27FC236}">
                <a16:creationId xmlns:a16="http://schemas.microsoft.com/office/drawing/2014/main" id="{46684587-4568-5941-B0D4-8A452FE5BFD2}"/>
              </a:ext>
            </a:extLst>
          </p:cNvPr>
          <p:cNvSpPr>
            <a:spLocks noGrp="1"/>
          </p:cNvSpPr>
          <p:nvPr>
            <p:ph type="ctrTitle"/>
          </p:nvPr>
        </p:nvSpPr>
        <p:spPr>
          <a:xfrm>
            <a:off x="561448" y="1165836"/>
            <a:ext cx="8229600" cy="762000"/>
          </a:xfrm>
        </p:spPr>
        <p:txBody>
          <a:bodyPr/>
          <a:lstStyle/>
          <a:p>
            <a:r>
              <a:rPr lang="en-GB"/>
              <a:t>ROC Curve Comparison </a:t>
            </a:r>
          </a:p>
        </p:txBody>
      </p:sp>
      <p:pic>
        <p:nvPicPr>
          <p:cNvPr id="5" name="Picture 4" descr="A graph of different colored lines&#10;&#10;AI-generated content may be incorrect.">
            <a:extLst>
              <a:ext uri="{FF2B5EF4-FFF2-40B4-BE49-F238E27FC236}">
                <a16:creationId xmlns:a16="http://schemas.microsoft.com/office/drawing/2014/main" id="{41425067-D37C-3DF0-AB89-D50EA279B6A9}"/>
              </a:ext>
            </a:extLst>
          </p:cNvPr>
          <p:cNvPicPr>
            <a:picLocks noChangeAspect="1"/>
          </p:cNvPicPr>
          <p:nvPr/>
        </p:nvPicPr>
        <p:blipFill>
          <a:blip r:embed="rId2"/>
          <a:stretch>
            <a:fillRect/>
          </a:stretch>
        </p:blipFill>
        <p:spPr>
          <a:xfrm>
            <a:off x="4676605" y="2395072"/>
            <a:ext cx="4012818" cy="3140117"/>
          </a:xfrm>
          <a:prstGeom prst="rect">
            <a:avLst/>
          </a:prstGeom>
        </p:spPr>
      </p:pic>
    </p:spTree>
    <p:extLst>
      <p:ext uri="{BB962C8B-B14F-4D97-AF65-F5344CB8AC3E}">
        <p14:creationId xmlns:p14="http://schemas.microsoft.com/office/powerpoint/2010/main" val="3460805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716B432-9595-B0EC-1C20-0DD74C466E0B}"/>
              </a:ext>
            </a:extLst>
          </p:cNvPr>
          <p:cNvSpPr>
            <a:spLocks noGrp="1"/>
          </p:cNvSpPr>
          <p:nvPr>
            <p:ph type="body" idx="1"/>
          </p:nvPr>
        </p:nvSpPr>
        <p:spPr>
          <a:xfrm>
            <a:off x="457200" y="1600200"/>
            <a:ext cx="7887846" cy="3863995"/>
          </a:xfrm>
        </p:spPr>
        <p:txBody>
          <a:bodyPr spcFirstLastPara="1" wrap="square" lIns="91425" tIns="45700" rIns="91425" bIns="45700" anchor="ctr" anchorCtr="0">
            <a:noAutofit/>
          </a:bodyPr>
          <a:lstStyle/>
          <a:p>
            <a:pPr algn="ctr">
              <a:buNone/>
            </a:pPr>
            <a:r>
              <a:rPr lang="en-US" sz="1800"/>
              <a:t>Simpler models were unable to detect patterns that our top model, </a:t>
            </a:r>
            <a:r>
              <a:rPr lang="en-US" sz="1800" err="1"/>
              <a:t>XGBoost</a:t>
            </a:r>
            <a:r>
              <a:rPr lang="en-US" sz="1800"/>
              <a:t>, was able to.  Patients with several hospitalizations during the last year (</a:t>
            </a:r>
            <a:r>
              <a:rPr lang="en-US" sz="1800" err="1"/>
              <a:t>number_inpatient</a:t>
            </a:r>
            <a:r>
              <a:rPr lang="en-US" sz="1800"/>
              <a:t>), prior inpatient visits (</a:t>
            </a:r>
            <a:r>
              <a:rPr lang="en-US" sz="1800" err="1"/>
              <a:t>had_inpatient</a:t>
            </a:r>
            <a:r>
              <a:rPr lang="en-US" sz="1800"/>
              <a:t>), and particular discharge codes, for example, were identified as high risk.  Even though a standard decision tree would have missed it, </a:t>
            </a:r>
            <a:r>
              <a:rPr lang="en-US" sz="1800" err="1"/>
              <a:t>XGBoost</a:t>
            </a:r>
            <a:r>
              <a:rPr lang="en-US" sz="1800"/>
              <a:t> accurately identified a patient who was just discharged from an inpatient stay and was prescribed constant insulin therapy as being at high risk for readmission.</a:t>
            </a:r>
            <a:endParaRPr lang="en-US"/>
          </a:p>
          <a:p>
            <a:pPr marL="50800" indent="0" algn="ctr">
              <a:buNone/>
            </a:pPr>
            <a:r>
              <a:rPr lang="en-US" sz="1800"/>
              <a:t>Although no model is flawless, our refined method shown that threshold improvement can significantly increase recall, allowing us to identify more readmission cases that would otherwise go unnoticed.  Predictive modeling is genuinely useful in healthcare settings because it strikes a compromise between interpretability, performance, and therapeutic relevance.</a:t>
            </a:r>
          </a:p>
          <a:p>
            <a:endParaRPr lang="en-US"/>
          </a:p>
        </p:txBody>
      </p:sp>
      <p:sp>
        <p:nvSpPr>
          <p:cNvPr id="4" name="Title 3">
            <a:extLst>
              <a:ext uri="{FF2B5EF4-FFF2-40B4-BE49-F238E27FC236}">
                <a16:creationId xmlns:a16="http://schemas.microsoft.com/office/drawing/2014/main" id="{D60AD8EF-BFC6-7B4F-980E-AA639B978D02}"/>
              </a:ext>
            </a:extLst>
          </p:cNvPr>
          <p:cNvSpPr>
            <a:spLocks noGrp="1"/>
          </p:cNvSpPr>
          <p:nvPr>
            <p:ph type="ctrTitle"/>
          </p:nvPr>
        </p:nvSpPr>
        <p:spPr/>
        <p:txBody>
          <a:bodyPr/>
          <a:lstStyle/>
          <a:p>
            <a:r>
              <a:rPr lang="en-US"/>
              <a:t>Conclusion</a:t>
            </a:r>
            <a:br>
              <a:rPr lang="en-US"/>
            </a:br>
            <a:endParaRPr lang="en-US"/>
          </a:p>
        </p:txBody>
      </p:sp>
    </p:spTree>
    <p:extLst>
      <p:ext uri="{BB962C8B-B14F-4D97-AF65-F5344CB8AC3E}">
        <p14:creationId xmlns:p14="http://schemas.microsoft.com/office/powerpoint/2010/main" val="2223844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7F374A95-73AB-7ED5-3C42-B7CE3BC5F705}"/>
            </a:ext>
          </a:extLst>
        </p:cNvPr>
        <p:cNvGrpSpPr/>
        <p:nvPr/>
      </p:nvGrpSpPr>
      <p:grpSpPr>
        <a:xfrm>
          <a:off x="0" y="0"/>
          <a:ext cx="0" cy="0"/>
          <a:chOff x="0" y="0"/>
          <a:chExt cx="0" cy="0"/>
        </a:xfrm>
      </p:grpSpPr>
      <p:sp>
        <p:nvSpPr>
          <p:cNvPr id="101" name="Google Shape;101;p4">
            <a:extLst>
              <a:ext uri="{FF2B5EF4-FFF2-40B4-BE49-F238E27FC236}">
                <a16:creationId xmlns:a16="http://schemas.microsoft.com/office/drawing/2014/main" id="{89EA8F8C-4815-52A2-A171-5AC5B07E0CF1}"/>
              </a:ext>
            </a:extLst>
          </p:cNvPr>
          <p:cNvSpPr txBox="1">
            <a:spLocks noGrp="1"/>
          </p:cNvSpPr>
          <p:nvPr>
            <p:ph type="body" idx="1"/>
          </p:nvPr>
        </p:nvSpPr>
        <p:spPr>
          <a:xfrm>
            <a:off x="0" y="2140939"/>
            <a:ext cx="9144000" cy="2166257"/>
          </a:xfrm>
          <a:prstGeom prst="rect">
            <a:avLst/>
          </a:prstGeom>
          <a:noFill/>
          <a:ln>
            <a:noFill/>
          </a:ln>
        </p:spPr>
        <p:txBody>
          <a:bodyPr spcFirstLastPara="1" wrap="square" lIns="91425" tIns="45700" rIns="91425" bIns="45700" anchor="t" anchorCtr="0">
            <a:noAutofit/>
          </a:bodyPr>
          <a:lstStyle/>
          <a:p>
            <a:pPr algn="ctr">
              <a:lnSpc>
                <a:spcPct val="150000"/>
              </a:lnSpc>
              <a:buNone/>
            </a:pPr>
            <a:endParaRPr lang="en-US" sz="3000" b="1" dirty="0">
              <a:solidFill>
                <a:srgbClr val="C12030"/>
              </a:solidFill>
              <a:latin typeface="Times New Roman" panose="02020603050405020304" pitchFamily="18" charset="0"/>
              <a:cs typeface="Times New Roman" panose="02020603050405020304" pitchFamily="18" charset="0"/>
            </a:endParaRPr>
          </a:p>
          <a:p>
            <a:pPr algn="ctr">
              <a:lnSpc>
                <a:spcPct val="150000"/>
              </a:lnSpc>
              <a:buNone/>
            </a:pPr>
            <a:r>
              <a:rPr lang="en-US" sz="3000" b="1" dirty="0">
                <a:solidFill>
                  <a:srgbClr val="C12030"/>
                </a:solidFill>
                <a:latin typeface="Times New Roman" panose="02020603050405020304" pitchFamily="18" charset="0"/>
                <a:cs typeface="Times New Roman" panose="02020603050405020304" pitchFamily="18" charset="0"/>
              </a:rPr>
              <a:t>THANK YOU!!</a:t>
            </a:r>
          </a:p>
        </p:txBody>
      </p:sp>
      <p:sp>
        <p:nvSpPr>
          <p:cNvPr id="2" name="Rectangle 1">
            <a:extLst>
              <a:ext uri="{FF2B5EF4-FFF2-40B4-BE49-F238E27FC236}">
                <a16:creationId xmlns:a16="http://schemas.microsoft.com/office/drawing/2014/main" id="{C35E8D87-2B50-C1B5-03EB-E2078C81EAD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4666683"/>
      </p:ext>
    </p:extLst>
  </p:cSld>
  <p:clrMapOvr>
    <a:masterClrMapping/>
  </p:clrMapOvr>
</p:sld>
</file>

<file path=ppt/theme/theme1.xml><?xml version="1.0" encoding="utf-8"?>
<a:theme xmlns:a="http://schemas.openxmlformats.org/drawingml/2006/main" name="powerpoint_newNEU">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3E491B9C6C8A48BEEEDF6289035CBD" ma:contentTypeVersion="6" ma:contentTypeDescription="Create a new document." ma:contentTypeScope="" ma:versionID="b5a76d0fc1c72a2ba550f072aa9dfa14">
  <xsd:schema xmlns:xsd="http://www.w3.org/2001/XMLSchema" xmlns:xs="http://www.w3.org/2001/XMLSchema" xmlns:p="http://schemas.microsoft.com/office/2006/metadata/properties" xmlns:ns3="5b574ddc-d850-48b5-a178-85672368edca" targetNamespace="http://schemas.microsoft.com/office/2006/metadata/properties" ma:root="true" ma:fieldsID="b6998229930efbedda84fa33ffff3784" ns3:_="">
    <xsd:import namespace="5b574ddc-d850-48b5-a178-85672368edc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574ddc-d850-48b5-a178-85672368edc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b574ddc-d850-48b5-a178-85672368edca" xsi:nil="true"/>
  </documentManagement>
</p:properties>
</file>

<file path=customXml/itemProps1.xml><?xml version="1.0" encoding="utf-8"?>
<ds:datastoreItem xmlns:ds="http://schemas.openxmlformats.org/officeDocument/2006/customXml" ds:itemID="{3E4603BD-1717-452B-BC5F-3023CA4109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574ddc-d850-48b5-a178-85672368ed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09556D2-A19F-4DB6-8565-B03A746C96E2}">
  <ds:schemaRefs>
    <ds:schemaRef ds:uri="http://schemas.microsoft.com/sharepoint/v3/contenttype/forms"/>
  </ds:schemaRefs>
</ds:datastoreItem>
</file>

<file path=customXml/itemProps3.xml><?xml version="1.0" encoding="utf-8"?>
<ds:datastoreItem xmlns:ds="http://schemas.openxmlformats.org/officeDocument/2006/customXml" ds:itemID="{EA1C663A-F00E-4D22-B726-82AC672AB5E5}">
  <ds:schemaRefs>
    <ds:schemaRef ds:uri="http://schemas.microsoft.com/office/2006/metadata/properties"/>
    <ds:schemaRef ds:uri="http://purl.org/dc/elements/1.1/"/>
    <ds:schemaRef ds:uri="http://purl.org/dc/terms/"/>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5b574ddc-d850-48b5-a178-85672368edca"/>
  </ds:schemaRefs>
</ds:datastoreItem>
</file>

<file path=docProps/app.xml><?xml version="1.0" encoding="utf-8"?>
<Properties xmlns="http://schemas.openxmlformats.org/officeDocument/2006/extended-properties" xmlns:vt="http://schemas.openxmlformats.org/officeDocument/2006/docPropsVTypes">
  <TotalTime>6082</TotalTime>
  <Words>1980</Words>
  <Application>Microsoft Office PowerPoint</Application>
  <PresentationFormat>On-screen Show (4:3)</PresentationFormat>
  <Paragraphs>140</Paragraphs>
  <Slides>17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Consolas</vt:lpstr>
      <vt:lpstr>Calibri</vt:lpstr>
      <vt:lpstr>Helvetica Neue</vt:lpstr>
      <vt:lpstr>Times New Roman</vt:lpstr>
      <vt:lpstr>Arial</vt:lpstr>
      <vt:lpstr>powerpoint_newNEU</vt:lpstr>
      <vt:lpstr> Predicting 30-Day Hospital Readmission for Diabetes Patients    Group 3: Sahil Niranjan, Nimisha Sharma, Laxmi Priya Samal, Junhui Hu ALY6040 Data Mining College of Professional Studies, Northeastern University  Professor: Kasun Samarasinghe 25th June, 2025 </vt:lpstr>
      <vt:lpstr>Real-World Problem – Nimisha </vt:lpstr>
      <vt:lpstr>Dataset Overview and EDA – Laxmi</vt:lpstr>
      <vt:lpstr>Data Preparation - Laxmi</vt:lpstr>
      <vt:lpstr>Feature Engineering – nick</vt:lpstr>
      <vt:lpstr>Train-Validation-Test Splitting Strategy </vt:lpstr>
      <vt:lpstr>Finding the ROC-Optimal Threshold Using Youden’s J Statistic nick</vt:lpstr>
      <vt:lpstr>CatBoost - Final Model Performance Summary nick</vt:lpstr>
      <vt:lpstr>Random Forest – Final Model Performance</vt:lpstr>
      <vt:lpstr>DECISION TREE - Sahil</vt:lpstr>
      <vt:lpstr>DECISION TREE - Sahil </vt:lpstr>
      <vt:lpstr>Rationale Behind: Decision Tree</vt:lpstr>
      <vt:lpstr>XGBoost – Sahil</vt:lpstr>
      <vt:lpstr>XGBoost - Sahil</vt:lpstr>
      <vt:lpstr>ROC Curve Comparison 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m.lyons</dc:creator>
  <cp:lastModifiedBy>Junhui Hu</cp:lastModifiedBy>
  <cp:revision>55</cp:revision>
  <dcterms:created xsi:type="dcterms:W3CDTF">2010-04-13T14:21:50Z</dcterms:created>
  <dcterms:modified xsi:type="dcterms:W3CDTF">2025-06-25T20:08:20Z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0x010100E03E491B9C6C8A48BEEEDF6289035CBD</vt:lpwstr>
  </property>
</Properties>
</file>