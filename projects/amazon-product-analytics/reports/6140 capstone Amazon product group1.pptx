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4"/>
  </p:sldMasterIdLst>
  <p:notesMasterIdLst>
    <p:notesMasterId r:id="rId24"/>
  </p:notesMasterIdLst>
  <p:sldIdLst>
    <p:sldId id="256" r:id="rId5"/>
    <p:sldId id="304" r:id="rId6"/>
    <p:sldId id="261" r:id="rId7"/>
    <p:sldId id="262" r:id="rId8"/>
    <p:sldId id="290" r:id="rId9"/>
    <p:sldId id="303" r:id="rId10"/>
    <p:sldId id="292" r:id="rId11"/>
    <p:sldId id="293" r:id="rId12"/>
    <p:sldId id="294" r:id="rId13"/>
    <p:sldId id="295" r:id="rId14"/>
    <p:sldId id="308" r:id="rId15"/>
    <p:sldId id="310" r:id="rId16"/>
    <p:sldId id="311" r:id="rId17"/>
    <p:sldId id="312" r:id="rId18"/>
    <p:sldId id="258" r:id="rId19"/>
    <p:sldId id="298" r:id="rId20"/>
    <p:sldId id="307" r:id="rId21"/>
    <p:sldId id="305" r:id="rId22"/>
    <p:sldId id="314" r:id="rId23"/>
  </p:sldIdLst>
  <p:sldSz cx="9144000" cy="5143500" type="screen16x9"/>
  <p:notesSz cx="6858000" cy="9144000"/>
  <p:embeddedFontLst>
    <p:embeddedFont>
      <p:font typeface="等线 Light" panose="02010600030101010101" pitchFamily="2" charset="-122"/>
      <p:regular r:id="rId25"/>
    </p:embeddedFont>
    <p:embeddedFont>
      <p:font typeface="Fira Sans" panose="020B0503050000020004" pitchFamily="34" charset="0"/>
      <p:regular r:id="rId26"/>
      <p:bold r:id="rId27"/>
      <p:italic r:id="rId28"/>
      <p:boldItalic r:id="rId29"/>
    </p:embeddedFont>
    <p:embeddedFont>
      <p:font typeface="Fira Sans Extra Condensed Medium" panose="02010600030101010101" charset="0"/>
      <p:regular r:id="rId30"/>
      <p:bold r:id="rId31"/>
      <p:italic r:id="rId32"/>
      <p:boldItalic r:id="rId33"/>
    </p:embeddedFont>
    <p:embeddedFont>
      <p:font typeface="Fira Sans Extra Condensed SemiBold" panose="02010600030101010101" charset="0"/>
      <p:regular r:id="rId34"/>
      <p:bold r:id="rId35"/>
      <p:italic r:id="rId36"/>
      <p:boldItalic r:id="rId37"/>
    </p:embeddedFont>
    <p:embeddedFont>
      <p:font typeface="Fira Sans Medium" panose="020B0603050000020004" pitchFamily="34" charset="0"/>
      <p:regular r:id="rId38"/>
      <p:bold r:id="rId39"/>
      <p:italic r:id="rId40"/>
      <p:boldItalic r:id="rId41"/>
    </p:embeddedFont>
    <p:embeddedFont>
      <p:font typeface="Roboto" panose="02000000000000000000" pitchFamily="2" charset="0"/>
      <p:regular r:id="rId42"/>
      <p:bold r:id="rId43"/>
      <p:italic r:id="rId44"/>
      <p:boldItalic r:id="rId45"/>
    </p:embeddedFont>
    <p:embeddedFont>
      <p:font typeface="等线" panose="02010600030101010101" pitchFamily="2" charset="-122"/>
      <p:regular r:id="rId46"/>
      <p:bold r:id="rId4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
          <p15:clr>
            <a:srgbClr val="EA4335"/>
          </p15:clr>
        </p15:guide>
        <p15:guide id="2" pos="288">
          <p15:clr>
            <a:srgbClr val="EA4335"/>
          </p15:clr>
        </p15:guide>
        <p15:guide id="3" pos="5472">
          <p15:clr>
            <a:srgbClr val="EA4335"/>
          </p15:clr>
        </p15:guide>
        <p15:guide id="4" orient="horz" pos="2984">
          <p15:clr>
            <a:srgbClr val="EA4335"/>
          </p15:clr>
        </p15:guide>
        <p15:guide id="5" orient="horz" pos="50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810064-687B-4760-8995-84C6B4AB92CF}" v="1003" dt="2025-02-15T03:43:50.899"/>
    <p1510:client id="{775DD0C2-1F5E-3930-2A37-7B73DB7965E5}" v="468" dt="2025-02-12T05:21:48.446"/>
    <p1510:client id="{86702249-8487-38DB-C64C-A7780C20E0E9}" v="3" dt="2025-02-12T16:44:33.126"/>
    <p1510:client id="{95B62F91-B86B-B388-2702-9407351EA641}" v="554" dt="2025-02-12T22:18:50.901"/>
    <p1510:client id="{A9C58A15-61E3-51A0-CFB2-893826884F1B}" v="380" dt="2025-02-12T13:01:04.864"/>
    <p1510:client id="{CC014E25-764A-3F77-C9A2-E9AD9FBF7DB6}" v="213" dt="2025-02-12T18:03:49.137"/>
    <p1510:client id="{E0B0BF0F-03EF-1F6A-20D5-8F880000F3B7}" v="4" dt="2025-02-12T22:38:05.9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00" d="100"/>
          <a:sy n="200" d="100"/>
        </p:scale>
        <p:origin x="654" y="150"/>
      </p:cViewPr>
      <p:guideLst>
        <p:guide orient="horz" pos="259"/>
        <p:guide pos="288"/>
        <p:guide pos="5472"/>
        <p:guide orient="horz" pos="2984"/>
        <p:guide orient="horz" pos="50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17.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font" Target="fonts/font23.fntdata"/><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font" Target="fonts/font5.fntdata"/><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4.fntdata"/><Relationship Id="rId36" Type="http://schemas.openxmlformats.org/officeDocument/2006/relationships/font" Target="fonts/font12.fntdata"/><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7.fntdata"/><Relationship Id="rId44" Type="http://schemas.openxmlformats.org/officeDocument/2006/relationships/font" Target="fonts/font20.fntdata"/><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6.xml"/><Relationship Id="rId41" Type="http://schemas.openxmlformats.org/officeDocument/2006/relationships/font" Target="fonts/font17.fntdata"/><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92a1ad2113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92a1ad2113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5">
          <a:extLst>
            <a:ext uri="{FF2B5EF4-FFF2-40B4-BE49-F238E27FC236}">
              <a16:creationId xmlns:a16="http://schemas.microsoft.com/office/drawing/2014/main" id="{AECB40F0-83F0-2F75-77DB-1894926F98D3}"/>
            </a:ext>
          </a:extLst>
        </p:cNvPr>
        <p:cNvGrpSpPr/>
        <p:nvPr/>
      </p:nvGrpSpPr>
      <p:grpSpPr>
        <a:xfrm>
          <a:off x="0" y="0"/>
          <a:ext cx="0" cy="0"/>
          <a:chOff x="0" y="0"/>
          <a:chExt cx="0" cy="0"/>
        </a:xfrm>
      </p:grpSpPr>
      <p:sp>
        <p:nvSpPr>
          <p:cNvPr id="1636" name="Google Shape;1636;g929290261e_0_3:notes">
            <a:extLst>
              <a:ext uri="{FF2B5EF4-FFF2-40B4-BE49-F238E27FC236}">
                <a16:creationId xmlns:a16="http://schemas.microsoft.com/office/drawing/2014/main" id="{8AC2A056-B9E6-C28D-970C-E985A1052E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7" name="Google Shape;1637;g929290261e_0_3:notes">
            <a:extLst>
              <a:ext uri="{FF2B5EF4-FFF2-40B4-BE49-F238E27FC236}">
                <a16:creationId xmlns:a16="http://schemas.microsoft.com/office/drawing/2014/main" id="{CD80B109-47DA-E10F-08FF-F72347B064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9955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p:cNvGrpSpPr/>
        <p:nvPr/>
      </p:nvGrpSpPr>
      <p:grpSpPr>
        <a:xfrm>
          <a:off x="0" y="0"/>
          <a:ext cx="0" cy="0"/>
          <a:chOff x="0" y="0"/>
          <a:chExt cx="0" cy="0"/>
        </a:xfrm>
      </p:grpSpPr>
      <p:sp>
        <p:nvSpPr>
          <p:cNvPr id="1496" name="Google Shape;1496;g9026751953_0_1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9026751953_0_1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4"/>
        <p:cNvGrpSpPr/>
        <p:nvPr/>
      </p:nvGrpSpPr>
      <p:grpSpPr>
        <a:xfrm>
          <a:off x="0" y="0"/>
          <a:ext cx="0" cy="0"/>
          <a:chOff x="0" y="0"/>
          <a:chExt cx="0" cy="0"/>
        </a:xfrm>
      </p:grpSpPr>
      <p:sp>
        <p:nvSpPr>
          <p:cNvPr id="1555" name="Google Shape;1555;g9026751953_0_13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6" name="Google Shape;1556;g9026751953_0_13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sz="1100" b="0" i="0">
                <a:solidFill>
                  <a:srgbClr val="000000"/>
                </a:solidFill>
                <a:effectLst/>
                <a:latin typeface="Aptos" panose="020B0004020202020204" pitchFamily="34" charset="0"/>
              </a:rPr>
              <a:t>The first step is to remove outliers. Let's define the IQR as the middle 50% of the data and calculate the </a:t>
            </a:r>
            <a:r>
              <a:rPr lang="en-US" altLang="zh-CN" sz="1100" b="0" i="0" err="1">
                <a:solidFill>
                  <a:srgbClr val="000000"/>
                </a:solidFill>
                <a:effectLst/>
                <a:latin typeface="Aptos" panose="020B0004020202020204" pitchFamily="34" charset="0"/>
              </a:rPr>
              <a:t>lower_bound</a:t>
            </a:r>
            <a:r>
              <a:rPr lang="en-US" altLang="zh-CN" sz="1100" b="0" i="0">
                <a:solidFill>
                  <a:srgbClr val="000000"/>
                </a:solidFill>
                <a:effectLst/>
                <a:latin typeface="Aptos" panose="020B0004020202020204" pitchFamily="34" charset="0"/>
              </a:rPr>
              <a:t> and </a:t>
            </a:r>
            <a:r>
              <a:rPr lang="en-US" altLang="zh-CN" sz="1100" b="0" i="0" err="1">
                <a:solidFill>
                  <a:srgbClr val="000000"/>
                </a:solidFill>
                <a:effectLst/>
                <a:latin typeface="Aptos" panose="020B0004020202020204" pitchFamily="34" charset="0"/>
              </a:rPr>
              <a:t>upper_bound</a:t>
            </a:r>
            <a:r>
              <a:rPr lang="en-US" altLang="zh-CN" sz="1100" b="0" i="0">
                <a:solidFill>
                  <a:srgbClr val="000000"/>
                </a:solidFill>
                <a:effectLst/>
                <a:latin typeface="Aptos" panose="020B0004020202020204" pitchFamily="34" charset="0"/>
              </a:rPr>
              <a:t> to ensure that extreme outliers are filtered out. Here, we only removed outliers for the price; other numerical types, such as review points, have a smaller range (1-5), and if a user gives a 1 out of 5, there should be a reason behind it, which is valuable.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zh-CN" altLang="en-US"/>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sz="1800" b="0" i="0">
                <a:solidFill>
                  <a:srgbClr val="000000"/>
                </a:solidFill>
                <a:effectLst/>
                <a:latin typeface="Aptos" panose="020B0004020202020204" pitchFamily="34" charset="0"/>
              </a:rPr>
              <a:t>The price distribution is right-skewed, with most products around 5 and few products priced above £10.  The high-priced products  might belong to specific brands or the high-end market.  </a:t>
            </a:r>
            <a:endParaRPr lang="zh-CN" altLang="en-US"/>
          </a:p>
        </p:txBody>
      </p:sp>
    </p:spTree>
    <p:extLst>
      <p:ext uri="{BB962C8B-B14F-4D97-AF65-F5344CB8AC3E}">
        <p14:creationId xmlns:p14="http://schemas.microsoft.com/office/powerpoint/2010/main" val="3151487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42A92-4C21-4B7D-7F9E-22234CEFE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19CD95-2BD1-5596-F722-41E42DB4AB4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56778BF-D9C7-12EB-83B5-545664753896}"/>
              </a:ext>
            </a:extLst>
          </p:cNvPr>
          <p:cNvSpPr>
            <a:spLocks noGrp="1"/>
          </p:cNvSpPr>
          <p:nvPr>
            <p:ph type="body" idx="1"/>
          </p:nvPr>
        </p:nvSpPr>
        <p:spPr/>
        <p:txBody>
          <a:bodyPr/>
          <a:lstStyle/>
          <a:p>
            <a:r>
              <a:rPr lang="en-US" altLang="zh-CN" sz="1800" b="0" i="0">
                <a:solidFill>
                  <a:srgbClr val="000000"/>
                </a:solidFill>
                <a:effectLst/>
                <a:latin typeface="Aptos" panose="020B0004020202020204" pitchFamily="34" charset="0"/>
              </a:rPr>
              <a:t>The price distribution is right-skewed, with most products around 5 and few products priced above £10.  The high-priced products  might belong to specific brands or the high-end market.  </a:t>
            </a:r>
            <a:endParaRPr lang="zh-CN" altLang="en-US"/>
          </a:p>
        </p:txBody>
      </p:sp>
    </p:spTree>
    <p:extLst>
      <p:ext uri="{BB962C8B-B14F-4D97-AF65-F5344CB8AC3E}">
        <p14:creationId xmlns:p14="http://schemas.microsoft.com/office/powerpoint/2010/main" val="3620194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sz="1800" b="0" i="0">
                <a:solidFill>
                  <a:srgbClr val="000000"/>
                </a:solidFill>
                <a:effectLst/>
                <a:latin typeface="Aptos" panose="020B0004020202020204" pitchFamily="34" charset="0"/>
              </a:rPr>
              <a:t>We analyzed the Popular Manufacturers Category and found that Oxford Diecast (which is the first time I’ve heard of them) might be a major market leader in model area. They offer a wide range of products and have high sales, and this manufacturer also holds the second-highest rating among the top ten. While I understand that Disney and LEGO are well-known brands with high market acceptance, the fact that Oxford Diecast outperforms both indicates that they are extremely strong. </a:t>
            </a:r>
            <a:endParaRPr lang="zh-CN" altLang="en-US"/>
          </a:p>
        </p:txBody>
      </p:sp>
    </p:spTree>
    <p:extLst>
      <p:ext uri="{BB962C8B-B14F-4D97-AF65-F5344CB8AC3E}">
        <p14:creationId xmlns:p14="http://schemas.microsoft.com/office/powerpoint/2010/main" val="2792541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sz="1800" b="0" i="0">
                <a:solidFill>
                  <a:srgbClr val="000000"/>
                </a:solidFill>
                <a:effectLst/>
                <a:latin typeface="Aptos" panose="020B0004020202020204" pitchFamily="34" charset="0"/>
              </a:rPr>
              <a:t>This is a "Top 10 Categories by Number of Products". To avoid readers recognize "vehicle" to the real cars, I put a category before the product. So the Bar char shows, Toy Vehicles is the primary product category in the market, with high consumer demand and a greater number of suppliers. Additionally, "Toy Vehicles &amp; Accessories," as a broader category, also includes Boats and Aircraft, indicating that the diversity of products in this category is very high. </a:t>
            </a:r>
            <a:endParaRPr lang="zh-CN" altLang="en-US"/>
          </a:p>
        </p:txBody>
      </p:sp>
    </p:spTree>
    <p:extLst>
      <p:ext uri="{BB962C8B-B14F-4D97-AF65-F5344CB8AC3E}">
        <p14:creationId xmlns:p14="http://schemas.microsoft.com/office/powerpoint/2010/main" val="3098640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sz="1800" b="0" i="0">
                <a:solidFill>
                  <a:srgbClr val="000000"/>
                </a:solidFill>
                <a:effectLst/>
                <a:latin typeface="Aptos" panose="020B0004020202020204" pitchFamily="34" charset="0"/>
              </a:rPr>
              <a:t>Price vs. Average Review Rating with Regression Line: The regression line is nearly horizontal, indicating that there is almost no clear linear correlation between Price and Average Review Rating. This suggests that ratings have little influence on price, possibly because highly-rated products are not necessarily more expensive, and low-rated products are not necessarily cheaper. </a:t>
            </a:r>
            <a:endParaRPr lang="zh-CN" altLang="en-US"/>
          </a:p>
        </p:txBody>
      </p:sp>
    </p:spTree>
    <p:extLst>
      <p:ext uri="{BB962C8B-B14F-4D97-AF65-F5344CB8AC3E}">
        <p14:creationId xmlns:p14="http://schemas.microsoft.com/office/powerpoint/2010/main" val="4820438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sz="1800" b="0" i="0">
                <a:solidFill>
                  <a:srgbClr val="000000"/>
                </a:solidFill>
                <a:effectLst/>
                <a:latin typeface="Aptos" panose="020B0004020202020204" pitchFamily="34" charset="0"/>
              </a:rPr>
              <a:t>Because we couldn't identify a relationship from price and rating alone, we constructed this Correlation Matrix of Key Features. From this chart, we found that there is a slight negative correlation (-0.1) between </a:t>
            </a:r>
            <a:r>
              <a:rPr lang="en-US" altLang="zh-CN" sz="1800" b="0" i="0" err="1">
                <a:solidFill>
                  <a:srgbClr val="000000"/>
                </a:solidFill>
                <a:effectLst/>
                <a:latin typeface="Aptos" panose="020B0004020202020204" pitchFamily="34" charset="0"/>
              </a:rPr>
              <a:t>average_review_rating</a:t>
            </a:r>
            <a:r>
              <a:rPr lang="en-US" altLang="zh-CN" sz="1800" b="0" i="0">
                <a:solidFill>
                  <a:srgbClr val="000000"/>
                </a:solidFill>
                <a:effectLst/>
                <a:latin typeface="Aptos" panose="020B0004020202020204" pitchFamily="34" charset="0"/>
              </a:rPr>
              <a:t> and </a:t>
            </a:r>
            <a:r>
              <a:rPr lang="en-US" altLang="zh-CN" sz="1800" b="0" i="0" err="1">
                <a:solidFill>
                  <a:srgbClr val="000000"/>
                </a:solidFill>
                <a:effectLst/>
                <a:latin typeface="Aptos" panose="020B0004020202020204" pitchFamily="34" charset="0"/>
              </a:rPr>
              <a:t>number_of_reviews</a:t>
            </a:r>
            <a:r>
              <a:rPr lang="en-US" altLang="zh-CN" sz="1800" b="0" i="0">
                <a:solidFill>
                  <a:srgbClr val="000000"/>
                </a:solidFill>
                <a:effectLst/>
                <a:latin typeface="Aptos" panose="020B0004020202020204" pitchFamily="34" charset="0"/>
              </a:rPr>
              <a:t>, suggesting that as the number of reviews increases, the average rating may decrease slightly. </a:t>
            </a:r>
            <a:endParaRPr lang="zh-CN" altLang="en-US"/>
          </a:p>
        </p:txBody>
      </p:sp>
    </p:spTree>
    <p:extLst>
      <p:ext uri="{BB962C8B-B14F-4D97-AF65-F5344CB8AC3E}">
        <p14:creationId xmlns:p14="http://schemas.microsoft.com/office/powerpoint/2010/main" val="14334962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a:extLst>
            <a:ext uri="{FF2B5EF4-FFF2-40B4-BE49-F238E27FC236}">
              <a16:creationId xmlns:a16="http://schemas.microsoft.com/office/drawing/2014/main" id="{EE429ECE-E8B4-6532-10FC-195D983774FB}"/>
            </a:ext>
          </a:extLst>
        </p:cNvPr>
        <p:cNvGrpSpPr/>
        <p:nvPr/>
      </p:nvGrpSpPr>
      <p:grpSpPr>
        <a:xfrm>
          <a:off x="0" y="0"/>
          <a:ext cx="0" cy="0"/>
          <a:chOff x="0" y="0"/>
          <a:chExt cx="0" cy="0"/>
        </a:xfrm>
      </p:grpSpPr>
      <p:sp>
        <p:nvSpPr>
          <p:cNvPr id="314" name="Google Shape;314;g91ed6c2d0b_0_267:notes">
            <a:extLst>
              <a:ext uri="{FF2B5EF4-FFF2-40B4-BE49-F238E27FC236}">
                <a16:creationId xmlns:a16="http://schemas.microsoft.com/office/drawing/2014/main" id="{F1C60F5E-1307-7971-A556-4943AC06F9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91ed6c2d0b_0_267:notes">
            <a:extLst>
              <a:ext uri="{FF2B5EF4-FFF2-40B4-BE49-F238E27FC236}">
                <a16:creationId xmlns:a16="http://schemas.microsoft.com/office/drawing/2014/main" id="{766A7689-EE57-9BAD-911C-21434DA865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altLang="zh-CN">
              <a:solidFill>
                <a:srgbClr val="BCBEC4"/>
              </a:solidFill>
              <a:effectLst/>
            </a:endParaRPr>
          </a:p>
        </p:txBody>
      </p:sp>
    </p:spTree>
    <p:extLst>
      <p:ext uri="{BB962C8B-B14F-4D97-AF65-F5344CB8AC3E}">
        <p14:creationId xmlns:p14="http://schemas.microsoft.com/office/powerpoint/2010/main" val="818185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5">
          <a:extLst>
            <a:ext uri="{FF2B5EF4-FFF2-40B4-BE49-F238E27FC236}">
              <a16:creationId xmlns:a16="http://schemas.microsoft.com/office/drawing/2014/main" id="{D6FFB5AC-F762-C1D8-0C13-502CF183D69F}"/>
            </a:ext>
          </a:extLst>
        </p:cNvPr>
        <p:cNvGrpSpPr/>
        <p:nvPr/>
      </p:nvGrpSpPr>
      <p:grpSpPr>
        <a:xfrm>
          <a:off x="0" y="0"/>
          <a:ext cx="0" cy="0"/>
          <a:chOff x="0" y="0"/>
          <a:chExt cx="0" cy="0"/>
        </a:xfrm>
      </p:grpSpPr>
      <p:sp>
        <p:nvSpPr>
          <p:cNvPr id="1636" name="Google Shape;1636;g929290261e_0_3:notes">
            <a:extLst>
              <a:ext uri="{FF2B5EF4-FFF2-40B4-BE49-F238E27FC236}">
                <a16:creationId xmlns:a16="http://schemas.microsoft.com/office/drawing/2014/main" id="{458BF997-6584-2D86-AC2D-DF30FCCB45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7" name="Google Shape;1637;g929290261e_0_3:notes">
            <a:extLst>
              <a:ext uri="{FF2B5EF4-FFF2-40B4-BE49-F238E27FC236}">
                <a16:creationId xmlns:a16="http://schemas.microsoft.com/office/drawing/2014/main" id="{8BE704C0-938D-6BF5-15BA-4F786505CC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we have conducted a thorough analysis to understand the factors influencing product review ratings. We began by cleaning and preprocessing the dataset, removing unnecessary columns, converting price and review-related fields into numerical values, and handling missing data. A correlation analysis revealed that price has almost no relationship with average review ratings, while the number of reviews showed a weak negative correlation, suggesting that more popular products tend to receive slightly lower ratings. The number of answered questions also had minimal impact. Next, we applied a logistic regression model to classify products as having high or low review volumes, achieving 63% accuracy. However, the model struggled to differentiate mid-range review counts, highlighting overlapping characteristics between categories. Finally, we built a linear regression model to predict review ratings using price, number of reviews, and number of answered questions. The model performed poorly, with an R² score of just 2.27%, indicating that these features do not strongly determine review ratings. The regression coefficients showed that price and customer engagement metrics had little to no impact, reinforcing the idea that other factors, such as product quality, brand reputation, or review sentiment, likely play a larger role in determining ratings.</a:t>
            </a:r>
          </a:p>
        </p:txBody>
      </p:sp>
    </p:spTree>
    <p:extLst>
      <p:ext uri="{BB962C8B-B14F-4D97-AF65-F5344CB8AC3E}">
        <p14:creationId xmlns:p14="http://schemas.microsoft.com/office/powerpoint/2010/main" val="1094993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5">
          <a:extLst>
            <a:ext uri="{FF2B5EF4-FFF2-40B4-BE49-F238E27FC236}">
              <a16:creationId xmlns:a16="http://schemas.microsoft.com/office/drawing/2014/main" id="{2FE0203B-C371-A53C-1F55-F31297CE1A1C}"/>
            </a:ext>
          </a:extLst>
        </p:cNvPr>
        <p:cNvGrpSpPr/>
        <p:nvPr/>
      </p:nvGrpSpPr>
      <p:grpSpPr>
        <a:xfrm>
          <a:off x="0" y="0"/>
          <a:ext cx="0" cy="0"/>
          <a:chOff x="0" y="0"/>
          <a:chExt cx="0" cy="0"/>
        </a:xfrm>
      </p:grpSpPr>
      <p:sp>
        <p:nvSpPr>
          <p:cNvPr id="1636" name="Google Shape;1636;g929290261e_0_3:notes">
            <a:extLst>
              <a:ext uri="{FF2B5EF4-FFF2-40B4-BE49-F238E27FC236}">
                <a16:creationId xmlns:a16="http://schemas.microsoft.com/office/drawing/2014/main" id="{29A475C1-836E-0DFA-2B04-124C9233DF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7" name="Google Shape;1637;g929290261e_0_3:notes">
            <a:extLst>
              <a:ext uri="{FF2B5EF4-FFF2-40B4-BE49-F238E27FC236}">
                <a16:creationId xmlns:a16="http://schemas.microsoft.com/office/drawing/2014/main" id="{ACEB4F88-BC35-CBF1-B060-053A7F4264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1174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5">
          <a:extLst>
            <a:ext uri="{FF2B5EF4-FFF2-40B4-BE49-F238E27FC236}">
              <a16:creationId xmlns:a16="http://schemas.microsoft.com/office/drawing/2014/main" id="{265F58D2-0715-BE29-5509-DB03B11D309E}"/>
            </a:ext>
          </a:extLst>
        </p:cNvPr>
        <p:cNvGrpSpPr/>
        <p:nvPr/>
      </p:nvGrpSpPr>
      <p:grpSpPr>
        <a:xfrm>
          <a:off x="0" y="0"/>
          <a:ext cx="0" cy="0"/>
          <a:chOff x="0" y="0"/>
          <a:chExt cx="0" cy="0"/>
        </a:xfrm>
      </p:grpSpPr>
      <p:sp>
        <p:nvSpPr>
          <p:cNvPr id="1636" name="Google Shape;1636;g929290261e_0_3:notes">
            <a:extLst>
              <a:ext uri="{FF2B5EF4-FFF2-40B4-BE49-F238E27FC236}">
                <a16:creationId xmlns:a16="http://schemas.microsoft.com/office/drawing/2014/main" id="{4989C473-A351-8EFD-9A66-C72BF08609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7" name="Google Shape;1637;g929290261e_0_3:notes">
            <a:extLst>
              <a:ext uri="{FF2B5EF4-FFF2-40B4-BE49-F238E27FC236}">
                <a16:creationId xmlns:a16="http://schemas.microsoft.com/office/drawing/2014/main" id="{87732161-A7E8-2E2F-9942-71985CFE1E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b="1"/>
              <a:t>Price is not a strong predictor of review ratings</a:t>
            </a:r>
            <a:r>
              <a:rPr lang="en-US"/>
              <a:t> – Since the correlation between price and average review ratings is nearly zero, we can predict that </a:t>
            </a:r>
            <a:r>
              <a:rPr lang="en-US" b="1"/>
              <a:t>raising or</a:t>
            </a:r>
            <a:endParaRPr lang="en-US"/>
          </a:p>
          <a:p>
            <a:pPr>
              <a:buNone/>
            </a:pPr>
            <a:r>
              <a:rPr lang="en-US" b="1"/>
              <a:t>lowering a product’s price alone will not significantly affect its rating</a:t>
            </a:r>
            <a:r>
              <a:rPr lang="en-US"/>
              <a:t>. Instead, factors such as product quality, brand reputation, or customer experience likely</a:t>
            </a:r>
          </a:p>
          <a:p>
            <a:pPr>
              <a:buNone/>
            </a:pPr>
            <a:r>
              <a:rPr lang="en-US"/>
              <a:t>have a greater influence.</a:t>
            </a:r>
          </a:p>
          <a:p>
            <a:pPr marL="171450" indent="-171450">
              <a:buFont typeface="Arial,Sans-Serif"/>
              <a:buChar char="•"/>
            </a:pPr>
            <a:r>
              <a:rPr lang="en-US" b="1"/>
              <a:t>Popular products tend to receive slightly lower ratings</a:t>
            </a:r>
            <a:r>
              <a:rPr lang="en-US"/>
              <a:t> – The weak negative correlation between the number of reviews and average ratings suggests that as more people review a product, the likelihood of mixed or negative opinions increases. We can predict that </a:t>
            </a:r>
            <a:r>
              <a:rPr lang="en-US" b="1"/>
              <a:t>widely purchased products may accumulate lower average ratings over time due to increased scrutiny</a:t>
            </a:r>
            <a:r>
              <a:rPr lang="en-US"/>
              <a:t>.</a:t>
            </a:r>
          </a:p>
          <a:p>
            <a:pPr marL="171450" indent="-171450">
              <a:buFont typeface="Arial,Sans-Serif"/>
              <a:buChar char="•"/>
            </a:pPr>
            <a:r>
              <a:rPr lang="en-US" b="1"/>
              <a:t>Customer engagement (answered questions) does not significantly influence ratings</a:t>
            </a:r>
            <a:r>
              <a:rPr lang="en-US"/>
              <a:t> – Since the number of answered questions showed no strong correlation with review ratings, we can predict that </a:t>
            </a:r>
            <a:r>
              <a:rPr lang="en-US" b="1"/>
              <a:t>increasing customer interactions (through FAQs or Q&amp;A sections) will not necessarily lead to higher or lower ratings</a:t>
            </a:r>
            <a:r>
              <a:rPr lang="en-US"/>
              <a:t>.</a:t>
            </a:r>
          </a:p>
          <a:p>
            <a:pPr marL="171450" indent="-171450">
              <a:buFont typeface="Arial,Sans-Serif"/>
              <a:buChar char="•"/>
            </a:pPr>
            <a:r>
              <a:rPr lang="en-US" b="1"/>
              <a:t>A simple linear model is insufficient to predict review ratings</a:t>
            </a:r>
            <a:r>
              <a:rPr lang="en-US"/>
              <a:t> – The linear regression model’s low R² score (2.27%) indicates that </a:t>
            </a:r>
            <a:r>
              <a:rPr lang="en-US" b="1"/>
              <a:t>price, review volume, and answered questions alone do not explain rating variations</a:t>
            </a:r>
            <a:r>
              <a:rPr lang="en-US"/>
              <a:t>. This suggests that </a:t>
            </a:r>
            <a:r>
              <a:rPr lang="en-US" b="1"/>
              <a:t>other hidden factors</a:t>
            </a:r>
            <a:r>
              <a:rPr lang="en-US"/>
              <a:t>—such as brand perception, customer sentiment, or product-specific features—are more relevant.</a:t>
            </a:r>
          </a:p>
          <a:p>
            <a:pPr marL="171450" indent="-171450">
              <a:buFont typeface="Arial,Sans-Serif"/>
              <a:buChar char="•"/>
            </a:pPr>
            <a:r>
              <a:rPr lang="en-US" b="1"/>
              <a:t>Mid-range review volumes are harder to classify</a:t>
            </a:r>
            <a:r>
              <a:rPr lang="en-US"/>
              <a:t> – The logistic regression model showed that distinguishing between high- and low-review products was relatively effective, but </a:t>
            </a:r>
            <a:r>
              <a:rPr lang="en-US" b="1"/>
              <a:t>mid-range products had overlapping characteristics</a:t>
            </a:r>
            <a:r>
              <a:rPr lang="en-US"/>
              <a:t>. This suggests that </a:t>
            </a:r>
            <a:r>
              <a:rPr lang="en-US" b="1"/>
              <a:t>products with moderate popularity are more unpredictable in terms of review volume trends</a:t>
            </a:r>
            <a:r>
              <a:rPr lang="en-US"/>
              <a:t>.</a:t>
            </a:r>
          </a:p>
          <a:p>
            <a:pPr marL="171450" lvl="0" indent="-171450" algn="l">
              <a:spcBef>
                <a:spcPts val="0"/>
              </a:spcBef>
              <a:spcAft>
                <a:spcPts val="0"/>
              </a:spcAft>
              <a:buFont typeface="Arial,Sans-Serif"/>
              <a:buChar char="•"/>
            </a:pPr>
            <a:endParaRPr lang="en-US"/>
          </a:p>
          <a:p>
            <a:pPr marL="171450" indent="-171450">
              <a:buFont typeface="Arial,Sans-Serif"/>
              <a:buChar char="•"/>
            </a:pPr>
            <a:endParaRPr lang="en-US"/>
          </a:p>
          <a:p>
            <a:pPr marL="171450" indent="-171450">
              <a:buFont typeface="Arial,Sans-Serif"/>
              <a:buChar char="•"/>
            </a:pPr>
            <a:endParaRPr lang="en-US"/>
          </a:p>
          <a:p>
            <a:pPr>
              <a:buNone/>
            </a:pPr>
            <a:endParaRPr lang="en-US"/>
          </a:p>
          <a:p>
            <a:pPr marL="0" indent="0">
              <a:buNone/>
            </a:pPr>
            <a:endParaRPr lang="en-US"/>
          </a:p>
        </p:txBody>
      </p:sp>
    </p:spTree>
    <p:extLst>
      <p:ext uri="{BB962C8B-B14F-4D97-AF65-F5344CB8AC3E}">
        <p14:creationId xmlns:p14="http://schemas.microsoft.com/office/powerpoint/2010/main" val="28372819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91ed6c2d0b_0_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91ed6c2d0b_0_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t>F</a:t>
            </a:r>
            <a:r>
              <a:rPr lang="en-US" altLang="zh-CN"/>
              <a:t>or this question I used Random forest. The goal of this question is to classify products into three price categories: </a:t>
            </a:r>
            <a:r>
              <a:rPr lang="en-US" altLang="zh-CN" b="1"/>
              <a:t>Low, Medium, and High</a:t>
            </a:r>
            <a:r>
              <a:rPr lang="en-US" altLang="zh-CN"/>
              <a:t>, based on their features like manufacturer, reviews, and text descriptions.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a:t>By the way, low price represent </a:t>
            </a:r>
            <a:r>
              <a:rPr lang="en-US" altLang="zh-CN">
                <a:solidFill>
                  <a:srgbClr val="BCBEC4"/>
                </a:solidFill>
                <a:effectLst/>
              </a:rPr>
              <a:t>price less than 10, medium greater than10 and less than 30, otherwise are count as high price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b="0" i="0">
                <a:solidFill>
                  <a:srgbClr val="000000"/>
                </a:solidFill>
                <a:effectLst/>
                <a:latin typeface="Aptos" panose="020B0004020202020204" pitchFamily="34" charset="0"/>
              </a:rPr>
              <a:t>At very beginning of this project, I used a Bayesian model on this question, but after two rounds of upgrades, the final accuracy only reached 62%. This is because Bayesian methods are probability-based linear models that assume the features are independent. In fact, this is evident from the PCA plot I generated at the end of the model, which clearly shows that, unlike the examples we saw in last class, our data does not have a distinct linear boundary. Therefore, I decided to change the model, and after some research, I learned that random forests can capture complex non-linear relationships because each decision tree can learn different patterns in the data.</a:t>
            </a:r>
            <a:endParaRPr lang="zh-CN" altLang="en-US"/>
          </a:p>
        </p:txBody>
      </p:sp>
    </p:spTree>
    <p:extLst>
      <p:ext uri="{BB962C8B-B14F-4D97-AF65-F5344CB8AC3E}">
        <p14:creationId xmlns:p14="http://schemas.microsoft.com/office/powerpoint/2010/main" val="26820349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76850-EF20-C9B9-C59E-259C588D49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EF1B1-9573-D914-100F-A7E40C3D744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57E4838-E85B-CB87-2644-E5479F05F97D}"/>
              </a:ext>
            </a:extLst>
          </p:cNvPr>
          <p:cNvSpPr>
            <a:spLocks noGrp="1"/>
          </p:cNvSpPr>
          <p:nvPr>
            <p:ph type="body" idx="1"/>
          </p:nvPr>
        </p:nvSpPr>
        <p:spPr/>
        <p:txBody>
          <a:bodyPr/>
          <a:lstStyle/>
          <a:p>
            <a:r>
              <a:rPr lang="en-US" altLang="zh-CN"/>
              <a:t>I start by </a:t>
            </a:r>
            <a:r>
              <a:rPr lang="en-US" altLang="zh-CN" b="1"/>
              <a:t>loading the data and handling missing values</a:t>
            </a:r>
            <a:r>
              <a:rPr lang="en-US" altLang="zh-CN"/>
              <a:t>. Any missing values in numerical columns are filled with their median values, while categorical values are encoded using </a:t>
            </a:r>
            <a:r>
              <a:rPr lang="en-US" altLang="zh-CN" b="1"/>
              <a:t>Label Encoding</a:t>
            </a:r>
            <a:r>
              <a:rPr lang="en-US" altLang="zh-CN"/>
              <a:t>.</a:t>
            </a:r>
          </a:p>
          <a:p>
            <a:r>
              <a:rPr lang="en-US" altLang="zh-CN"/>
              <a:t>These are the features I implied</a:t>
            </a:r>
          </a:p>
          <a:p>
            <a:r>
              <a:rPr lang="en-US" altLang="zh-CN"/>
              <a:t>Beyond that we extract features from the text, like the number of questions, text length, and unique word ratio which are also numerical features</a:t>
            </a:r>
            <a:endParaRPr lang="zh-CN" altLang="en-US"/>
          </a:p>
          <a:p>
            <a:endParaRPr lang="en-US" altLang="zh-CN"/>
          </a:p>
          <a:p>
            <a:r>
              <a:rPr lang="en-US" altLang="zh-CN"/>
              <a:t>We apply </a:t>
            </a:r>
            <a:r>
              <a:rPr lang="en-US" altLang="zh-CN" b="1"/>
              <a:t>TF-IDF Vectorization</a:t>
            </a:r>
            <a:r>
              <a:rPr lang="en-US" altLang="zh-CN"/>
              <a:t> to convert textual data into numerical, selecting </a:t>
            </a:r>
            <a:r>
              <a:rPr lang="en-US" altLang="zh-CN" b="1"/>
              <a:t>2000 key features</a:t>
            </a:r>
            <a:r>
              <a:rPr lang="en-US" altLang="zh-CN"/>
              <a:t> from product descriptions. </a:t>
            </a:r>
          </a:p>
          <a:p>
            <a:r>
              <a:rPr lang="en-US" altLang="zh-CN"/>
              <a:t>Why 2000? Because base on the research, </a:t>
            </a:r>
            <a:r>
              <a:rPr lang="en-US" altLang="zh-CN" err="1"/>
              <a:t>max_features</a:t>
            </a:r>
            <a:r>
              <a:rPr lang="en-US" altLang="zh-CN"/>
              <a:t> is best between 1k-5k. </a:t>
            </a:r>
          </a:p>
          <a:p>
            <a:r>
              <a:rPr lang="en-US" altLang="zh-CN"/>
              <a:t>And because we used SMOTE, to avoid massive calculation we decided use 2000 features </a:t>
            </a:r>
          </a:p>
          <a:p>
            <a:endParaRPr lang="en-US" altLang="zh-CN"/>
          </a:p>
          <a:p>
            <a:r>
              <a:rPr lang="en-US" altLang="zh-CN"/>
              <a:t>SMOTE: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CN"/>
              <a:t>Our dataset is </a:t>
            </a:r>
            <a:r>
              <a:rPr lang="en-US" altLang="zh-CN" b="1"/>
              <a:t>imbalanced</a:t>
            </a:r>
            <a:r>
              <a:rPr lang="en-US" altLang="zh-CN"/>
              <a:t>, that some price categories appear more than others.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CN"/>
              <a:t>To solve this we use </a:t>
            </a:r>
            <a:r>
              <a:rPr lang="en-US" altLang="zh-CN" b="1"/>
              <a:t>Synthetic Minority Over-sampling Technique </a:t>
            </a:r>
            <a:r>
              <a:rPr lang="en-US" altLang="zh-CN"/>
              <a:t>to balance the dataset by generate new samples</a:t>
            </a:r>
            <a:endParaRPr lang="zh-CN" altLang="en-US" b="1"/>
          </a:p>
          <a:p>
            <a:endParaRPr lang="en-US" altLang="zh-CN"/>
          </a:p>
          <a:p>
            <a:r>
              <a:rPr lang="en-US" altLang="zh-CN"/>
              <a:t>After all of these we can start model training. To ensure </a:t>
            </a:r>
            <a:r>
              <a:rPr lang="en-US" altLang="zh-CN" b="1"/>
              <a:t>robust evaluation</a:t>
            </a:r>
            <a:r>
              <a:rPr lang="zh-CN" altLang="en-US" b="1"/>
              <a:t>稳定的评估</a:t>
            </a:r>
            <a:r>
              <a:rPr lang="en-US" altLang="zh-CN"/>
              <a:t>, we implement Cross-Validation (5-folds) that we learned from last lecture, by using function </a:t>
            </a:r>
            <a:r>
              <a:rPr lang="en-US" altLang="zh-CN" b="1" err="1"/>
              <a:t>stratifiedkfold</a:t>
            </a:r>
            <a:r>
              <a:rPr lang="en-US" altLang="zh-CN" b="1"/>
              <a:t>() and set </a:t>
            </a:r>
            <a:r>
              <a:rPr lang="en-US" altLang="zh-CN" b="1" err="1"/>
              <a:t>n_splite</a:t>
            </a:r>
            <a:r>
              <a:rPr lang="en-US" altLang="zh-CN" b="1"/>
              <a:t> to 5</a:t>
            </a:r>
            <a:endParaRPr lang="en-US" altLang="zh-CN"/>
          </a:p>
          <a:p>
            <a:r>
              <a:rPr lang="en-US" altLang="zh-CN"/>
              <a:t>Then we </a:t>
            </a:r>
            <a:r>
              <a:rPr lang="en-US" altLang="zh-CN" b="1"/>
              <a:t>split</a:t>
            </a:r>
            <a:r>
              <a:rPr lang="en-US" altLang="zh-CN"/>
              <a:t> the dataset into training and testing and  </a:t>
            </a:r>
            <a:r>
              <a:rPr lang="en-US" altLang="zh-CN" b="1"/>
              <a:t>train a Random Forest model</a:t>
            </a:r>
            <a:r>
              <a:rPr lang="en-US" altLang="zh-CN"/>
              <a:t> with </a:t>
            </a:r>
            <a:r>
              <a:rPr lang="en-US" altLang="zh-CN" b="1"/>
              <a:t>100 decision trees</a:t>
            </a:r>
            <a:endParaRPr lang="zh-CN" altLang="en-US"/>
          </a:p>
          <a:p>
            <a:endParaRPr lang="en-US" altLang="zh-CN"/>
          </a:p>
          <a:p>
            <a:r>
              <a:rPr lang="en-US" altLang="zh-CN"/>
              <a:t>Finally, our </a:t>
            </a:r>
            <a:r>
              <a:rPr lang="en-US" altLang="zh-CN" b="1"/>
              <a:t>Random Forest model achieved an average accuracy of 83%</a:t>
            </a:r>
          </a:p>
          <a:p>
            <a:r>
              <a:rPr lang="en-US" altLang="zh-CN"/>
              <a:t>Std=0.0064.  means the model is very stable across different data splits and doesn’t vary much with changes in the training data</a:t>
            </a:r>
          </a:p>
          <a:p>
            <a:r>
              <a:rPr lang="en-US" altLang="zh-CN"/>
              <a:t>Precision = 0.96: Among the products predicted as "High," 96% are actually high-priced.</a:t>
            </a:r>
            <a:br>
              <a:rPr lang="en-US" altLang="zh-CN"/>
            </a:br>
            <a:r>
              <a:rPr lang="en-US" altLang="zh-CN"/>
              <a:t>Recall = 0.97: Among all truly high-priced products, 97% were correctly classified.</a:t>
            </a:r>
            <a:br>
              <a:rPr lang="en-US" altLang="zh-CN"/>
            </a:br>
            <a:r>
              <a:rPr lang="en-US" altLang="zh-CN"/>
              <a:t>F1-score = 0.97: The classification performance for high-priced products is excellent.</a:t>
            </a:r>
          </a:p>
          <a:p>
            <a:endParaRPr lang="zh-CN" altLang="en-US"/>
          </a:p>
          <a:p>
            <a:endParaRPr lang="zh-CN" altLang="en-US"/>
          </a:p>
        </p:txBody>
      </p:sp>
    </p:spTree>
    <p:extLst>
      <p:ext uri="{BB962C8B-B14F-4D97-AF65-F5344CB8AC3E}">
        <p14:creationId xmlns:p14="http://schemas.microsoft.com/office/powerpoint/2010/main" val="2813186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787F4-35CB-7C6D-7506-6A91D50489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C8C525-8520-EA0C-A22B-D946616A397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BBF3CB3-B84C-C6A8-2633-1508475B65BC}"/>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048884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5">
          <a:extLst>
            <a:ext uri="{FF2B5EF4-FFF2-40B4-BE49-F238E27FC236}">
              <a16:creationId xmlns:a16="http://schemas.microsoft.com/office/drawing/2014/main" id="{9A44B690-E809-AD3E-4699-0C7B98774B9C}"/>
            </a:ext>
          </a:extLst>
        </p:cNvPr>
        <p:cNvGrpSpPr/>
        <p:nvPr/>
      </p:nvGrpSpPr>
      <p:grpSpPr>
        <a:xfrm>
          <a:off x="0" y="0"/>
          <a:ext cx="0" cy="0"/>
          <a:chOff x="0" y="0"/>
          <a:chExt cx="0" cy="0"/>
        </a:xfrm>
      </p:grpSpPr>
      <p:sp>
        <p:nvSpPr>
          <p:cNvPr id="1636" name="Google Shape;1636;g929290261e_0_3:notes">
            <a:extLst>
              <a:ext uri="{FF2B5EF4-FFF2-40B4-BE49-F238E27FC236}">
                <a16:creationId xmlns:a16="http://schemas.microsoft.com/office/drawing/2014/main" id="{29997DB1-5905-779B-2BF4-29C7A8868A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7" name="Google Shape;1637;g929290261e_0_3:notes">
            <a:extLst>
              <a:ext uri="{FF2B5EF4-FFF2-40B4-BE49-F238E27FC236}">
                <a16:creationId xmlns:a16="http://schemas.microsoft.com/office/drawing/2014/main" id="{6C92E122-718E-CF70-1FD8-046CE5183E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2744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C745D-C6DA-6432-EF8A-38509586CCAE}"/>
              </a:ext>
            </a:extLst>
          </p:cNvPr>
          <p:cNvSpPr>
            <a:spLocks noGrp="1"/>
          </p:cNvSpPr>
          <p:nvPr>
            <p:ph type="ctrTitle"/>
          </p:nvPr>
        </p:nvSpPr>
        <p:spPr>
          <a:xfrm>
            <a:off x="1143000" y="841772"/>
            <a:ext cx="6858000" cy="1790700"/>
          </a:xfrm>
        </p:spPr>
        <p:txBody>
          <a:bodyPr anchor="b"/>
          <a:lstStyle>
            <a:lvl1pPr algn="ctr">
              <a:defRPr sz="45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6FBA8B14-E7E9-719F-F38F-ADD7DCA00201}"/>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A08916E1-AAE4-555B-0BBD-72BD67A64997}"/>
              </a:ext>
            </a:extLst>
          </p:cNvPr>
          <p:cNvSpPr>
            <a:spLocks noGrp="1"/>
          </p:cNvSpPr>
          <p:nvPr>
            <p:ph type="dt" sz="half" idx="10"/>
          </p:nvPr>
        </p:nvSpPr>
        <p:spPr/>
        <p:txBody>
          <a:bodyPr/>
          <a:lstStyle/>
          <a:p>
            <a:fld id="{EB645218-EC74-428D-857C-B64CDCF8CBD1}" type="datetimeFigureOut">
              <a:rPr lang="zh-CN" altLang="en-US" smtClean="0"/>
              <a:t>2025/2/14</a:t>
            </a:fld>
            <a:endParaRPr lang="zh-CN" altLang="en-US"/>
          </a:p>
        </p:txBody>
      </p:sp>
      <p:sp>
        <p:nvSpPr>
          <p:cNvPr id="5" name="Footer Placeholder 4">
            <a:extLst>
              <a:ext uri="{FF2B5EF4-FFF2-40B4-BE49-F238E27FC236}">
                <a16:creationId xmlns:a16="http://schemas.microsoft.com/office/drawing/2014/main" id="{1C3DB0E1-4262-9608-9D11-C620D0BAD909}"/>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185C9087-B7D7-F172-8E8B-4828321C4A3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4463124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F05C8-C50D-0618-E7C6-4B9982A8BF39}"/>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C20BB3E9-A4F1-97AE-D5B0-FF1E81DF330B}"/>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5CA26B60-7EF3-3A3E-B96D-7A1D86FCF3C8}"/>
              </a:ext>
            </a:extLst>
          </p:cNvPr>
          <p:cNvSpPr>
            <a:spLocks noGrp="1"/>
          </p:cNvSpPr>
          <p:nvPr>
            <p:ph type="dt" sz="half" idx="10"/>
          </p:nvPr>
        </p:nvSpPr>
        <p:spPr/>
        <p:txBody>
          <a:bodyPr/>
          <a:lstStyle/>
          <a:p>
            <a:fld id="{EB645218-EC74-428D-857C-B64CDCF8CBD1}" type="datetimeFigureOut">
              <a:rPr lang="zh-CN" altLang="en-US" smtClean="0"/>
              <a:t>2025/2/14</a:t>
            </a:fld>
            <a:endParaRPr lang="zh-CN" altLang="en-US"/>
          </a:p>
        </p:txBody>
      </p:sp>
      <p:sp>
        <p:nvSpPr>
          <p:cNvPr id="5" name="Footer Placeholder 4">
            <a:extLst>
              <a:ext uri="{FF2B5EF4-FFF2-40B4-BE49-F238E27FC236}">
                <a16:creationId xmlns:a16="http://schemas.microsoft.com/office/drawing/2014/main" id="{638035A6-20AF-B39D-4F07-673FE5238518}"/>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D34CA340-1BE2-D92E-E0AB-E202B8C427B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18346852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471EC-8457-A70A-334C-FD0E39DE4FB3}"/>
              </a:ext>
            </a:extLst>
          </p:cNvPr>
          <p:cNvSpPr>
            <a:spLocks noGrp="1"/>
          </p:cNvSpPr>
          <p:nvPr>
            <p:ph type="title"/>
          </p:nvPr>
        </p:nvSpPr>
        <p:spPr>
          <a:xfrm>
            <a:off x="623888" y="1282304"/>
            <a:ext cx="7886700" cy="2139553"/>
          </a:xfrm>
        </p:spPr>
        <p:txBody>
          <a:bodyPr anchor="b"/>
          <a:lstStyle>
            <a:lvl1pPr>
              <a:defRPr sz="45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D9CD5DEB-C0DC-F323-252D-FD6A25E7E1F0}"/>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416AA458-CE18-3BD4-1D4D-A8CE49C7EA81}"/>
              </a:ext>
            </a:extLst>
          </p:cNvPr>
          <p:cNvSpPr>
            <a:spLocks noGrp="1"/>
          </p:cNvSpPr>
          <p:nvPr>
            <p:ph type="dt" sz="half" idx="10"/>
          </p:nvPr>
        </p:nvSpPr>
        <p:spPr/>
        <p:txBody>
          <a:bodyPr/>
          <a:lstStyle/>
          <a:p>
            <a:fld id="{EB645218-EC74-428D-857C-B64CDCF8CBD1}" type="datetimeFigureOut">
              <a:rPr lang="zh-CN" altLang="en-US" smtClean="0"/>
              <a:t>2025/2/14</a:t>
            </a:fld>
            <a:endParaRPr lang="zh-CN" altLang="en-US"/>
          </a:p>
        </p:txBody>
      </p:sp>
      <p:sp>
        <p:nvSpPr>
          <p:cNvPr id="5" name="Footer Placeholder 4">
            <a:extLst>
              <a:ext uri="{FF2B5EF4-FFF2-40B4-BE49-F238E27FC236}">
                <a16:creationId xmlns:a16="http://schemas.microsoft.com/office/drawing/2014/main" id="{1B800692-8F2E-89F7-66A5-C0366D17845A}"/>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036D96C7-647B-A509-4B55-F5136D8A130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24028010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EC925-9F90-70CC-C045-15961C087DB2}"/>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6DE64DCC-7B27-6853-EBD2-303019447877}"/>
              </a:ext>
            </a:extLst>
          </p:cNvPr>
          <p:cNvSpPr>
            <a:spLocks noGrp="1"/>
          </p:cNvSpPr>
          <p:nvPr>
            <p:ph sz="half" idx="1"/>
          </p:nvPr>
        </p:nvSpPr>
        <p:spPr>
          <a:xfrm>
            <a:off x="628650" y="1369219"/>
            <a:ext cx="3886200" cy="3263504"/>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6144D9E0-EA9E-4CD7-578C-AE23F5FE6EF3}"/>
              </a:ext>
            </a:extLst>
          </p:cNvPr>
          <p:cNvSpPr>
            <a:spLocks noGrp="1"/>
          </p:cNvSpPr>
          <p:nvPr>
            <p:ph sz="half" idx="2"/>
          </p:nvPr>
        </p:nvSpPr>
        <p:spPr>
          <a:xfrm>
            <a:off x="4629150" y="1369219"/>
            <a:ext cx="3886200" cy="3263504"/>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884131DC-739D-64BB-875C-D06492F32EAB}"/>
              </a:ext>
            </a:extLst>
          </p:cNvPr>
          <p:cNvSpPr>
            <a:spLocks noGrp="1"/>
          </p:cNvSpPr>
          <p:nvPr>
            <p:ph type="dt" sz="half" idx="10"/>
          </p:nvPr>
        </p:nvSpPr>
        <p:spPr/>
        <p:txBody>
          <a:bodyPr/>
          <a:lstStyle/>
          <a:p>
            <a:fld id="{EB645218-EC74-428D-857C-B64CDCF8CBD1}" type="datetimeFigureOut">
              <a:rPr lang="zh-CN" altLang="en-US" smtClean="0"/>
              <a:t>2025/2/14</a:t>
            </a:fld>
            <a:endParaRPr lang="zh-CN" altLang="en-US"/>
          </a:p>
        </p:txBody>
      </p:sp>
      <p:sp>
        <p:nvSpPr>
          <p:cNvPr id="6" name="Footer Placeholder 5">
            <a:extLst>
              <a:ext uri="{FF2B5EF4-FFF2-40B4-BE49-F238E27FC236}">
                <a16:creationId xmlns:a16="http://schemas.microsoft.com/office/drawing/2014/main" id="{469F890A-5348-298C-6E3C-7B139175061F}"/>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A20FD324-D897-B1E3-B0F5-EE2BFE71B77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91127715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47D8-11B1-B9FB-98B6-1DDDEBB163B9}"/>
              </a:ext>
            </a:extLst>
          </p:cNvPr>
          <p:cNvSpPr>
            <a:spLocks noGrp="1"/>
          </p:cNvSpPr>
          <p:nvPr>
            <p:ph type="title"/>
          </p:nvPr>
        </p:nvSpPr>
        <p:spPr>
          <a:xfrm>
            <a:off x="629841" y="273844"/>
            <a:ext cx="7886700" cy="994172"/>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EF85413F-DC0C-5D89-2761-EB84B67BFF80}"/>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E60C15ED-8B1B-A168-FA90-DA37F4FFFF45}"/>
              </a:ext>
            </a:extLst>
          </p:cNvPr>
          <p:cNvSpPr>
            <a:spLocks noGrp="1"/>
          </p:cNvSpPr>
          <p:nvPr>
            <p:ph sz="half" idx="2"/>
          </p:nvPr>
        </p:nvSpPr>
        <p:spPr>
          <a:xfrm>
            <a:off x="629842" y="1878806"/>
            <a:ext cx="3868340" cy="2763441"/>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74C1EEB1-0D6C-CEE8-9BB5-244475A09C46}"/>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045EAC38-49EE-2A9E-7D31-CA0640F70231}"/>
              </a:ext>
            </a:extLst>
          </p:cNvPr>
          <p:cNvSpPr>
            <a:spLocks noGrp="1"/>
          </p:cNvSpPr>
          <p:nvPr>
            <p:ph sz="quarter" idx="4"/>
          </p:nvPr>
        </p:nvSpPr>
        <p:spPr>
          <a:xfrm>
            <a:off x="4629150" y="1878806"/>
            <a:ext cx="3887391" cy="2763441"/>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B67F64FD-8EF4-8C3C-FD8D-4ACC45F5FD45}"/>
              </a:ext>
            </a:extLst>
          </p:cNvPr>
          <p:cNvSpPr>
            <a:spLocks noGrp="1"/>
          </p:cNvSpPr>
          <p:nvPr>
            <p:ph type="dt" sz="half" idx="10"/>
          </p:nvPr>
        </p:nvSpPr>
        <p:spPr/>
        <p:txBody>
          <a:bodyPr/>
          <a:lstStyle/>
          <a:p>
            <a:fld id="{EB645218-EC74-428D-857C-B64CDCF8CBD1}" type="datetimeFigureOut">
              <a:rPr lang="zh-CN" altLang="en-US" smtClean="0"/>
              <a:t>2025/2/14</a:t>
            </a:fld>
            <a:endParaRPr lang="zh-CN" altLang="en-US"/>
          </a:p>
        </p:txBody>
      </p:sp>
      <p:sp>
        <p:nvSpPr>
          <p:cNvPr id="8" name="Footer Placeholder 7">
            <a:extLst>
              <a:ext uri="{FF2B5EF4-FFF2-40B4-BE49-F238E27FC236}">
                <a16:creationId xmlns:a16="http://schemas.microsoft.com/office/drawing/2014/main" id="{272453DD-057F-640A-28AB-132C7B7BC6A3}"/>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B7618179-2404-477F-6F17-95DEBFC16B4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0479648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702F9-81E0-E3FE-4A47-C301135A7959}"/>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F2E84116-18B9-D36B-0BA3-78E6324D07CD}"/>
              </a:ext>
            </a:extLst>
          </p:cNvPr>
          <p:cNvSpPr>
            <a:spLocks noGrp="1"/>
          </p:cNvSpPr>
          <p:nvPr>
            <p:ph type="dt" sz="half" idx="10"/>
          </p:nvPr>
        </p:nvSpPr>
        <p:spPr/>
        <p:txBody>
          <a:bodyPr/>
          <a:lstStyle/>
          <a:p>
            <a:fld id="{EB645218-EC74-428D-857C-B64CDCF8CBD1}" type="datetimeFigureOut">
              <a:rPr lang="zh-CN" altLang="en-US" smtClean="0"/>
              <a:t>2025/2/14</a:t>
            </a:fld>
            <a:endParaRPr lang="zh-CN" altLang="en-US"/>
          </a:p>
        </p:txBody>
      </p:sp>
      <p:sp>
        <p:nvSpPr>
          <p:cNvPr id="4" name="Footer Placeholder 3">
            <a:extLst>
              <a:ext uri="{FF2B5EF4-FFF2-40B4-BE49-F238E27FC236}">
                <a16:creationId xmlns:a16="http://schemas.microsoft.com/office/drawing/2014/main" id="{D494BC21-D425-989E-1154-5B3A1DD01248}"/>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50B63AF3-E634-4579-5E58-BE85E7A768C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84287079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135BF6-9A1F-05E8-BA81-1796B8DA0859}"/>
              </a:ext>
            </a:extLst>
          </p:cNvPr>
          <p:cNvSpPr>
            <a:spLocks noGrp="1"/>
          </p:cNvSpPr>
          <p:nvPr>
            <p:ph type="dt" sz="half" idx="10"/>
          </p:nvPr>
        </p:nvSpPr>
        <p:spPr/>
        <p:txBody>
          <a:bodyPr/>
          <a:lstStyle/>
          <a:p>
            <a:fld id="{EB645218-EC74-428D-857C-B64CDCF8CBD1}" type="datetimeFigureOut">
              <a:rPr lang="zh-CN" altLang="en-US" smtClean="0"/>
              <a:t>2025/2/14</a:t>
            </a:fld>
            <a:endParaRPr lang="zh-CN" altLang="en-US"/>
          </a:p>
        </p:txBody>
      </p:sp>
      <p:sp>
        <p:nvSpPr>
          <p:cNvPr id="3" name="Footer Placeholder 2">
            <a:extLst>
              <a:ext uri="{FF2B5EF4-FFF2-40B4-BE49-F238E27FC236}">
                <a16:creationId xmlns:a16="http://schemas.microsoft.com/office/drawing/2014/main" id="{747EE65C-BFCD-4CEC-32AF-D3876B9C0C58}"/>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082C8F69-61C7-B7BA-A982-459FFB037C0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081537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F234-D982-177D-A39D-8609E7EDBA1F}"/>
              </a:ext>
            </a:extLst>
          </p:cNvPr>
          <p:cNvSpPr>
            <a:spLocks noGrp="1"/>
          </p:cNvSpPr>
          <p:nvPr>
            <p:ph type="title"/>
          </p:nvPr>
        </p:nvSpPr>
        <p:spPr>
          <a:xfrm>
            <a:off x="629841" y="342900"/>
            <a:ext cx="2949178" cy="1200150"/>
          </a:xfrm>
        </p:spPr>
        <p:txBody>
          <a:bodyPr anchor="b"/>
          <a:lstStyle>
            <a:lvl1pPr>
              <a:defRPr sz="24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D6E69738-DCDB-DB8D-9FAA-07617CF10EA5}"/>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23C7A345-C5A5-335B-BDCD-F0A2815FC161}"/>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2C662005-1972-E4DB-46B8-CA60678AC978}"/>
              </a:ext>
            </a:extLst>
          </p:cNvPr>
          <p:cNvSpPr>
            <a:spLocks noGrp="1"/>
          </p:cNvSpPr>
          <p:nvPr>
            <p:ph type="dt" sz="half" idx="10"/>
          </p:nvPr>
        </p:nvSpPr>
        <p:spPr/>
        <p:txBody>
          <a:bodyPr/>
          <a:lstStyle/>
          <a:p>
            <a:fld id="{EB645218-EC74-428D-857C-B64CDCF8CBD1}" type="datetimeFigureOut">
              <a:rPr lang="zh-CN" altLang="en-US" smtClean="0"/>
              <a:t>2025/2/14</a:t>
            </a:fld>
            <a:endParaRPr lang="zh-CN" altLang="en-US"/>
          </a:p>
        </p:txBody>
      </p:sp>
      <p:sp>
        <p:nvSpPr>
          <p:cNvPr id="6" name="Footer Placeholder 5">
            <a:extLst>
              <a:ext uri="{FF2B5EF4-FFF2-40B4-BE49-F238E27FC236}">
                <a16:creationId xmlns:a16="http://schemas.microsoft.com/office/drawing/2014/main" id="{D5675191-6859-D863-F1CB-0398D8C838F2}"/>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0ECD76DD-26B8-B8C9-2366-0E2162BD7FE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21772164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04B2C-7C7B-C082-E111-6697382A0369}"/>
              </a:ext>
            </a:extLst>
          </p:cNvPr>
          <p:cNvSpPr>
            <a:spLocks noGrp="1"/>
          </p:cNvSpPr>
          <p:nvPr>
            <p:ph type="title"/>
          </p:nvPr>
        </p:nvSpPr>
        <p:spPr>
          <a:xfrm>
            <a:off x="629841" y="342900"/>
            <a:ext cx="2949178" cy="1200150"/>
          </a:xfrm>
        </p:spPr>
        <p:txBody>
          <a:bodyPr anchor="b"/>
          <a:lstStyle>
            <a:lvl1pPr>
              <a:defRPr sz="24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1631AD22-8EF9-DC43-E3B7-ABB12663C96D}"/>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Text Placeholder 3">
            <a:extLst>
              <a:ext uri="{FF2B5EF4-FFF2-40B4-BE49-F238E27FC236}">
                <a16:creationId xmlns:a16="http://schemas.microsoft.com/office/drawing/2014/main" id="{4C49B968-4C22-833E-BBB0-4F3D6AA5D7B2}"/>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867E10C7-EA12-D6F2-E243-69EA2B8EFA53}"/>
              </a:ext>
            </a:extLst>
          </p:cNvPr>
          <p:cNvSpPr>
            <a:spLocks noGrp="1"/>
          </p:cNvSpPr>
          <p:nvPr>
            <p:ph type="dt" sz="half" idx="10"/>
          </p:nvPr>
        </p:nvSpPr>
        <p:spPr/>
        <p:txBody>
          <a:bodyPr/>
          <a:lstStyle/>
          <a:p>
            <a:fld id="{EB645218-EC74-428D-857C-B64CDCF8CBD1}" type="datetimeFigureOut">
              <a:rPr lang="zh-CN" altLang="en-US" smtClean="0"/>
              <a:t>2025/2/14</a:t>
            </a:fld>
            <a:endParaRPr lang="zh-CN" altLang="en-US"/>
          </a:p>
        </p:txBody>
      </p:sp>
      <p:sp>
        <p:nvSpPr>
          <p:cNvPr id="6" name="Footer Placeholder 5">
            <a:extLst>
              <a:ext uri="{FF2B5EF4-FFF2-40B4-BE49-F238E27FC236}">
                <a16:creationId xmlns:a16="http://schemas.microsoft.com/office/drawing/2014/main" id="{14225B8F-00AA-92C2-101E-5870F6F9B427}"/>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CC74F0E4-8D4F-E891-F10E-BCEF30A8538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6542727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740D9-5980-28FD-441F-B22E11EFD69D}"/>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59DCA928-0781-4733-F322-8264204F5E3D}"/>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8C01C9CF-B42E-6B27-BA4E-69DDAB9755B3}"/>
              </a:ext>
            </a:extLst>
          </p:cNvPr>
          <p:cNvSpPr>
            <a:spLocks noGrp="1"/>
          </p:cNvSpPr>
          <p:nvPr>
            <p:ph type="dt" sz="half" idx="10"/>
          </p:nvPr>
        </p:nvSpPr>
        <p:spPr/>
        <p:txBody>
          <a:bodyPr/>
          <a:lstStyle/>
          <a:p>
            <a:fld id="{EB645218-EC74-428D-857C-B64CDCF8CBD1}" type="datetimeFigureOut">
              <a:rPr lang="zh-CN" altLang="en-US" smtClean="0"/>
              <a:t>2025/2/14</a:t>
            </a:fld>
            <a:endParaRPr lang="zh-CN" altLang="en-US"/>
          </a:p>
        </p:txBody>
      </p:sp>
      <p:sp>
        <p:nvSpPr>
          <p:cNvPr id="5" name="Footer Placeholder 4">
            <a:extLst>
              <a:ext uri="{FF2B5EF4-FFF2-40B4-BE49-F238E27FC236}">
                <a16:creationId xmlns:a16="http://schemas.microsoft.com/office/drawing/2014/main" id="{1FB98A2F-D170-14DD-74DB-BB6D8B2EB6A4}"/>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2450CAE6-1718-39A1-66DB-3C34CCF3D15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64616974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E8BFE7-AC9C-B332-FBF9-BDA2E6F4C327}"/>
              </a:ext>
            </a:extLst>
          </p:cNvPr>
          <p:cNvSpPr>
            <a:spLocks noGrp="1"/>
          </p:cNvSpPr>
          <p:nvPr>
            <p:ph type="title" orient="vert"/>
          </p:nvPr>
        </p:nvSpPr>
        <p:spPr>
          <a:xfrm>
            <a:off x="6543675" y="273844"/>
            <a:ext cx="1971675" cy="4358879"/>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97C32BC8-D1CE-DC92-0556-934574720CE7}"/>
              </a:ext>
            </a:extLst>
          </p:cNvPr>
          <p:cNvSpPr>
            <a:spLocks noGrp="1"/>
          </p:cNvSpPr>
          <p:nvPr>
            <p:ph type="body" orient="vert" idx="1"/>
          </p:nvPr>
        </p:nvSpPr>
        <p:spPr>
          <a:xfrm>
            <a:off x="628650" y="273844"/>
            <a:ext cx="5800725" cy="4358879"/>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AD22CBC6-3968-B3B9-4B9F-C331CA7BAFD0}"/>
              </a:ext>
            </a:extLst>
          </p:cNvPr>
          <p:cNvSpPr>
            <a:spLocks noGrp="1"/>
          </p:cNvSpPr>
          <p:nvPr>
            <p:ph type="dt" sz="half" idx="10"/>
          </p:nvPr>
        </p:nvSpPr>
        <p:spPr/>
        <p:txBody>
          <a:bodyPr/>
          <a:lstStyle/>
          <a:p>
            <a:fld id="{EB645218-EC74-428D-857C-B64CDCF8CBD1}" type="datetimeFigureOut">
              <a:rPr lang="zh-CN" altLang="en-US" smtClean="0"/>
              <a:t>2025/2/14</a:t>
            </a:fld>
            <a:endParaRPr lang="zh-CN" altLang="en-US"/>
          </a:p>
        </p:txBody>
      </p:sp>
      <p:sp>
        <p:nvSpPr>
          <p:cNvPr id="5" name="Footer Placeholder 4">
            <a:extLst>
              <a:ext uri="{FF2B5EF4-FFF2-40B4-BE49-F238E27FC236}">
                <a16:creationId xmlns:a16="http://schemas.microsoft.com/office/drawing/2014/main" id="{C64F1B37-F269-9F31-2126-ABCD3BC54FBD}"/>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799988F4-EDDD-93BF-F240-CC4D3B584B0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9625223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397E17-0D2A-6042-58FE-8D44DB17B936}"/>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A26D77C3-9F7D-8442-C844-921C957BEE66}"/>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BF7462BC-9214-D72D-EA5D-2EE968B0F94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EB645218-EC74-428D-857C-B64CDCF8CBD1}" type="datetimeFigureOut">
              <a:rPr lang="zh-CN" altLang="en-US" smtClean="0"/>
              <a:t>2025/2/14</a:t>
            </a:fld>
            <a:endParaRPr lang="zh-CN" altLang="en-US"/>
          </a:p>
        </p:txBody>
      </p:sp>
      <p:sp>
        <p:nvSpPr>
          <p:cNvPr id="5" name="Footer Placeholder 4">
            <a:extLst>
              <a:ext uri="{FF2B5EF4-FFF2-40B4-BE49-F238E27FC236}">
                <a16:creationId xmlns:a16="http://schemas.microsoft.com/office/drawing/2014/main" id="{7B730852-D152-03E2-3F7F-5EAB5BCA9EE1}"/>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zh-CN" altLang="en-US"/>
          </a:p>
        </p:txBody>
      </p:sp>
      <p:sp>
        <p:nvSpPr>
          <p:cNvPr id="6" name="Slide Number Placeholder 5">
            <a:extLst>
              <a:ext uri="{FF2B5EF4-FFF2-40B4-BE49-F238E27FC236}">
                <a16:creationId xmlns:a16="http://schemas.microsoft.com/office/drawing/2014/main" id="{8B99661E-496D-944E-B2E2-F5A4793AF96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202028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grpSp>
        <p:nvGrpSpPr>
          <p:cNvPr id="54" name="Google Shape;54;p13"/>
          <p:cNvGrpSpPr/>
          <p:nvPr/>
        </p:nvGrpSpPr>
        <p:grpSpPr>
          <a:xfrm>
            <a:off x="4493231" y="1088670"/>
            <a:ext cx="4207415" cy="2966160"/>
            <a:chOff x="2523825" y="1354400"/>
            <a:chExt cx="4476450" cy="3155825"/>
          </a:xfrm>
        </p:grpSpPr>
        <p:sp>
          <p:nvSpPr>
            <p:cNvPr id="55" name="Google Shape;55;p13"/>
            <p:cNvSpPr/>
            <p:nvPr/>
          </p:nvSpPr>
          <p:spPr>
            <a:xfrm>
              <a:off x="5135725" y="2136600"/>
              <a:ext cx="424400" cy="668250"/>
            </a:xfrm>
            <a:custGeom>
              <a:avLst/>
              <a:gdLst/>
              <a:ahLst/>
              <a:cxnLst/>
              <a:rect l="l" t="t" r="r" b="b"/>
              <a:pathLst>
                <a:path w="16976" h="26730" extrusionOk="0">
                  <a:moveTo>
                    <a:pt x="159" y="1"/>
                  </a:moveTo>
                  <a:cubicBezTo>
                    <a:pt x="96" y="1"/>
                    <a:pt x="1" y="64"/>
                    <a:pt x="1" y="159"/>
                  </a:cubicBezTo>
                  <a:lnTo>
                    <a:pt x="1" y="16500"/>
                  </a:lnTo>
                  <a:cubicBezTo>
                    <a:pt x="1" y="16564"/>
                    <a:pt x="33" y="16595"/>
                    <a:pt x="64" y="16627"/>
                  </a:cubicBezTo>
                  <a:lnTo>
                    <a:pt x="10103" y="26698"/>
                  </a:lnTo>
                  <a:cubicBezTo>
                    <a:pt x="10135" y="26730"/>
                    <a:pt x="10198" y="26730"/>
                    <a:pt x="10230" y="26730"/>
                  </a:cubicBezTo>
                  <a:lnTo>
                    <a:pt x="16817" y="26730"/>
                  </a:lnTo>
                  <a:cubicBezTo>
                    <a:pt x="16912" y="26730"/>
                    <a:pt x="16975" y="26666"/>
                    <a:pt x="16975" y="26571"/>
                  </a:cubicBezTo>
                  <a:cubicBezTo>
                    <a:pt x="16975" y="26476"/>
                    <a:pt x="16880" y="26413"/>
                    <a:pt x="16817" y="26413"/>
                  </a:cubicBezTo>
                  <a:lnTo>
                    <a:pt x="10293" y="26413"/>
                  </a:lnTo>
                  <a:lnTo>
                    <a:pt x="349" y="16437"/>
                  </a:lnTo>
                  <a:lnTo>
                    <a:pt x="349" y="159"/>
                  </a:lnTo>
                  <a:cubicBezTo>
                    <a:pt x="349" y="64"/>
                    <a:pt x="254" y="1"/>
                    <a:pt x="159"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3"/>
            <p:cNvSpPr/>
            <p:nvPr/>
          </p:nvSpPr>
          <p:spPr>
            <a:xfrm>
              <a:off x="5908450" y="1686925"/>
              <a:ext cx="424400" cy="544725"/>
            </a:xfrm>
            <a:custGeom>
              <a:avLst/>
              <a:gdLst/>
              <a:ahLst/>
              <a:cxnLst/>
              <a:rect l="l" t="t" r="r" b="b"/>
              <a:pathLst>
                <a:path w="16976" h="21789" extrusionOk="0">
                  <a:moveTo>
                    <a:pt x="16817" y="0"/>
                  </a:moveTo>
                  <a:cubicBezTo>
                    <a:pt x="16722" y="0"/>
                    <a:pt x="16627" y="63"/>
                    <a:pt x="16627" y="158"/>
                  </a:cubicBezTo>
                  <a:lnTo>
                    <a:pt x="16627" y="11496"/>
                  </a:lnTo>
                  <a:lnTo>
                    <a:pt x="6683" y="21440"/>
                  </a:lnTo>
                  <a:lnTo>
                    <a:pt x="191" y="21440"/>
                  </a:lnTo>
                  <a:cubicBezTo>
                    <a:pt x="96" y="21440"/>
                    <a:pt x="1" y="21535"/>
                    <a:pt x="1" y="21598"/>
                  </a:cubicBezTo>
                  <a:cubicBezTo>
                    <a:pt x="1" y="21693"/>
                    <a:pt x="64" y="21788"/>
                    <a:pt x="159" y="21788"/>
                  </a:cubicBezTo>
                  <a:lnTo>
                    <a:pt x="6746" y="21788"/>
                  </a:lnTo>
                  <a:cubicBezTo>
                    <a:pt x="6778" y="21788"/>
                    <a:pt x="6841" y="21757"/>
                    <a:pt x="6873" y="21725"/>
                  </a:cubicBezTo>
                  <a:lnTo>
                    <a:pt x="16912" y="11686"/>
                  </a:lnTo>
                  <a:cubicBezTo>
                    <a:pt x="16944" y="11654"/>
                    <a:pt x="16975" y="11591"/>
                    <a:pt x="16975" y="11559"/>
                  </a:cubicBezTo>
                  <a:lnTo>
                    <a:pt x="16975" y="158"/>
                  </a:lnTo>
                  <a:cubicBezTo>
                    <a:pt x="16975" y="63"/>
                    <a:pt x="16880" y="0"/>
                    <a:pt x="16817"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3"/>
            <p:cNvSpPr/>
            <p:nvPr/>
          </p:nvSpPr>
          <p:spPr>
            <a:xfrm>
              <a:off x="5649575" y="1566175"/>
              <a:ext cx="265250" cy="530875"/>
            </a:xfrm>
            <a:custGeom>
              <a:avLst/>
              <a:gdLst/>
              <a:ahLst/>
              <a:cxnLst/>
              <a:rect l="l" t="t" r="r" b="b"/>
              <a:pathLst>
                <a:path w="10610" h="21235" extrusionOk="0">
                  <a:moveTo>
                    <a:pt x="174" y="1"/>
                  </a:moveTo>
                  <a:cubicBezTo>
                    <a:pt x="135" y="1"/>
                    <a:pt x="95" y="16"/>
                    <a:pt x="63" y="48"/>
                  </a:cubicBezTo>
                  <a:cubicBezTo>
                    <a:pt x="0" y="111"/>
                    <a:pt x="0" y="206"/>
                    <a:pt x="63" y="270"/>
                  </a:cubicBezTo>
                  <a:lnTo>
                    <a:pt x="10293" y="10499"/>
                  </a:lnTo>
                  <a:lnTo>
                    <a:pt x="10293" y="21076"/>
                  </a:lnTo>
                  <a:cubicBezTo>
                    <a:pt x="10293" y="21171"/>
                    <a:pt x="10356" y="21235"/>
                    <a:pt x="10451" y="21235"/>
                  </a:cubicBezTo>
                  <a:cubicBezTo>
                    <a:pt x="10546" y="21235"/>
                    <a:pt x="10609" y="21171"/>
                    <a:pt x="10609" y="21076"/>
                  </a:cubicBezTo>
                  <a:lnTo>
                    <a:pt x="10609" y="10435"/>
                  </a:lnTo>
                  <a:cubicBezTo>
                    <a:pt x="10609" y="10404"/>
                    <a:pt x="10609" y="10340"/>
                    <a:pt x="10578" y="10309"/>
                  </a:cubicBezTo>
                  <a:lnTo>
                    <a:pt x="285" y="48"/>
                  </a:lnTo>
                  <a:cubicBezTo>
                    <a:pt x="253" y="16"/>
                    <a:pt x="214" y="1"/>
                    <a:pt x="174"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3"/>
            <p:cNvSpPr/>
            <p:nvPr/>
          </p:nvSpPr>
          <p:spPr>
            <a:xfrm>
              <a:off x="5423925" y="1354400"/>
              <a:ext cx="266825" cy="266825"/>
            </a:xfrm>
            <a:custGeom>
              <a:avLst/>
              <a:gdLst/>
              <a:ahLst/>
              <a:cxnLst/>
              <a:rect l="l" t="t" r="r" b="b"/>
              <a:pathLst>
                <a:path w="10673" h="10673" extrusionOk="0">
                  <a:moveTo>
                    <a:pt x="5352" y="317"/>
                  </a:moveTo>
                  <a:cubicBezTo>
                    <a:pt x="8108" y="317"/>
                    <a:pt x="10356" y="2565"/>
                    <a:pt x="10356" y="5320"/>
                  </a:cubicBezTo>
                  <a:cubicBezTo>
                    <a:pt x="10356" y="8076"/>
                    <a:pt x="8108" y="10324"/>
                    <a:pt x="5352" y="10324"/>
                  </a:cubicBezTo>
                  <a:cubicBezTo>
                    <a:pt x="2597" y="10324"/>
                    <a:pt x="349" y="8076"/>
                    <a:pt x="349" y="5320"/>
                  </a:cubicBezTo>
                  <a:cubicBezTo>
                    <a:pt x="349" y="2565"/>
                    <a:pt x="2597" y="317"/>
                    <a:pt x="5352" y="317"/>
                  </a:cubicBezTo>
                  <a:close/>
                  <a:moveTo>
                    <a:pt x="5352" y="0"/>
                  </a:moveTo>
                  <a:cubicBezTo>
                    <a:pt x="2407" y="0"/>
                    <a:pt x="0" y="2375"/>
                    <a:pt x="0" y="5320"/>
                  </a:cubicBezTo>
                  <a:cubicBezTo>
                    <a:pt x="0" y="8266"/>
                    <a:pt x="2407" y="10673"/>
                    <a:pt x="5352" y="10673"/>
                  </a:cubicBezTo>
                  <a:cubicBezTo>
                    <a:pt x="8298" y="10673"/>
                    <a:pt x="10673" y="8266"/>
                    <a:pt x="10673" y="5320"/>
                  </a:cubicBezTo>
                  <a:cubicBezTo>
                    <a:pt x="10673" y="2375"/>
                    <a:pt x="8298" y="0"/>
                    <a:pt x="5352"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3"/>
            <p:cNvSpPr/>
            <p:nvPr/>
          </p:nvSpPr>
          <p:spPr>
            <a:xfrm>
              <a:off x="5454000" y="1392975"/>
              <a:ext cx="206675" cy="188875"/>
            </a:xfrm>
            <a:custGeom>
              <a:avLst/>
              <a:gdLst/>
              <a:ahLst/>
              <a:cxnLst/>
              <a:rect l="l" t="t" r="r" b="b"/>
              <a:pathLst>
                <a:path w="8267" h="7555" extrusionOk="0">
                  <a:moveTo>
                    <a:pt x="4134" y="1"/>
                  </a:moveTo>
                  <a:cubicBezTo>
                    <a:pt x="3168" y="1"/>
                    <a:pt x="2202" y="373"/>
                    <a:pt x="1458" y="1117"/>
                  </a:cubicBezTo>
                  <a:cubicBezTo>
                    <a:pt x="1" y="2574"/>
                    <a:pt x="1" y="4981"/>
                    <a:pt x="1458" y="6438"/>
                  </a:cubicBezTo>
                  <a:cubicBezTo>
                    <a:pt x="2202" y="7182"/>
                    <a:pt x="3168" y="7554"/>
                    <a:pt x="4134" y="7554"/>
                  </a:cubicBezTo>
                  <a:cubicBezTo>
                    <a:pt x="5100" y="7554"/>
                    <a:pt x="6065" y="7182"/>
                    <a:pt x="6810" y="6438"/>
                  </a:cubicBezTo>
                  <a:cubicBezTo>
                    <a:pt x="8266" y="4981"/>
                    <a:pt x="8266" y="2574"/>
                    <a:pt x="6810" y="1117"/>
                  </a:cubicBezTo>
                  <a:cubicBezTo>
                    <a:pt x="6065" y="373"/>
                    <a:pt x="5100" y="1"/>
                    <a:pt x="4134"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3"/>
            <p:cNvSpPr/>
            <p:nvPr/>
          </p:nvSpPr>
          <p:spPr>
            <a:xfrm>
              <a:off x="2750250" y="4349475"/>
              <a:ext cx="4052875" cy="160750"/>
            </a:xfrm>
            <a:custGeom>
              <a:avLst/>
              <a:gdLst/>
              <a:ahLst/>
              <a:cxnLst/>
              <a:rect l="l" t="t" r="r" b="b"/>
              <a:pathLst>
                <a:path w="162115" h="6430" extrusionOk="0">
                  <a:moveTo>
                    <a:pt x="81074" y="1"/>
                  </a:moveTo>
                  <a:cubicBezTo>
                    <a:pt x="36294" y="1"/>
                    <a:pt x="1" y="1426"/>
                    <a:pt x="1" y="3199"/>
                  </a:cubicBezTo>
                  <a:cubicBezTo>
                    <a:pt x="1" y="5004"/>
                    <a:pt x="36294" y="6429"/>
                    <a:pt x="81074" y="6429"/>
                  </a:cubicBezTo>
                  <a:cubicBezTo>
                    <a:pt x="125822" y="6429"/>
                    <a:pt x="162115" y="5004"/>
                    <a:pt x="162115" y="3199"/>
                  </a:cubicBezTo>
                  <a:cubicBezTo>
                    <a:pt x="162115" y="1426"/>
                    <a:pt x="125822" y="1"/>
                    <a:pt x="81074"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3"/>
            <p:cNvSpPr/>
            <p:nvPr/>
          </p:nvSpPr>
          <p:spPr>
            <a:xfrm>
              <a:off x="2523825" y="3132600"/>
              <a:ext cx="443400" cy="216175"/>
            </a:xfrm>
            <a:custGeom>
              <a:avLst/>
              <a:gdLst/>
              <a:ahLst/>
              <a:cxnLst/>
              <a:rect l="l" t="t" r="r" b="b"/>
              <a:pathLst>
                <a:path w="17736" h="8647" extrusionOk="0">
                  <a:moveTo>
                    <a:pt x="2756" y="0"/>
                  </a:moveTo>
                  <a:cubicBezTo>
                    <a:pt x="1236" y="0"/>
                    <a:pt x="1" y="1236"/>
                    <a:pt x="1" y="2756"/>
                  </a:cubicBezTo>
                  <a:lnTo>
                    <a:pt x="1" y="5891"/>
                  </a:lnTo>
                  <a:cubicBezTo>
                    <a:pt x="1" y="7411"/>
                    <a:pt x="1236" y="8646"/>
                    <a:pt x="2756" y="8646"/>
                  </a:cubicBezTo>
                  <a:lnTo>
                    <a:pt x="14980" y="8646"/>
                  </a:lnTo>
                  <a:cubicBezTo>
                    <a:pt x="16500" y="8646"/>
                    <a:pt x="17735" y="7411"/>
                    <a:pt x="17735" y="5891"/>
                  </a:cubicBezTo>
                  <a:lnTo>
                    <a:pt x="17735" y="2756"/>
                  </a:lnTo>
                  <a:cubicBezTo>
                    <a:pt x="17735" y="1236"/>
                    <a:pt x="16500" y="0"/>
                    <a:pt x="14980"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3"/>
            <p:cNvSpPr/>
            <p:nvPr/>
          </p:nvSpPr>
          <p:spPr>
            <a:xfrm>
              <a:off x="2632300" y="3202275"/>
              <a:ext cx="124325" cy="24575"/>
            </a:xfrm>
            <a:custGeom>
              <a:avLst/>
              <a:gdLst/>
              <a:ahLst/>
              <a:cxnLst/>
              <a:rect l="l" t="t" r="r" b="b"/>
              <a:pathLst>
                <a:path w="4973" h="983" extrusionOk="0">
                  <a:moveTo>
                    <a:pt x="507" y="0"/>
                  </a:moveTo>
                  <a:cubicBezTo>
                    <a:pt x="222" y="0"/>
                    <a:pt x="0" y="222"/>
                    <a:pt x="0" y="475"/>
                  </a:cubicBezTo>
                  <a:cubicBezTo>
                    <a:pt x="0" y="760"/>
                    <a:pt x="222" y="982"/>
                    <a:pt x="507" y="982"/>
                  </a:cubicBezTo>
                  <a:lnTo>
                    <a:pt x="4466" y="982"/>
                  </a:lnTo>
                  <a:cubicBezTo>
                    <a:pt x="4751" y="982"/>
                    <a:pt x="4972" y="760"/>
                    <a:pt x="4972" y="475"/>
                  </a:cubicBezTo>
                  <a:cubicBezTo>
                    <a:pt x="4972" y="222"/>
                    <a:pt x="4751" y="0"/>
                    <a:pt x="44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3"/>
            <p:cNvSpPr/>
            <p:nvPr/>
          </p:nvSpPr>
          <p:spPr>
            <a:xfrm>
              <a:off x="2788275" y="3202275"/>
              <a:ext cx="68900" cy="24575"/>
            </a:xfrm>
            <a:custGeom>
              <a:avLst/>
              <a:gdLst/>
              <a:ahLst/>
              <a:cxnLst/>
              <a:rect l="l" t="t" r="r" b="b"/>
              <a:pathLst>
                <a:path w="2756" h="983" extrusionOk="0">
                  <a:moveTo>
                    <a:pt x="507" y="0"/>
                  </a:moveTo>
                  <a:cubicBezTo>
                    <a:pt x="222" y="0"/>
                    <a:pt x="0" y="222"/>
                    <a:pt x="0" y="475"/>
                  </a:cubicBezTo>
                  <a:cubicBezTo>
                    <a:pt x="0" y="760"/>
                    <a:pt x="222" y="982"/>
                    <a:pt x="507" y="982"/>
                  </a:cubicBezTo>
                  <a:lnTo>
                    <a:pt x="2249" y="982"/>
                  </a:lnTo>
                  <a:cubicBezTo>
                    <a:pt x="2534" y="982"/>
                    <a:pt x="2755" y="760"/>
                    <a:pt x="2755" y="475"/>
                  </a:cubicBezTo>
                  <a:cubicBezTo>
                    <a:pt x="2755" y="222"/>
                    <a:pt x="2502" y="0"/>
                    <a:pt x="22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3"/>
            <p:cNvSpPr/>
            <p:nvPr/>
          </p:nvSpPr>
          <p:spPr>
            <a:xfrm>
              <a:off x="2703550" y="3253725"/>
              <a:ext cx="153625" cy="25375"/>
            </a:xfrm>
            <a:custGeom>
              <a:avLst/>
              <a:gdLst/>
              <a:ahLst/>
              <a:cxnLst/>
              <a:rect l="l" t="t" r="r" b="b"/>
              <a:pathLst>
                <a:path w="6145" h="1015" extrusionOk="0">
                  <a:moveTo>
                    <a:pt x="507" y="1"/>
                  </a:moveTo>
                  <a:cubicBezTo>
                    <a:pt x="222" y="1"/>
                    <a:pt x="0" y="222"/>
                    <a:pt x="0" y="507"/>
                  </a:cubicBezTo>
                  <a:cubicBezTo>
                    <a:pt x="0" y="793"/>
                    <a:pt x="222" y="1014"/>
                    <a:pt x="507" y="1014"/>
                  </a:cubicBezTo>
                  <a:lnTo>
                    <a:pt x="5638" y="1014"/>
                  </a:lnTo>
                  <a:cubicBezTo>
                    <a:pt x="5923" y="1014"/>
                    <a:pt x="6144" y="793"/>
                    <a:pt x="6113" y="507"/>
                  </a:cubicBezTo>
                  <a:cubicBezTo>
                    <a:pt x="6113" y="222"/>
                    <a:pt x="5891" y="1"/>
                    <a:pt x="56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3"/>
            <p:cNvSpPr/>
            <p:nvPr/>
          </p:nvSpPr>
          <p:spPr>
            <a:xfrm>
              <a:off x="5697075" y="2062200"/>
              <a:ext cx="443375" cy="215375"/>
            </a:xfrm>
            <a:custGeom>
              <a:avLst/>
              <a:gdLst/>
              <a:ahLst/>
              <a:cxnLst/>
              <a:rect l="l" t="t" r="r" b="b"/>
              <a:pathLst>
                <a:path w="17735" h="8615" extrusionOk="0">
                  <a:moveTo>
                    <a:pt x="2724" y="0"/>
                  </a:moveTo>
                  <a:cubicBezTo>
                    <a:pt x="1204" y="0"/>
                    <a:pt x="0" y="1204"/>
                    <a:pt x="0" y="2724"/>
                  </a:cubicBezTo>
                  <a:lnTo>
                    <a:pt x="0" y="5859"/>
                  </a:lnTo>
                  <a:cubicBezTo>
                    <a:pt x="0" y="7379"/>
                    <a:pt x="1204" y="8614"/>
                    <a:pt x="2724" y="8614"/>
                  </a:cubicBezTo>
                  <a:lnTo>
                    <a:pt x="14980" y="8614"/>
                  </a:lnTo>
                  <a:cubicBezTo>
                    <a:pt x="16500" y="8614"/>
                    <a:pt x="17735" y="7379"/>
                    <a:pt x="17735" y="5859"/>
                  </a:cubicBezTo>
                  <a:lnTo>
                    <a:pt x="17735" y="2724"/>
                  </a:lnTo>
                  <a:cubicBezTo>
                    <a:pt x="17735" y="1204"/>
                    <a:pt x="16500" y="0"/>
                    <a:pt x="14980"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p:nvPr/>
          </p:nvSpPr>
          <p:spPr>
            <a:xfrm>
              <a:off x="5754075" y="2127100"/>
              <a:ext cx="99775" cy="25375"/>
            </a:xfrm>
            <a:custGeom>
              <a:avLst/>
              <a:gdLst/>
              <a:ahLst/>
              <a:cxnLst/>
              <a:rect l="l" t="t" r="r" b="b"/>
              <a:pathLst>
                <a:path w="3991" h="1015" extrusionOk="0">
                  <a:moveTo>
                    <a:pt x="507" y="1"/>
                  </a:moveTo>
                  <a:cubicBezTo>
                    <a:pt x="254" y="1"/>
                    <a:pt x="0" y="254"/>
                    <a:pt x="0" y="508"/>
                  </a:cubicBezTo>
                  <a:cubicBezTo>
                    <a:pt x="0" y="793"/>
                    <a:pt x="254" y="1014"/>
                    <a:pt x="507" y="1014"/>
                  </a:cubicBezTo>
                  <a:lnTo>
                    <a:pt x="3516" y="1014"/>
                  </a:lnTo>
                  <a:cubicBezTo>
                    <a:pt x="3769" y="1014"/>
                    <a:pt x="3991" y="793"/>
                    <a:pt x="3991" y="508"/>
                  </a:cubicBezTo>
                  <a:cubicBezTo>
                    <a:pt x="3991" y="254"/>
                    <a:pt x="3769" y="1"/>
                    <a:pt x="35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3"/>
            <p:cNvSpPr/>
            <p:nvPr/>
          </p:nvSpPr>
          <p:spPr>
            <a:xfrm>
              <a:off x="5879175" y="2127100"/>
              <a:ext cx="63350" cy="25375"/>
            </a:xfrm>
            <a:custGeom>
              <a:avLst/>
              <a:gdLst/>
              <a:ahLst/>
              <a:cxnLst/>
              <a:rect l="l" t="t" r="r" b="b"/>
              <a:pathLst>
                <a:path w="2534" h="1015" extrusionOk="0">
                  <a:moveTo>
                    <a:pt x="507" y="1"/>
                  </a:moveTo>
                  <a:cubicBezTo>
                    <a:pt x="222" y="1"/>
                    <a:pt x="0" y="254"/>
                    <a:pt x="0" y="508"/>
                  </a:cubicBezTo>
                  <a:cubicBezTo>
                    <a:pt x="0" y="793"/>
                    <a:pt x="222" y="1014"/>
                    <a:pt x="507" y="1014"/>
                  </a:cubicBezTo>
                  <a:lnTo>
                    <a:pt x="2027" y="1014"/>
                  </a:lnTo>
                  <a:cubicBezTo>
                    <a:pt x="2312" y="1014"/>
                    <a:pt x="2534" y="793"/>
                    <a:pt x="2534" y="508"/>
                  </a:cubicBezTo>
                  <a:cubicBezTo>
                    <a:pt x="2534" y="254"/>
                    <a:pt x="2312" y="1"/>
                    <a:pt x="20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3"/>
            <p:cNvSpPr/>
            <p:nvPr/>
          </p:nvSpPr>
          <p:spPr>
            <a:xfrm>
              <a:off x="6028800" y="2127100"/>
              <a:ext cx="53875" cy="25375"/>
            </a:xfrm>
            <a:custGeom>
              <a:avLst/>
              <a:gdLst/>
              <a:ahLst/>
              <a:cxnLst/>
              <a:rect l="l" t="t" r="r" b="b"/>
              <a:pathLst>
                <a:path w="2155" h="1015" extrusionOk="0">
                  <a:moveTo>
                    <a:pt x="507" y="1"/>
                  </a:moveTo>
                  <a:cubicBezTo>
                    <a:pt x="222" y="1"/>
                    <a:pt x="1" y="254"/>
                    <a:pt x="1" y="508"/>
                  </a:cubicBezTo>
                  <a:cubicBezTo>
                    <a:pt x="1" y="793"/>
                    <a:pt x="222" y="1014"/>
                    <a:pt x="507" y="1014"/>
                  </a:cubicBezTo>
                  <a:lnTo>
                    <a:pt x="1647" y="1014"/>
                  </a:lnTo>
                  <a:cubicBezTo>
                    <a:pt x="1932" y="1014"/>
                    <a:pt x="2154" y="793"/>
                    <a:pt x="2154" y="508"/>
                  </a:cubicBezTo>
                  <a:cubicBezTo>
                    <a:pt x="2154" y="254"/>
                    <a:pt x="1932" y="1"/>
                    <a:pt x="16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3"/>
            <p:cNvSpPr/>
            <p:nvPr/>
          </p:nvSpPr>
          <p:spPr>
            <a:xfrm>
              <a:off x="5879175" y="2186500"/>
              <a:ext cx="136200" cy="25350"/>
            </a:xfrm>
            <a:custGeom>
              <a:avLst/>
              <a:gdLst/>
              <a:ahLst/>
              <a:cxnLst/>
              <a:rect l="l" t="t" r="r" b="b"/>
              <a:pathLst>
                <a:path w="5448" h="1014" extrusionOk="0">
                  <a:moveTo>
                    <a:pt x="507" y="0"/>
                  </a:moveTo>
                  <a:cubicBezTo>
                    <a:pt x="222" y="0"/>
                    <a:pt x="0" y="253"/>
                    <a:pt x="0" y="507"/>
                  </a:cubicBezTo>
                  <a:cubicBezTo>
                    <a:pt x="0" y="792"/>
                    <a:pt x="222" y="1014"/>
                    <a:pt x="507" y="1014"/>
                  </a:cubicBezTo>
                  <a:lnTo>
                    <a:pt x="4972" y="1014"/>
                  </a:lnTo>
                  <a:cubicBezTo>
                    <a:pt x="5226" y="1014"/>
                    <a:pt x="5447" y="792"/>
                    <a:pt x="5447" y="507"/>
                  </a:cubicBezTo>
                  <a:cubicBezTo>
                    <a:pt x="5447" y="253"/>
                    <a:pt x="5226" y="0"/>
                    <a:pt x="49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3"/>
            <p:cNvSpPr/>
            <p:nvPr/>
          </p:nvSpPr>
          <p:spPr>
            <a:xfrm>
              <a:off x="3475475" y="2363050"/>
              <a:ext cx="443400" cy="215375"/>
            </a:xfrm>
            <a:custGeom>
              <a:avLst/>
              <a:gdLst/>
              <a:ahLst/>
              <a:cxnLst/>
              <a:rect l="l" t="t" r="r" b="b"/>
              <a:pathLst>
                <a:path w="17736" h="8615" extrusionOk="0">
                  <a:moveTo>
                    <a:pt x="2756" y="0"/>
                  </a:moveTo>
                  <a:cubicBezTo>
                    <a:pt x="1236" y="0"/>
                    <a:pt x="1" y="1204"/>
                    <a:pt x="1" y="2724"/>
                  </a:cubicBezTo>
                  <a:lnTo>
                    <a:pt x="1" y="5859"/>
                  </a:lnTo>
                  <a:cubicBezTo>
                    <a:pt x="1" y="7379"/>
                    <a:pt x="1236" y="8614"/>
                    <a:pt x="2756" y="8614"/>
                  </a:cubicBezTo>
                  <a:lnTo>
                    <a:pt x="15012" y="8614"/>
                  </a:lnTo>
                  <a:cubicBezTo>
                    <a:pt x="16532" y="8614"/>
                    <a:pt x="17736" y="7379"/>
                    <a:pt x="17736" y="5859"/>
                  </a:cubicBezTo>
                  <a:lnTo>
                    <a:pt x="17736" y="2724"/>
                  </a:lnTo>
                  <a:cubicBezTo>
                    <a:pt x="17736" y="1204"/>
                    <a:pt x="16532" y="0"/>
                    <a:pt x="15012"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3"/>
            <p:cNvSpPr/>
            <p:nvPr/>
          </p:nvSpPr>
          <p:spPr>
            <a:xfrm>
              <a:off x="3568125" y="2419250"/>
              <a:ext cx="64150" cy="25375"/>
            </a:xfrm>
            <a:custGeom>
              <a:avLst/>
              <a:gdLst/>
              <a:ahLst/>
              <a:cxnLst/>
              <a:rect l="l" t="t" r="r" b="b"/>
              <a:pathLst>
                <a:path w="2566" h="1015" extrusionOk="0">
                  <a:moveTo>
                    <a:pt x="507" y="1"/>
                  </a:moveTo>
                  <a:cubicBezTo>
                    <a:pt x="222" y="1"/>
                    <a:pt x="0" y="222"/>
                    <a:pt x="0" y="507"/>
                  </a:cubicBezTo>
                  <a:cubicBezTo>
                    <a:pt x="0" y="792"/>
                    <a:pt x="222" y="1014"/>
                    <a:pt x="507" y="1014"/>
                  </a:cubicBezTo>
                  <a:lnTo>
                    <a:pt x="2059" y="1014"/>
                  </a:lnTo>
                  <a:cubicBezTo>
                    <a:pt x="2344" y="1014"/>
                    <a:pt x="2565" y="792"/>
                    <a:pt x="2565" y="507"/>
                  </a:cubicBezTo>
                  <a:cubicBezTo>
                    <a:pt x="2565" y="222"/>
                    <a:pt x="2344" y="1"/>
                    <a:pt x="20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p:nvPr/>
          </p:nvSpPr>
          <p:spPr>
            <a:xfrm>
              <a:off x="3671050" y="2419250"/>
              <a:ext cx="45925" cy="25375"/>
            </a:xfrm>
            <a:custGeom>
              <a:avLst/>
              <a:gdLst/>
              <a:ahLst/>
              <a:cxnLst/>
              <a:rect l="l" t="t" r="r" b="b"/>
              <a:pathLst>
                <a:path w="1837" h="1015" extrusionOk="0">
                  <a:moveTo>
                    <a:pt x="475" y="1"/>
                  </a:moveTo>
                  <a:cubicBezTo>
                    <a:pt x="222" y="1"/>
                    <a:pt x="0" y="222"/>
                    <a:pt x="0" y="507"/>
                  </a:cubicBezTo>
                  <a:cubicBezTo>
                    <a:pt x="0" y="792"/>
                    <a:pt x="222" y="1014"/>
                    <a:pt x="475" y="1014"/>
                  </a:cubicBezTo>
                  <a:lnTo>
                    <a:pt x="1362" y="1014"/>
                  </a:lnTo>
                  <a:cubicBezTo>
                    <a:pt x="1615" y="1014"/>
                    <a:pt x="1837" y="792"/>
                    <a:pt x="1837" y="507"/>
                  </a:cubicBezTo>
                  <a:cubicBezTo>
                    <a:pt x="1837" y="222"/>
                    <a:pt x="1615" y="1"/>
                    <a:pt x="13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3"/>
            <p:cNvSpPr/>
            <p:nvPr/>
          </p:nvSpPr>
          <p:spPr>
            <a:xfrm>
              <a:off x="3663125" y="2476250"/>
              <a:ext cx="119575" cy="25375"/>
            </a:xfrm>
            <a:custGeom>
              <a:avLst/>
              <a:gdLst/>
              <a:ahLst/>
              <a:cxnLst/>
              <a:rect l="l" t="t" r="r" b="b"/>
              <a:pathLst>
                <a:path w="4783" h="1015" extrusionOk="0">
                  <a:moveTo>
                    <a:pt x="507" y="1"/>
                  </a:moveTo>
                  <a:cubicBezTo>
                    <a:pt x="222" y="1"/>
                    <a:pt x="0" y="223"/>
                    <a:pt x="0" y="508"/>
                  </a:cubicBezTo>
                  <a:cubicBezTo>
                    <a:pt x="0" y="761"/>
                    <a:pt x="222" y="1014"/>
                    <a:pt x="507" y="1014"/>
                  </a:cubicBezTo>
                  <a:lnTo>
                    <a:pt x="4276" y="1014"/>
                  </a:lnTo>
                  <a:cubicBezTo>
                    <a:pt x="4561" y="1014"/>
                    <a:pt x="4782" y="793"/>
                    <a:pt x="4782" y="508"/>
                  </a:cubicBezTo>
                  <a:cubicBezTo>
                    <a:pt x="4782" y="223"/>
                    <a:pt x="4561" y="1"/>
                    <a:pt x="42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3"/>
            <p:cNvSpPr/>
            <p:nvPr/>
          </p:nvSpPr>
          <p:spPr>
            <a:xfrm>
              <a:off x="3815925" y="2476250"/>
              <a:ext cx="52275" cy="25375"/>
            </a:xfrm>
            <a:custGeom>
              <a:avLst/>
              <a:gdLst/>
              <a:ahLst/>
              <a:cxnLst/>
              <a:rect l="l" t="t" r="r" b="b"/>
              <a:pathLst>
                <a:path w="2091" h="1015" extrusionOk="0">
                  <a:moveTo>
                    <a:pt x="476" y="1"/>
                  </a:moveTo>
                  <a:cubicBezTo>
                    <a:pt x="222" y="1"/>
                    <a:pt x="1" y="223"/>
                    <a:pt x="1" y="508"/>
                  </a:cubicBezTo>
                  <a:cubicBezTo>
                    <a:pt x="1" y="761"/>
                    <a:pt x="222" y="1014"/>
                    <a:pt x="476" y="1014"/>
                  </a:cubicBezTo>
                  <a:lnTo>
                    <a:pt x="1584" y="1014"/>
                  </a:lnTo>
                  <a:cubicBezTo>
                    <a:pt x="1869" y="1014"/>
                    <a:pt x="2091" y="793"/>
                    <a:pt x="2091" y="508"/>
                  </a:cubicBezTo>
                  <a:cubicBezTo>
                    <a:pt x="2091" y="223"/>
                    <a:pt x="1869" y="1"/>
                    <a:pt x="15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3"/>
            <p:cNvSpPr/>
            <p:nvPr/>
          </p:nvSpPr>
          <p:spPr>
            <a:xfrm>
              <a:off x="5309925" y="2437475"/>
              <a:ext cx="1383150" cy="1963475"/>
            </a:xfrm>
            <a:custGeom>
              <a:avLst/>
              <a:gdLst/>
              <a:ahLst/>
              <a:cxnLst/>
              <a:rect l="l" t="t" r="r" b="b"/>
              <a:pathLst>
                <a:path w="55326" h="78539" extrusionOk="0">
                  <a:moveTo>
                    <a:pt x="4339" y="0"/>
                  </a:moveTo>
                  <a:cubicBezTo>
                    <a:pt x="1964" y="0"/>
                    <a:pt x="0" y="1932"/>
                    <a:pt x="0" y="4339"/>
                  </a:cubicBezTo>
                  <a:lnTo>
                    <a:pt x="0" y="74169"/>
                  </a:lnTo>
                  <a:cubicBezTo>
                    <a:pt x="0" y="76576"/>
                    <a:pt x="1964" y="78539"/>
                    <a:pt x="4339" y="78539"/>
                  </a:cubicBezTo>
                  <a:lnTo>
                    <a:pt x="50987" y="78539"/>
                  </a:lnTo>
                  <a:cubicBezTo>
                    <a:pt x="53394" y="78539"/>
                    <a:pt x="55326" y="76576"/>
                    <a:pt x="55326" y="74169"/>
                  </a:cubicBezTo>
                  <a:lnTo>
                    <a:pt x="55326" y="4339"/>
                  </a:lnTo>
                  <a:cubicBezTo>
                    <a:pt x="55326" y="1932"/>
                    <a:pt x="53394" y="0"/>
                    <a:pt x="50987"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3"/>
            <p:cNvSpPr/>
            <p:nvPr/>
          </p:nvSpPr>
          <p:spPr>
            <a:xfrm>
              <a:off x="5408875" y="2618775"/>
              <a:ext cx="1170200" cy="1618300"/>
            </a:xfrm>
            <a:custGeom>
              <a:avLst/>
              <a:gdLst/>
              <a:ahLst/>
              <a:cxnLst/>
              <a:rect l="l" t="t" r="r" b="b"/>
              <a:pathLst>
                <a:path w="46808" h="64732" extrusionOk="0">
                  <a:moveTo>
                    <a:pt x="1" y="0"/>
                  </a:moveTo>
                  <a:lnTo>
                    <a:pt x="1" y="64732"/>
                  </a:lnTo>
                  <a:lnTo>
                    <a:pt x="46808" y="64732"/>
                  </a:lnTo>
                  <a:lnTo>
                    <a:pt x="4680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3"/>
            <p:cNvSpPr/>
            <p:nvPr/>
          </p:nvSpPr>
          <p:spPr>
            <a:xfrm>
              <a:off x="5484100" y="2655975"/>
              <a:ext cx="1052225" cy="1524900"/>
            </a:xfrm>
            <a:custGeom>
              <a:avLst/>
              <a:gdLst/>
              <a:ahLst/>
              <a:cxnLst/>
              <a:rect l="l" t="t" r="r" b="b"/>
              <a:pathLst>
                <a:path w="42089" h="60996" extrusionOk="0">
                  <a:moveTo>
                    <a:pt x="41708" y="317"/>
                  </a:moveTo>
                  <a:lnTo>
                    <a:pt x="41708" y="60647"/>
                  </a:lnTo>
                  <a:lnTo>
                    <a:pt x="349" y="60647"/>
                  </a:lnTo>
                  <a:lnTo>
                    <a:pt x="349" y="317"/>
                  </a:lnTo>
                  <a:close/>
                  <a:moveTo>
                    <a:pt x="0" y="1"/>
                  </a:moveTo>
                  <a:lnTo>
                    <a:pt x="0" y="60995"/>
                  </a:lnTo>
                  <a:lnTo>
                    <a:pt x="42088" y="60995"/>
                  </a:lnTo>
                  <a:lnTo>
                    <a:pt x="42088"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3"/>
            <p:cNvSpPr/>
            <p:nvPr/>
          </p:nvSpPr>
          <p:spPr>
            <a:xfrm>
              <a:off x="5488050" y="3919575"/>
              <a:ext cx="1043525" cy="8725"/>
            </a:xfrm>
            <a:custGeom>
              <a:avLst/>
              <a:gdLst/>
              <a:ahLst/>
              <a:cxnLst/>
              <a:rect l="l" t="t" r="r" b="b"/>
              <a:pathLst>
                <a:path w="41741" h="349" extrusionOk="0">
                  <a:moveTo>
                    <a:pt x="1" y="0"/>
                  </a:moveTo>
                  <a:lnTo>
                    <a:pt x="1" y="349"/>
                  </a:lnTo>
                  <a:lnTo>
                    <a:pt x="41740" y="349"/>
                  </a:lnTo>
                  <a:lnTo>
                    <a:pt x="41740"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3"/>
            <p:cNvSpPr/>
            <p:nvPr/>
          </p:nvSpPr>
          <p:spPr>
            <a:xfrm>
              <a:off x="5488050" y="3667000"/>
              <a:ext cx="1043525" cy="7950"/>
            </a:xfrm>
            <a:custGeom>
              <a:avLst/>
              <a:gdLst/>
              <a:ahLst/>
              <a:cxnLst/>
              <a:rect l="l" t="t" r="r" b="b"/>
              <a:pathLst>
                <a:path w="41741" h="318" extrusionOk="0">
                  <a:moveTo>
                    <a:pt x="1" y="1"/>
                  </a:moveTo>
                  <a:lnTo>
                    <a:pt x="1" y="318"/>
                  </a:lnTo>
                  <a:lnTo>
                    <a:pt x="41740" y="318"/>
                  </a:lnTo>
                  <a:lnTo>
                    <a:pt x="41740"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3"/>
            <p:cNvSpPr/>
            <p:nvPr/>
          </p:nvSpPr>
          <p:spPr>
            <a:xfrm>
              <a:off x="5488050" y="3413650"/>
              <a:ext cx="1043525" cy="8750"/>
            </a:xfrm>
            <a:custGeom>
              <a:avLst/>
              <a:gdLst/>
              <a:ahLst/>
              <a:cxnLst/>
              <a:rect l="l" t="t" r="r" b="b"/>
              <a:pathLst>
                <a:path w="41741" h="350" extrusionOk="0">
                  <a:moveTo>
                    <a:pt x="1" y="1"/>
                  </a:moveTo>
                  <a:lnTo>
                    <a:pt x="1" y="349"/>
                  </a:lnTo>
                  <a:lnTo>
                    <a:pt x="41740" y="349"/>
                  </a:lnTo>
                  <a:lnTo>
                    <a:pt x="41740"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3"/>
            <p:cNvSpPr/>
            <p:nvPr/>
          </p:nvSpPr>
          <p:spPr>
            <a:xfrm>
              <a:off x="5488050" y="3161100"/>
              <a:ext cx="1043525" cy="8725"/>
            </a:xfrm>
            <a:custGeom>
              <a:avLst/>
              <a:gdLst/>
              <a:ahLst/>
              <a:cxnLst/>
              <a:rect l="l" t="t" r="r" b="b"/>
              <a:pathLst>
                <a:path w="41741" h="349" extrusionOk="0">
                  <a:moveTo>
                    <a:pt x="1" y="1"/>
                  </a:moveTo>
                  <a:lnTo>
                    <a:pt x="1" y="349"/>
                  </a:lnTo>
                  <a:lnTo>
                    <a:pt x="41740" y="349"/>
                  </a:lnTo>
                  <a:lnTo>
                    <a:pt x="41740"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3"/>
            <p:cNvSpPr/>
            <p:nvPr/>
          </p:nvSpPr>
          <p:spPr>
            <a:xfrm>
              <a:off x="5488050" y="2908550"/>
              <a:ext cx="1043525" cy="7925"/>
            </a:xfrm>
            <a:custGeom>
              <a:avLst/>
              <a:gdLst/>
              <a:ahLst/>
              <a:cxnLst/>
              <a:rect l="l" t="t" r="r" b="b"/>
              <a:pathLst>
                <a:path w="41741" h="317" extrusionOk="0">
                  <a:moveTo>
                    <a:pt x="1" y="0"/>
                  </a:moveTo>
                  <a:lnTo>
                    <a:pt x="1" y="317"/>
                  </a:lnTo>
                  <a:lnTo>
                    <a:pt x="41740" y="317"/>
                  </a:lnTo>
                  <a:lnTo>
                    <a:pt x="41740"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3"/>
            <p:cNvSpPr/>
            <p:nvPr/>
          </p:nvSpPr>
          <p:spPr>
            <a:xfrm>
              <a:off x="6353400" y="2659950"/>
              <a:ext cx="8750" cy="1516950"/>
            </a:xfrm>
            <a:custGeom>
              <a:avLst/>
              <a:gdLst/>
              <a:ahLst/>
              <a:cxnLst/>
              <a:rect l="l" t="t" r="r" b="b"/>
              <a:pathLst>
                <a:path w="350" h="60678" extrusionOk="0">
                  <a:moveTo>
                    <a:pt x="1" y="0"/>
                  </a:moveTo>
                  <a:lnTo>
                    <a:pt x="1" y="60678"/>
                  </a:lnTo>
                  <a:lnTo>
                    <a:pt x="349" y="60678"/>
                  </a:lnTo>
                  <a:lnTo>
                    <a:pt x="349"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3"/>
            <p:cNvSpPr/>
            <p:nvPr/>
          </p:nvSpPr>
          <p:spPr>
            <a:xfrm>
              <a:off x="6179225" y="2659950"/>
              <a:ext cx="9525" cy="1516950"/>
            </a:xfrm>
            <a:custGeom>
              <a:avLst/>
              <a:gdLst/>
              <a:ahLst/>
              <a:cxnLst/>
              <a:rect l="l" t="t" r="r" b="b"/>
              <a:pathLst>
                <a:path w="381" h="60678" extrusionOk="0">
                  <a:moveTo>
                    <a:pt x="1" y="0"/>
                  </a:moveTo>
                  <a:lnTo>
                    <a:pt x="1" y="60678"/>
                  </a:lnTo>
                  <a:lnTo>
                    <a:pt x="381" y="60678"/>
                  </a:lnTo>
                  <a:lnTo>
                    <a:pt x="381"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p:nvPr/>
          </p:nvSpPr>
          <p:spPr>
            <a:xfrm>
              <a:off x="6005850" y="2659950"/>
              <a:ext cx="8725" cy="1516950"/>
            </a:xfrm>
            <a:custGeom>
              <a:avLst/>
              <a:gdLst/>
              <a:ahLst/>
              <a:cxnLst/>
              <a:rect l="l" t="t" r="r" b="b"/>
              <a:pathLst>
                <a:path w="349" h="60678" extrusionOk="0">
                  <a:moveTo>
                    <a:pt x="0" y="0"/>
                  </a:moveTo>
                  <a:lnTo>
                    <a:pt x="0" y="60678"/>
                  </a:lnTo>
                  <a:lnTo>
                    <a:pt x="349" y="60678"/>
                  </a:lnTo>
                  <a:lnTo>
                    <a:pt x="349"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3"/>
            <p:cNvSpPr/>
            <p:nvPr/>
          </p:nvSpPr>
          <p:spPr>
            <a:xfrm>
              <a:off x="5831650" y="2659950"/>
              <a:ext cx="8750" cy="1516950"/>
            </a:xfrm>
            <a:custGeom>
              <a:avLst/>
              <a:gdLst/>
              <a:ahLst/>
              <a:cxnLst/>
              <a:rect l="l" t="t" r="r" b="b"/>
              <a:pathLst>
                <a:path w="350" h="60678" extrusionOk="0">
                  <a:moveTo>
                    <a:pt x="1" y="0"/>
                  </a:moveTo>
                  <a:lnTo>
                    <a:pt x="1" y="60678"/>
                  </a:lnTo>
                  <a:lnTo>
                    <a:pt x="349" y="60678"/>
                  </a:lnTo>
                  <a:lnTo>
                    <a:pt x="349"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3"/>
            <p:cNvSpPr/>
            <p:nvPr/>
          </p:nvSpPr>
          <p:spPr>
            <a:xfrm>
              <a:off x="5657475" y="2659950"/>
              <a:ext cx="9525" cy="1516950"/>
            </a:xfrm>
            <a:custGeom>
              <a:avLst/>
              <a:gdLst/>
              <a:ahLst/>
              <a:cxnLst/>
              <a:rect l="l" t="t" r="r" b="b"/>
              <a:pathLst>
                <a:path w="381" h="60678" extrusionOk="0">
                  <a:moveTo>
                    <a:pt x="1" y="0"/>
                  </a:moveTo>
                  <a:lnTo>
                    <a:pt x="1" y="60678"/>
                  </a:lnTo>
                  <a:lnTo>
                    <a:pt x="381" y="60678"/>
                  </a:lnTo>
                  <a:lnTo>
                    <a:pt x="381"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3"/>
            <p:cNvSpPr/>
            <p:nvPr/>
          </p:nvSpPr>
          <p:spPr>
            <a:xfrm>
              <a:off x="5665400" y="3611600"/>
              <a:ext cx="104525" cy="212200"/>
            </a:xfrm>
            <a:custGeom>
              <a:avLst/>
              <a:gdLst/>
              <a:ahLst/>
              <a:cxnLst/>
              <a:rect l="l" t="t" r="r" b="b"/>
              <a:pathLst>
                <a:path w="4181" h="8488" extrusionOk="0">
                  <a:moveTo>
                    <a:pt x="0" y="0"/>
                  </a:moveTo>
                  <a:lnTo>
                    <a:pt x="0" y="8487"/>
                  </a:lnTo>
                  <a:lnTo>
                    <a:pt x="4181" y="8487"/>
                  </a:lnTo>
                  <a:lnTo>
                    <a:pt x="4181" y="0"/>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3"/>
            <p:cNvSpPr/>
            <p:nvPr/>
          </p:nvSpPr>
          <p:spPr>
            <a:xfrm>
              <a:off x="5814250" y="3442950"/>
              <a:ext cx="104525" cy="380850"/>
            </a:xfrm>
            <a:custGeom>
              <a:avLst/>
              <a:gdLst/>
              <a:ahLst/>
              <a:cxnLst/>
              <a:rect l="l" t="t" r="r" b="b"/>
              <a:pathLst>
                <a:path w="4181" h="15234" extrusionOk="0">
                  <a:moveTo>
                    <a:pt x="0" y="1"/>
                  </a:moveTo>
                  <a:lnTo>
                    <a:pt x="0" y="15233"/>
                  </a:lnTo>
                  <a:lnTo>
                    <a:pt x="4181" y="15233"/>
                  </a:lnTo>
                  <a:lnTo>
                    <a:pt x="4181" y="1"/>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3"/>
            <p:cNvSpPr/>
            <p:nvPr/>
          </p:nvSpPr>
          <p:spPr>
            <a:xfrm>
              <a:off x="5962300" y="3735900"/>
              <a:ext cx="104525" cy="87900"/>
            </a:xfrm>
            <a:custGeom>
              <a:avLst/>
              <a:gdLst/>
              <a:ahLst/>
              <a:cxnLst/>
              <a:rect l="l" t="t" r="r" b="b"/>
              <a:pathLst>
                <a:path w="4181" h="3516" extrusionOk="0">
                  <a:moveTo>
                    <a:pt x="0" y="0"/>
                  </a:moveTo>
                  <a:lnTo>
                    <a:pt x="0" y="3515"/>
                  </a:lnTo>
                  <a:lnTo>
                    <a:pt x="4181" y="3515"/>
                  </a:lnTo>
                  <a:lnTo>
                    <a:pt x="4181" y="0"/>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3"/>
            <p:cNvSpPr/>
            <p:nvPr/>
          </p:nvSpPr>
          <p:spPr>
            <a:xfrm>
              <a:off x="6110350" y="3544300"/>
              <a:ext cx="104525" cy="279500"/>
            </a:xfrm>
            <a:custGeom>
              <a:avLst/>
              <a:gdLst/>
              <a:ahLst/>
              <a:cxnLst/>
              <a:rect l="l" t="t" r="r" b="b"/>
              <a:pathLst>
                <a:path w="4181" h="11180" extrusionOk="0">
                  <a:moveTo>
                    <a:pt x="0" y="0"/>
                  </a:moveTo>
                  <a:lnTo>
                    <a:pt x="0" y="11179"/>
                  </a:lnTo>
                  <a:lnTo>
                    <a:pt x="4181" y="11179"/>
                  </a:lnTo>
                  <a:lnTo>
                    <a:pt x="4181" y="0"/>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3"/>
            <p:cNvSpPr/>
            <p:nvPr/>
          </p:nvSpPr>
          <p:spPr>
            <a:xfrm>
              <a:off x="6259200" y="3648800"/>
              <a:ext cx="104525" cy="175000"/>
            </a:xfrm>
            <a:custGeom>
              <a:avLst/>
              <a:gdLst/>
              <a:ahLst/>
              <a:cxnLst/>
              <a:rect l="l" t="t" r="r" b="b"/>
              <a:pathLst>
                <a:path w="4181" h="7000" extrusionOk="0">
                  <a:moveTo>
                    <a:pt x="0" y="1"/>
                  </a:moveTo>
                  <a:lnTo>
                    <a:pt x="0" y="6999"/>
                  </a:lnTo>
                  <a:lnTo>
                    <a:pt x="4181" y="6999"/>
                  </a:lnTo>
                  <a:lnTo>
                    <a:pt x="4181" y="1"/>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3"/>
            <p:cNvSpPr/>
            <p:nvPr/>
          </p:nvSpPr>
          <p:spPr>
            <a:xfrm>
              <a:off x="6089775" y="3891850"/>
              <a:ext cx="138575" cy="24575"/>
            </a:xfrm>
            <a:custGeom>
              <a:avLst/>
              <a:gdLst/>
              <a:ahLst/>
              <a:cxnLst/>
              <a:rect l="l" t="t" r="r" b="b"/>
              <a:pathLst>
                <a:path w="5543" h="983" extrusionOk="0">
                  <a:moveTo>
                    <a:pt x="507" y="1"/>
                  </a:moveTo>
                  <a:cubicBezTo>
                    <a:pt x="222" y="1"/>
                    <a:pt x="0" y="223"/>
                    <a:pt x="0" y="508"/>
                  </a:cubicBezTo>
                  <a:cubicBezTo>
                    <a:pt x="0" y="761"/>
                    <a:pt x="222" y="983"/>
                    <a:pt x="507" y="983"/>
                  </a:cubicBezTo>
                  <a:lnTo>
                    <a:pt x="5035" y="983"/>
                  </a:lnTo>
                  <a:cubicBezTo>
                    <a:pt x="5289" y="983"/>
                    <a:pt x="5542" y="761"/>
                    <a:pt x="5542" y="508"/>
                  </a:cubicBezTo>
                  <a:cubicBezTo>
                    <a:pt x="5542" y="223"/>
                    <a:pt x="5289" y="1"/>
                    <a:pt x="503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3"/>
            <p:cNvSpPr/>
            <p:nvPr/>
          </p:nvSpPr>
          <p:spPr>
            <a:xfrm>
              <a:off x="6324125" y="3891850"/>
              <a:ext cx="53050" cy="24575"/>
            </a:xfrm>
            <a:custGeom>
              <a:avLst/>
              <a:gdLst/>
              <a:ahLst/>
              <a:cxnLst/>
              <a:rect l="l" t="t" r="r" b="b"/>
              <a:pathLst>
                <a:path w="2122" h="983" extrusionOk="0">
                  <a:moveTo>
                    <a:pt x="507" y="1"/>
                  </a:moveTo>
                  <a:cubicBezTo>
                    <a:pt x="222" y="1"/>
                    <a:pt x="0" y="223"/>
                    <a:pt x="0" y="508"/>
                  </a:cubicBezTo>
                  <a:cubicBezTo>
                    <a:pt x="0" y="761"/>
                    <a:pt x="222" y="983"/>
                    <a:pt x="507" y="983"/>
                  </a:cubicBezTo>
                  <a:lnTo>
                    <a:pt x="1615" y="983"/>
                  </a:lnTo>
                  <a:cubicBezTo>
                    <a:pt x="1900" y="983"/>
                    <a:pt x="2122" y="761"/>
                    <a:pt x="2122" y="508"/>
                  </a:cubicBezTo>
                  <a:cubicBezTo>
                    <a:pt x="2122" y="223"/>
                    <a:pt x="1900" y="1"/>
                    <a:pt x="161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3"/>
            <p:cNvSpPr/>
            <p:nvPr/>
          </p:nvSpPr>
          <p:spPr>
            <a:xfrm>
              <a:off x="6146775" y="3936200"/>
              <a:ext cx="60200" cy="25350"/>
            </a:xfrm>
            <a:custGeom>
              <a:avLst/>
              <a:gdLst/>
              <a:ahLst/>
              <a:cxnLst/>
              <a:rect l="l" t="t" r="r" b="b"/>
              <a:pathLst>
                <a:path w="2408" h="1014" extrusionOk="0">
                  <a:moveTo>
                    <a:pt x="475" y="0"/>
                  </a:moveTo>
                  <a:cubicBezTo>
                    <a:pt x="222" y="0"/>
                    <a:pt x="0" y="222"/>
                    <a:pt x="0" y="507"/>
                  </a:cubicBezTo>
                  <a:cubicBezTo>
                    <a:pt x="0" y="792"/>
                    <a:pt x="222" y="1014"/>
                    <a:pt x="475" y="1014"/>
                  </a:cubicBezTo>
                  <a:lnTo>
                    <a:pt x="1900" y="1014"/>
                  </a:lnTo>
                  <a:cubicBezTo>
                    <a:pt x="2185" y="1014"/>
                    <a:pt x="2407" y="792"/>
                    <a:pt x="2407" y="507"/>
                  </a:cubicBezTo>
                  <a:cubicBezTo>
                    <a:pt x="2407" y="222"/>
                    <a:pt x="2185" y="0"/>
                    <a:pt x="1900"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3"/>
            <p:cNvSpPr/>
            <p:nvPr/>
          </p:nvSpPr>
          <p:spPr>
            <a:xfrm>
              <a:off x="6243350" y="3936200"/>
              <a:ext cx="106125" cy="25350"/>
            </a:xfrm>
            <a:custGeom>
              <a:avLst/>
              <a:gdLst/>
              <a:ahLst/>
              <a:cxnLst/>
              <a:rect l="l" t="t" r="r" b="b"/>
              <a:pathLst>
                <a:path w="4245" h="1014" extrusionOk="0">
                  <a:moveTo>
                    <a:pt x="508" y="0"/>
                  </a:moveTo>
                  <a:cubicBezTo>
                    <a:pt x="223" y="0"/>
                    <a:pt x="1" y="222"/>
                    <a:pt x="1" y="507"/>
                  </a:cubicBezTo>
                  <a:cubicBezTo>
                    <a:pt x="1" y="792"/>
                    <a:pt x="223" y="1014"/>
                    <a:pt x="508" y="1014"/>
                  </a:cubicBezTo>
                  <a:lnTo>
                    <a:pt x="3738" y="1014"/>
                  </a:lnTo>
                  <a:cubicBezTo>
                    <a:pt x="3991" y="1014"/>
                    <a:pt x="4245" y="792"/>
                    <a:pt x="4245" y="507"/>
                  </a:cubicBezTo>
                  <a:cubicBezTo>
                    <a:pt x="4245" y="222"/>
                    <a:pt x="4023" y="0"/>
                    <a:pt x="3738"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3"/>
            <p:cNvSpPr/>
            <p:nvPr/>
          </p:nvSpPr>
          <p:spPr>
            <a:xfrm>
              <a:off x="6271850" y="3225225"/>
              <a:ext cx="137800" cy="25375"/>
            </a:xfrm>
            <a:custGeom>
              <a:avLst/>
              <a:gdLst/>
              <a:ahLst/>
              <a:cxnLst/>
              <a:rect l="l" t="t" r="r" b="b"/>
              <a:pathLst>
                <a:path w="5512" h="1015" extrusionOk="0">
                  <a:moveTo>
                    <a:pt x="508" y="1"/>
                  </a:moveTo>
                  <a:cubicBezTo>
                    <a:pt x="223" y="1"/>
                    <a:pt x="1" y="254"/>
                    <a:pt x="1" y="507"/>
                  </a:cubicBezTo>
                  <a:cubicBezTo>
                    <a:pt x="1" y="792"/>
                    <a:pt x="223" y="1014"/>
                    <a:pt x="508" y="1014"/>
                  </a:cubicBezTo>
                  <a:lnTo>
                    <a:pt x="5005" y="1014"/>
                  </a:lnTo>
                  <a:cubicBezTo>
                    <a:pt x="5290" y="1014"/>
                    <a:pt x="5511" y="792"/>
                    <a:pt x="5511" y="507"/>
                  </a:cubicBezTo>
                  <a:cubicBezTo>
                    <a:pt x="5511" y="254"/>
                    <a:pt x="5290" y="1"/>
                    <a:pt x="500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3"/>
            <p:cNvSpPr/>
            <p:nvPr/>
          </p:nvSpPr>
          <p:spPr>
            <a:xfrm>
              <a:off x="6328075" y="3270350"/>
              <a:ext cx="60975" cy="25375"/>
            </a:xfrm>
            <a:custGeom>
              <a:avLst/>
              <a:gdLst/>
              <a:ahLst/>
              <a:cxnLst/>
              <a:rect l="l" t="t" r="r" b="b"/>
              <a:pathLst>
                <a:path w="2439" h="1015" extrusionOk="0">
                  <a:moveTo>
                    <a:pt x="507" y="1"/>
                  </a:moveTo>
                  <a:cubicBezTo>
                    <a:pt x="222" y="1"/>
                    <a:pt x="0" y="223"/>
                    <a:pt x="0" y="508"/>
                  </a:cubicBezTo>
                  <a:cubicBezTo>
                    <a:pt x="0" y="793"/>
                    <a:pt x="222" y="1014"/>
                    <a:pt x="507" y="1014"/>
                  </a:cubicBezTo>
                  <a:lnTo>
                    <a:pt x="1932" y="1014"/>
                  </a:lnTo>
                  <a:cubicBezTo>
                    <a:pt x="2186" y="1014"/>
                    <a:pt x="2439" y="793"/>
                    <a:pt x="2439" y="508"/>
                  </a:cubicBezTo>
                  <a:cubicBezTo>
                    <a:pt x="2439" y="223"/>
                    <a:pt x="2186" y="1"/>
                    <a:pt x="1932"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3"/>
            <p:cNvSpPr/>
            <p:nvPr/>
          </p:nvSpPr>
          <p:spPr>
            <a:xfrm>
              <a:off x="5649575" y="3891850"/>
              <a:ext cx="113225" cy="24575"/>
            </a:xfrm>
            <a:custGeom>
              <a:avLst/>
              <a:gdLst/>
              <a:ahLst/>
              <a:cxnLst/>
              <a:rect l="l" t="t" r="r" b="b"/>
              <a:pathLst>
                <a:path w="4529" h="983" extrusionOk="0">
                  <a:moveTo>
                    <a:pt x="507" y="1"/>
                  </a:moveTo>
                  <a:cubicBezTo>
                    <a:pt x="222" y="1"/>
                    <a:pt x="0" y="223"/>
                    <a:pt x="0" y="508"/>
                  </a:cubicBezTo>
                  <a:cubicBezTo>
                    <a:pt x="0" y="761"/>
                    <a:pt x="222" y="983"/>
                    <a:pt x="507" y="983"/>
                  </a:cubicBezTo>
                  <a:lnTo>
                    <a:pt x="4022" y="983"/>
                  </a:lnTo>
                  <a:cubicBezTo>
                    <a:pt x="4307" y="983"/>
                    <a:pt x="4529" y="761"/>
                    <a:pt x="4529" y="508"/>
                  </a:cubicBezTo>
                  <a:cubicBezTo>
                    <a:pt x="4529" y="223"/>
                    <a:pt x="4307" y="1"/>
                    <a:pt x="4022"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3"/>
            <p:cNvSpPr/>
            <p:nvPr/>
          </p:nvSpPr>
          <p:spPr>
            <a:xfrm>
              <a:off x="5794450" y="3891850"/>
              <a:ext cx="58625" cy="24575"/>
            </a:xfrm>
            <a:custGeom>
              <a:avLst/>
              <a:gdLst/>
              <a:ahLst/>
              <a:cxnLst/>
              <a:rect l="l" t="t" r="r" b="b"/>
              <a:pathLst>
                <a:path w="2345" h="983" extrusionOk="0">
                  <a:moveTo>
                    <a:pt x="507" y="1"/>
                  </a:moveTo>
                  <a:cubicBezTo>
                    <a:pt x="222" y="1"/>
                    <a:pt x="1" y="223"/>
                    <a:pt x="1" y="508"/>
                  </a:cubicBezTo>
                  <a:cubicBezTo>
                    <a:pt x="1" y="761"/>
                    <a:pt x="222" y="983"/>
                    <a:pt x="507" y="983"/>
                  </a:cubicBezTo>
                  <a:lnTo>
                    <a:pt x="1837" y="983"/>
                  </a:lnTo>
                  <a:cubicBezTo>
                    <a:pt x="2122" y="983"/>
                    <a:pt x="2344" y="761"/>
                    <a:pt x="2344" y="508"/>
                  </a:cubicBezTo>
                  <a:cubicBezTo>
                    <a:pt x="2344" y="223"/>
                    <a:pt x="2122" y="1"/>
                    <a:pt x="1837"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3"/>
            <p:cNvSpPr/>
            <p:nvPr/>
          </p:nvSpPr>
          <p:spPr>
            <a:xfrm>
              <a:off x="5746150" y="3936200"/>
              <a:ext cx="121950" cy="25350"/>
            </a:xfrm>
            <a:custGeom>
              <a:avLst/>
              <a:gdLst/>
              <a:ahLst/>
              <a:cxnLst/>
              <a:rect l="l" t="t" r="r" b="b"/>
              <a:pathLst>
                <a:path w="4878" h="1014" extrusionOk="0">
                  <a:moveTo>
                    <a:pt x="476" y="0"/>
                  </a:moveTo>
                  <a:cubicBezTo>
                    <a:pt x="222" y="0"/>
                    <a:pt x="1" y="222"/>
                    <a:pt x="1" y="507"/>
                  </a:cubicBezTo>
                  <a:cubicBezTo>
                    <a:pt x="1" y="792"/>
                    <a:pt x="222" y="1014"/>
                    <a:pt x="476" y="1014"/>
                  </a:cubicBezTo>
                  <a:lnTo>
                    <a:pt x="4403" y="1014"/>
                  </a:lnTo>
                  <a:cubicBezTo>
                    <a:pt x="4656" y="1014"/>
                    <a:pt x="4878" y="792"/>
                    <a:pt x="4878" y="507"/>
                  </a:cubicBezTo>
                  <a:cubicBezTo>
                    <a:pt x="4878" y="222"/>
                    <a:pt x="4656" y="0"/>
                    <a:pt x="4403"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3"/>
            <p:cNvSpPr/>
            <p:nvPr/>
          </p:nvSpPr>
          <p:spPr>
            <a:xfrm>
              <a:off x="5552175" y="2762075"/>
              <a:ext cx="113250" cy="24575"/>
            </a:xfrm>
            <a:custGeom>
              <a:avLst/>
              <a:gdLst/>
              <a:ahLst/>
              <a:cxnLst/>
              <a:rect l="l" t="t" r="r" b="b"/>
              <a:pathLst>
                <a:path w="4530" h="983" extrusionOk="0">
                  <a:moveTo>
                    <a:pt x="507" y="0"/>
                  </a:moveTo>
                  <a:cubicBezTo>
                    <a:pt x="222" y="0"/>
                    <a:pt x="1" y="222"/>
                    <a:pt x="1" y="475"/>
                  </a:cubicBezTo>
                  <a:cubicBezTo>
                    <a:pt x="1" y="760"/>
                    <a:pt x="222" y="982"/>
                    <a:pt x="507" y="982"/>
                  </a:cubicBezTo>
                  <a:lnTo>
                    <a:pt x="4023" y="982"/>
                  </a:lnTo>
                  <a:cubicBezTo>
                    <a:pt x="4276" y="982"/>
                    <a:pt x="4529" y="760"/>
                    <a:pt x="4529" y="475"/>
                  </a:cubicBezTo>
                  <a:cubicBezTo>
                    <a:pt x="4529" y="222"/>
                    <a:pt x="4276" y="0"/>
                    <a:pt x="4023"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3"/>
            <p:cNvSpPr/>
            <p:nvPr/>
          </p:nvSpPr>
          <p:spPr>
            <a:xfrm>
              <a:off x="5697075" y="2762075"/>
              <a:ext cx="58600" cy="24575"/>
            </a:xfrm>
            <a:custGeom>
              <a:avLst/>
              <a:gdLst/>
              <a:ahLst/>
              <a:cxnLst/>
              <a:rect l="l" t="t" r="r" b="b"/>
              <a:pathLst>
                <a:path w="2344" h="983" extrusionOk="0">
                  <a:moveTo>
                    <a:pt x="507" y="0"/>
                  </a:moveTo>
                  <a:cubicBezTo>
                    <a:pt x="222" y="0"/>
                    <a:pt x="0" y="222"/>
                    <a:pt x="0" y="475"/>
                  </a:cubicBezTo>
                  <a:cubicBezTo>
                    <a:pt x="0" y="760"/>
                    <a:pt x="222" y="982"/>
                    <a:pt x="507" y="982"/>
                  </a:cubicBezTo>
                  <a:lnTo>
                    <a:pt x="1837" y="982"/>
                  </a:lnTo>
                  <a:cubicBezTo>
                    <a:pt x="2122" y="982"/>
                    <a:pt x="2344" y="760"/>
                    <a:pt x="2344" y="475"/>
                  </a:cubicBezTo>
                  <a:cubicBezTo>
                    <a:pt x="2344" y="222"/>
                    <a:pt x="2122" y="0"/>
                    <a:pt x="1837"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3"/>
            <p:cNvSpPr/>
            <p:nvPr/>
          </p:nvSpPr>
          <p:spPr>
            <a:xfrm>
              <a:off x="5647975" y="2806400"/>
              <a:ext cx="122750" cy="25375"/>
            </a:xfrm>
            <a:custGeom>
              <a:avLst/>
              <a:gdLst/>
              <a:ahLst/>
              <a:cxnLst/>
              <a:rect l="l" t="t" r="r" b="b"/>
              <a:pathLst>
                <a:path w="4910" h="1015" extrusionOk="0">
                  <a:moveTo>
                    <a:pt x="507" y="1"/>
                  </a:moveTo>
                  <a:cubicBezTo>
                    <a:pt x="222" y="1"/>
                    <a:pt x="1" y="223"/>
                    <a:pt x="1" y="508"/>
                  </a:cubicBezTo>
                  <a:cubicBezTo>
                    <a:pt x="1" y="761"/>
                    <a:pt x="222" y="1014"/>
                    <a:pt x="507" y="1014"/>
                  </a:cubicBezTo>
                  <a:lnTo>
                    <a:pt x="4403" y="1014"/>
                  </a:lnTo>
                  <a:cubicBezTo>
                    <a:pt x="4688" y="1014"/>
                    <a:pt x="4909" y="793"/>
                    <a:pt x="4909" y="508"/>
                  </a:cubicBezTo>
                  <a:cubicBezTo>
                    <a:pt x="4909" y="223"/>
                    <a:pt x="4688" y="1"/>
                    <a:pt x="4403"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3"/>
            <p:cNvSpPr/>
            <p:nvPr/>
          </p:nvSpPr>
          <p:spPr>
            <a:xfrm>
              <a:off x="5753275" y="2773150"/>
              <a:ext cx="547125" cy="547100"/>
            </a:xfrm>
            <a:custGeom>
              <a:avLst/>
              <a:gdLst/>
              <a:ahLst/>
              <a:cxnLst/>
              <a:rect l="l" t="t" r="r" b="b"/>
              <a:pathLst>
                <a:path w="21885" h="21884" extrusionOk="0">
                  <a:moveTo>
                    <a:pt x="10927" y="983"/>
                  </a:moveTo>
                  <a:cubicBezTo>
                    <a:pt x="16437" y="983"/>
                    <a:pt x="20902" y="5448"/>
                    <a:pt x="20871" y="10927"/>
                  </a:cubicBezTo>
                  <a:cubicBezTo>
                    <a:pt x="20871" y="16437"/>
                    <a:pt x="16437" y="20902"/>
                    <a:pt x="10927" y="20902"/>
                  </a:cubicBezTo>
                  <a:cubicBezTo>
                    <a:pt x="5448" y="20902"/>
                    <a:pt x="982" y="16437"/>
                    <a:pt x="982" y="10927"/>
                  </a:cubicBezTo>
                  <a:cubicBezTo>
                    <a:pt x="982" y="5448"/>
                    <a:pt x="5448" y="983"/>
                    <a:pt x="10927" y="983"/>
                  </a:cubicBezTo>
                  <a:close/>
                  <a:moveTo>
                    <a:pt x="10927" y="1"/>
                  </a:moveTo>
                  <a:cubicBezTo>
                    <a:pt x="4909" y="1"/>
                    <a:pt x="1" y="4909"/>
                    <a:pt x="1" y="10958"/>
                  </a:cubicBezTo>
                  <a:cubicBezTo>
                    <a:pt x="1" y="16975"/>
                    <a:pt x="4909" y="21884"/>
                    <a:pt x="10927" y="21884"/>
                  </a:cubicBezTo>
                  <a:cubicBezTo>
                    <a:pt x="16975" y="21884"/>
                    <a:pt x="21884" y="16975"/>
                    <a:pt x="21884" y="10958"/>
                  </a:cubicBezTo>
                  <a:cubicBezTo>
                    <a:pt x="21884" y="4909"/>
                    <a:pt x="16975" y="1"/>
                    <a:pt x="10927"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3"/>
            <p:cNvSpPr/>
            <p:nvPr/>
          </p:nvSpPr>
          <p:spPr>
            <a:xfrm>
              <a:off x="6012975" y="2804200"/>
              <a:ext cx="202700" cy="448775"/>
            </a:xfrm>
            <a:custGeom>
              <a:avLst/>
              <a:gdLst/>
              <a:ahLst/>
              <a:cxnLst/>
              <a:rect l="l" t="t" r="r" b="b"/>
              <a:pathLst>
                <a:path w="8108" h="17951" extrusionOk="0">
                  <a:moveTo>
                    <a:pt x="5510" y="0"/>
                  </a:moveTo>
                  <a:cubicBezTo>
                    <a:pt x="5335" y="0"/>
                    <a:pt x="5155" y="93"/>
                    <a:pt x="5067" y="247"/>
                  </a:cubicBezTo>
                  <a:lnTo>
                    <a:pt x="95" y="9463"/>
                  </a:lnTo>
                  <a:cubicBezTo>
                    <a:pt x="0" y="9653"/>
                    <a:pt x="32" y="9875"/>
                    <a:pt x="190" y="10033"/>
                  </a:cubicBezTo>
                  <a:lnTo>
                    <a:pt x="7189" y="17792"/>
                  </a:lnTo>
                  <a:cubicBezTo>
                    <a:pt x="7284" y="17887"/>
                    <a:pt x="7411" y="17950"/>
                    <a:pt x="7569" y="17950"/>
                  </a:cubicBezTo>
                  <a:cubicBezTo>
                    <a:pt x="7664" y="17950"/>
                    <a:pt x="7791" y="17918"/>
                    <a:pt x="7886" y="17823"/>
                  </a:cubicBezTo>
                  <a:cubicBezTo>
                    <a:pt x="8107" y="17633"/>
                    <a:pt x="8107" y="17317"/>
                    <a:pt x="7917" y="17127"/>
                  </a:cubicBezTo>
                  <a:lnTo>
                    <a:pt x="1172" y="9621"/>
                  </a:lnTo>
                  <a:lnTo>
                    <a:pt x="5954" y="722"/>
                  </a:lnTo>
                  <a:cubicBezTo>
                    <a:pt x="6081" y="501"/>
                    <a:pt x="5986" y="184"/>
                    <a:pt x="5732" y="57"/>
                  </a:cubicBezTo>
                  <a:cubicBezTo>
                    <a:pt x="5665" y="18"/>
                    <a:pt x="5588" y="0"/>
                    <a:pt x="5510"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3"/>
            <p:cNvSpPr/>
            <p:nvPr/>
          </p:nvSpPr>
          <p:spPr>
            <a:xfrm>
              <a:off x="5752500" y="3033625"/>
              <a:ext cx="287400" cy="38025"/>
            </a:xfrm>
            <a:custGeom>
              <a:avLst/>
              <a:gdLst/>
              <a:ahLst/>
              <a:cxnLst/>
              <a:rect l="l" t="t" r="r" b="b"/>
              <a:pathLst>
                <a:path w="11496" h="1521" extrusionOk="0">
                  <a:moveTo>
                    <a:pt x="10958" y="1"/>
                  </a:moveTo>
                  <a:lnTo>
                    <a:pt x="507" y="508"/>
                  </a:lnTo>
                  <a:cubicBezTo>
                    <a:pt x="222" y="539"/>
                    <a:pt x="0" y="761"/>
                    <a:pt x="32" y="1046"/>
                  </a:cubicBezTo>
                  <a:cubicBezTo>
                    <a:pt x="32" y="1331"/>
                    <a:pt x="253" y="1521"/>
                    <a:pt x="507" y="1521"/>
                  </a:cubicBezTo>
                  <a:lnTo>
                    <a:pt x="538" y="1521"/>
                  </a:lnTo>
                  <a:lnTo>
                    <a:pt x="10989" y="1014"/>
                  </a:lnTo>
                  <a:cubicBezTo>
                    <a:pt x="11274" y="1014"/>
                    <a:pt x="11496" y="761"/>
                    <a:pt x="11464" y="476"/>
                  </a:cubicBezTo>
                  <a:cubicBezTo>
                    <a:pt x="11464" y="223"/>
                    <a:pt x="11211" y="1"/>
                    <a:pt x="10958"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3"/>
            <p:cNvSpPr/>
            <p:nvPr/>
          </p:nvSpPr>
          <p:spPr>
            <a:xfrm>
              <a:off x="5476175" y="4097700"/>
              <a:ext cx="1068075" cy="25375"/>
            </a:xfrm>
            <a:custGeom>
              <a:avLst/>
              <a:gdLst/>
              <a:ahLst/>
              <a:cxnLst/>
              <a:rect l="l" t="t" r="r" b="b"/>
              <a:pathLst>
                <a:path w="42723" h="1015" extrusionOk="0">
                  <a:moveTo>
                    <a:pt x="476" y="1"/>
                  </a:moveTo>
                  <a:cubicBezTo>
                    <a:pt x="222" y="1"/>
                    <a:pt x="1" y="223"/>
                    <a:pt x="1" y="508"/>
                  </a:cubicBezTo>
                  <a:cubicBezTo>
                    <a:pt x="1" y="793"/>
                    <a:pt x="222" y="1014"/>
                    <a:pt x="476" y="1014"/>
                  </a:cubicBezTo>
                  <a:lnTo>
                    <a:pt x="42215" y="1014"/>
                  </a:lnTo>
                  <a:cubicBezTo>
                    <a:pt x="42500" y="1014"/>
                    <a:pt x="42722" y="793"/>
                    <a:pt x="42722" y="508"/>
                  </a:cubicBezTo>
                  <a:cubicBezTo>
                    <a:pt x="42722" y="223"/>
                    <a:pt x="42500" y="1"/>
                    <a:pt x="4221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3"/>
            <p:cNvSpPr/>
            <p:nvPr/>
          </p:nvSpPr>
          <p:spPr>
            <a:xfrm>
              <a:off x="6432575" y="2697950"/>
              <a:ext cx="70500" cy="69700"/>
            </a:xfrm>
            <a:custGeom>
              <a:avLst/>
              <a:gdLst/>
              <a:ahLst/>
              <a:cxnLst/>
              <a:rect l="l" t="t" r="r" b="b"/>
              <a:pathLst>
                <a:path w="2820" h="2788" extrusionOk="0">
                  <a:moveTo>
                    <a:pt x="2154" y="665"/>
                  </a:moveTo>
                  <a:lnTo>
                    <a:pt x="2154" y="2122"/>
                  </a:lnTo>
                  <a:lnTo>
                    <a:pt x="666" y="2122"/>
                  </a:lnTo>
                  <a:lnTo>
                    <a:pt x="666" y="665"/>
                  </a:lnTo>
                  <a:close/>
                  <a:moveTo>
                    <a:pt x="349" y="0"/>
                  </a:moveTo>
                  <a:cubicBezTo>
                    <a:pt x="159" y="0"/>
                    <a:pt x="1" y="127"/>
                    <a:pt x="1" y="317"/>
                  </a:cubicBezTo>
                  <a:lnTo>
                    <a:pt x="1" y="2470"/>
                  </a:lnTo>
                  <a:cubicBezTo>
                    <a:pt x="1" y="2629"/>
                    <a:pt x="159" y="2787"/>
                    <a:pt x="349" y="2787"/>
                  </a:cubicBezTo>
                  <a:lnTo>
                    <a:pt x="2471" y="2787"/>
                  </a:lnTo>
                  <a:cubicBezTo>
                    <a:pt x="2661" y="2787"/>
                    <a:pt x="2819" y="2629"/>
                    <a:pt x="2819" y="2470"/>
                  </a:cubicBezTo>
                  <a:lnTo>
                    <a:pt x="2819" y="317"/>
                  </a:lnTo>
                  <a:cubicBezTo>
                    <a:pt x="2819" y="127"/>
                    <a:pt x="2661" y="0"/>
                    <a:pt x="2471"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3"/>
            <p:cNvSpPr/>
            <p:nvPr/>
          </p:nvSpPr>
          <p:spPr>
            <a:xfrm>
              <a:off x="5565650" y="3215725"/>
              <a:ext cx="68100" cy="68125"/>
            </a:xfrm>
            <a:custGeom>
              <a:avLst/>
              <a:gdLst/>
              <a:ahLst/>
              <a:cxnLst/>
              <a:rect l="l" t="t" r="r" b="b"/>
              <a:pathLst>
                <a:path w="2724" h="2725" extrusionOk="0">
                  <a:moveTo>
                    <a:pt x="2027" y="666"/>
                  </a:moveTo>
                  <a:lnTo>
                    <a:pt x="2027" y="2059"/>
                  </a:lnTo>
                  <a:lnTo>
                    <a:pt x="665" y="2059"/>
                  </a:lnTo>
                  <a:lnTo>
                    <a:pt x="665" y="666"/>
                  </a:lnTo>
                  <a:close/>
                  <a:moveTo>
                    <a:pt x="317" y="1"/>
                  </a:moveTo>
                  <a:cubicBezTo>
                    <a:pt x="127" y="1"/>
                    <a:pt x="0" y="159"/>
                    <a:pt x="0" y="349"/>
                  </a:cubicBezTo>
                  <a:lnTo>
                    <a:pt x="0" y="2408"/>
                  </a:lnTo>
                  <a:cubicBezTo>
                    <a:pt x="0" y="2566"/>
                    <a:pt x="127" y="2724"/>
                    <a:pt x="317" y="2724"/>
                  </a:cubicBezTo>
                  <a:lnTo>
                    <a:pt x="2375" y="2724"/>
                  </a:lnTo>
                  <a:cubicBezTo>
                    <a:pt x="2565" y="2724"/>
                    <a:pt x="2724" y="2566"/>
                    <a:pt x="2692" y="2408"/>
                  </a:cubicBezTo>
                  <a:lnTo>
                    <a:pt x="2692" y="349"/>
                  </a:lnTo>
                  <a:cubicBezTo>
                    <a:pt x="2692" y="159"/>
                    <a:pt x="2565" y="1"/>
                    <a:pt x="237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3"/>
            <p:cNvSpPr/>
            <p:nvPr/>
          </p:nvSpPr>
          <p:spPr>
            <a:xfrm>
              <a:off x="6265525" y="3410500"/>
              <a:ext cx="182125" cy="75225"/>
            </a:xfrm>
            <a:custGeom>
              <a:avLst/>
              <a:gdLst/>
              <a:ahLst/>
              <a:cxnLst/>
              <a:rect l="l" t="t" r="r" b="b"/>
              <a:pathLst>
                <a:path w="7285" h="3009" extrusionOk="0">
                  <a:moveTo>
                    <a:pt x="6619" y="665"/>
                  </a:moveTo>
                  <a:lnTo>
                    <a:pt x="6619" y="2344"/>
                  </a:lnTo>
                  <a:lnTo>
                    <a:pt x="666" y="2344"/>
                  </a:lnTo>
                  <a:lnTo>
                    <a:pt x="666" y="665"/>
                  </a:lnTo>
                  <a:close/>
                  <a:moveTo>
                    <a:pt x="349" y="0"/>
                  </a:moveTo>
                  <a:cubicBezTo>
                    <a:pt x="159" y="0"/>
                    <a:pt x="1" y="159"/>
                    <a:pt x="1" y="349"/>
                  </a:cubicBezTo>
                  <a:lnTo>
                    <a:pt x="1" y="2660"/>
                  </a:lnTo>
                  <a:cubicBezTo>
                    <a:pt x="1" y="2850"/>
                    <a:pt x="159" y="3009"/>
                    <a:pt x="349" y="3009"/>
                  </a:cubicBezTo>
                  <a:lnTo>
                    <a:pt x="6936" y="3009"/>
                  </a:lnTo>
                  <a:cubicBezTo>
                    <a:pt x="7126" y="3009"/>
                    <a:pt x="7285" y="2850"/>
                    <a:pt x="7285" y="2660"/>
                  </a:cubicBezTo>
                  <a:lnTo>
                    <a:pt x="7285" y="349"/>
                  </a:lnTo>
                  <a:cubicBezTo>
                    <a:pt x="7285" y="159"/>
                    <a:pt x="7126" y="0"/>
                    <a:pt x="6936"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3"/>
            <p:cNvSpPr/>
            <p:nvPr/>
          </p:nvSpPr>
          <p:spPr>
            <a:xfrm>
              <a:off x="5517350" y="4004275"/>
              <a:ext cx="148875" cy="74450"/>
            </a:xfrm>
            <a:custGeom>
              <a:avLst/>
              <a:gdLst/>
              <a:ahLst/>
              <a:cxnLst/>
              <a:rect l="l" t="t" r="r" b="b"/>
              <a:pathLst>
                <a:path w="5955" h="2978" extrusionOk="0">
                  <a:moveTo>
                    <a:pt x="5289" y="666"/>
                  </a:moveTo>
                  <a:lnTo>
                    <a:pt x="5289" y="2313"/>
                  </a:lnTo>
                  <a:lnTo>
                    <a:pt x="665" y="2313"/>
                  </a:lnTo>
                  <a:lnTo>
                    <a:pt x="665" y="666"/>
                  </a:lnTo>
                  <a:close/>
                  <a:moveTo>
                    <a:pt x="349" y="1"/>
                  </a:moveTo>
                  <a:cubicBezTo>
                    <a:pt x="159" y="1"/>
                    <a:pt x="0" y="128"/>
                    <a:pt x="0" y="318"/>
                  </a:cubicBezTo>
                  <a:lnTo>
                    <a:pt x="0" y="2629"/>
                  </a:lnTo>
                  <a:cubicBezTo>
                    <a:pt x="0" y="2819"/>
                    <a:pt x="159" y="2978"/>
                    <a:pt x="349" y="2978"/>
                  </a:cubicBezTo>
                  <a:lnTo>
                    <a:pt x="5606" y="2978"/>
                  </a:lnTo>
                  <a:cubicBezTo>
                    <a:pt x="5796" y="2978"/>
                    <a:pt x="5954" y="2819"/>
                    <a:pt x="5954" y="2629"/>
                  </a:cubicBezTo>
                  <a:lnTo>
                    <a:pt x="5954" y="318"/>
                  </a:lnTo>
                  <a:cubicBezTo>
                    <a:pt x="5954" y="128"/>
                    <a:pt x="5796" y="1"/>
                    <a:pt x="5606"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3"/>
            <p:cNvSpPr/>
            <p:nvPr/>
          </p:nvSpPr>
          <p:spPr>
            <a:xfrm>
              <a:off x="5697850" y="4004275"/>
              <a:ext cx="87125" cy="74450"/>
            </a:xfrm>
            <a:custGeom>
              <a:avLst/>
              <a:gdLst/>
              <a:ahLst/>
              <a:cxnLst/>
              <a:rect l="l" t="t" r="r" b="b"/>
              <a:pathLst>
                <a:path w="3485" h="2978" extrusionOk="0">
                  <a:moveTo>
                    <a:pt x="2819" y="666"/>
                  </a:moveTo>
                  <a:lnTo>
                    <a:pt x="2819" y="2313"/>
                  </a:lnTo>
                  <a:lnTo>
                    <a:pt x="666" y="2313"/>
                  </a:lnTo>
                  <a:lnTo>
                    <a:pt x="666" y="666"/>
                  </a:lnTo>
                  <a:close/>
                  <a:moveTo>
                    <a:pt x="318" y="1"/>
                  </a:moveTo>
                  <a:cubicBezTo>
                    <a:pt x="159" y="1"/>
                    <a:pt x="1" y="128"/>
                    <a:pt x="1" y="318"/>
                  </a:cubicBezTo>
                  <a:lnTo>
                    <a:pt x="1" y="2629"/>
                  </a:lnTo>
                  <a:cubicBezTo>
                    <a:pt x="1" y="2819"/>
                    <a:pt x="159" y="2978"/>
                    <a:pt x="318" y="2978"/>
                  </a:cubicBezTo>
                  <a:lnTo>
                    <a:pt x="3136" y="2978"/>
                  </a:lnTo>
                  <a:cubicBezTo>
                    <a:pt x="3326" y="2978"/>
                    <a:pt x="3484" y="2819"/>
                    <a:pt x="3484" y="2629"/>
                  </a:cubicBezTo>
                  <a:lnTo>
                    <a:pt x="3484" y="318"/>
                  </a:lnTo>
                  <a:cubicBezTo>
                    <a:pt x="3484" y="128"/>
                    <a:pt x="3326" y="1"/>
                    <a:pt x="3136"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3"/>
            <p:cNvSpPr/>
            <p:nvPr/>
          </p:nvSpPr>
          <p:spPr>
            <a:xfrm>
              <a:off x="6430200" y="4004275"/>
              <a:ext cx="57825" cy="57050"/>
            </a:xfrm>
            <a:custGeom>
              <a:avLst/>
              <a:gdLst/>
              <a:ahLst/>
              <a:cxnLst/>
              <a:rect l="l" t="t" r="r" b="b"/>
              <a:pathLst>
                <a:path w="2313" h="2282" extrusionOk="0">
                  <a:moveTo>
                    <a:pt x="1648" y="666"/>
                  </a:moveTo>
                  <a:lnTo>
                    <a:pt x="1648" y="1616"/>
                  </a:lnTo>
                  <a:lnTo>
                    <a:pt x="698" y="1616"/>
                  </a:lnTo>
                  <a:lnTo>
                    <a:pt x="698" y="666"/>
                  </a:lnTo>
                  <a:close/>
                  <a:moveTo>
                    <a:pt x="349" y="1"/>
                  </a:moveTo>
                  <a:cubicBezTo>
                    <a:pt x="159" y="1"/>
                    <a:pt x="1" y="128"/>
                    <a:pt x="1" y="318"/>
                  </a:cubicBezTo>
                  <a:lnTo>
                    <a:pt x="1" y="1964"/>
                  </a:lnTo>
                  <a:cubicBezTo>
                    <a:pt x="1" y="2123"/>
                    <a:pt x="159" y="2281"/>
                    <a:pt x="349" y="2281"/>
                  </a:cubicBezTo>
                  <a:lnTo>
                    <a:pt x="1964" y="2281"/>
                  </a:lnTo>
                  <a:cubicBezTo>
                    <a:pt x="2154" y="2281"/>
                    <a:pt x="2313" y="2123"/>
                    <a:pt x="2313" y="1964"/>
                  </a:cubicBezTo>
                  <a:lnTo>
                    <a:pt x="2313" y="318"/>
                  </a:lnTo>
                  <a:cubicBezTo>
                    <a:pt x="2313" y="128"/>
                    <a:pt x="2154" y="1"/>
                    <a:pt x="1964"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3"/>
            <p:cNvSpPr/>
            <p:nvPr/>
          </p:nvSpPr>
          <p:spPr>
            <a:xfrm>
              <a:off x="3492900" y="3838025"/>
              <a:ext cx="2062475" cy="228050"/>
            </a:xfrm>
            <a:custGeom>
              <a:avLst/>
              <a:gdLst/>
              <a:ahLst/>
              <a:cxnLst/>
              <a:rect l="l" t="t" r="r" b="b"/>
              <a:pathLst>
                <a:path w="82499" h="9122" extrusionOk="0">
                  <a:moveTo>
                    <a:pt x="1" y="0"/>
                  </a:moveTo>
                  <a:lnTo>
                    <a:pt x="1" y="5004"/>
                  </a:lnTo>
                  <a:cubicBezTo>
                    <a:pt x="1" y="7284"/>
                    <a:pt x="1837" y="9121"/>
                    <a:pt x="4118" y="9121"/>
                  </a:cubicBezTo>
                  <a:lnTo>
                    <a:pt x="78350" y="9121"/>
                  </a:lnTo>
                  <a:cubicBezTo>
                    <a:pt x="80630" y="9121"/>
                    <a:pt x="82498" y="7284"/>
                    <a:pt x="82498" y="5004"/>
                  </a:cubicBezTo>
                  <a:lnTo>
                    <a:pt x="82498"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3"/>
            <p:cNvSpPr/>
            <p:nvPr/>
          </p:nvSpPr>
          <p:spPr>
            <a:xfrm>
              <a:off x="3492900" y="2784250"/>
              <a:ext cx="2061675" cy="1053800"/>
            </a:xfrm>
            <a:custGeom>
              <a:avLst/>
              <a:gdLst/>
              <a:ahLst/>
              <a:cxnLst/>
              <a:rect l="l" t="t" r="r" b="b"/>
              <a:pathLst>
                <a:path w="82467" h="42152" extrusionOk="0">
                  <a:moveTo>
                    <a:pt x="4118" y="0"/>
                  </a:moveTo>
                  <a:cubicBezTo>
                    <a:pt x="1837" y="0"/>
                    <a:pt x="1" y="1837"/>
                    <a:pt x="1" y="4117"/>
                  </a:cubicBezTo>
                  <a:lnTo>
                    <a:pt x="1" y="42151"/>
                  </a:lnTo>
                  <a:lnTo>
                    <a:pt x="82467" y="42151"/>
                  </a:lnTo>
                  <a:lnTo>
                    <a:pt x="82467" y="4117"/>
                  </a:lnTo>
                  <a:cubicBezTo>
                    <a:pt x="82467" y="1837"/>
                    <a:pt x="80630" y="0"/>
                    <a:pt x="78350"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3"/>
            <p:cNvSpPr/>
            <p:nvPr/>
          </p:nvSpPr>
          <p:spPr>
            <a:xfrm>
              <a:off x="4313125" y="4066050"/>
              <a:ext cx="437850" cy="106900"/>
            </a:xfrm>
            <a:custGeom>
              <a:avLst/>
              <a:gdLst/>
              <a:ahLst/>
              <a:cxnLst/>
              <a:rect l="l" t="t" r="r" b="b"/>
              <a:pathLst>
                <a:path w="17514" h="4276" extrusionOk="0">
                  <a:moveTo>
                    <a:pt x="1" y="0"/>
                  </a:moveTo>
                  <a:lnTo>
                    <a:pt x="8425" y="2059"/>
                  </a:lnTo>
                  <a:lnTo>
                    <a:pt x="17514" y="4275"/>
                  </a:lnTo>
                  <a:cubicBezTo>
                    <a:pt x="17102" y="3040"/>
                    <a:pt x="16849" y="1647"/>
                    <a:pt x="16849"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3"/>
            <p:cNvSpPr/>
            <p:nvPr/>
          </p:nvSpPr>
          <p:spPr>
            <a:xfrm>
              <a:off x="4103325" y="4066050"/>
              <a:ext cx="841625" cy="291375"/>
            </a:xfrm>
            <a:custGeom>
              <a:avLst/>
              <a:gdLst/>
              <a:ahLst/>
              <a:cxnLst/>
              <a:rect l="l" t="t" r="r" b="b"/>
              <a:pathLst>
                <a:path w="33665" h="11655" extrusionOk="0">
                  <a:moveTo>
                    <a:pt x="8393" y="0"/>
                  </a:moveTo>
                  <a:cubicBezTo>
                    <a:pt x="8393" y="9596"/>
                    <a:pt x="0" y="11654"/>
                    <a:pt x="0" y="11654"/>
                  </a:cubicBezTo>
                  <a:lnTo>
                    <a:pt x="33665" y="11654"/>
                  </a:lnTo>
                  <a:cubicBezTo>
                    <a:pt x="33665" y="11654"/>
                    <a:pt x="27869" y="10229"/>
                    <a:pt x="25906" y="4275"/>
                  </a:cubicBezTo>
                  <a:lnTo>
                    <a:pt x="16817" y="2059"/>
                  </a:lnTo>
                  <a:lnTo>
                    <a:pt x="8393"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3"/>
            <p:cNvSpPr/>
            <p:nvPr/>
          </p:nvSpPr>
          <p:spPr>
            <a:xfrm>
              <a:off x="4098575" y="4344725"/>
              <a:ext cx="850325" cy="71275"/>
            </a:xfrm>
            <a:custGeom>
              <a:avLst/>
              <a:gdLst/>
              <a:ahLst/>
              <a:cxnLst/>
              <a:rect l="l" t="t" r="r" b="b"/>
              <a:pathLst>
                <a:path w="34013" h="2851" extrusionOk="0">
                  <a:moveTo>
                    <a:pt x="1045" y="1"/>
                  </a:moveTo>
                  <a:cubicBezTo>
                    <a:pt x="475" y="1"/>
                    <a:pt x="0" y="476"/>
                    <a:pt x="0" y="1046"/>
                  </a:cubicBezTo>
                  <a:lnTo>
                    <a:pt x="0" y="1806"/>
                  </a:lnTo>
                  <a:cubicBezTo>
                    <a:pt x="0" y="2376"/>
                    <a:pt x="475" y="2851"/>
                    <a:pt x="1045" y="2851"/>
                  </a:cubicBezTo>
                  <a:lnTo>
                    <a:pt x="32968" y="2851"/>
                  </a:lnTo>
                  <a:cubicBezTo>
                    <a:pt x="33538" y="2851"/>
                    <a:pt x="34013" y="2376"/>
                    <a:pt x="34013" y="1806"/>
                  </a:cubicBezTo>
                  <a:lnTo>
                    <a:pt x="34013" y="1046"/>
                  </a:lnTo>
                  <a:cubicBezTo>
                    <a:pt x="34013" y="476"/>
                    <a:pt x="33538" y="1"/>
                    <a:pt x="329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3"/>
            <p:cNvSpPr/>
            <p:nvPr/>
          </p:nvSpPr>
          <p:spPr>
            <a:xfrm>
              <a:off x="2780350" y="3284150"/>
              <a:ext cx="666650" cy="397925"/>
            </a:xfrm>
            <a:custGeom>
              <a:avLst/>
              <a:gdLst/>
              <a:ahLst/>
              <a:cxnLst/>
              <a:rect l="l" t="t" r="r" b="b"/>
              <a:pathLst>
                <a:path w="26666" h="15917" extrusionOk="0">
                  <a:moveTo>
                    <a:pt x="23392" y="0"/>
                  </a:moveTo>
                  <a:cubicBezTo>
                    <a:pt x="23034" y="0"/>
                    <a:pt x="22670" y="78"/>
                    <a:pt x="22327" y="241"/>
                  </a:cubicBezTo>
                  <a:lnTo>
                    <a:pt x="1711" y="10470"/>
                  </a:lnTo>
                  <a:cubicBezTo>
                    <a:pt x="507" y="11040"/>
                    <a:pt x="0" y="12496"/>
                    <a:pt x="602" y="13700"/>
                  </a:cubicBezTo>
                  <a:lnTo>
                    <a:pt x="1711" y="15917"/>
                  </a:lnTo>
                  <a:lnTo>
                    <a:pt x="26666" y="3566"/>
                  </a:lnTo>
                  <a:lnTo>
                    <a:pt x="25589" y="1349"/>
                  </a:lnTo>
                  <a:cubicBezTo>
                    <a:pt x="25159" y="489"/>
                    <a:pt x="24292" y="0"/>
                    <a:pt x="23392"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3"/>
            <p:cNvSpPr/>
            <p:nvPr/>
          </p:nvSpPr>
          <p:spPr>
            <a:xfrm>
              <a:off x="2823100" y="3373275"/>
              <a:ext cx="950100" cy="969100"/>
            </a:xfrm>
            <a:custGeom>
              <a:avLst/>
              <a:gdLst/>
              <a:ahLst/>
              <a:cxnLst/>
              <a:rect l="l" t="t" r="r" b="b"/>
              <a:pathLst>
                <a:path w="38004" h="38764" extrusionOk="0">
                  <a:moveTo>
                    <a:pt x="24956" y="1"/>
                  </a:moveTo>
                  <a:lnTo>
                    <a:pt x="1" y="12352"/>
                  </a:lnTo>
                  <a:lnTo>
                    <a:pt x="13048" y="38764"/>
                  </a:lnTo>
                  <a:lnTo>
                    <a:pt x="38003" y="26413"/>
                  </a:lnTo>
                  <a:lnTo>
                    <a:pt x="24956" y="1"/>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3"/>
            <p:cNvSpPr/>
            <p:nvPr/>
          </p:nvSpPr>
          <p:spPr>
            <a:xfrm>
              <a:off x="3149300" y="4032775"/>
              <a:ext cx="674575" cy="414925"/>
            </a:xfrm>
            <a:custGeom>
              <a:avLst/>
              <a:gdLst/>
              <a:ahLst/>
              <a:cxnLst/>
              <a:rect l="l" t="t" r="r" b="b"/>
              <a:pathLst>
                <a:path w="26983" h="16597" extrusionOk="0">
                  <a:moveTo>
                    <a:pt x="24987" y="1"/>
                  </a:moveTo>
                  <a:lnTo>
                    <a:pt x="0" y="12384"/>
                  </a:lnTo>
                  <a:lnTo>
                    <a:pt x="1425" y="15234"/>
                  </a:lnTo>
                  <a:cubicBezTo>
                    <a:pt x="1854" y="16092"/>
                    <a:pt x="2719" y="16596"/>
                    <a:pt x="3616" y="16596"/>
                  </a:cubicBezTo>
                  <a:cubicBezTo>
                    <a:pt x="3976" y="16596"/>
                    <a:pt x="4342" y="16515"/>
                    <a:pt x="4687" y="16342"/>
                  </a:cubicBezTo>
                  <a:lnTo>
                    <a:pt x="25304" y="6145"/>
                  </a:lnTo>
                  <a:cubicBezTo>
                    <a:pt x="26507" y="5543"/>
                    <a:pt x="26982" y="4086"/>
                    <a:pt x="26412" y="2883"/>
                  </a:cubicBezTo>
                  <a:lnTo>
                    <a:pt x="24987"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3"/>
            <p:cNvSpPr/>
            <p:nvPr/>
          </p:nvSpPr>
          <p:spPr>
            <a:xfrm>
              <a:off x="3043200" y="3436475"/>
              <a:ext cx="129075" cy="73150"/>
            </a:xfrm>
            <a:custGeom>
              <a:avLst/>
              <a:gdLst/>
              <a:ahLst/>
              <a:cxnLst/>
              <a:rect l="l" t="t" r="r" b="b"/>
              <a:pathLst>
                <a:path w="5163" h="2926" extrusionOk="0">
                  <a:moveTo>
                    <a:pt x="4691" y="1"/>
                  </a:moveTo>
                  <a:cubicBezTo>
                    <a:pt x="4636" y="1"/>
                    <a:pt x="4580" y="13"/>
                    <a:pt x="4529" y="38"/>
                  </a:cubicBezTo>
                  <a:lnTo>
                    <a:pt x="286" y="2160"/>
                  </a:lnTo>
                  <a:cubicBezTo>
                    <a:pt x="96" y="2255"/>
                    <a:pt x="1" y="2476"/>
                    <a:pt x="96" y="2698"/>
                  </a:cubicBezTo>
                  <a:cubicBezTo>
                    <a:pt x="165" y="2837"/>
                    <a:pt x="319" y="2925"/>
                    <a:pt x="472" y="2925"/>
                  </a:cubicBezTo>
                  <a:cubicBezTo>
                    <a:pt x="528" y="2925"/>
                    <a:pt x="583" y="2914"/>
                    <a:pt x="634" y="2888"/>
                  </a:cubicBezTo>
                  <a:lnTo>
                    <a:pt x="4878" y="766"/>
                  </a:lnTo>
                  <a:cubicBezTo>
                    <a:pt x="5099" y="671"/>
                    <a:pt x="5163" y="418"/>
                    <a:pt x="5068" y="228"/>
                  </a:cubicBezTo>
                  <a:cubicBezTo>
                    <a:pt x="4998" y="89"/>
                    <a:pt x="4844" y="1"/>
                    <a:pt x="4691" y="1"/>
                  </a:cubicBezTo>
                  <a:close/>
                </a:path>
              </a:pathLst>
            </a:custGeom>
            <a:solidFill>
              <a:srgbClr val="2524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3"/>
            <p:cNvSpPr/>
            <p:nvPr/>
          </p:nvSpPr>
          <p:spPr>
            <a:xfrm>
              <a:off x="3424825" y="4200850"/>
              <a:ext cx="148075" cy="97975"/>
            </a:xfrm>
            <a:custGeom>
              <a:avLst/>
              <a:gdLst/>
              <a:ahLst/>
              <a:cxnLst/>
              <a:rect l="l" t="t" r="r" b="b"/>
              <a:pathLst>
                <a:path w="5923" h="3919" extrusionOk="0">
                  <a:moveTo>
                    <a:pt x="4624" y="340"/>
                  </a:moveTo>
                  <a:cubicBezTo>
                    <a:pt x="4909" y="340"/>
                    <a:pt x="5194" y="498"/>
                    <a:pt x="5352" y="783"/>
                  </a:cubicBezTo>
                  <a:cubicBezTo>
                    <a:pt x="5542" y="1195"/>
                    <a:pt x="5384" y="1670"/>
                    <a:pt x="4972" y="1860"/>
                  </a:cubicBezTo>
                  <a:lnTo>
                    <a:pt x="1678" y="3507"/>
                  </a:lnTo>
                  <a:cubicBezTo>
                    <a:pt x="1562" y="3561"/>
                    <a:pt x="1440" y="3587"/>
                    <a:pt x="1320" y="3587"/>
                  </a:cubicBezTo>
                  <a:cubicBezTo>
                    <a:pt x="1018" y="3587"/>
                    <a:pt x="729" y="3422"/>
                    <a:pt x="570" y="3127"/>
                  </a:cubicBezTo>
                  <a:cubicBezTo>
                    <a:pt x="380" y="2747"/>
                    <a:pt x="538" y="2240"/>
                    <a:pt x="950" y="2050"/>
                  </a:cubicBezTo>
                  <a:lnTo>
                    <a:pt x="4244" y="403"/>
                  </a:lnTo>
                  <a:cubicBezTo>
                    <a:pt x="4370" y="372"/>
                    <a:pt x="4497" y="340"/>
                    <a:pt x="4624" y="340"/>
                  </a:cubicBezTo>
                  <a:close/>
                  <a:moveTo>
                    <a:pt x="4614" y="0"/>
                  </a:moveTo>
                  <a:cubicBezTo>
                    <a:pt x="4448" y="0"/>
                    <a:pt x="4279" y="38"/>
                    <a:pt x="4117" y="118"/>
                  </a:cubicBezTo>
                  <a:lnTo>
                    <a:pt x="823" y="1765"/>
                  </a:lnTo>
                  <a:cubicBezTo>
                    <a:pt x="253" y="2019"/>
                    <a:pt x="0" y="2715"/>
                    <a:pt x="285" y="3285"/>
                  </a:cubicBezTo>
                  <a:cubicBezTo>
                    <a:pt x="475" y="3697"/>
                    <a:pt x="887" y="3919"/>
                    <a:pt x="1330" y="3919"/>
                  </a:cubicBezTo>
                  <a:cubicBezTo>
                    <a:pt x="1488" y="3919"/>
                    <a:pt x="1678" y="3887"/>
                    <a:pt x="1837" y="3792"/>
                  </a:cubicBezTo>
                  <a:lnTo>
                    <a:pt x="5130" y="2177"/>
                  </a:lnTo>
                  <a:cubicBezTo>
                    <a:pt x="5700" y="1892"/>
                    <a:pt x="5922" y="1195"/>
                    <a:pt x="5637" y="625"/>
                  </a:cubicBezTo>
                  <a:cubicBezTo>
                    <a:pt x="5433" y="239"/>
                    <a:pt x="5034" y="0"/>
                    <a:pt x="4614" y="0"/>
                  </a:cubicBezTo>
                  <a:close/>
                </a:path>
              </a:pathLst>
            </a:custGeom>
            <a:solidFill>
              <a:srgbClr val="2524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3"/>
            <p:cNvSpPr/>
            <p:nvPr/>
          </p:nvSpPr>
          <p:spPr>
            <a:xfrm>
              <a:off x="3085150" y="3823775"/>
              <a:ext cx="149675" cy="126700"/>
            </a:xfrm>
            <a:custGeom>
              <a:avLst/>
              <a:gdLst/>
              <a:ahLst/>
              <a:cxnLst/>
              <a:rect l="l" t="t" r="r" b="b"/>
              <a:pathLst>
                <a:path w="5987" h="5068" extrusionOk="0">
                  <a:moveTo>
                    <a:pt x="3770" y="0"/>
                  </a:moveTo>
                  <a:lnTo>
                    <a:pt x="1" y="3959"/>
                  </a:lnTo>
                  <a:lnTo>
                    <a:pt x="539" y="5067"/>
                  </a:lnTo>
                  <a:lnTo>
                    <a:pt x="5986" y="4497"/>
                  </a:lnTo>
                  <a:lnTo>
                    <a:pt x="5448" y="3389"/>
                  </a:lnTo>
                  <a:lnTo>
                    <a:pt x="1711" y="3801"/>
                  </a:lnTo>
                  <a:lnTo>
                    <a:pt x="4308" y="1109"/>
                  </a:lnTo>
                  <a:lnTo>
                    <a:pt x="3770" y="0"/>
                  </a:ln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3"/>
            <p:cNvSpPr/>
            <p:nvPr/>
          </p:nvSpPr>
          <p:spPr>
            <a:xfrm>
              <a:off x="3259350" y="3683625"/>
              <a:ext cx="58600" cy="311975"/>
            </a:xfrm>
            <a:custGeom>
              <a:avLst/>
              <a:gdLst/>
              <a:ahLst/>
              <a:cxnLst/>
              <a:rect l="l" t="t" r="r" b="b"/>
              <a:pathLst>
                <a:path w="2344" h="12479" extrusionOk="0">
                  <a:moveTo>
                    <a:pt x="1330" y="1"/>
                  </a:moveTo>
                  <a:lnTo>
                    <a:pt x="0" y="666"/>
                  </a:lnTo>
                  <a:lnTo>
                    <a:pt x="982" y="12479"/>
                  </a:lnTo>
                  <a:lnTo>
                    <a:pt x="2344" y="11813"/>
                  </a:lnTo>
                  <a:lnTo>
                    <a:pt x="1330" y="1"/>
                  </a:ln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3"/>
            <p:cNvSpPr/>
            <p:nvPr/>
          </p:nvSpPr>
          <p:spPr>
            <a:xfrm>
              <a:off x="3342475" y="3728775"/>
              <a:ext cx="149650" cy="126700"/>
            </a:xfrm>
            <a:custGeom>
              <a:avLst/>
              <a:gdLst/>
              <a:ahLst/>
              <a:cxnLst/>
              <a:rect l="l" t="t" r="r" b="b"/>
              <a:pathLst>
                <a:path w="5986" h="5068" extrusionOk="0">
                  <a:moveTo>
                    <a:pt x="5416" y="0"/>
                  </a:moveTo>
                  <a:lnTo>
                    <a:pt x="0" y="570"/>
                  </a:lnTo>
                  <a:lnTo>
                    <a:pt x="539" y="1710"/>
                  </a:lnTo>
                  <a:lnTo>
                    <a:pt x="4276" y="1267"/>
                  </a:lnTo>
                  <a:lnTo>
                    <a:pt x="1647" y="3959"/>
                  </a:lnTo>
                  <a:lnTo>
                    <a:pt x="2217" y="5067"/>
                  </a:lnTo>
                  <a:lnTo>
                    <a:pt x="5986" y="1109"/>
                  </a:lnTo>
                  <a:lnTo>
                    <a:pt x="5416" y="0"/>
                  </a:ln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3"/>
            <p:cNvSpPr/>
            <p:nvPr/>
          </p:nvSpPr>
          <p:spPr>
            <a:xfrm>
              <a:off x="3644925" y="3248200"/>
              <a:ext cx="1771100" cy="341250"/>
            </a:xfrm>
            <a:custGeom>
              <a:avLst/>
              <a:gdLst/>
              <a:ahLst/>
              <a:cxnLst/>
              <a:rect l="l" t="t" r="r" b="b"/>
              <a:pathLst>
                <a:path w="70844" h="13650" extrusionOk="0">
                  <a:moveTo>
                    <a:pt x="23340" y="0"/>
                  </a:moveTo>
                  <a:cubicBezTo>
                    <a:pt x="21123" y="0"/>
                    <a:pt x="19001" y="887"/>
                    <a:pt x="17418" y="2470"/>
                  </a:cubicBezTo>
                  <a:lnTo>
                    <a:pt x="9374" y="10483"/>
                  </a:lnTo>
                  <a:cubicBezTo>
                    <a:pt x="8012" y="11876"/>
                    <a:pt x="6144" y="12668"/>
                    <a:pt x="4180" y="12668"/>
                  </a:cubicBezTo>
                  <a:lnTo>
                    <a:pt x="0" y="12668"/>
                  </a:lnTo>
                  <a:lnTo>
                    <a:pt x="0" y="13649"/>
                  </a:lnTo>
                  <a:lnTo>
                    <a:pt x="4180" y="13649"/>
                  </a:lnTo>
                  <a:cubicBezTo>
                    <a:pt x="6429" y="13649"/>
                    <a:pt x="8519" y="12794"/>
                    <a:pt x="10102" y="11211"/>
                  </a:cubicBezTo>
                  <a:lnTo>
                    <a:pt x="18146" y="3167"/>
                  </a:lnTo>
                  <a:cubicBezTo>
                    <a:pt x="19571" y="1726"/>
                    <a:pt x="21456" y="1006"/>
                    <a:pt x="23344" y="1006"/>
                  </a:cubicBezTo>
                  <a:cubicBezTo>
                    <a:pt x="25232" y="1006"/>
                    <a:pt x="27125" y="1726"/>
                    <a:pt x="28566" y="3167"/>
                  </a:cubicBezTo>
                  <a:lnTo>
                    <a:pt x="32841" y="7474"/>
                  </a:lnTo>
                  <a:cubicBezTo>
                    <a:pt x="34424" y="9057"/>
                    <a:pt x="36546" y="9912"/>
                    <a:pt x="38763" y="9912"/>
                  </a:cubicBezTo>
                  <a:cubicBezTo>
                    <a:pt x="41011" y="9912"/>
                    <a:pt x="43102" y="9057"/>
                    <a:pt x="44685" y="7474"/>
                  </a:cubicBezTo>
                  <a:cubicBezTo>
                    <a:pt x="46079" y="6081"/>
                    <a:pt x="47947" y="5320"/>
                    <a:pt x="49910" y="5320"/>
                  </a:cubicBezTo>
                  <a:cubicBezTo>
                    <a:pt x="51874" y="5320"/>
                    <a:pt x="53711" y="6081"/>
                    <a:pt x="55104" y="7474"/>
                  </a:cubicBezTo>
                  <a:lnTo>
                    <a:pt x="55706" y="8076"/>
                  </a:lnTo>
                  <a:cubicBezTo>
                    <a:pt x="57337" y="9707"/>
                    <a:pt x="59482" y="10522"/>
                    <a:pt x="61628" y="10522"/>
                  </a:cubicBezTo>
                  <a:cubicBezTo>
                    <a:pt x="63774" y="10522"/>
                    <a:pt x="65919" y="9707"/>
                    <a:pt x="67550" y="8076"/>
                  </a:cubicBezTo>
                  <a:lnTo>
                    <a:pt x="70844" y="4782"/>
                  </a:lnTo>
                  <a:lnTo>
                    <a:pt x="70147" y="4054"/>
                  </a:lnTo>
                  <a:lnTo>
                    <a:pt x="66853" y="7379"/>
                  </a:lnTo>
                  <a:cubicBezTo>
                    <a:pt x="65412" y="8804"/>
                    <a:pt x="63528" y="9517"/>
                    <a:pt x="61644" y="9517"/>
                  </a:cubicBezTo>
                  <a:cubicBezTo>
                    <a:pt x="59760" y="9517"/>
                    <a:pt x="57875" y="8804"/>
                    <a:pt x="56434" y="7379"/>
                  </a:cubicBezTo>
                  <a:lnTo>
                    <a:pt x="55833" y="6746"/>
                  </a:lnTo>
                  <a:cubicBezTo>
                    <a:pt x="54249" y="5194"/>
                    <a:pt x="52127" y="4307"/>
                    <a:pt x="49910" y="4307"/>
                  </a:cubicBezTo>
                  <a:cubicBezTo>
                    <a:pt x="47662" y="4307"/>
                    <a:pt x="45572" y="5194"/>
                    <a:pt x="43988" y="6777"/>
                  </a:cubicBezTo>
                  <a:cubicBezTo>
                    <a:pt x="42547" y="8202"/>
                    <a:pt x="40663" y="8915"/>
                    <a:pt x="38779" y="8915"/>
                  </a:cubicBezTo>
                  <a:cubicBezTo>
                    <a:pt x="36894" y="8915"/>
                    <a:pt x="35010" y="8202"/>
                    <a:pt x="33569" y="6777"/>
                  </a:cubicBezTo>
                  <a:lnTo>
                    <a:pt x="29262" y="2470"/>
                  </a:lnTo>
                  <a:cubicBezTo>
                    <a:pt x="27679" y="887"/>
                    <a:pt x="25589" y="0"/>
                    <a:pt x="23340"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3"/>
            <p:cNvSpPr/>
            <p:nvPr/>
          </p:nvSpPr>
          <p:spPr>
            <a:xfrm>
              <a:off x="4161125" y="3203850"/>
              <a:ext cx="114025" cy="114025"/>
            </a:xfrm>
            <a:custGeom>
              <a:avLst/>
              <a:gdLst/>
              <a:ahLst/>
              <a:cxnLst/>
              <a:rect l="l" t="t" r="r" b="b"/>
              <a:pathLst>
                <a:path w="4561" h="4561" extrusionOk="0">
                  <a:moveTo>
                    <a:pt x="2280" y="349"/>
                  </a:moveTo>
                  <a:cubicBezTo>
                    <a:pt x="3325" y="349"/>
                    <a:pt x="4212" y="1204"/>
                    <a:pt x="4212" y="2281"/>
                  </a:cubicBezTo>
                  <a:cubicBezTo>
                    <a:pt x="4212" y="3358"/>
                    <a:pt x="3325" y="4213"/>
                    <a:pt x="2280" y="4213"/>
                  </a:cubicBezTo>
                  <a:cubicBezTo>
                    <a:pt x="1204" y="4213"/>
                    <a:pt x="317" y="3358"/>
                    <a:pt x="317" y="2281"/>
                  </a:cubicBezTo>
                  <a:cubicBezTo>
                    <a:pt x="317" y="1204"/>
                    <a:pt x="1204" y="349"/>
                    <a:pt x="2280" y="349"/>
                  </a:cubicBezTo>
                  <a:close/>
                  <a:moveTo>
                    <a:pt x="2280" y="1"/>
                  </a:moveTo>
                  <a:cubicBezTo>
                    <a:pt x="1014" y="1"/>
                    <a:pt x="0" y="1014"/>
                    <a:pt x="0" y="2281"/>
                  </a:cubicBezTo>
                  <a:cubicBezTo>
                    <a:pt x="0" y="3548"/>
                    <a:pt x="1014" y="4561"/>
                    <a:pt x="2280" y="4561"/>
                  </a:cubicBezTo>
                  <a:cubicBezTo>
                    <a:pt x="3516" y="4561"/>
                    <a:pt x="4561" y="3548"/>
                    <a:pt x="4561" y="2281"/>
                  </a:cubicBezTo>
                  <a:cubicBezTo>
                    <a:pt x="4561" y="1014"/>
                    <a:pt x="3516" y="1"/>
                    <a:pt x="2280"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3"/>
            <p:cNvSpPr/>
            <p:nvPr/>
          </p:nvSpPr>
          <p:spPr>
            <a:xfrm>
              <a:off x="4571225" y="3445325"/>
              <a:ext cx="75250" cy="76025"/>
            </a:xfrm>
            <a:custGeom>
              <a:avLst/>
              <a:gdLst/>
              <a:ahLst/>
              <a:cxnLst/>
              <a:rect l="l" t="t" r="r" b="b"/>
              <a:pathLst>
                <a:path w="3010" h="3041" extrusionOk="0">
                  <a:moveTo>
                    <a:pt x="1489" y="349"/>
                  </a:moveTo>
                  <a:cubicBezTo>
                    <a:pt x="2154" y="349"/>
                    <a:pt x="2661" y="887"/>
                    <a:pt x="2661" y="1521"/>
                  </a:cubicBezTo>
                  <a:cubicBezTo>
                    <a:pt x="2661" y="2186"/>
                    <a:pt x="2154" y="2693"/>
                    <a:pt x="1489" y="2693"/>
                  </a:cubicBezTo>
                  <a:cubicBezTo>
                    <a:pt x="856" y="2693"/>
                    <a:pt x="318" y="2186"/>
                    <a:pt x="318" y="1521"/>
                  </a:cubicBezTo>
                  <a:cubicBezTo>
                    <a:pt x="318" y="887"/>
                    <a:pt x="856" y="349"/>
                    <a:pt x="1489" y="349"/>
                  </a:cubicBezTo>
                  <a:close/>
                  <a:moveTo>
                    <a:pt x="1489" y="1"/>
                  </a:moveTo>
                  <a:cubicBezTo>
                    <a:pt x="666" y="1"/>
                    <a:pt x="1" y="697"/>
                    <a:pt x="1" y="1521"/>
                  </a:cubicBezTo>
                  <a:cubicBezTo>
                    <a:pt x="1" y="2376"/>
                    <a:pt x="666" y="3041"/>
                    <a:pt x="1489" y="3041"/>
                  </a:cubicBezTo>
                  <a:cubicBezTo>
                    <a:pt x="2344" y="3041"/>
                    <a:pt x="3009" y="2376"/>
                    <a:pt x="3009" y="1521"/>
                  </a:cubicBezTo>
                  <a:cubicBezTo>
                    <a:pt x="3009" y="697"/>
                    <a:pt x="2344" y="1"/>
                    <a:pt x="1489"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3"/>
            <p:cNvSpPr/>
            <p:nvPr/>
          </p:nvSpPr>
          <p:spPr>
            <a:xfrm>
              <a:off x="5119100" y="3445325"/>
              <a:ext cx="105325" cy="105325"/>
            </a:xfrm>
            <a:custGeom>
              <a:avLst/>
              <a:gdLst/>
              <a:ahLst/>
              <a:cxnLst/>
              <a:rect l="l" t="t" r="r" b="b"/>
              <a:pathLst>
                <a:path w="4213" h="4213" extrusionOk="0">
                  <a:moveTo>
                    <a:pt x="2123" y="349"/>
                  </a:moveTo>
                  <a:cubicBezTo>
                    <a:pt x="3073" y="349"/>
                    <a:pt x="3864" y="1141"/>
                    <a:pt x="3864" y="2122"/>
                  </a:cubicBezTo>
                  <a:cubicBezTo>
                    <a:pt x="3864" y="3073"/>
                    <a:pt x="3073" y="3864"/>
                    <a:pt x="2123" y="3864"/>
                  </a:cubicBezTo>
                  <a:cubicBezTo>
                    <a:pt x="1141" y="3864"/>
                    <a:pt x="349" y="3073"/>
                    <a:pt x="349" y="2122"/>
                  </a:cubicBezTo>
                  <a:cubicBezTo>
                    <a:pt x="349" y="1141"/>
                    <a:pt x="1141" y="349"/>
                    <a:pt x="2123" y="349"/>
                  </a:cubicBezTo>
                  <a:close/>
                  <a:moveTo>
                    <a:pt x="2123" y="1"/>
                  </a:moveTo>
                  <a:cubicBezTo>
                    <a:pt x="951" y="1"/>
                    <a:pt x="1" y="951"/>
                    <a:pt x="1" y="2122"/>
                  </a:cubicBezTo>
                  <a:cubicBezTo>
                    <a:pt x="1" y="3263"/>
                    <a:pt x="951" y="4213"/>
                    <a:pt x="2123" y="4213"/>
                  </a:cubicBezTo>
                  <a:cubicBezTo>
                    <a:pt x="3263" y="4213"/>
                    <a:pt x="4213" y="3263"/>
                    <a:pt x="4213" y="2122"/>
                  </a:cubicBezTo>
                  <a:cubicBezTo>
                    <a:pt x="4213" y="951"/>
                    <a:pt x="3263" y="1"/>
                    <a:pt x="2123"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3"/>
            <p:cNvSpPr/>
            <p:nvPr/>
          </p:nvSpPr>
          <p:spPr>
            <a:xfrm>
              <a:off x="5355050" y="3305975"/>
              <a:ext cx="105325" cy="105325"/>
            </a:xfrm>
            <a:custGeom>
              <a:avLst/>
              <a:gdLst/>
              <a:ahLst/>
              <a:cxnLst/>
              <a:rect l="l" t="t" r="r" b="b"/>
              <a:pathLst>
                <a:path w="4213" h="4213" extrusionOk="0">
                  <a:moveTo>
                    <a:pt x="2090" y="349"/>
                  </a:moveTo>
                  <a:cubicBezTo>
                    <a:pt x="3072" y="349"/>
                    <a:pt x="3864" y="1141"/>
                    <a:pt x="3864" y="2123"/>
                  </a:cubicBezTo>
                  <a:cubicBezTo>
                    <a:pt x="3864" y="3073"/>
                    <a:pt x="3072" y="3865"/>
                    <a:pt x="2090" y="3865"/>
                  </a:cubicBezTo>
                  <a:cubicBezTo>
                    <a:pt x="1140" y="3865"/>
                    <a:pt x="349" y="3073"/>
                    <a:pt x="349" y="2091"/>
                  </a:cubicBezTo>
                  <a:cubicBezTo>
                    <a:pt x="349" y="1141"/>
                    <a:pt x="1140" y="349"/>
                    <a:pt x="2090" y="349"/>
                  </a:cubicBezTo>
                  <a:close/>
                  <a:moveTo>
                    <a:pt x="2090" y="1"/>
                  </a:moveTo>
                  <a:cubicBezTo>
                    <a:pt x="950" y="1"/>
                    <a:pt x="0" y="951"/>
                    <a:pt x="0" y="2123"/>
                  </a:cubicBezTo>
                  <a:cubicBezTo>
                    <a:pt x="0" y="3263"/>
                    <a:pt x="950" y="4213"/>
                    <a:pt x="2090" y="4213"/>
                  </a:cubicBezTo>
                  <a:cubicBezTo>
                    <a:pt x="3262" y="4213"/>
                    <a:pt x="4212" y="3263"/>
                    <a:pt x="4212" y="2123"/>
                  </a:cubicBezTo>
                  <a:cubicBezTo>
                    <a:pt x="4212" y="951"/>
                    <a:pt x="3262" y="1"/>
                    <a:pt x="2090"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3"/>
            <p:cNvSpPr/>
            <p:nvPr/>
          </p:nvSpPr>
          <p:spPr>
            <a:xfrm>
              <a:off x="5377200" y="3328150"/>
              <a:ext cx="61000" cy="61000"/>
            </a:xfrm>
            <a:custGeom>
              <a:avLst/>
              <a:gdLst/>
              <a:ahLst/>
              <a:cxnLst/>
              <a:rect l="l" t="t" r="r" b="b"/>
              <a:pathLst>
                <a:path w="2440" h="2440" extrusionOk="0">
                  <a:moveTo>
                    <a:pt x="1204" y="1"/>
                  </a:moveTo>
                  <a:cubicBezTo>
                    <a:pt x="539" y="1"/>
                    <a:pt x="1" y="539"/>
                    <a:pt x="1" y="1204"/>
                  </a:cubicBezTo>
                  <a:cubicBezTo>
                    <a:pt x="1" y="1901"/>
                    <a:pt x="539" y="2439"/>
                    <a:pt x="1204" y="2439"/>
                  </a:cubicBezTo>
                  <a:cubicBezTo>
                    <a:pt x="1869" y="2439"/>
                    <a:pt x="2439" y="1901"/>
                    <a:pt x="2439" y="1204"/>
                  </a:cubicBezTo>
                  <a:cubicBezTo>
                    <a:pt x="2439" y="539"/>
                    <a:pt x="1869" y="1"/>
                    <a:pt x="1204"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3"/>
            <p:cNvSpPr/>
            <p:nvPr/>
          </p:nvSpPr>
          <p:spPr>
            <a:xfrm>
              <a:off x="3592650" y="3524500"/>
              <a:ext cx="104550" cy="105325"/>
            </a:xfrm>
            <a:custGeom>
              <a:avLst/>
              <a:gdLst/>
              <a:ahLst/>
              <a:cxnLst/>
              <a:rect l="l" t="t" r="r" b="b"/>
              <a:pathLst>
                <a:path w="4182" h="4213" extrusionOk="0">
                  <a:moveTo>
                    <a:pt x="2091" y="349"/>
                  </a:moveTo>
                  <a:cubicBezTo>
                    <a:pt x="3073" y="349"/>
                    <a:pt x="3864" y="1109"/>
                    <a:pt x="3864" y="2091"/>
                  </a:cubicBezTo>
                  <a:cubicBezTo>
                    <a:pt x="3864" y="3072"/>
                    <a:pt x="3073" y="3864"/>
                    <a:pt x="2091" y="3864"/>
                  </a:cubicBezTo>
                  <a:cubicBezTo>
                    <a:pt x="1141" y="3864"/>
                    <a:pt x="349" y="3072"/>
                    <a:pt x="349" y="2091"/>
                  </a:cubicBezTo>
                  <a:cubicBezTo>
                    <a:pt x="349" y="1141"/>
                    <a:pt x="1109" y="349"/>
                    <a:pt x="2091" y="349"/>
                  </a:cubicBezTo>
                  <a:close/>
                  <a:moveTo>
                    <a:pt x="2091" y="1"/>
                  </a:moveTo>
                  <a:cubicBezTo>
                    <a:pt x="951" y="1"/>
                    <a:pt x="1" y="951"/>
                    <a:pt x="1" y="2091"/>
                  </a:cubicBezTo>
                  <a:cubicBezTo>
                    <a:pt x="1" y="3262"/>
                    <a:pt x="951" y="4213"/>
                    <a:pt x="2091" y="4213"/>
                  </a:cubicBezTo>
                  <a:cubicBezTo>
                    <a:pt x="3263" y="4213"/>
                    <a:pt x="4181" y="3262"/>
                    <a:pt x="4181" y="2091"/>
                  </a:cubicBezTo>
                  <a:cubicBezTo>
                    <a:pt x="4181" y="951"/>
                    <a:pt x="3263" y="1"/>
                    <a:pt x="2091"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3"/>
            <p:cNvSpPr/>
            <p:nvPr/>
          </p:nvSpPr>
          <p:spPr>
            <a:xfrm>
              <a:off x="3614825" y="3546675"/>
              <a:ext cx="61000" cy="60975"/>
            </a:xfrm>
            <a:custGeom>
              <a:avLst/>
              <a:gdLst/>
              <a:ahLst/>
              <a:cxnLst/>
              <a:rect l="l" t="t" r="r" b="b"/>
              <a:pathLst>
                <a:path w="2440" h="2439" extrusionOk="0">
                  <a:moveTo>
                    <a:pt x="1204" y="0"/>
                  </a:moveTo>
                  <a:cubicBezTo>
                    <a:pt x="539" y="0"/>
                    <a:pt x="1" y="539"/>
                    <a:pt x="1" y="1204"/>
                  </a:cubicBezTo>
                  <a:cubicBezTo>
                    <a:pt x="1" y="1900"/>
                    <a:pt x="539" y="2439"/>
                    <a:pt x="1204" y="2439"/>
                  </a:cubicBezTo>
                  <a:cubicBezTo>
                    <a:pt x="1869" y="2439"/>
                    <a:pt x="2439" y="1900"/>
                    <a:pt x="2439" y="1204"/>
                  </a:cubicBezTo>
                  <a:cubicBezTo>
                    <a:pt x="2439" y="539"/>
                    <a:pt x="1869" y="0"/>
                    <a:pt x="1204"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3"/>
            <p:cNvSpPr/>
            <p:nvPr/>
          </p:nvSpPr>
          <p:spPr>
            <a:xfrm>
              <a:off x="4880000" y="2948925"/>
              <a:ext cx="173425" cy="24550"/>
            </a:xfrm>
            <a:custGeom>
              <a:avLst/>
              <a:gdLst/>
              <a:ahLst/>
              <a:cxnLst/>
              <a:rect l="l" t="t" r="r" b="b"/>
              <a:pathLst>
                <a:path w="6937" h="982" extrusionOk="0">
                  <a:moveTo>
                    <a:pt x="507" y="0"/>
                  </a:moveTo>
                  <a:cubicBezTo>
                    <a:pt x="222" y="0"/>
                    <a:pt x="1" y="222"/>
                    <a:pt x="1" y="507"/>
                  </a:cubicBezTo>
                  <a:cubicBezTo>
                    <a:pt x="1" y="760"/>
                    <a:pt x="222" y="982"/>
                    <a:pt x="507" y="982"/>
                  </a:cubicBezTo>
                  <a:lnTo>
                    <a:pt x="6430" y="982"/>
                  </a:lnTo>
                  <a:cubicBezTo>
                    <a:pt x="6715" y="982"/>
                    <a:pt x="6936" y="760"/>
                    <a:pt x="6936" y="507"/>
                  </a:cubicBezTo>
                  <a:cubicBezTo>
                    <a:pt x="6936" y="222"/>
                    <a:pt x="6715" y="0"/>
                    <a:pt x="6430"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3"/>
            <p:cNvSpPr/>
            <p:nvPr/>
          </p:nvSpPr>
          <p:spPr>
            <a:xfrm>
              <a:off x="5108025" y="2948925"/>
              <a:ext cx="81575" cy="24550"/>
            </a:xfrm>
            <a:custGeom>
              <a:avLst/>
              <a:gdLst/>
              <a:ahLst/>
              <a:cxnLst/>
              <a:rect l="l" t="t" r="r" b="b"/>
              <a:pathLst>
                <a:path w="3263" h="982" extrusionOk="0">
                  <a:moveTo>
                    <a:pt x="507" y="0"/>
                  </a:moveTo>
                  <a:cubicBezTo>
                    <a:pt x="222" y="0"/>
                    <a:pt x="0" y="222"/>
                    <a:pt x="0" y="507"/>
                  </a:cubicBezTo>
                  <a:cubicBezTo>
                    <a:pt x="0" y="760"/>
                    <a:pt x="222" y="982"/>
                    <a:pt x="507" y="982"/>
                  </a:cubicBezTo>
                  <a:lnTo>
                    <a:pt x="2756" y="982"/>
                  </a:lnTo>
                  <a:cubicBezTo>
                    <a:pt x="3041" y="982"/>
                    <a:pt x="3262" y="760"/>
                    <a:pt x="3262" y="507"/>
                  </a:cubicBezTo>
                  <a:cubicBezTo>
                    <a:pt x="3262" y="222"/>
                    <a:pt x="3041" y="0"/>
                    <a:pt x="2756"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3"/>
            <p:cNvSpPr/>
            <p:nvPr/>
          </p:nvSpPr>
          <p:spPr>
            <a:xfrm>
              <a:off x="5300425" y="2948925"/>
              <a:ext cx="58600" cy="24550"/>
            </a:xfrm>
            <a:custGeom>
              <a:avLst/>
              <a:gdLst/>
              <a:ahLst/>
              <a:cxnLst/>
              <a:rect l="l" t="t" r="r" b="b"/>
              <a:pathLst>
                <a:path w="2344" h="982" extrusionOk="0">
                  <a:moveTo>
                    <a:pt x="507" y="0"/>
                  </a:moveTo>
                  <a:cubicBezTo>
                    <a:pt x="222" y="0"/>
                    <a:pt x="0" y="222"/>
                    <a:pt x="0" y="507"/>
                  </a:cubicBezTo>
                  <a:cubicBezTo>
                    <a:pt x="0" y="760"/>
                    <a:pt x="222" y="982"/>
                    <a:pt x="507" y="982"/>
                  </a:cubicBezTo>
                  <a:lnTo>
                    <a:pt x="1837" y="982"/>
                  </a:lnTo>
                  <a:cubicBezTo>
                    <a:pt x="2122" y="982"/>
                    <a:pt x="2344" y="760"/>
                    <a:pt x="2344" y="507"/>
                  </a:cubicBezTo>
                  <a:cubicBezTo>
                    <a:pt x="2344" y="222"/>
                    <a:pt x="2122" y="0"/>
                    <a:pt x="1837"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3"/>
            <p:cNvSpPr/>
            <p:nvPr/>
          </p:nvSpPr>
          <p:spPr>
            <a:xfrm>
              <a:off x="5127025" y="3021750"/>
              <a:ext cx="197950" cy="25375"/>
            </a:xfrm>
            <a:custGeom>
              <a:avLst/>
              <a:gdLst/>
              <a:ahLst/>
              <a:cxnLst/>
              <a:rect l="l" t="t" r="r" b="b"/>
              <a:pathLst>
                <a:path w="7918" h="1015" extrusionOk="0">
                  <a:moveTo>
                    <a:pt x="507" y="1"/>
                  </a:moveTo>
                  <a:cubicBezTo>
                    <a:pt x="222" y="1"/>
                    <a:pt x="1" y="222"/>
                    <a:pt x="1" y="508"/>
                  </a:cubicBezTo>
                  <a:cubicBezTo>
                    <a:pt x="1" y="793"/>
                    <a:pt x="222" y="1014"/>
                    <a:pt x="507" y="1014"/>
                  </a:cubicBezTo>
                  <a:lnTo>
                    <a:pt x="7443" y="1014"/>
                  </a:lnTo>
                  <a:cubicBezTo>
                    <a:pt x="7696" y="1014"/>
                    <a:pt x="7918" y="793"/>
                    <a:pt x="7918" y="508"/>
                  </a:cubicBezTo>
                  <a:cubicBezTo>
                    <a:pt x="7918" y="222"/>
                    <a:pt x="7696" y="1"/>
                    <a:pt x="7443"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3"/>
            <p:cNvSpPr/>
            <p:nvPr/>
          </p:nvSpPr>
          <p:spPr>
            <a:xfrm>
              <a:off x="3979025" y="3617125"/>
              <a:ext cx="119575" cy="24575"/>
            </a:xfrm>
            <a:custGeom>
              <a:avLst/>
              <a:gdLst/>
              <a:ahLst/>
              <a:cxnLst/>
              <a:rect l="l" t="t" r="r" b="b"/>
              <a:pathLst>
                <a:path w="4783" h="983" extrusionOk="0">
                  <a:moveTo>
                    <a:pt x="507" y="1"/>
                  </a:moveTo>
                  <a:cubicBezTo>
                    <a:pt x="222" y="1"/>
                    <a:pt x="0" y="222"/>
                    <a:pt x="0" y="508"/>
                  </a:cubicBezTo>
                  <a:cubicBezTo>
                    <a:pt x="0" y="761"/>
                    <a:pt x="222" y="983"/>
                    <a:pt x="507" y="983"/>
                  </a:cubicBezTo>
                  <a:lnTo>
                    <a:pt x="4307" y="983"/>
                  </a:lnTo>
                  <a:cubicBezTo>
                    <a:pt x="4561" y="983"/>
                    <a:pt x="4782" y="761"/>
                    <a:pt x="4782" y="508"/>
                  </a:cubicBezTo>
                  <a:cubicBezTo>
                    <a:pt x="4782" y="222"/>
                    <a:pt x="4561" y="1"/>
                    <a:pt x="4307"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3"/>
            <p:cNvSpPr/>
            <p:nvPr/>
          </p:nvSpPr>
          <p:spPr>
            <a:xfrm>
              <a:off x="4148450" y="3617125"/>
              <a:ext cx="50700" cy="24575"/>
            </a:xfrm>
            <a:custGeom>
              <a:avLst/>
              <a:gdLst/>
              <a:ahLst/>
              <a:cxnLst/>
              <a:rect l="l" t="t" r="r" b="b"/>
              <a:pathLst>
                <a:path w="2028" h="983" extrusionOk="0">
                  <a:moveTo>
                    <a:pt x="507" y="1"/>
                  </a:moveTo>
                  <a:cubicBezTo>
                    <a:pt x="222" y="1"/>
                    <a:pt x="1" y="222"/>
                    <a:pt x="1" y="508"/>
                  </a:cubicBezTo>
                  <a:cubicBezTo>
                    <a:pt x="1" y="761"/>
                    <a:pt x="222" y="983"/>
                    <a:pt x="507" y="983"/>
                  </a:cubicBezTo>
                  <a:lnTo>
                    <a:pt x="1521" y="983"/>
                  </a:lnTo>
                  <a:cubicBezTo>
                    <a:pt x="1806" y="983"/>
                    <a:pt x="2027" y="761"/>
                    <a:pt x="2027" y="508"/>
                  </a:cubicBezTo>
                  <a:cubicBezTo>
                    <a:pt x="2027" y="222"/>
                    <a:pt x="1806" y="1"/>
                    <a:pt x="1521"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3"/>
            <p:cNvSpPr/>
            <p:nvPr/>
          </p:nvSpPr>
          <p:spPr>
            <a:xfrm>
              <a:off x="4750175" y="3617125"/>
              <a:ext cx="136975" cy="24575"/>
            </a:xfrm>
            <a:custGeom>
              <a:avLst/>
              <a:gdLst/>
              <a:ahLst/>
              <a:cxnLst/>
              <a:rect l="l" t="t" r="r" b="b"/>
              <a:pathLst>
                <a:path w="5479" h="983" extrusionOk="0">
                  <a:moveTo>
                    <a:pt x="475" y="1"/>
                  </a:moveTo>
                  <a:cubicBezTo>
                    <a:pt x="222" y="1"/>
                    <a:pt x="0" y="222"/>
                    <a:pt x="0" y="508"/>
                  </a:cubicBezTo>
                  <a:cubicBezTo>
                    <a:pt x="0" y="761"/>
                    <a:pt x="222" y="983"/>
                    <a:pt x="475" y="983"/>
                  </a:cubicBezTo>
                  <a:lnTo>
                    <a:pt x="4972" y="983"/>
                  </a:lnTo>
                  <a:cubicBezTo>
                    <a:pt x="5257" y="983"/>
                    <a:pt x="5479" y="761"/>
                    <a:pt x="5479" y="508"/>
                  </a:cubicBezTo>
                  <a:cubicBezTo>
                    <a:pt x="5479" y="222"/>
                    <a:pt x="5257" y="1"/>
                    <a:pt x="4972"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3"/>
            <p:cNvSpPr/>
            <p:nvPr/>
          </p:nvSpPr>
          <p:spPr>
            <a:xfrm>
              <a:off x="4933850" y="3617125"/>
              <a:ext cx="58600" cy="24575"/>
            </a:xfrm>
            <a:custGeom>
              <a:avLst/>
              <a:gdLst/>
              <a:ahLst/>
              <a:cxnLst/>
              <a:rect l="l" t="t" r="r" b="b"/>
              <a:pathLst>
                <a:path w="2344" h="983" extrusionOk="0">
                  <a:moveTo>
                    <a:pt x="507" y="1"/>
                  </a:moveTo>
                  <a:cubicBezTo>
                    <a:pt x="222" y="1"/>
                    <a:pt x="0" y="222"/>
                    <a:pt x="0" y="508"/>
                  </a:cubicBezTo>
                  <a:cubicBezTo>
                    <a:pt x="0" y="761"/>
                    <a:pt x="222" y="983"/>
                    <a:pt x="507" y="983"/>
                  </a:cubicBezTo>
                  <a:lnTo>
                    <a:pt x="1837" y="983"/>
                  </a:lnTo>
                  <a:cubicBezTo>
                    <a:pt x="2122" y="983"/>
                    <a:pt x="2344" y="761"/>
                    <a:pt x="2344" y="508"/>
                  </a:cubicBezTo>
                  <a:cubicBezTo>
                    <a:pt x="2344" y="222"/>
                    <a:pt x="2122" y="1"/>
                    <a:pt x="18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3"/>
            <p:cNvSpPr/>
            <p:nvPr/>
          </p:nvSpPr>
          <p:spPr>
            <a:xfrm>
              <a:off x="5163450" y="3617125"/>
              <a:ext cx="73650" cy="24575"/>
            </a:xfrm>
            <a:custGeom>
              <a:avLst/>
              <a:gdLst/>
              <a:ahLst/>
              <a:cxnLst/>
              <a:rect l="l" t="t" r="r" b="b"/>
              <a:pathLst>
                <a:path w="2946" h="983" extrusionOk="0">
                  <a:moveTo>
                    <a:pt x="507" y="1"/>
                  </a:moveTo>
                  <a:cubicBezTo>
                    <a:pt x="222" y="1"/>
                    <a:pt x="0" y="222"/>
                    <a:pt x="0" y="508"/>
                  </a:cubicBezTo>
                  <a:cubicBezTo>
                    <a:pt x="0" y="761"/>
                    <a:pt x="222" y="983"/>
                    <a:pt x="507" y="983"/>
                  </a:cubicBezTo>
                  <a:lnTo>
                    <a:pt x="2439" y="983"/>
                  </a:lnTo>
                  <a:cubicBezTo>
                    <a:pt x="2724" y="983"/>
                    <a:pt x="2946" y="761"/>
                    <a:pt x="2946" y="508"/>
                  </a:cubicBezTo>
                  <a:cubicBezTo>
                    <a:pt x="2946" y="222"/>
                    <a:pt x="2724" y="1"/>
                    <a:pt x="2439"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3"/>
            <p:cNvSpPr/>
            <p:nvPr/>
          </p:nvSpPr>
          <p:spPr>
            <a:xfrm>
              <a:off x="3676575" y="2937825"/>
              <a:ext cx="139375" cy="25375"/>
            </a:xfrm>
            <a:custGeom>
              <a:avLst/>
              <a:gdLst/>
              <a:ahLst/>
              <a:cxnLst/>
              <a:rect l="l" t="t" r="r" b="b"/>
              <a:pathLst>
                <a:path w="5575" h="1015" extrusionOk="0">
                  <a:moveTo>
                    <a:pt x="507" y="1"/>
                  </a:moveTo>
                  <a:cubicBezTo>
                    <a:pt x="222" y="1"/>
                    <a:pt x="1" y="254"/>
                    <a:pt x="1" y="508"/>
                  </a:cubicBezTo>
                  <a:cubicBezTo>
                    <a:pt x="1" y="793"/>
                    <a:pt x="222" y="1014"/>
                    <a:pt x="507" y="1014"/>
                  </a:cubicBezTo>
                  <a:lnTo>
                    <a:pt x="5068" y="1014"/>
                  </a:lnTo>
                  <a:cubicBezTo>
                    <a:pt x="5321" y="1014"/>
                    <a:pt x="5575" y="793"/>
                    <a:pt x="5543" y="508"/>
                  </a:cubicBezTo>
                  <a:cubicBezTo>
                    <a:pt x="5543" y="223"/>
                    <a:pt x="5321" y="1"/>
                    <a:pt x="5068"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3"/>
            <p:cNvSpPr/>
            <p:nvPr/>
          </p:nvSpPr>
          <p:spPr>
            <a:xfrm>
              <a:off x="3852350" y="2937825"/>
              <a:ext cx="68100" cy="25375"/>
            </a:xfrm>
            <a:custGeom>
              <a:avLst/>
              <a:gdLst/>
              <a:ahLst/>
              <a:cxnLst/>
              <a:rect l="l" t="t" r="r" b="b"/>
              <a:pathLst>
                <a:path w="2724" h="1015" extrusionOk="0">
                  <a:moveTo>
                    <a:pt x="507" y="1"/>
                  </a:moveTo>
                  <a:cubicBezTo>
                    <a:pt x="222" y="1"/>
                    <a:pt x="0" y="254"/>
                    <a:pt x="0" y="508"/>
                  </a:cubicBezTo>
                  <a:cubicBezTo>
                    <a:pt x="0" y="793"/>
                    <a:pt x="222" y="1014"/>
                    <a:pt x="507" y="1014"/>
                  </a:cubicBezTo>
                  <a:lnTo>
                    <a:pt x="2217" y="1014"/>
                  </a:lnTo>
                  <a:cubicBezTo>
                    <a:pt x="2502" y="1014"/>
                    <a:pt x="2724" y="793"/>
                    <a:pt x="2724" y="508"/>
                  </a:cubicBezTo>
                  <a:cubicBezTo>
                    <a:pt x="2724" y="223"/>
                    <a:pt x="2502" y="1"/>
                    <a:pt x="2217"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3"/>
            <p:cNvSpPr/>
            <p:nvPr/>
          </p:nvSpPr>
          <p:spPr>
            <a:xfrm>
              <a:off x="2966400" y="2846400"/>
              <a:ext cx="266050" cy="531650"/>
            </a:xfrm>
            <a:custGeom>
              <a:avLst/>
              <a:gdLst/>
              <a:ahLst/>
              <a:cxnLst/>
              <a:rect l="l" t="t" r="r" b="b"/>
              <a:pathLst>
                <a:path w="10642" h="21266" extrusionOk="0">
                  <a:moveTo>
                    <a:pt x="191" y="0"/>
                  </a:moveTo>
                  <a:cubicBezTo>
                    <a:pt x="143" y="0"/>
                    <a:pt x="96" y="16"/>
                    <a:pt x="64" y="48"/>
                  </a:cubicBezTo>
                  <a:cubicBezTo>
                    <a:pt x="1" y="111"/>
                    <a:pt x="1" y="238"/>
                    <a:pt x="64" y="301"/>
                  </a:cubicBezTo>
                  <a:lnTo>
                    <a:pt x="10293" y="10530"/>
                  </a:lnTo>
                  <a:lnTo>
                    <a:pt x="10293" y="21076"/>
                  </a:lnTo>
                  <a:cubicBezTo>
                    <a:pt x="10293" y="21171"/>
                    <a:pt x="10388" y="21266"/>
                    <a:pt x="10483" y="21266"/>
                  </a:cubicBezTo>
                  <a:cubicBezTo>
                    <a:pt x="10546" y="21266"/>
                    <a:pt x="10641" y="21171"/>
                    <a:pt x="10641" y="21076"/>
                  </a:cubicBezTo>
                  <a:lnTo>
                    <a:pt x="10641" y="10435"/>
                  </a:lnTo>
                  <a:cubicBezTo>
                    <a:pt x="10641" y="10403"/>
                    <a:pt x="10610" y="10372"/>
                    <a:pt x="10578" y="10340"/>
                  </a:cubicBezTo>
                  <a:lnTo>
                    <a:pt x="317" y="48"/>
                  </a:lnTo>
                  <a:cubicBezTo>
                    <a:pt x="286" y="16"/>
                    <a:pt x="238" y="0"/>
                    <a:pt x="191"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3"/>
            <p:cNvSpPr/>
            <p:nvPr/>
          </p:nvSpPr>
          <p:spPr>
            <a:xfrm>
              <a:off x="2741550" y="2634600"/>
              <a:ext cx="266850" cy="266850"/>
            </a:xfrm>
            <a:custGeom>
              <a:avLst/>
              <a:gdLst/>
              <a:ahLst/>
              <a:cxnLst/>
              <a:rect l="l" t="t" r="r" b="b"/>
              <a:pathLst>
                <a:path w="10674" h="10674" extrusionOk="0">
                  <a:moveTo>
                    <a:pt x="5321" y="317"/>
                  </a:moveTo>
                  <a:cubicBezTo>
                    <a:pt x="8076" y="317"/>
                    <a:pt x="10325" y="2566"/>
                    <a:pt x="10325" y="5353"/>
                  </a:cubicBezTo>
                  <a:cubicBezTo>
                    <a:pt x="10325" y="8108"/>
                    <a:pt x="8076" y="10356"/>
                    <a:pt x="5321" y="10356"/>
                  </a:cubicBezTo>
                  <a:cubicBezTo>
                    <a:pt x="2566" y="10356"/>
                    <a:pt x="317" y="8108"/>
                    <a:pt x="317" y="5353"/>
                  </a:cubicBezTo>
                  <a:cubicBezTo>
                    <a:pt x="317" y="2566"/>
                    <a:pt x="2566" y="317"/>
                    <a:pt x="5321" y="317"/>
                  </a:cubicBezTo>
                  <a:close/>
                  <a:moveTo>
                    <a:pt x="5321" y="1"/>
                  </a:moveTo>
                  <a:cubicBezTo>
                    <a:pt x="2376" y="1"/>
                    <a:pt x="1" y="2408"/>
                    <a:pt x="1" y="5353"/>
                  </a:cubicBezTo>
                  <a:cubicBezTo>
                    <a:pt x="1" y="8298"/>
                    <a:pt x="2376" y="10673"/>
                    <a:pt x="5321" y="10673"/>
                  </a:cubicBezTo>
                  <a:cubicBezTo>
                    <a:pt x="8266" y="10673"/>
                    <a:pt x="10673" y="8298"/>
                    <a:pt x="10673" y="5353"/>
                  </a:cubicBezTo>
                  <a:cubicBezTo>
                    <a:pt x="10673" y="2408"/>
                    <a:pt x="8266" y="1"/>
                    <a:pt x="5321"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3"/>
            <p:cNvSpPr/>
            <p:nvPr/>
          </p:nvSpPr>
          <p:spPr>
            <a:xfrm>
              <a:off x="2770850" y="2673800"/>
              <a:ext cx="207450" cy="188450"/>
            </a:xfrm>
            <a:custGeom>
              <a:avLst/>
              <a:gdLst/>
              <a:ahLst/>
              <a:cxnLst/>
              <a:rect l="l" t="t" r="r" b="b"/>
              <a:pathLst>
                <a:path w="8298" h="7538" extrusionOk="0">
                  <a:moveTo>
                    <a:pt x="4161" y="0"/>
                  </a:moveTo>
                  <a:cubicBezTo>
                    <a:pt x="3199" y="0"/>
                    <a:pt x="2233" y="365"/>
                    <a:pt x="1489" y="1093"/>
                  </a:cubicBezTo>
                  <a:cubicBezTo>
                    <a:pt x="0" y="2581"/>
                    <a:pt x="0" y="4957"/>
                    <a:pt x="1489" y="6445"/>
                  </a:cubicBezTo>
                  <a:cubicBezTo>
                    <a:pt x="2233" y="7173"/>
                    <a:pt x="3199" y="7538"/>
                    <a:pt x="4161" y="7538"/>
                  </a:cubicBezTo>
                  <a:cubicBezTo>
                    <a:pt x="5123" y="7538"/>
                    <a:pt x="6081" y="7173"/>
                    <a:pt x="6809" y="6445"/>
                  </a:cubicBezTo>
                  <a:cubicBezTo>
                    <a:pt x="8298" y="4957"/>
                    <a:pt x="8298" y="2581"/>
                    <a:pt x="6809" y="1093"/>
                  </a:cubicBezTo>
                  <a:cubicBezTo>
                    <a:pt x="6081" y="365"/>
                    <a:pt x="5123" y="0"/>
                    <a:pt x="4161"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3"/>
            <p:cNvSpPr/>
            <p:nvPr/>
          </p:nvSpPr>
          <p:spPr>
            <a:xfrm>
              <a:off x="3700325" y="2547525"/>
              <a:ext cx="8750" cy="292150"/>
            </a:xfrm>
            <a:custGeom>
              <a:avLst/>
              <a:gdLst/>
              <a:ahLst/>
              <a:cxnLst/>
              <a:rect l="l" t="t" r="r" b="b"/>
              <a:pathLst>
                <a:path w="350" h="11686" extrusionOk="0">
                  <a:moveTo>
                    <a:pt x="191" y="0"/>
                  </a:moveTo>
                  <a:cubicBezTo>
                    <a:pt x="96" y="0"/>
                    <a:pt x="1" y="63"/>
                    <a:pt x="1" y="158"/>
                  </a:cubicBezTo>
                  <a:lnTo>
                    <a:pt x="1" y="11528"/>
                  </a:lnTo>
                  <a:cubicBezTo>
                    <a:pt x="1" y="11623"/>
                    <a:pt x="96" y="11686"/>
                    <a:pt x="191" y="11686"/>
                  </a:cubicBezTo>
                  <a:cubicBezTo>
                    <a:pt x="254" y="11686"/>
                    <a:pt x="349" y="11623"/>
                    <a:pt x="349" y="11528"/>
                  </a:cubicBezTo>
                  <a:lnTo>
                    <a:pt x="349" y="158"/>
                  </a:lnTo>
                  <a:cubicBezTo>
                    <a:pt x="349" y="63"/>
                    <a:pt x="254" y="0"/>
                    <a:pt x="191"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3"/>
            <p:cNvSpPr/>
            <p:nvPr/>
          </p:nvSpPr>
          <p:spPr>
            <a:xfrm>
              <a:off x="2598250" y="3306775"/>
              <a:ext cx="424400" cy="669025"/>
            </a:xfrm>
            <a:custGeom>
              <a:avLst/>
              <a:gdLst/>
              <a:ahLst/>
              <a:cxnLst/>
              <a:rect l="l" t="t" r="r" b="b"/>
              <a:pathLst>
                <a:path w="16976" h="26761" extrusionOk="0">
                  <a:moveTo>
                    <a:pt x="159" y="1"/>
                  </a:moveTo>
                  <a:cubicBezTo>
                    <a:pt x="64" y="1"/>
                    <a:pt x="0" y="64"/>
                    <a:pt x="0" y="159"/>
                  </a:cubicBezTo>
                  <a:lnTo>
                    <a:pt x="0" y="16532"/>
                  </a:lnTo>
                  <a:cubicBezTo>
                    <a:pt x="0" y="16563"/>
                    <a:pt x="32" y="16595"/>
                    <a:pt x="64" y="16627"/>
                  </a:cubicBezTo>
                  <a:lnTo>
                    <a:pt x="10103" y="26697"/>
                  </a:lnTo>
                  <a:cubicBezTo>
                    <a:pt x="10135" y="26729"/>
                    <a:pt x="10198" y="26761"/>
                    <a:pt x="10230" y="26761"/>
                  </a:cubicBezTo>
                  <a:lnTo>
                    <a:pt x="16817" y="26761"/>
                  </a:lnTo>
                  <a:cubicBezTo>
                    <a:pt x="16912" y="26761"/>
                    <a:pt x="16975" y="26666"/>
                    <a:pt x="16975" y="26571"/>
                  </a:cubicBezTo>
                  <a:cubicBezTo>
                    <a:pt x="16975" y="26476"/>
                    <a:pt x="16880" y="26412"/>
                    <a:pt x="16785" y="26412"/>
                  </a:cubicBezTo>
                  <a:lnTo>
                    <a:pt x="10293" y="26412"/>
                  </a:lnTo>
                  <a:lnTo>
                    <a:pt x="349" y="16437"/>
                  </a:lnTo>
                  <a:lnTo>
                    <a:pt x="349" y="159"/>
                  </a:lnTo>
                  <a:cubicBezTo>
                    <a:pt x="349" y="64"/>
                    <a:pt x="254" y="1"/>
                    <a:pt x="159"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3"/>
            <p:cNvSpPr/>
            <p:nvPr/>
          </p:nvSpPr>
          <p:spPr>
            <a:xfrm>
              <a:off x="5914000" y="2241900"/>
              <a:ext cx="8725" cy="249425"/>
            </a:xfrm>
            <a:custGeom>
              <a:avLst/>
              <a:gdLst/>
              <a:ahLst/>
              <a:cxnLst/>
              <a:rect l="l" t="t" r="r" b="b"/>
              <a:pathLst>
                <a:path w="349" h="9977" extrusionOk="0">
                  <a:moveTo>
                    <a:pt x="191" y="1"/>
                  </a:moveTo>
                  <a:cubicBezTo>
                    <a:pt x="96" y="1"/>
                    <a:pt x="1" y="96"/>
                    <a:pt x="1" y="191"/>
                  </a:cubicBezTo>
                  <a:lnTo>
                    <a:pt x="1" y="9787"/>
                  </a:lnTo>
                  <a:cubicBezTo>
                    <a:pt x="1" y="9882"/>
                    <a:pt x="96" y="9977"/>
                    <a:pt x="191" y="9977"/>
                  </a:cubicBezTo>
                  <a:cubicBezTo>
                    <a:pt x="286" y="9977"/>
                    <a:pt x="349" y="9882"/>
                    <a:pt x="349" y="9787"/>
                  </a:cubicBezTo>
                  <a:lnTo>
                    <a:pt x="349" y="191"/>
                  </a:lnTo>
                  <a:cubicBezTo>
                    <a:pt x="349" y="96"/>
                    <a:pt x="286" y="1"/>
                    <a:pt x="191" y="1"/>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3"/>
            <p:cNvSpPr/>
            <p:nvPr/>
          </p:nvSpPr>
          <p:spPr>
            <a:xfrm>
              <a:off x="4192800" y="2458050"/>
              <a:ext cx="240700" cy="240700"/>
            </a:xfrm>
            <a:custGeom>
              <a:avLst/>
              <a:gdLst/>
              <a:ahLst/>
              <a:cxnLst/>
              <a:rect l="l" t="t" r="r" b="b"/>
              <a:pathLst>
                <a:path w="9628" h="9628" extrusionOk="0">
                  <a:moveTo>
                    <a:pt x="4814" y="1014"/>
                  </a:moveTo>
                  <a:cubicBezTo>
                    <a:pt x="6936" y="1014"/>
                    <a:pt x="8646" y="2724"/>
                    <a:pt x="8646" y="4814"/>
                  </a:cubicBezTo>
                  <a:cubicBezTo>
                    <a:pt x="8646" y="6904"/>
                    <a:pt x="6936" y="8614"/>
                    <a:pt x="4814" y="8614"/>
                  </a:cubicBezTo>
                  <a:cubicBezTo>
                    <a:pt x="2724" y="8614"/>
                    <a:pt x="1013" y="6904"/>
                    <a:pt x="1013" y="4814"/>
                  </a:cubicBezTo>
                  <a:cubicBezTo>
                    <a:pt x="1013" y="2724"/>
                    <a:pt x="2724" y="1014"/>
                    <a:pt x="4814" y="1014"/>
                  </a:cubicBezTo>
                  <a:close/>
                  <a:moveTo>
                    <a:pt x="4814" y="1"/>
                  </a:moveTo>
                  <a:cubicBezTo>
                    <a:pt x="2185" y="1"/>
                    <a:pt x="0" y="2154"/>
                    <a:pt x="0" y="4814"/>
                  </a:cubicBezTo>
                  <a:cubicBezTo>
                    <a:pt x="0" y="7474"/>
                    <a:pt x="2185" y="9628"/>
                    <a:pt x="4814" y="9628"/>
                  </a:cubicBezTo>
                  <a:cubicBezTo>
                    <a:pt x="7474" y="9628"/>
                    <a:pt x="9627" y="7474"/>
                    <a:pt x="9627" y="4814"/>
                  </a:cubicBezTo>
                  <a:cubicBezTo>
                    <a:pt x="9627" y="2154"/>
                    <a:pt x="7474" y="1"/>
                    <a:pt x="4814"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3"/>
            <p:cNvSpPr/>
            <p:nvPr/>
          </p:nvSpPr>
          <p:spPr>
            <a:xfrm>
              <a:off x="4135000" y="1664750"/>
              <a:ext cx="438625" cy="438625"/>
            </a:xfrm>
            <a:custGeom>
              <a:avLst/>
              <a:gdLst/>
              <a:ahLst/>
              <a:cxnLst/>
              <a:rect l="l" t="t" r="r" b="b"/>
              <a:pathLst>
                <a:path w="17545" h="17545" extrusionOk="0">
                  <a:moveTo>
                    <a:pt x="8772" y="1362"/>
                  </a:moveTo>
                  <a:cubicBezTo>
                    <a:pt x="12858" y="1362"/>
                    <a:pt x="16183" y="4687"/>
                    <a:pt x="16183" y="8773"/>
                  </a:cubicBezTo>
                  <a:cubicBezTo>
                    <a:pt x="16183" y="12858"/>
                    <a:pt x="12858" y="16183"/>
                    <a:pt x="8772" y="16183"/>
                  </a:cubicBezTo>
                  <a:cubicBezTo>
                    <a:pt x="4687" y="16183"/>
                    <a:pt x="1362" y="12858"/>
                    <a:pt x="1362" y="8773"/>
                  </a:cubicBezTo>
                  <a:cubicBezTo>
                    <a:pt x="1362" y="4687"/>
                    <a:pt x="4687" y="1362"/>
                    <a:pt x="8772" y="1362"/>
                  </a:cubicBezTo>
                  <a:close/>
                  <a:moveTo>
                    <a:pt x="8772" y="0"/>
                  </a:moveTo>
                  <a:cubicBezTo>
                    <a:pt x="3959" y="0"/>
                    <a:pt x="0" y="3927"/>
                    <a:pt x="0" y="8773"/>
                  </a:cubicBezTo>
                  <a:cubicBezTo>
                    <a:pt x="0" y="13618"/>
                    <a:pt x="3959" y="17545"/>
                    <a:pt x="8772" y="17545"/>
                  </a:cubicBezTo>
                  <a:cubicBezTo>
                    <a:pt x="13618" y="17545"/>
                    <a:pt x="17545" y="13586"/>
                    <a:pt x="17545" y="8773"/>
                  </a:cubicBezTo>
                  <a:cubicBezTo>
                    <a:pt x="17545" y="3927"/>
                    <a:pt x="13618" y="0"/>
                    <a:pt x="8772"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3"/>
            <p:cNvSpPr/>
            <p:nvPr/>
          </p:nvSpPr>
          <p:spPr>
            <a:xfrm>
              <a:off x="3285475" y="2764450"/>
              <a:ext cx="172625" cy="172625"/>
            </a:xfrm>
            <a:custGeom>
              <a:avLst/>
              <a:gdLst/>
              <a:ahLst/>
              <a:cxnLst/>
              <a:rect l="l" t="t" r="r" b="b"/>
              <a:pathLst>
                <a:path w="6905" h="6905" extrusionOk="0">
                  <a:moveTo>
                    <a:pt x="3452" y="1014"/>
                  </a:moveTo>
                  <a:cubicBezTo>
                    <a:pt x="4814" y="1014"/>
                    <a:pt x="5891" y="2091"/>
                    <a:pt x="5891" y="3452"/>
                  </a:cubicBezTo>
                  <a:cubicBezTo>
                    <a:pt x="5891" y="4782"/>
                    <a:pt x="4782" y="5891"/>
                    <a:pt x="3452" y="5891"/>
                  </a:cubicBezTo>
                  <a:cubicBezTo>
                    <a:pt x="2090" y="5891"/>
                    <a:pt x="1014" y="4782"/>
                    <a:pt x="1014" y="3452"/>
                  </a:cubicBezTo>
                  <a:cubicBezTo>
                    <a:pt x="1014" y="2091"/>
                    <a:pt x="2122" y="1014"/>
                    <a:pt x="3452" y="1014"/>
                  </a:cubicBezTo>
                  <a:close/>
                  <a:moveTo>
                    <a:pt x="3452" y="0"/>
                  </a:moveTo>
                  <a:cubicBezTo>
                    <a:pt x="1552" y="0"/>
                    <a:pt x="0" y="1552"/>
                    <a:pt x="0" y="3452"/>
                  </a:cubicBezTo>
                  <a:cubicBezTo>
                    <a:pt x="0" y="5352"/>
                    <a:pt x="1552" y="6904"/>
                    <a:pt x="3452" y="6904"/>
                  </a:cubicBezTo>
                  <a:cubicBezTo>
                    <a:pt x="5352" y="6904"/>
                    <a:pt x="6904" y="5352"/>
                    <a:pt x="6904" y="3452"/>
                  </a:cubicBezTo>
                  <a:cubicBezTo>
                    <a:pt x="6904" y="1552"/>
                    <a:pt x="5352" y="0"/>
                    <a:pt x="3452"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3"/>
            <p:cNvSpPr/>
            <p:nvPr/>
          </p:nvSpPr>
          <p:spPr>
            <a:xfrm>
              <a:off x="5016975" y="1886425"/>
              <a:ext cx="254950" cy="254950"/>
            </a:xfrm>
            <a:custGeom>
              <a:avLst/>
              <a:gdLst/>
              <a:ahLst/>
              <a:cxnLst/>
              <a:rect l="l" t="t" r="r" b="b"/>
              <a:pathLst>
                <a:path w="10198" h="10198" extrusionOk="0">
                  <a:moveTo>
                    <a:pt x="5099" y="982"/>
                  </a:moveTo>
                  <a:cubicBezTo>
                    <a:pt x="7348" y="982"/>
                    <a:pt x="9185" y="2819"/>
                    <a:pt x="9185" y="5099"/>
                  </a:cubicBezTo>
                  <a:cubicBezTo>
                    <a:pt x="9185" y="7348"/>
                    <a:pt x="7348" y="9185"/>
                    <a:pt x="5099" y="9185"/>
                  </a:cubicBezTo>
                  <a:cubicBezTo>
                    <a:pt x="2851" y="9185"/>
                    <a:pt x="1014" y="7348"/>
                    <a:pt x="1014" y="5099"/>
                  </a:cubicBezTo>
                  <a:cubicBezTo>
                    <a:pt x="1014" y="2819"/>
                    <a:pt x="2851" y="982"/>
                    <a:pt x="5099" y="982"/>
                  </a:cubicBezTo>
                  <a:close/>
                  <a:moveTo>
                    <a:pt x="5099" y="1"/>
                  </a:moveTo>
                  <a:cubicBezTo>
                    <a:pt x="2281" y="1"/>
                    <a:pt x="1" y="2281"/>
                    <a:pt x="1" y="5099"/>
                  </a:cubicBezTo>
                  <a:cubicBezTo>
                    <a:pt x="1" y="7886"/>
                    <a:pt x="2281" y="10198"/>
                    <a:pt x="5099" y="10198"/>
                  </a:cubicBezTo>
                  <a:cubicBezTo>
                    <a:pt x="7918" y="10198"/>
                    <a:pt x="10198" y="7886"/>
                    <a:pt x="10198" y="5099"/>
                  </a:cubicBezTo>
                  <a:cubicBezTo>
                    <a:pt x="10198" y="2281"/>
                    <a:pt x="7918" y="1"/>
                    <a:pt x="5099"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3"/>
            <p:cNvSpPr/>
            <p:nvPr/>
          </p:nvSpPr>
          <p:spPr>
            <a:xfrm>
              <a:off x="6183975" y="1449400"/>
              <a:ext cx="254975" cy="254950"/>
            </a:xfrm>
            <a:custGeom>
              <a:avLst/>
              <a:gdLst/>
              <a:ahLst/>
              <a:cxnLst/>
              <a:rect l="l" t="t" r="r" b="b"/>
              <a:pathLst>
                <a:path w="10199" h="10198" extrusionOk="0">
                  <a:moveTo>
                    <a:pt x="5099" y="1014"/>
                  </a:moveTo>
                  <a:cubicBezTo>
                    <a:pt x="7348" y="1014"/>
                    <a:pt x="9185" y="2851"/>
                    <a:pt x="9185" y="5099"/>
                  </a:cubicBezTo>
                  <a:cubicBezTo>
                    <a:pt x="9185" y="7379"/>
                    <a:pt x="7348" y="9216"/>
                    <a:pt x="5099" y="9216"/>
                  </a:cubicBezTo>
                  <a:cubicBezTo>
                    <a:pt x="2819" y="9216"/>
                    <a:pt x="982" y="7379"/>
                    <a:pt x="982" y="5099"/>
                  </a:cubicBezTo>
                  <a:cubicBezTo>
                    <a:pt x="982" y="2851"/>
                    <a:pt x="2819" y="1014"/>
                    <a:pt x="5099" y="1014"/>
                  </a:cubicBezTo>
                  <a:close/>
                  <a:moveTo>
                    <a:pt x="5099" y="0"/>
                  </a:moveTo>
                  <a:cubicBezTo>
                    <a:pt x="2281" y="0"/>
                    <a:pt x="1" y="2312"/>
                    <a:pt x="1" y="5099"/>
                  </a:cubicBezTo>
                  <a:cubicBezTo>
                    <a:pt x="1" y="7918"/>
                    <a:pt x="2281" y="10198"/>
                    <a:pt x="5099" y="10198"/>
                  </a:cubicBezTo>
                  <a:cubicBezTo>
                    <a:pt x="7886" y="10198"/>
                    <a:pt x="10198" y="7918"/>
                    <a:pt x="10198" y="5099"/>
                  </a:cubicBezTo>
                  <a:cubicBezTo>
                    <a:pt x="10198" y="2312"/>
                    <a:pt x="7886" y="0"/>
                    <a:pt x="5099"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3"/>
            <p:cNvSpPr/>
            <p:nvPr/>
          </p:nvSpPr>
          <p:spPr>
            <a:xfrm>
              <a:off x="6605975" y="3315475"/>
              <a:ext cx="394300" cy="394325"/>
            </a:xfrm>
            <a:custGeom>
              <a:avLst/>
              <a:gdLst/>
              <a:ahLst/>
              <a:cxnLst/>
              <a:rect l="l" t="t" r="r" b="b"/>
              <a:pathLst>
                <a:path w="15772" h="15773" extrusionOk="0">
                  <a:moveTo>
                    <a:pt x="7886" y="1014"/>
                  </a:moveTo>
                  <a:cubicBezTo>
                    <a:pt x="11686" y="1014"/>
                    <a:pt x="14790" y="4118"/>
                    <a:pt x="14790" y="7887"/>
                  </a:cubicBezTo>
                  <a:cubicBezTo>
                    <a:pt x="14790" y="11687"/>
                    <a:pt x="11686" y="14790"/>
                    <a:pt x="7886" y="14790"/>
                  </a:cubicBezTo>
                  <a:cubicBezTo>
                    <a:pt x="4086" y="14790"/>
                    <a:pt x="1014" y="11687"/>
                    <a:pt x="1014" y="7887"/>
                  </a:cubicBezTo>
                  <a:cubicBezTo>
                    <a:pt x="1014" y="4118"/>
                    <a:pt x="4086" y="1014"/>
                    <a:pt x="7886" y="1014"/>
                  </a:cubicBezTo>
                  <a:close/>
                  <a:moveTo>
                    <a:pt x="7886" y="1"/>
                  </a:moveTo>
                  <a:cubicBezTo>
                    <a:pt x="3547" y="1"/>
                    <a:pt x="0" y="3548"/>
                    <a:pt x="0" y="7887"/>
                  </a:cubicBezTo>
                  <a:cubicBezTo>
                    <a:pt x="0" y="12257"/>
                    <a:pt x="3547" y="15772"/>
                    <a:pt x="7886" y="15772"/>
                  </a:cubicBezTo>
                  <a:cubicBezTo>
                    <a:pt x="12256" y="15772"/>
                    <a:pt x="15772" y="12257"/>
                    <a:pt x="15772" y="7887"/>
                  </a:cubicBezTo>
                  <a:cubicBezTo>
                    <a:pt x="15772" y="3548"/>
                    <a:pt x="12225" y="1"/>
                    <a:pt x="7886" y="1"/>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3"/>
            <p:cNvSpPr/>
            <p:nvPr/>
          </p:nvSpPr>
          <p:spPr>
            <a:xfrm>
              <a:off x="6647150" y="2157200"/>
              <a:ext cx="178150" cy="178150"/>
            </a:xfrm>
            <a:custGeom>
              <a:avLst/>
              <a:gdLst/>
              <a:ahLst/>
              <a:cxnLst/>
              <a:rect l="l" t="t" r="r" b="b"/>
              <a:pathLst>
                <a:path w="7126" h="7126" extrusionOk="0">
                  <a:moveTo>
                    <a:pt x="3579" y="1014"/>
                  </a:moveTo>
                  <a:cubicBezTo>
                    <a:pt x="4972" y="1014"/>
                    <a:pt x="6144" y="2154"/>
                    <a:pt x="6144" y="3579"/>
                  </a:cubicBezTo>
                  <a:cubicBezTo>
                    <a:pt x="6144" y="4972"/>
                    <a:pt x="4972" y="6112"/>
                    <a:pt x="3579" y="6112"/>
                  </a:cubicBezTo>
                  <a:cubicBezTo>
                    <a:pt x="2154" y="6112"/>
                    <a:pt x="1014" y="4972"/>
                    <a:pt x="1014" y="3579"/>
                  </a:cubicBezTo>
                  <a:cubicBezTo>
                    <a:pt x="1014" y="2154"/>
                    <a:pt x="2154" y="1014"/>
                    <a:pt x="3579" y="1014"/>
                  </a:cubicBezTo>
                  <a:close/>
                  <a:moveTo>
                    <a:pt x="3579" y="0"/>
                  </a:moveTo>
                  <a:cubicBezTo>
                    <a:pt x="1615" y="0"/>
                    <a:pt x="0" y="1615"/>
                    <a:pt x="0" y="3579"/>
                  </a:cubicBezTo>
                  <a:cubicBezTo>
                    <a:pt x="0" y="5542"/>
                    <a:pt x="1615" y="7126"/>
                    <a:pt x="3579" y="7126"/>
                  </a:cubicBezTo>
                  <a:cubicBezTo>
                    <a:pt x="5542" y="7126"/>
                    <a:pt x="7126" y="5542"/>
                    <a:pt x="7126" y="3579"/>
                  </a:cubicBezTo>
                  <a:cubicBezTo>
                    <a:pt x="7126" y="1615"/>
                    <a:pt x="5542" y="0"/>
                    <a:pt x="3579"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3"/>
            <p:cNvSpPr/>
            <p:nvPr/>
          </p:nvSpPr>
          <p:spPr>
            <a:xfrm>
              <a:off x="4713750" y="2228450"/>
              <a:ext cx="91850" cy="91075"/>
            </a:xfrm>
            <a:custGeom>
              <a:avLst/>
              <a:gdLst/>
              <a:ahLst/>
              <a:cxnLst/>
              <a:rect l="l" t="t" r="r" b="b"/>
              <a:pathLst>
                <a:path w="3674" h="3643" extrusionOk="0">
                  <a:moveTo>
                    <a:pt x="1837" y="982"/>
                  </a:moveTo>
                  <a:cubicBezTo>
                    <a:pt x="2280" y="982"/>
                    <a:pt x="2660" y="1362"/>
                    <a:pt x="2660" y="1806"/>
                  </a:cubicBezTo>
                  <a:cubicBezTo>
                    <a:pt x="2660" y="2281"/>
                    <a:pt x="2280" y="2661"/>
                    <a:pt x="1837" y="2661"/>
                  </a:cubicBezTo>
                  <a:cubicBezTo>
                    <a:pt x="1394" y="2661"/>
                    <a:pt x="1014" y="2281"/>
                    <a:pt x="1014" y="1806"/>
                  </a:cubicBezTo>
                  <a:cubicBezTo>
                    <a:pt x="1014" y="1362"/>
                    <a:pt x="1394" y="982"/>
                    <a:pt x="1837" y="982"/>
                  </a:cubicBezTo>
                  <a:close/>
                  <a:moveTo>
                    <a:pt x="1837" y="1"/>
                  </a:moveTo>
                  <a:cubicBezTo>
                    <a:pt x="824" y="1"/>
                    <a:pt x="0" y="824"/>
                    <a:pt x="0" y="1806"/>
                  </a:cubicBezTo>
                  <a:cubicBezTo>
                    <a:pt x="0" y="2819"/>
                    <a:pt x="824" y="3642"/>
                    <a:pt x="1837" y="3642"/>
                  </a:cubicBezTo>
                  <a:cubicBezTo>
                    <a:pt x="2850" y="3642"/>
                    <a:pt x="3674" y="2819"/>
                    <a:pt x="3674" y="1806"/>
                  </a:cubicBezTo>
                  <a:cubicBezTo>
                    <a:pt x="3674" y="824"/>
                    <a:pt x="2850" y="1"/>
                    <a:pt x="1837"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3"/>
            <p:cNvSpPr/>
            <p:nvPr/>
          </p:nvSpPr>
          <p:spPr>
            <a:xfrm>
              <a:off x="3606900" y="2093075"/>
              <a:ext cx="152850" cy="153600"/>
            </a:xfrm>
            <a:custGeom>
              <a:avLst/>
              <a:gdLst/>
              <a:ahLst/>
              <a:cxnLst/>
              <a:rect l="l" t="t" r="r" b="b"/>
              <a:pathLst>
                <a:path w="6114" h="6144" extrusionOk="0">
                  <a:moveTo>
                    <a:pt x="3073" y="1014"/>
                  </a:moveTo>
                  <a:cubicBezTo>
                    <a:pt x="4181" y="1014"/>
                    <a:pt x="5131" y="1932"/>
                    <a:pt x="5131" y="3072"/>
                  </a:cubicBezTo>
                  <a:cubicBezTo>
                    <a:pt x="5131" y="4212"/>
                    <a:pt x="4181" y="5131"/>
                    <a:pt x="3073" y="5131"/>
                  </a:cubicBezTo>
                  <a:cubicBezTo>
                    <a:pt x="1933" y="5131"/>
                    <a:pt x="1014" y="4212"/>
                    <a:pt x="1014" y="3072"/>
                  </a:cubicBezTo>
                  <a:cubicBezTo>
                    <a:pt x="1014" y="1932"/>
                    <a:pt x="1933" y="1014"/>
                    <a:pt x="3073" y="1014"/>
                  </a:cubicBezTo>
                  <a:close/>
                  <a:moveTo>
                    <a:pt x="3073" y="0"/>
                  </a:moveTo>
                  <a:cubicBezTo>
                    <a:pt x="1363" y="0"/>
                    <a:pt x="1" y="1394"/>
                    <a:pt x="1" y="3072"/>
                  </a:cubicBezTo>
                  <a:cubicBezTo>
                    <a:pt x="1" y="4751"/>
                    <a:pt x="1363" y="6144"/>
                    <a:pt x="3073" y="6144"/>
                  </a:cubicBezTo>
                  <a:cubicBezTo>
                    <a:pt x="4751" y="6144"/>
                    <a:pt x="6113" y="4751"/>
                    <a:pt x="6113" y="3072"/>
                  </a:cubicBezTo>
                  <a:cubicBezTo>
                    <a:pt x="6113" y="1394"/>
                    <a:pt x="4751" y="0"/>
                    <a:pt x="3073"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3"/>
            <p:cNvSpPr/>
            <p:nvPr/>
          </p:nvSpPr>
          <p:spPr>
            <a:xfrm>
              <a:off x="4774700" y="1416150"/>
              <a:ext cx="152825" cy="152825"/>
            </a:xfrm>
            <a:custGeom>
              <a:avLst/>
              <a:gdLst/>
              <a:ahLst/>
              <a:cxnLst/>
              <a:rect l="l" t="t" r="r" b="b"/>
              <a:pathLst>
                <a:path w="6113" h="6113" extrusionOk="0">
                  <a:moveTo>
                    <a:pt x="3041" y="1014"/>
                  </a:moveTo>
                  <a:cubicBezTo>
                    <a:pt x="4181" y="1014"/>
                    <a:pt x="5099" y="1932"/>
                    <a:pt x="5099" y="3072"/>
                  </a:cubicBezTo>
                  <a:cubicBezTo>
                    <a:pt x="5099" y="4212"/>
                    <a:pt x="4181" y="5131"/>
                    <a:pt x="3041" y="5131"/>
                  </a:cubicBezTo>
                  <a:cubicBezTo>
                    <a:pt x="1901" y="5131"/>
                    <a:pt x="983" y="4212"/>
                    <a:pt x="983" y="3072"/>
                  </a:cubicBezTo>
                  <a:cubicBezTo>
                    <a:pt x="983" y="1932"/>
                    <a:pt x="1901" y="1014"/>
                    <a:pt x="3041" y="1014"/>
                  </a:cubicBezTo>
                  <a:close/>
                  <a:moveTo>
                    <a:pt x="3041" y="0"/>
                  </a:moveTo>
                  <a:cubicBezTo>
                    <a:pt x="1363" y="0"/>
                    <a:pt x="1" y="1394"/>
                    <a:pt x="1" y="3072"/>
                  </a:cubicBezTo>
                  <a:cubicBezTo>
                    <a:pt x="1" y="4751"/>
                    <a:pt x="1363" y="6112"/>
                    <a:pt x="3041" y="6112"/>
                  </a:cubicBezTo>
                  <a:cubicBezTo>
                    <a:pt x="4751" y="6112"/>
                    <a:pt x="6113" y="4751"/>
                    <a:pt x="6113" y="3072"/>
                  </a:cubicBezTo>
                  <a:cubicBezTo>
                    <a:pt x="6113" y="1394"/>
                    <a:pt x="4751" y="0"/>
                    <a:pt x="3041"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3"/>
            <p:cNvSpPr/>
            <p:nvPr/>
          </p:nvSpPr>
          <p:spPr>
            <a:xfrm>
              <a:off x="2681375" y="4073950"/>
              <a:ext cx="197975" cy="197175"/>
            </a:xfrm>
            <a:custGeom>
              <a:avLst/>
              <a:gdLst/>
              <a:ahLst/>
              <a:cxnLst/>
              <a:rect l="l" t="t" r="r" b="b"/>
              <a:pathLst>
                <a:path w="7919" h="7887" extrusionOk="0">
                  <a:moveTo>
                    <a:pt x="3959" y="982"/>
                  </a:moveTo>
                  <a:cubicBezTo>
                    <a:pt x="5575" y="982"/>
                    <a:pt x="6905" y="2313"/>
                    <a:pt x="6905" y="3928"/>
                  </a:cubicBezTo>
                  <a:cubicBezTo>
                    <a:pt x="6905" y="5574"/>
                    <a:pt x="5575" y="6873"/>
                    <a:pt x="3959" y="6873"/>
                  </a:cubicBezTo>
                  <a:cubicBezTo>
                    <a:pt x="2344" y="6873"/>
                    <a:pt x="1014" y="5574"/>
                    <a:pt x="1014" y="3928"/>
                  </a:cubicBezTo>
                  <a:cubicBezTo>
                    <a:pt x="1014" y="2313"/>
                    <a:pt x="2344" y="982"/>
                    <a:pt x="3959" y="982"/>
                  </a:cubicBezTo>
                  <a:close/>
                  <a:moveTo>
                    <a:pt x="3959" y="1"/>
                  </a:moveTo>
                  <a:cubicBezTo>
                    <a:pt x="1774" y="1"/>
                    <a:pt x="1" y="1774"/>
                    <a:pt x="1" y="3928"/>
                  </a:cubicBezTo>
                  <a:cubicBezTo>
                    <a:pt x="1" y="6113"/>
                    <a:pt x="1774" y="7886"/>
                    <a:pt x="3959" y="7886"/>
                  </a:cubicBezTo>
                  <a:cubicBezTo>
                    <a:pt x="6145" y="7886"/>
                    <a:pt x="7886" y="6113"/>
                    <a:pt x="7918" y="3928"/>
                  </a:cubicBezTo>
                  <a:cubicBezTo>
                    <a:pt x="7918" y="1774"/>
                    <a:pt x="6145" y="1"/>
                    <a:pt x="3959"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 name="Google Shape;164;p13"/>
          <p:cNvSpPr txBox="1"/>
          <p:nvPr/>
        </p:nvSpPr>
        <p:spPr>
          <a:xfrm>
            <a:off x="457200" y="1488113"/>
            <a:ext cx="3231000" cy="157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3600">
                <a:latin typeface="Fira Sans Extra Condensed SemiBold"/>
                <a:ea typeface="Fira Sans Extra Condensed SemiBold"/>
                <a:cs typeface="Fira Sans Extra Condensed SemiBold"/>
                <a:sym typeface="Fira Sans Extra Condensed SemiBold"/>
              </a:rPr>
              <a:t>Amazon Product Analysis</a:t>
            </a:r>
            <a:endParaRPr sz="3600">
              <a:solidFill>
                <a:srgbClr val="00002A"/>
              </a:solidFill>
              <a:highlight>
                <a:srgbClr val="FFFFFF"/>
              </a:highlight>
              <a:latin typeface="Fira Sans Extra Condensed SemiBold"/>
              <a:ea typeface="Fira Sans Extra Condensed SemiBold"/>
              <a:cs typeface="Fira Sans Extra Condensed SemiBold"/>
              <a:sym typeface="Fira Sans Extra Condensed SemiBold"/>
            </a:endParaRPr>
          </a:p>
        </p:txBody>
      </p:sp>
      <p:sp>
        <p:nvSpPr>
          <p:cNvPr id="165" name="Google Shape;165;p13"/>
          <p:cNvSpPr txBox="1"/>
          <p:nvPr/>
        </p:nvSpPr>
        <p:spPr>
          <a:xfrm>
            <a:off x="457200" y="3096623"/>
            <a:ext cx="3295800" cy="1593538"/>
          </a:xfrm>
          <a:prstGeom prst="rect">
            <a:avLst/>
          </a:prstGeom>
          <a:noFill/>
          <a:ln>
            <a:noFill/>
          </a:ln>
        </p:spPr>
        <p:txBody>
          <a:bodyPr spcFirstLastPara="1" wrap="square" lIns="91425" tIns="91425" rIns="91425" bIns="91425" anchor="t" anchorCtr="0">
            <a:noAutofit/>
          </a:bodyPr>
          <a:lstStyle/>
          <a:p>
            <a:r>
              <a:rPr lang="en" sz="1500">
                <a:latin typeface="Roboto"/>
                <a:ea typeface="Roboto"/>
                <a:cs typeface="Roboto"/>
              </a:rPr>
              <a:t>ALY 6140 </a:t>
            </a:r>
            <a:br>
              <a:rPr lang="en" sz="1500">
                <a:latin typeface="Roboto"/>
                <a:ea typeface="Roboto"/>
                <a:cs typeface="Roboto"/>
              </a:rPr>
            </a:br>
            <a:r>
              <a:rPr lang="en" sz="1500">
                <a:latin typeface="Roboto"/>
                <a:ea typeface="Roboto"/>
                <a:cs typeface="Roboto"/>
              </a:rPr>
              <a:t>Python and Advanced Systems</a:t>
            </a:r>
          </a:p>
          <a:p>
            <a:endParaRPr lang="en" sz="1500">
              <a:latin typeface="Roboto"/>
              <a:ea typeface="Roboto"/>
              <a:cs typeface="Roboto"/>
            </a:endParaRPr>
          </a:p>
          <a:p>
            <a:r>
              <a:rPr lang="en" sz="1500">
                <a:latin typeface="Roboto"/>
                <a:ea typeface="Roboto"/>
                <a:cs typeface="Roboto"/>
              </a:rPr>
              <a:t>Aditya Parey</a:t>
            </a:r>
          </a:p>
          <a:p>
            <a:r>
              <a:rPr lang="en" sz="1500">
                <a:latin typeface="Roboto"/>
                <a:ea typeface="Roboto"/>
                <a:cs typeface="Roboto"/>
              </a:rPr>
              <a:t>Junhui Hu</a:t>
            </a:r>
          </a:p>
          <a:p>
            <a:r>
              <a:rPr lang="en" sz="1500">
                <a:latin typeface="Roboto"/>
                <a:ea typeface="Roboto"/>
                <a:cs typeface="Roboto"/>
              </a:rPr>
              <a:t>Ant Gozkaya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38">
          <a:extLst>
            <a:ext uri="{FF2B5EF4-FFF2-40B4-BE49-F238E27FC236}">
              <a16:creationId xmlns:a16="http://schemas.microsoft.com/office/drawing/2014/main" id="{36153272-C511-DCC3-7C98-64B1B4CBD02E}"/>
            </a:ext>
          </a:extLst>
        </p:cNvPr>
        <p:cNvGrpSpPr/>
        <p:nvPr/>
      </p:nvGrpSpPr>
      <p:grpSpPr>
        <a:xfrm>
          <a:off x="0" y="0"/>
          <a:ext cx="0" cy="0"/>
          <a:chOff x="0" y="0"/>
          <a:chExt cx="0" cy="0"/>
        </a:xfrm>
      </p:grpSpPr>
      <p:sp>
        <p:nvSpPr>
          <p:cNvPr id="1639" name="Google Shape;1639;p20">
            <a:extLst>
              <a:ext uri="{FF2B5EF4-FFF2-40B4-BE49-F238E27FC236}">
                <a16:creationId xmlns:a16="http://schemas.microsoft.com/office/drawing/2014/main" id="{239604B8-B537-CC02-A443-5DD09985FF96}"/>
              </a:ext>
            </a:extLst>
          </p:cNvPr>
          <p:cNvSpPr/>
          <p:nvPr/>
        </p:nvSpPr>
        <p:spPr>
          <a:xfrm>
            <a:off x="1762909" y="1190065"/>
            <a:ext cx="5632451" cy="1437906"/>
          </a:xfrm>
          <a:custGeom>
            <a:avLst/>
            <a:gdLst/>
            <a:ahLst/>
            <a:cxnLst/>
            <a:rect l="l" t="t" r="r" b="b"/>
            <a:pathLst>
              <a:path w="52888" h="59032" fill="none" extrusionOk="0">
                <a:moveTo>
                  <a:pt x="50259" y="59032"/>
                </a:moveTo>
                <a:lnTo>
                  <a:pt x="2629" y="59032"/>
                </a:lnTo>
                <a:cubicBezTo>
                  <a:pt x="1172" y="59032"/>
                  <a:pt x="0" y="57860"/>
                  <a:pt x="0" y="56403"/>
                </a:cubicBezTo>
                <a:lnTo>
                  <a:pt x="0" y="2629"/>
                </a:lnTo>
                <a:cubicBezTo>
                  <a:pt x="0" y="1173"/>
                  <a:pt x="1172" y="1"/>
                  <a:pt x="2629" y="1"/>
                </a:cubicBezTo>
                <a:lnTo>
                  <a:pt x="50259" y="1"/>
                </a:lnTo>
                <a:cubicBezTo>
                  <a:pt x="51716" y="1"/>
                  <a:pt x="52888" y="1173"/>
                  <a:pt x="52888" y="2629"/>
                </a:cubicBezTo>
                <a:lnTo>
                  <a:pt x="52888" y="56403"/>
                </a:lnTo>
                <a:cubicBezTo>
                  <a:pt x="52888" y="57860"/>
                  <a:pt x="51716" y="59032"/>
                  <a:pt x="50259" y="59032"/>
                </a:cubicBezTo>
                <a:close/>
              </a:path>
            </a:pathLst>
          </a:custGeom>
          <a:noFill/>
          <a:ln w="10300" cap="flat" cmpd="sng">
            <a:solidFill>
              <a:srgbClr val="F2A365"/>
            </a:solidFill>
            <a:prstDash val="solid"/>
            <a:miter lim="31669"/>
            <a:headEnd type="none" w="sm" len="sm"/>
            <a:tailEnd type="none" w="sm" len="sm"/>
          </a:ln>
        </p:spPr>
        <p:txBody>
          <a:bodyPr spcFirstLastPara="1" wrap="square" lIns="91425" tIns="91425" rIns="91425" bIns="91425" anchor="ctr" anchorCtr="0">
            <a:noAutofit/>
          </a:bodyPr>
          <a:lstStyle/>
          <a:p>
            <a:endParaRPr lang="en-US">
              <a:ea typeface="等线"/>
            </a:endParaRPr>
          </a:p>
        </p:txBody>
      </p:sp>
      <p:grpSp>
        <p:nvGrpSpPr>
          <p:cNvPr id="1643" name="Google Shape;1643;p20">
            <a:extLst>
              <a:ext uri="{FF2B5EF4-FFF2-40B4-BE49-F238E27FC236}">
                <a16:creationId xmlns:a16="http://schemas.microsoft.com/office/drawing/2014/main" id="{55D09FC0-929F-D47B-BF64-3EE9AF331610}"/>
              </a:ext>
            </a:extLst>
          </p:cNvPr>
          <p:cNvGrpSpPr/>
          <p:nvPr/>
        </p:nvGrpSpPr>
        <p:grpSpPr>
          <a:xfrm rot="-5400000">
            <a:off x="496646" y="1284873"/>
            <a:ext cx="987877" cy="1111795"/>
            <a:chOff x="7228274" y="1201022"/>
            <a:chExt cx="1260851" cy="1419011"/>
          </a:xfrm>
        </p:grpSpPr>
        <p:sp>
          <p:nvSpPr>
            <p:cNvPr id="1644" name="Google Shape;1644;p20">
              <a:extLst>
                <a:ext uri="{FF2B5EF4-FFF2-40B4-BE49-F238E27FC236}">
                  <a16:creationId xmlns:a16="http://schemas.microsoft.com/office/drawing/2014/main" id="{B36672B2-9AF0-F5B9-AC15-BB890AC65B1D}"/>
                </a:ext>
              </a:extLst>
            </p:cNvPr>
            <p:cNvSpPr/>
            <p:nvPr/>
          </p:nvSpPr>
          <p:spPr>
            <a:xfrm>
              <a:off x="7682044" y="2249445"/>
              <a:ext cx="335007" cy="370588"/>
            </a:xfrm>
            <a:custGeom>
              <a:avLst/>
              <a:gdLst/>
              <a:ahLst/>
              <a:cxnLst/>
              <a:rect l="l" t="t" r="r" b="b"/>
              <a:pathLst>
                <a:path w="10451" h="11561" extrusionOk="0">
                  <a:moveTo>
                    <a:pt x="0" y="1"/>
                  </a:moveTo>
                  <a:lnTo>
                    <a:pt x="5226" y="11560"/>
                  </a:lnTo>
                  <a:lnTo>
                    <a:pt x="10451" y="1"/>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20">
              <a:extLst>
                <a:ext uri="{FF2B5EF4-FFF2-40B4-BE49-F238E27FC236}">
                  <a16:creationId xmlns:a16="http://schemas.microsoft.com/office/drawing/2014/main" id="{FFB08765-33F2-0E77-2306-FA75936FF86D}"/>
                </a:ext>
              </a:extLst>
            </p:cNvPr>
            <p:cNvSpPr/>
            <p:nvPr/>
          </p:nvSpPr>
          <p:spPr>
            <a:xfrm>
              <a:off x="7228274" y="1201022"/>
              <a:ext cx="1260851" cy="1152826"/>
            </a:xfrm>
            <a:custGeom>
              <a:avLst/>
              <a:gdLst/>
              <a:ahLst/>
              <a:cxnLst/>
              <a:rect l="l" t="t" r="r" b="b"/>
              <a:pathLst>
                <a:path w="39334" h="35964" extrusionOk="0">
                  <a:moveTo>
                    <a:pt x="18888" y="1"/>
                  </a:moveTo>
                  <a:cubicBezTo>
                    <a:pt x="13304" y="1"/>
                    <a:pt x="7787" y="2456"/>
                    <a:pt x="4149" y="7119"/>
                  </a:cubicBezTo>
                  <a:cubicBezTo>
                    <a:pt x="2217" y="9590"/>
                    <a:pt x="1045" y="12377"/>
                    <a:pt x="602" y="15258"/>
                  </a:cubicBezTo>
                  <a:cubicBezTo>
                    <a:pt x="0" y="19027"/>
                    <a:pt x="633" y="22891"/>
                    <a:pt x="2470" y="26279"/>
                  </a:cubicBezTo>
                  <a:cubicBezTo>
                    <a:pt x="3262" y="27799"/>
                    <a:pt x="4307" y="29224"/>
                    <a:pt x="5606" y="30491"/>
                  </a:cubicBezTo>
                  <a:cubicBezTo>
                    <a:pt x="6239" y="31124"/>
                    <a:pt x="6936" y="31758"/>
                    <a:pt x="7696" y="32296"/>
                  </a:cubicBezTo>
                  <a:cubicBezTo>
                    <a:pt x="11040" y="34769"/>
                    <a:pt x="14967" y="35963"/>
                    <a:pt x="18862" y="35963"/>
                  </a:cubicBezTo>
                  <a:cubicBezTo>
                    <a:pt x="24446" y="35963"/>
                    <a:pt x="29963" y="33508"/>
                    <a:pt x="33601" y="28844"/>
                  </a:cubicBezTo>
                  <a:cubicBezTo>
                    <a:pt x="39333" y="21529"/>
                    <a:pt x="38383" y="11300"/>
                    <a:pt x="31764" y="5061"/>
                  </a:cubicBezTo>
                  <a:lnTo>
                    <a:pt x="31733" y="5061"/>
                  </a:lnTo>
                  <a:cubicBezTo>
                    <a:pt x="31226" y="4554"/>
                    <a:pt x="30656" y="4111"/>
                    <a:pt x="30054" y="3668"/>
                  </a:cubicBezTo>
                  <a:cubicBezTo>
                    <a:pt x="26710" y="1195"/>
                    <a:pt x="22782" y="1"/>
                    <a:pt x="18888"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20">
              <a:extLst>
                <a:ext uri="{FF2B5EF4-FFF2-40B4-BE49-F238E27FC236}">
                  <a16:creationId xmlns:a16="http://schemas.microsoft.com/office/drawing/2014/main" id="{751D0CC0-18F9-A4BF-2E9A-9A7A7A84C0E1}"/>
                </a:ext>
              </a:extLst>
            </p:cNvPr>
            <p:cNvSpPr/>
            <p:nvPr/>
          </p:nvSpPr>
          <p:spPr>
            <a:xfrm>
              <a:off x="7407942" y="1363221"/>
              <a:ext cx="1081183" cy="990628"/>
            </a:xfrm>
            <a:custGeom>
              <a:avLst/>
              <a:gdLst/>
              <a:ahLst/>
              <a:cxnLst/>
              <a:rect l="l" t="t" r="r" b="b"/>
              <a:pathLst>
                <a:path w="33729" h="30904" extrusionOk="0">
                  <a:moveTo>
                    <a:pt x="26128" y="1"/>
                  </a:moveTo>
                  <a:lnTo>
                    <a:pt x="19224" y="6746"/>
                  </a:lnTo>
                  <a:lnTo>
                    <a:pt x="8678" y="16976"/>
                  </a:lnTo>
                  <a:lnTo>
                    <a:pt x="1077" y="24386"/>
                  </a:lnTo>
                  <a:lnTo>
                    <a:pt x="1" y="25431"/>
                  </a:lnTo>
                  <a:cubicBezTo>
                    <a:pt x="634" y="26064"/>
                    <a:pt x="1331" y="26698"/>
                    <a:pt x="2091" y="27236"/>
                  </a:cubicBezTo>
                  <a:cubicBezTo>
                    <a:pt x="5435" y="29709"/>
                    <a:pt x="9362" y="30903"/>
                    <a:pt x="13257" y="30903"/>
                  </a:cubicBezTo>
                  <a:cubicBezTo>
                    <a:pt x="18841" y="30903"/>
                    <a:pt x="24358" y="28448"/>
                    <a:pt x="27996" y="23784"/>
                  </a:cubicBezTo>
                  <a:cubicBezTo>
                    <a:pt x="33728" y="16469"/>
                    <a:pt x="32778" y="6240"/>
                    <a:pt x="26159" y="1"/>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20">
              <a:extLst>
                <a:ext uri="{FF2B5EF4-FFF2-40B4-BE49-F238E27FC236}">
                  <a16:creationId xmlns:a16="http://schemas.microsoft.com/office/drawing/2014/main" id="{18B1DC38-29F0-87DF-B226-ECD6F67F5D89}"/>
                </a:ext>
              </a:extLst>
            </p:cNvPr>
            <p:cNvSpPr/>
            <p:nvPr/>
          </p:nvSpPr>
          <p:spPr>
            <a:xfrm>
              <a:off x="7477982" y="1450859"/>
              <a:ext cx="727905" cy="662224"/>
            </a:xfrm>
            <a:custGeom>
              <a:avLst/>
              <a:gdLst/>
              <a:ahLst/>
              <a:cxnLst/>
              <a:rect l="l" t="t" r="r" b="b"/>
              <a:pathLst>
                <a:path w="22708" h="20659" extrusionOk="0">
                  <a:moveTo>
                    <a:pt x="11334" y="0"/>
                  </a:moveTo>
                  <a:cubicBezTo>
                    <a:pt x="6640" y="0"/>
                    <a:pt x="2412" y="3195"/>
                    <a:pt x="1299" y="7971"/>
                  </a:cubicBezTo>
                  <a:cubicBezTo>
                    <a:pt x="1" y="13513"/>
                    <a:pt x="3421" y="19087"/>
                    <a:pt x="8995" y="20385"/>
                  </a:cubicBezTo>
                  <a:cubicBezTo>
                    <a:pt x="9784" y="20570"/>
                    <a:pt x="10573" y="20659"/>
                    <a:pt x="11351" y="20659"/>
                  </a:cubicBezTo>
                  <a:cubicBezTo>
                    <a:pt x="16037" y="20659"/>
                    <a:pt x="20295" y="17443"/>
                    <a:pt x="21409" y="12690"/>
                  </a:cubicBezTo>
                  <a:cubicBezTo>
                    <a:pt x="22707" y="7148"/>
                    <a:pt x="19256" y="1574"/>
                    <a:pt x="13713" y="276"/>
                  </a:cubicBezTo>
                  <a:cubicBezTo>
                    <a:pt x="12916" y="90"/>
                    <a:pt x="12118" y="0"/>
                    <a:pt x="11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20">
              <a:extLst>
                <a:ext uri="{FF2B5EF4-FFF2-40B4-BE49-F238E27FC236}">
                  <a16:creationId xmlns:a16="http://schemas.microsoft.com/office/drawing/2014/main" id="{F856123D-C8D3-50D0-1BB5-3381011483EA}"/>
                </a:ext>
              </a:extLst>
            </p:cNvPr>
            <p:cNvSpPr/>
            <p:nvPr/>
          </p:nvSpPr>
          <p:spPr>
            <a:xfrm>
              <a:off x="7692174" y="1657870"/>
              <a:ext cx="287341" cy="274904"/>
            </a:xfrm>
            <a:custGeom>
              <a:avLst/>
              <a:gdLst/>
              <a:ahLst/>
              <a:cxnLst/>
              <a:rect l="l" t="t" r="r" b="b"/>
              <a:pathLst>
                <a:path w="8964" h="8576" extrusionOk="0">
                  <a:moveTo>
                    <a:pt x="2775" y="0"/>
                  </a:moveTo>
                  <a:cubicBezTo>
                    <a:pt x="2704" y="0"/>
                    <a:pt x="2632" y="19"/>
                    <a:pt x="2566" y="56"/>
                  </a:cubicBezTo>
                  <a:cubicBezTo>
                    <a:pt x="1014" y="785"/>
                    <a:pt x="1" y="2368"/>
                    <a:pt x="1" y="4078"/>
                  </a:cubicBezTo>
                  <a:cubicBezTo>
                    <a:pt x="1" y="6548"/>
                    <a:pt x="2028" y="8575"/>
                    <a:pt x="4498" y="8575"/>
                  </a:cubicBezTo>
                  <a:cubicBezTo>
                    <a:pt x="6936" y="8575"/>
                    <a:pt x="8963" y="6548"/>
                    <a:pt x="8963" y="4078"/>
                  </a:cubicBezTo>
                  <a:cubicBezTo>
                    <a:pt x="8963" y="2368"/>
                    <a:pt x="7950" y="785"/>
                    <a:pt x="6398" y="56"/>
                  </a:cubicBezTo>
                  <a:cubicBezTo>
                    <a:pt x="6332" y="19"/>
                    <a:pt x="6260" y="0"/>
                    <a:pt x="6189" y="0"/>
                  </a:cubicBezTo>
                  <a:cubicBezTo>
                    <a:pt x="6023" y="0"/>
                    <a:pt x="5863" y="100"/>
                    <a:pt x="5796" y="278"/>
                  </a:cubicBezTo>
                  <a:cubicBezTo>
                    <a:pt x="5701" y="500"/>
                    <a:pt x="5796" y="753"/>
                    <a:pt x="6018" y="880"/>
                  </a:cubicBezTo>
                  <a:cubicBezTo>
                    <a:pt x="7253" y="1450"/>
                    <a:pt x="8045" y="2716"/>
                    <a:pt x="8045" y="4078"/>
                  </a:cubicBezTo>
                  <a:cubicBezTo>
                    <a:pt x="8045" y="6042"/>
                    <a:pt x="6461" y="7657"/>
                    <a:pt x="4498" y="7657"/>
                  </a:cubicBezTo>
                  <a:cubicBezTo>
                    <a:pt x="2503" y="7657"/>
                    <a:pt x="919" y="6073"/>
                    <a:pt x="919" y="4078"/>
                  </a:cubicBezTo>
                  <a:cubicBezTo>
                    <a:pt x="919" y="2716"/>
                    <a:pt x="1711" y="1450"/>
                    <a:pt x="2946" y="880"/>
                  </a:cubicBezTo>
                  <a:cubicBezTo>
                    <a:pt x="3168" y="753"/>
                    <a:pt x="3294" y="500"/>
                    <a:pt x="3168" y="278"/>
                  </a:cubicBezTo>
                  <a:cubicBezTo>
                    <a:pt x="3101" y="100"/>
                    <a:pt x="2941" y="0"/>
                    <a:pt x="2775"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20">
              <a:extLst>
                <a:ext uri="{FF2B5EF4-FFF2-40B4-BE49-F238E27FC236}">
                  <a16:creationId xmlns:a16="http://schemas.microsoft.com/office/drawing/2014/main" id="{EFD967F3-DBEA-34E2-6959-D4987B18D4EB}"/>
                </a:ext>
              </a:extLst>
            </p:cNvPr>
            <p:cNvSpPr/>
            <p:nvPr/>
          </p:nvSpPr>
          <p:spPr>
            <a:xfrm>
              <a:off x="7821099" y="1589625"/>
              <a:ext cx="29491" cy="168545"/>
            </a:xfrm>
            <a:custGeom>
              <a:avLst/>
              <a:gdLst/>
              <a:ahLst/>
              <a:cxnLst/>
              <a:rect l="l" t="t" r="r" b="b"/>
              <a:pathLst>
                <a:path w="920" h="5258" extrusionOk="0">
                  <a:moveTo>
                    <a:pt x="476" y="0"/>
                  </a:moveTo>
                  <a:cubicBezTo>
                    <a:pt x="223" y="0"/>
                    <a:pt x="1" y="190"/>
                    <a:pt x="1" y="444"/>
                  </a:cubicBezTo>
                  <a:lnTo>
                    <a:pt x="1" y="4782"/>
                  </a:lnTo>
                  <a:cubicBezTo>
                    <a:pt x="1" y="5036"/>
                    <a:pt x="223" y="5257"/>
                    <a:pt x="476" y="5257"/>
                  </a:cubicBezTo>
                  <a:cubicBezTo>
                    <a:pt x="698" y="5257"/>
                    <a:pt x="919" y="5036"/>
                    <a:pt x="919" y="4782"/>
                  </a:cubicBezTo>
                  <a:lnTo>
                    <a:pt x="919" y="444"/>
                  </a:lnTo>
                  <a:cubicBezTo>
                    <a:pt x="919" y="190"/>
                    <a:pt x="698" y="0"/>
                    <a:pt x="476"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9" name="Google Shape;1679;p20">
            <a:extLst>
              <a:ext uri="{FF2B5EF4-FFF2-40B4-BE49-F238E27FC236}">
                <a16:creationId xmlns:a16="http://schemas.microsoft.com/office/drawing/2014/main" id="{9C25A31F-4D6A-EE7E-7C5E-617BB9445F2C}"/>
              </a:ext>
            </a:extLst>
          </p:cNvPr>
          <p:cNvSpPr txBox="1"/>
          <p:nvPr/>
        </p:nvSpPr>
        <p:spPr>
          <a:xfrm>
            <a:off x="1762908" y="1287085"/>
            <a:ext cx="5632408" cy="992061"/>
          </a:xfrm>
          <a:prstGeom prst="rect">
            <a:avLst/>
          </a:prstGeom>
          <a:noFill/>
          <a:ln>
            <a:noFill/>
          </a:ln>
        </p:spPr>
        <p:txBody>
          <a:bodyPr spcFirstLastPara="1" wrap="square" lIns="91425" tIns="91425" rIns="91425" bIns="91425" anchor="t" anchorCtr="0">
            <a:noAutofit/>
          </a:bodyPr>
          <a:lstStyle/>
          <a:p>
            <a:r>
              <a:rPr lang="en-US" sz="1200">
                <a:latin typeface="Fira Sans"/>
                <a:ea typeface="Calibri"/>
                <a:cs typeface="Calibri"/>
                <a:sym typeface="Fira Sans"/>
              </a:rPr>
              <a:t>The dataset with over 10,000 records and 14 usable features—which provides a comprehensive look into the factors that influence Amazon's customer sentiment. Amazon isn’t just a leading online marketplace; it’s a powerhouse that has expanded into various industries, offering a rich landscape to explore how product attributes, pricing strategies, and brand identities impact consumer reviews.</a:t>
            </a:r>
            <a:endParaRPr lang="en-US" sz="1200">
              <a:latin typeface="Fira Sans"/>
              <a:ea typeface="Calibri"/>
              <a:cs typeface="Calibri"/>
            </a:endParaRPr>
          </a:p>
          <a:p>
            <a:endParaRPr lang="en-US" sz="1200">
              <a:latin typeface="Calibri"/>
              <a:ea typeface="Calibri"/>
              <a:cs typeface="Calibri"/>
              <a:sym typeface="Fira Sans"/>
            </a:endParaRPr>
          </a:p>
          <a:p>
            <a:pPr algn="ctr"/>
            <a:endParaRPr lang="en" sz="1200">
              <a:latin typeface="Fira Sans"/>
              <a:ea typeface="Fira Sans"/>
              <a:cs typeface="Fira Sans"/>
            </a:endParaRPr>
          </a:p>
        </p:txBody>
      </p:sp>
      <p:sp>
        <p:nvSpPr>
          <p:cNvPr id="1686" name="Google Shape;1686;p20">
            <a:extLst>
              <a:ext uri="{FF2B5EF4-FFF2-40B4-BE49-F238E27FC236}">
                <a16:creationId xmlns:a16="http://schemas.microsoft.com/office/drawing/2014/main" id="{FC18E2F2-7212-5E08-FB8C-339E46763A56}"/>
              </a:ext>
            </a:extLst>
          </p:cNvPr>
          <p:cNvSpPr txBox="1"/>
          <p:nvPr/>
        </p:nvSpPr>
        <p:spPr>
          <a:xfrm>
            <a:off x="717400" y="411475"/>
            <a:ext cx="7723500"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a:latin typeface="Fira Sans Medium"/>
                <a:ea typeface="Fira Sans Medium"/>
                <a:cs typeface="Fira Sans Medium"/>
                <a:sym typeface="Fira Sans Medium"/>
              </a:rPr>
              <a:t>Introduction</a:t>
            </a:r>
            <a:endParaRPr sz="2800">
              <a:latin typeface="Fira Sans Medium"/>
              <a:ea typeface="Fira Sans Medium"/>
              <a:cs typeface="Fira Sans Medium"/>
              <a:sym typeface="Fira Sans Medium"/>
            </a:endParaRPr>
          </a:p>
        </p:txBody>
      </p:sp>
      <p:sp>
        <p:nvSpPr>
          <p:cNvPr id="2" name="TextBox 1">
            <a:extLst>
              <a:ext uri="{FF2B5EF4-FFF2-40B4-BE49-F238E27FC236}">
                <a16:creationId xmlns:a16="http://schemas.microsoft.com/office/drawing/2014/main" id="{CFEC1495-65CA-4974-8CA1-F7375943A014}"/>
              </a:ext>
            </a:extLst>
          </p:cNvPr>
          <p:cNvSpPr txBox="1"/>
          <p:nvPr/>
        </p:nvSpPr>
        <p:spPr>
          <a:xfrm>
            <a:off x="1763578" y="2898505"/>
            <a:ext cx="562975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Fira Sans"/>
              </a:rPr>
              <a:t>Our goal is to forecast and evaluate review sentiment, using statistical and machine learning models to provide insights that could help both businesses and consumers understand the market dynamics better. </a:t>
            </a:r>
            <a:endParaRPr lang="en-US" sz="1200">
              <a:latin typeface="Fira Sans"/>
              <a:ea typeface="Calibri"/>
              <a:cs typeface="Calibri"/>
            </a:endParaRPr>
          </a:p>
        </p:txBody>
      </p:sp>
      <p:sp>
        <p:nvSpPr>
          <p:cNvPr id="3" name="Google Shape;1639;p20">
            <a:extLst>
              <a:ext uri="{FF2B5EF4-FFF2-40B4-BE49-F238E27FC236}">
                <a16:creationId xmlns:a16="http://schemas.microsoft.com/office/drawing/2014/main" id="{DDB3ADBD-707C-2506-C134-A3BCCFD475F9}"/>
              </a:ext>
            </a:extLst>
          </p:cNvPr>
          <p:cNvSpPr/>
          <p:nvPr/>
        </p:nvSpPr>
        <p:spPr>
          <a:xfrm>
            <a:off x="1756451" y="2752811"/>
            <a:ext cx="5632451" cy="937440"/>
          </a:xfrm>
          <a:custGeom>
            <a:avLst/>
            <a:gdLst/>
            <a:ahLst/>
            <a:cxnLst/>
            <a:rect l="l" t="t" r="r" b="b"/>
            <a:pathLst>
              <a:path w="52888" h="59032" fill="none" extrusionOk="0">
                <a:moveTo>
                  <a:pt x="50259" y="59032"/>
                </a:moveTo>
                <a:lnTo>
                  <a:pt x="2629" y="59032"/>
                </a:lnTo>
                <a:cubicBezTo>
                  <a:pt x="1172" y="59032"/>
                  <a:pt x="0" y="57860"/>
                  <a:pt x="0" y="56403"/>
                </a:cubicBezTo>
                <a:lnTo>
                  <a:pt x="0" y="2629"/>
                </a:lnTo>
                <a:cubicBezTo>
                  <a:pt x="0" y="1173"/>
                  <a:pt x="1172" y="1"/>
                  <a:pt x="2629" y="1"/>
                </a:cubicBezTo>
                <a:lnTo>
                  <a:pt x="50259" y="1"/>
                </a:lnTo>
                <a:cubicBezTo>
                  <a:pt x="51716" y="1"/>
                  <a:pt x="52888" y="1173"/>
                  <a:pt x="52888" y="2629"/>
                </a:cubicBezTo>
                <a:lnTo>
                  <a:pt x="52888" y="56403"/>
                </a:lnTo>
                <a:cubicBezTo>
                  <a:pt x="52888" y="57860"/>
                  <a:pt x="51716" y="59032"/>
                  <a:pt x="50259" y="59032"/>
                </a:cubicBezTo>
                <a:close/>
              </a:path>
            </a:pathLst>
          </a:custGeom>
          <a:noFill/>
          <a:ln w="10300" cap="flat" cmpd="sng">
            <a:solidFill>
              <a:srgbClr val="F2A365"/>
            </a:solidFill>
            <a:prstDash val="solid"/>
            <a:miter lim="31669"/>
            <a:headEnd type="none" w="sm" len="sm"/>
            <a:tailEnd type="none" w="sm" len="sm"/>
          </a:ln>
        </p:spPr>
        <p:txBody>
          <a:bodyPr spcFirstLastPara="1" wrap="square" lIns="91425" tIns="91425" rIns="91425" bIns="91425" anchor="ctr" anchorCtr="0">
            <a:noAutofit/>
          </a:bodyPr>
          <a:lstStyle/>
          <a:p>
            <a:endParaRPr lang="en-US">
              <a:ea typeface="等线"/>
            </a:endParaRPr>
          </a:p>
        </p:txBody>
      </p:sp>
      <p:sp>
        <p:nvSpPr>
          <p:cNvPr id="5" name="Google Shape;2336;p27">
            <a:extLst>
              <a:ext uri="{FF2B5EF4-FFF2-40B4-BE49-F238E27FC236}">
                <a16:creationId xmlns:a16="http://schemas.microsoft.com/office/drawing/2014/main" id="{FE232B9D-066D-FAFA-DCB0-3CA896FCADCE}"/>
              </a:ext>
            </a:extLst>
          </p:cNvPr>
          <p:cNvSpPr/>
          <p:nvPr/>
        </p:nvSpPr>
        <p:spPr>
          <a:xfrm>
            <a:off x="130380" y="4025074"/>
            <a:ext cx="2816553" cy="354691"/>
          </a:xfrm>
          <a:custGeom>
            <a:avLst/>
            <a:gdLst/>
            <a:ahLst/>
            <a:cxnLst/>
            <a:rect l="l" t="t" r="r" b="b"/>
            <a:pathLst>
              <a:path w="102863" h="11053" extrusionOk="0">
                <a:moveTo>
                  <a:pt x="1" y="1"/>
                </a:moveTo>
                <a:lnTo>
                  <a:pt x="1" y="11053"/>
                </a:lnTo>
                <a:lnTo>
                  <a:pt x="102862" y="11053"/>
                </a:lnTo>
                <a:lnTo>
                  <a:pt x="102862" y="1"/>
                </a:lnTo>
                <a:close/>
              </a:path>
            </a:pathLst>
          </a:custGeom>
          <a:solidFill>
            <a:srgbClr val="C4C4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FFFF"/>
                </a:solidFill>
                <a:latin typeface="Fira Sans"/>
                <a:ea typeface="Fira Sans"/>
                <a:cs typeface="Fira Sans"/>
                <a:sym typeface="Fira Sans"/>
              </a:rPr>
              <a:t>Methodology</a:t>
            </a:r>
            <a:endParaRPr lang="en-US" sz="1200">
              <a:solidFill>
                <a:srgbClr val="FFFFFF"/>
              </a:solidFill>
              <a:latin typeface="Fira Sans"/>
              <a:ea typeface="Fira Sans"/>
              <a:cs typeface="Fira Sans"/>
            </a:endParaRPr>
          </a:p>
        </p:txBody>
      </p:sp>
      <p:sp>
        <p:nvSpPr>
          <p:cNvPr id="7" name="Google Shape;2337;p27">
            <a:extLst>
              <a:ext uri="{FF2B5EF4-FFF2-40B4-BE49-F238E27FC236}">
                <a16:creationId xmlns:a16="http://schemas.microsoft.com/office/drawing/2014/main" id="{00D153F7-3E2F-4D68-3663-7937DFF38616}"/>
              </a:ext>
            </a:extLst>
          </p:cNvPr>
          <p:cNvSpPr/>
          <p:nvPr/>
        </p:nvSpPr>
        <p:spPr>
          <a:xfrm>
            <a:off x="3155778" y="4024593"/>
            <a:ext cx="2816553" cy="350436"/>
          </a:xfrm>
          <a:custGeom>
            <a:avLst/>
            <a:gdLst/>
            <a:ahLst/>
            <a:cxnLst/>
            <a:rect l="l" t="t" r="r" b="b"/>
            <a:pathLst>
              <a:path w="102863" h="11021" extrusionOk="0">
                <a:moveTo>
                  <a:pt x="1" y="0"/>
                </a:moveTo>
                <a:lnTo>
                  <a:pt x="1" y="11021"/>
                </a:lnTo>
                <a:lnTo>
                  <a:pt x="102862" y="11021"/>
                </a:lnTo>
                <a:lnTo>
                  <a:pt x="102862" y="0"/>
                </a:lnTo>
                <a:close/>
              </a:path>
            </a:pathLst>
          </a:custGeom>
          <a:solidFill>
            <a:srgbClr val="30475E"/>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a:spcBef>
                <a:spcPts val="0"/>
              </a:spcBef>
              <a:spcAft>
                <a:spcPts val="0"/>
              </a:spcAft>
              <a:buNone/>
            </a:pPr>
            <a:r>
              <a:rPr lang="en" sz="1200">
                <a:solidFill>
                  <a:srgbClr val="FFFFFF"/>
                </a:solidFill>
                <a:latin typeface="Fira Sans"/>
                <a:sym typeface="Fira Sans"/>
              </a:rPr>
              <a:t>Challenges</a:t>
            </a:r>
            <a:endParaRPr lang="en-US" sz="1200"/>
          </a:p>
        </p:txBody>
      </p:sp>
      <p:sp>
        <p:nvSpPr>
          <p:cNvPr id="9" name="Google Shape;2338;p27">
            <a:extLst>
              <a:ext uri="{FF2B5EF4-FFF2-40B4-BE49-F238E27FC236}">
                <a16:creationId xmlns:a16="http://schemas.microsoft.com/office/drawing/2014/main" id="{D666E4AF-DB12-84BC-FC22-C28EBBB1270B}"/>
              </a:ext>
            </a:extLst>
          </p:cNvPr>
          <p:cNvSpPr/>
          <p:nvPr/>
        </p:nvSpPr>
        <p:spPr>
          <a:xfrm>
            <a:off x="6181177" y="4023057"/>
            <a:ext cx="2816552" cy="351495"/>
          </a:xfrm>
          <a:custGeom>
            <a:avLst/>
            <a:gdLst/>
            <a:ahLst/>
            <a:cxnLst/>
            <a:rect l="l" t="t" r="r" b="b"/>
            <a:pathLst>
              <a:path w="102863" h="11054" extrusionOk="0">
                <a:moveTo>
                  <a:pt x="1" y="1"/>
                </a:moveTo>
                <a:lnTo>
                  <a:pt x="1" y="11053"/>
                </a:lnTo>
                <a:lnTo>
                  <a:pt x="102862" y="11053"/>
                </a:lnTo>
                <a:lnTo>
                  <a:pt x="102862" y="1"/>
                </a:lnTo>
                <a:close/>
              </a:path>
            </a:pathLst>
          </a:custGeom>
          <a:solidFill>
            <a:srgbClr val="F2A365"/>
          </a:solidFill>
          <a:ln>
            <a:noFill/>
          </a:ln>
        </p:spPr>
        <p:txBody>
          <a:bodyPr spcFirstLastPara="1" wrap="square" lIns="91425" tIns="91425" rIns="91425" bIns="91425" anchor="ctr" anchorCtr="0">
            <a:noAutofit/>
          </a:bodyPr>
          <a:lstStyle/>
          <a:p>
            <a:pPr algn="ctr"/>
            <a:r>
              <a:rPr lang="en" sz="1200">
                <a:solidFill>
                  <a:srgbClr val="FFFFFF"/>
                </a:solidFill>
                <a:latin typeface="Fira Sans"/>
                <a:sym typeface="Fira Sans"/>
              </a:rPr>
              <a:t>Key findings</a:t>
            </a:r>
            <a:endParaRPr lang="en-US" sz="1200">
              <a:latin typeface="Fira Sans"/>
              <a:ea typeface="等线"/>
            </a:endParaRPr>
          </a:p>
        </p:txBody>
      </p:sp>
    </p:spTree>
    <p:extLst>
      <p:ext uri="{BB962C8B-B14F-4D97-AF65-F5344CB8AC3E}">
        <p14:creationId xmlns:p14="http://schemas.microsoft.com/office/powerpoint/2010/main" val="2267389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98"/>
        <p:cNvGrpSpPr/>
        <p:nvPr/>
      </p:nvGrpSpPr>
      <p:grpSpPr>
        <a:xfrm>
          <a:off x="0" y="0"/>
          <a:ext cx="0" cy="0"/>
          <a:chOff x="0" y="0"/>
          <a:chExt cx="0" cy="0"/>
        </a:xfrm>
      </p:grpSpPr>
      <p:grpSp>
        <p:nvGrpSpPr>
          <p:cNvPr id="1499" name="Google Shape;1499;p18"/>
          <p:cNvGrpSpPr/>
          <p:nvPr/>
        </p:nvGrpSpPr>
        <p:grpSpPr>
          <a:xfrm rot="1441941">
            <a:off x="2818836" y="838130"/>
            <a:ext cx="3056196" cy="3467239"/>
            <a:chOff x="3049526" y="1569750"/>
            <a:chExt cx="1724424" cy="1956350"/>
          </a:xfrm>
        </p:grpSpPr>
        <p:sp>
          <p:nvSpPr>
            <p:cNvPr id="1500" name="Google Shape;1500;p18"/>
            <p:cNvSpPr/>
            <p:nvPr/>
          </p:nvSpPr>
          <p:spPr>
            <a:xfrm>
              <a:off x="3628275" y="1569750"/>
              <a:ext cx="809975" cy="441800"/>
            </a:xfrm>
            <a:custGeom>
              <a:avLst/>
              <a:gdLst/>
              <a:ahLst/>
              <a:cxnLst/>
              <a:rect l="l" t="t" r="r" b="b"/>
              <a:pathLst>
                <a:path w="32399" h="17672" extrusionOk="0">
                  <a:moveTo>
                    <a:pt x="1" y="0"/>
                  </a:moveTo>
                  <a:lnTo>
                    <a:pt x="1" y="5985"/>
                  </a:lnTo>
                  <a:cubicBezTo>
                    <a:pt x="10990" y="5985"/>
                    <a:pt x="20966" y="10451"/>
                    <a:pt x="28186" y="17671"/>
                  </a:cubicBezTo>
                  <a:lnTo>
                    <a:pt x="32398" y="13459"/>
                  </a:lnTo>
                  <a:cubicBezTo>
                    <a:pt x="24101" y="5162"/>
                    <a:pt x="12637" y="0"/>
                    <a:pt x="1"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18"/>
            <p:cNvSpPr/>
            <p:nvPr/>
          </p:nvSpPr>
          <p:spPr>
            <a:xfrm>
              <a:off x="3049526" y="2137400"/>
              <a:ext cx="1157550" cy="1157525"/>
            </a:xfrm>
            <a:custGeom>
              <a:avLst/>
              <a:gdLst/>
              <a:ahLst/>
              <a:cxnLst/>
              <a:rect l="l" t="t" r="r" b="b"/>
              <a:pathLst>
                <a:path w="46302" h="46301" extrusionOk="0">
                  <a:moveTo>
                    <a:pt x="23151" y="1"/>
                  </a:moveTo>
                  <a:cubicBezTo>
                    <a:pt x="10357" y="1"/>
                    <a:pt x="1" y="10356"/>
                    <a:pt x="1" y="23151"/>
                  </a:cubicBezTo>
                  <a:cubicBezTo>
                    <a:pt x="1" y="35945"/>
                    <a:pt x="10357" y="46301"/>
                    <a:pt x="23151" y="46301"/>
                  </a:cubicBezTo>
                  <a:cubicBezTo>
                    <a:pt x="35945" y="46301"/>
                    <a:pt x="46301" y="35945"/>
                    <a:pt x="46301" y="23151"/>
                  </a:cubicBezTo>
                  <a:cubicBezTo>
                    <a:pt x="46301" y="10356"/>
                    <a:pt x="35945" y="1"/>
                    <a:pt x="23151"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18"/>
            <p:cNvSpPr/>
            <p:nvPr/>
          </p:nvSpPr>
          <p:spPr>
            <a:xfrm rot="21377567">
              <a:off x="3078025" y="2215575"/>
              <a:ext cx="1099750" cy="1001175"/>
            </a:xfrm>
            <a:custGeom>
              <a:avLst/>
              <a:gdLst/>
              <a:ahLst/>
              <a:cxnLst/>
              <a:rect l="l" t="t" r="r" b="b"/>
              <a:pathLst>
                <a:path w="43990" h="40047" extrusionOk="0">
                  <a:moveTo>
                    <a:pt x="21995" y="1"/>
                  </a:moveTo>
                  <a:cubicBezTo>
                    <a:pt x="16865" y="1"/>
                    <a:pt x="11734" y="1957"/>
                    <a:pt x="7823" y="5868"/>
                  </a:cubicBezTo>
                  <a:cubicBezTo>
                    <a:pt x="1" y="13690"/>
                    <a:pt x="1" y="26357"/>
                    <a:pt x="7823" y="34180"/>
                  </a:cubicBezTo>
                  <a:cubicBezTo>
                    <a:pt x="11734" y="38091"/>
                    <a:pt x="16865" y="40046"/>
                    <a:pt x="21995" y="40046"/>
                  </a:cubicBezTo>
                  <a:cubicBezTo>
                    <a:pt x="27126" y="40046"/>
                    <a:pt x="32256" y="38091"/>
                    <a:pt x="36167" y="34180"/>
                  </a:cubicBezTo>
                  <a:cubicBezTo>
                    <a:pt x="43989" y="26357"/>
                    <a:pt x="43989" y="13690"/>
                    <a:pt x="36167" y="5868"/>
                  </a:cubicBezTo>
                  <a:cubicBezTo>
                    <a:pt x="32256" y="1957"/>
                    <a:pt x="27126" y="1"/>
                    <a:pt x="219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18"/>
            <p:cNvSpPr/>
            <p:nvPr/>
          </p:nvSpPr>
          <p:spPr>
            <a:xfrm rot="20158059">
              <a:off x="3298125" y="2488125"/>
              <a:ext cx="659550" cy="393525"/>
            </a:xfrm>
            <a:custGeom>
              <a:avLst/>
              <a:gdLst/>
              <a:ahLst/>
              <a:cxnLst/>
              <a:rect l="l" t="t" r="r" b="b"/>
              <a:pathLst>
                <a:path w="26382" h="15741" extrusionOk="0">
                  <a:moveTo>
                    <a:pt x="23499" y="983"/>
                  </a:moveTo>
                  <a:cubicBezTo>
                    <a:pt x="24544" y="983"/>
                    <a:pt x="25400" y="1838"/>
                    <a:pt x="25400" y="2883"/>
                  </a:cubicBezTo>
                  <a:lnTo>
                    <a:pt x="25400" y="12859"/>
                  </a:lnTo>
                  <a:cubicBezTo>
                    <a:pt x="25400" y="13904"/>
                    <a:pt x="24544" y="14759"/>
                    <a:pt x="23499" y="14759"/>
                  </a:cubicBezTo>
                  <a:lnTo>
                    <a:pt x="2883" y="14759"/>
                  </a:lnTo>
                  <a:cubicBezTo>
                    <a:pt x="1838" y="14759"/>
                    <a:pt x="983" y="13904"/>
                    <a:pt x="983" y="12859"/>
                  </a:cubicBezTo>
                  <a:lnTo>
                    <a:pt x="983" y="2883"/>
                  </a:lnTo>
                  <a:cubicBezTo>
                    <a:pt x="983" y="1838"/>
                    <a:pt x="1838" y="983"/>
                    <a:pt x="2883" y="983"/>
                  </a:cubicBezTo>
                  <a:close/>
                  <a:moveTo>
                    <a:pt x="2883" y="1"/>
                  </a:moveTo>
                  <a:cubicBezTo>
                    <a:pt x="1299" y="1"/>
                    <a:pt x="1" y="1299"/>
                    <a:pt x="1" y="2883"/>
                  </a:cubicBezTo>
                  <a:lnTo>
                    <a:pt x="1" y="12859"/>
                  </a:lnTo>
                  <a:cubicBezTo>
                    <a:pt x="1" y="14442"/>
                    <a:pt x="1299" y="15740"/>
                    <a:pt x="2883" y="15740"/>
                  </a:cubicBezTo>
                  <a:lnTo>
                    <a:pt x="23499" y="15740"/>
                  </a:lnTo>
                  <a:cubicBezTo>
                    <a:pt x="25083" y="15740"/>
                    <a:pt x="26381" y="14442"/>
                    <a:pt x="26381" y="12859"/>
                  </a:cubicBezTo>
                  <a:lnTo>
                    <a:pt x="26381" y="2883"/>
                  </a:lnTo>
                  <a:cubicBezTo>
                    <a:pt x="26381" y="1299"/>
                    <a:pt x="25083" y="1"/>
                    <a:pt x="23499"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18"/>
            <p:cNvSpPr/>
            <p:nvPr/>
          </p:nvSpPr>
          <p:spPr>
            <a:xfrm rot="20158059">
              <a:off x="3392116" y="2845969"/>
              <a:ext cx="631825" cy="54650"/>
            </a:xfrm>
            <a:custGeom>
              <a:avLst/>
              <a:gdLst/>
              <a:ahLst/>
              <a:cxnLst/>
              <a:rect l="l" t="t" r="r" b="b"/>
              <a:pathLst>
                <a:path w="25273" h="2186" extrusionOk="0">
                  <a:moveTo>
                    <a:pt x="0" y="0"/>
                  </a:moveTo>
                  <a:lnTo>
                    <a:pt x="0" y="285"/>
                  </a:lnTo>
                  <a:cubicBezTo>
                    <a:pt x="0" y="1330"/>
                    <a:pt x="855" y="2185"/>
                    <a:pt x="1900" y="2185"/>
                  </a:cubicBezTo>
                  <a:lnTo>
                    <a:pt x="23372" y="2185"/>
                  </a:lnTo>
                  <a:cubicBezTo>
                    <a:pt x="24417" y="2185"/>
                    <a:pt x="25272" y="1330"/>
                    <a:pt x="25272" y="285"/>
                  </a:cubicBezTo>
                  <a:lnTo>
                    <a:pt x="25272" y="0"/>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18"/>
            <p:cNvSpPr/>
            <p:nvPr/>
          </p:nvSpPr>
          <p:spPr>
            <a:xfrm rot="20158059">
              <a:off x="3672285" y="2865275"/>
              <a:ext cx="111650" cy="111675"/>
            </a:xfrm>
            <a:custGeom>
              <a:avLst/>
              <a:gdLst/>
              <a:ahLst/>
              <a:cxnLst/>
              <a:rect l="l" t="t" r="r" b="b"/>
              <a:pathLst>
                <a:path w="4466" h="4467" extrusionOk="0">
                  <a:moveTo>
                    <a:pt x="0" y="1"/>
                  </a:moveTo>
                  <a:lnTo>
                    <a:pt x="0" y="4466"/>
                  </a:lnTo>
                  <a:lnTo>
                    <a:pt x="4466" y="4466"/>
                  </a:lnTo>
                  <a:lnTo>
                    <a:pt x="4466" y="1"/>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18"/>
            <p:cNvSpPr/>
            <p:nvPr/>
          </p:nvSpPr>
          <p:spPr>
            <a:xfrm rot="20158059">
              <a:off x="3600277" y="2966312"/>
              <a:ext cx="311175" cy="28525"/>
            </a:xfrm>
            <a:custGeom>
              <a:avLst/>
              <a:gdLst/>
              <a:ahLst/>
              <a:cxnLst/>
              <a:rect l="l" t="t" r="r" b="b"/>
              <a:pathLst>
                <a:path w="12447" h="1141" extrusionOk="0">
                  <a:moveTo>
                    <a:pt x="1" y="0"/>
                  </a:moveTo>
                  <a:lnTo>
                    <a:pt x="1" y="1140"/>
                  </a:lnTo>
                  <a:lnTo>
                    <a:pt x="12447" y="1140"/>
                  </a:lnTo>
                  <a:lnTo>
                    <a:pt x="12447" y="0"/>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18"/>
            <p:cNvSpPr/>
            <p:nvPr/>
          </p:nvSpPr>
          <p:spPr>
            <a:xfrm rot="20158059">
              <a:off x="3481047" y="2758691"/>
              <a:ext cx="95025" cy="95825"/>
            </a:xfrm>
            <a:custGeom>
              <a:avLst/>
              <a:gdLst/>
              <a:ahLst/>
              <a:cxnLst/>
              <a:rect l="l" t="t" r="r" b="b"/>
              <a:pathLst>
                <a:path w="3801" h="3833" extrusionOk="0">
                  <a:moveTo>
                    <a:pt x="0" y="0"/>
                  </a:moveTo>
                  <a:lnTo>
                    <a:pt x="0" y="3832"/>
                  </a:lnTo>
                  <a:lnTo>
                    <a:pt x="3801" y="3832"/>
                  </a:lnTo>
                  <a:lnTo>
                    <a:pt x="3801"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18"/>
            <p:cNvSpPr/>
            <p:nvPr/>
          </p:nvSpPr>
          <p:spPr>
            <a:xfrm rot="20158059">
              <a:off x="3591676" y="2658482"/>
              <a:ext cx="95025" cy="140950"/>
            </a:xfrm>
            <a:custGeom>
              <a:avLst/>
              <a:gdLst/>
              <a:ahLst/>
              <a:cxnLst/>
              <a:rect l="l" t="t" r="r" b="b"/>
              <a:pathLst>
                <a:path w="3801" h="5638" extrusionOk="0">
                  <a:moveTo>
                    <a:pt x="0" y="0"/>
                  </a:moveTo>
                  <a:lnTo>
                    <a:pt x="0" y="5637"/>
                  </a:lnTo>
                  <a:lnTo>
                    <a:pt x="3800" y="5637"/>
                  </a:lnTo>
                  <a:lnTo>
                    <a:pt x="3800" y="0"/>
                  </a:ln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18"/>
            <p:cNvSpPr/>
            <p:nvPr/>
          </p:nvSpPr>
          <p:spPr>
            <a:xfrm rot="20158059">
              <a:off x="3705904" y="2565569"/>
              <a:ext cx="95025" cy="189250"/>
            </a:xfrm>
            <a:custGeom>
              <a:avLst/>
              <a:gdLst/>
              <a:ahLst/>
              <a:cxnLst/>
              <a:rect l="l" t="t" r="r" b="b"/>
              <a:pathLst>
                <a:path w="3801" h="7570" extrusionOk="0">
                  <a:moveTo>
                    <a:pt x="0" y="1"/>
                  </a:moveTo>
                  <a:lnTo>
                    <a:pt x="0" y="7569"/>
                  </a:lnTo>
                  <a:lnTo>
                    <a:pt x="3800" y="7569"/>
                  </a:lnTo>
                  <a:lnTo>
                    <a:pt x="3800" y="1"/>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18"/>
            <p:cNvSpPr/>
            <p:nvPr/>
          </p:nvSpPr>
          <p:spPr>
            <a:xfrm rot="10800000">
              <a:off x="4182500" y="2716950"/>
              <a:ext cx="467150" cy="25"/>
            </a:xfrm>
            <a:custGeom>
              <a:avLst/>
              <a:gdLst/>
              <a:ahLst/>
              <a:cxnLst/>
              <a:rect l="l" t="t" r="r" b="b"/>
              <a:pathLst>
                <a:path w="18686" h="1" fill="none" extrusionOk="0">
                  <a:moveTo>
                    <a:pt x="18685" y="0"/>
                  </a:moveTo>
                  <a:lnTo>
                    <a:pt x="0" y="0"/>
                  </a:lnTo>
                </a:path>
              </a:pathLst>
            </a:custGeom>
            <a:noFill/>
            <a:ln w="10300"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18"/>
            <p:cNvSpPr/>
            <p:nvPr/>
          </p:nvSpPr>
          <p:spPr>
            <a:xfrm>
              <a:off x="3633025" y="1694050"/>
              <a:ext cx="25" cy="467125"/>
            </a:xfrm>
            <a:custGeom>
              <a:avLst/>
              <a:gdLst/>
              <a:ahLst/>
              <a:cxnLst/>
              <a:rect l="l" t="t" r="r" b="b"/>
              <a:pathLst>
                <a:path w="1" h="18685" fill="none" extrusionOk="0">
                  <a:moveTo>
                    <a:pt x="1" y="18685"/>
                  </a:moveTo>
                  <a:lnTo>
                    <a:pt x="1" y="0"/>
                  </a:lnTo>
                </a:path>
              </a:pathLst>
            </a:custGeom>
            <a:noFill/>
            <a:ln w="10300"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18"/>
            <p:cNvSpPr/>
            <p:nvPr/>
          </p:nvSpPr>
          <p:spPr>
            <a:xfrm>
              <a:off x="4025725" y="2005975"/>
              <a:ext cx="311975" cy="311975"/>
            </a:xfrm>
            <a:custGeom>
              <a:avLst/>
              <a:gdLst/>
              <a:ahLst/>
              <a:cxnLst/>
              <a:rect l="l" t="t" r="r" b="b"/>
              <a:pathLst>
                <a:path w="12479" h="12479" fill="none" extrusionOk="0">
                  <a:moveTo>
                    <a:pt x="1" y="12478"/>
                  </a:moveTo>
                  <a:lnTo>
                    <a:pt x="12478" y="1"/>
                  </a:lnTo>
                </a:path>
              </a:pathLst>
            </a:custGeom>
            <a:noFill/>
            <a:ln w="10300"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18"/>
            <p:cNvSpPr/>
            <p:nvPr/>
          </p:nvSpPr>
          <p:spPr>
            <a:xfrm>
              <a:off x="4021775" y="3109650"/>
              <a:ext cx="311975" cy="311950"/>
            </a:xfrm>
            <a:custGeom>
              <a:avLst/>
              <a:gdLst/>
              <a:ahLst/>
              <a:cxnLst/>
              <a:rect l="l" t="t" r="r" b="b"/>
              <a:pathLst>
                <a:path w="12479" h="12478" fill="none" extrusionOk="0">
                  <a:moveTo>
                    <a:pt x="12478" y="12478"/>
                  </a:moveTo>
                  <a:lnTo>
                    <a:pt x="0" y="0"/>
                  </a:lnTo>
                </a:path>
              </a:pathLst>
            </a:custGeom>
            <a:noFill/>
            <a:ln w="10300"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18"/>
            <p:cNvSpPr/>
            <p:nvPr/>
          </p:nvSpPr>
          <p:spPr>
            <a:xfrm>
              <a:off x="4332925" y="2716150"/>
              <a:ext cx="441025" cy="809950"/>
            </a:xfrm>
            <a:custGeom>
              <a:avLst/>
              <a:gdLst/>
              <a:ahLst/>
              <a:cxnLst/>
              <a:rect l="l" t="t" r="r" b="b"/>
              <a:pathLst>
                <a:path w="17641" h="32398" extrusionOk="0">
                  <a:moveTo>
                    <a:pt x="11686" y="1"/>
                  </a:moveTo>
                  <a:cubicBezTo>
                    <a:pt x="11686" y="10990"/>
                    <a:pt x="7221" y="20965"/>
                    <a:pt x="0" y="28186"/>
                  </a:cubicBezTo>
                  <a:lnTo>
                    <a:pt x="4212" y="32398"/>
                  </a:lnTo>
                  <a:cubicBezTo>
                    <a:pt x="12510" y="24101"/>
                    <a:pt x="17640" y="12636"/>
                    <a:pt x="17640"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18"/>
            <p:cNvSpPr/>
            <p:nvPr/>
          </p:nvSpPr>
          <p:spPr>
            <a:xfrm>
              <a:off x="4332125" y="1906225"/>
              <a:ext cx="441825" cy="809950"/>
            </a:xfrm>
            <a:custGeom>
              <a:avLst/>
              <a:gdLst/>
              <a:ahLst/>
              <a:cxnLst/>
              <a:rect l="l" t="t" r="r" b="b"/>
              <a:pathLst>
                <a:path w="17673" h="32398" extrusionOk="0">
                  <a:moveTo>
                    <a:pt x="4244" y="0"/>
                  </a:moveTo>
                  <a:lnTo>
                    <a:pt x="1" y="4212"/>
                  </a:lnTo>
                  <a:cubicBezTo>
                    <a:pt x="7253" y="11433"/>
                    <a:pt x="11718" y="21409"/>
                    <a:pt x="11718" y="32398"/>
                  </a:cubicBezTo>
                  <a:lnTo>
                    <a:pt x="17672" y="32398"/>
                  </a:lnTo>
                  <a:cubicBezTo>
                    <a:pt x="17672" y="19762"/>
                    <a:pt x="12542" y="8298"/>
                    <a:pt x="4244"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1" name="Google Shape;1541;p18"/>
          <p:cNvSpPr txBox="1"/>
          <p:nvPr/>
        </p:nvSpPr>
        <p:spPr>
          <a:xfrm>
            <a:off x="457200" y="1334275"/>
            <a:ext cx="2228100" cy="2475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sz="2800">
                <a:latin typeface="Fira Sans Medium"/>
              </a:rPr>
              <a:t>Goals of the project</a:t>
            </a:r>
            <a:endParaRPr sz="2800">
              <a:latin typeface="Fira Sans Medium"/>
              <a:sym typeface="Fira Sans Medium"/>
            </a:endParaRPr>
          </a:p>
        </p:txBody>
      </p:sp>
      <p:sp>
        <p:nvSpPr>
          <p:cNvPr id="1542" name="Google Shape;1542;p18"/>
          <p:cNvSpPr txBox="1"/>
          <p:nvPr/>
        </p:nvSpPr>
        <p:spPr>
          <a:xfrm>
            <a:off x="6008575" y="744725"/>
            <a:ext cx="2412600" cy="35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300">
                <a:solidFill>
                  <a:srgbClr val="CCCCCC"/>
                </a:solidFill>
                <a:latin typeface="Fira Sans Extra Condensed Medium"/>
                <a:ea typeface="Fira Sans Extra Condensed Medium"/>
                <a:cs typeface="Fira Sans Extra Condensed Medium"/>
                <a:sym typeface="Fira Sans Extra Condensed Medium"/>
              </a:rPr>
              <a:t>01</a:t>
            </a:r>
            <a:endParaRPr sz="2300">
              <a:solidFill>
                <a:srgbClr val="CCCCCC"/>
              </a:solidFill>
              <a:latin typeface="Fira Sans Extra Condensed Medium"/>
              <a:ea typeface="Fira Sans Extra Condensed Medium"/>
              <a:cs typeface="Fira Sans Extra Condensed Medium"/>
              <a:sym typeface="Fira Sans Extra Condensed Medium"/>
            </a:endParaRPr>
          </a:p>
        </p:txBody>
      </p:sp>
      <p:sp>
        <p:nvSpPr>
          <p:cNvPr id="1543" name="Google Shape;1543;p18"/>
          <p:cNvSpPr txBox="1"/>
          <p:nvPr/>
        </p:nvSpPr>
        <p:spPr>
          <a:xfrm>
            <a:off x="6008582" y="1088124"/>
            <a:ext cx="2412600" cy="68865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a:latin typeface="Fira Sans"/>
              </a:rPr>
              <a:t>Predicting product price range based on category features reviews and ratings</a:t>
            </a:r>
            <a:endParaRPr sz="1200">
              <a:latin typeface="Fira Sans"/>
              <a:sym typeface="Fira Sans"/>
            </a:endParaRPr>
          </a:p>
        </p:txBody>
      </p:sp>
      <p:sp>
        <p:nvSpPr>
          <p:cNvPr id="1544" name="Google Shape;1544;p18"/>
          <p:cNvSpPr txBox="1"/>
          <p:nvPr/>
        </p:nvSpPr>
        <p:spPr>
          <a:xfrm>
            <a:off x="6008575" y="2140757"/>
            <a:ext cx="2412600" cy="35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300">
                <a:solidFill>
                  <a:srgbClr val="30475E"/>
                </a:solidFill>
                <a:latin typeface="Fira Sans Extra Condensed Medium"/>
                <a:ea typeface="Fira Sans Extra Condensed Medium"/>
                <a:cs typeface="Fira Sans Extra Condensed Medium"/>
                <a:sym typeface="Fira Sans Extra Condensed Medium"/>
              </a:rPr>
              <a:t>02</a:t>
            </a:r>
            <a:endParaRPr sz="2300">
              <a:solidFill>
                <a:srgbClr val="30475E"/>
              </a:solidFill>
              <a:latin typeface="Fira Sans Extra Condensed Medium"/>
              <a:ea typeface="Fira Sans Extra Condensed Medium"/>
              <a:cs typeface="Fira Sans Extra Condensed Medium"/>
              <a:sym typeface="Fira Sans Extra Condensed Medium"/>
            </a:endParaRPr>
          </a:p>
        </p:txBody>
      </p:sp>
      <p:sp>
        <p:nvSpPr>
          <p:cNvPr id="1545" name="Google Shape;1545;p18"/>
          <p:cNvSpPr txBox="1"/>
          <p:nvPr/>
        </p:nvSpPr>
        <p:spPr>
          <a:xfrm>
            <a:off x="6008575" y="2495961"/>
            <a:ext cx="2412600" cy="45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a:latin typeface="Fira Sans"/>
                <a:ea typeface="Fira Sans"/>
                <a:cs typeface="Fira Sans"/>
                <a:sym typeface="Fira Sans"/>
              </a:rPr>
              <a:t>U</a:t>
            </a:r>
            <a:r>
              <a:rPr lang="en-US" altLang="zh-CN" sz="1200">
                <a:latin typeface="Fira Sans"/>
              </a:rPr>
              <a:t>nderstanding the elements that influence average review ratings</a:t>
            </a:r>
            <a:endParaRPr sz="1200">
              <a:latin typeface="Fira Sans"/>
              <a:sym typeface="Fira Sans"/>
            </a:endParaRPr>
          </a:p>
        </p:txBody>
      </p:sp>
      <p:sp>
        <p:nvSpPr>
          <p:cNvPr id="1546" name="Google Shape;1546;p18"/>
          <p:cNvSpPr txBox="1"/>
          <p:nvPr/>
        </p:nvSpPr>
        <p:spPr>
          <a:xfrm>
            <a:off x="6008575" y="3602783"/>
            <a:ext cx="2412600" cy="35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300">
                <a:solidFill>
                  <a:srgbClr val="F2A365"/>
                </a:solidFill>
                <a:latin typeface="Fira Sans Extra Condensed Medium"/>
                <a:ea typeface="Fira Sans Extra Condensed Medium"/>
                <a:cs typeface="Fira Sans Extra Condensed Medium"/>
                <a:sym typeface="Fira Sans Extra Condensed Medium"/>
              </a:rPr>
              <a:t>03</a:t>
            </a:r>
            <a:endParaRPr sz="2300">
              <a:solidFill>
                <a:srgbClr val="F2A365"/>
              </a:solidFill>
              <a:latin typeface="Fira Sans Extra Condensed Medium"/>
              <a:ea typeface="Fira Sans Extra Condensed Medium"/>
              <a:cs typeface="Fira Sans Extra Condensed Medium"/>
              <a:sym typeface="Fira Sans Extra Condensed Medium"/>
            </a:endParaRPr>
          </a:p>
        </p:txBody>
      </p:sp>
      <p:sp>
        <p:nvSpPr>
          <p:cNvPr id="1547" name="Google Shape;1547;p18"/>
          <p:cNvSpPr txBox="1"/>
          <p:nvPr/>
        </p:nvSpPr>
        <p:spPr>
          <a:xfrm>
            <a:off x="6008575" y="3957983"/>
            <a:ext cx="2412600" cy="45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a:latin typeface="Fira Sans"/>
              </a:rPr>
              <a:t>Can we accurately predict the sentiment of a review based on its text and other features?</a:t>
            </a:r>
            <a:endParaRPr sz="1200">
              <a:latin typeface="Fira Sans"/>
              <a:sym typeface="Fira Sans"/>
            </a:endParaRPr>
          </a:p>
        </p:txBody>
      </p:sp>
      <p:sp>
        <p:nvSpPr>
          <p:cNvPr id="1548" name="Google Shape;1548;p18"/>
          <p:cNvSpPr txBox="1"/>
          <p:nvPr/>
        </p:nvSpPr>
        <p:spPr>
          <a:xfrm>
            <a:off x="6008575" y="3759100"/>
            <a:ext cx="2412600" cy="35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300">
              <a:solidFill>
                <a:srgbClr val="222831"/>
              </a:solidFill>
              <a:latin typeface="Fira Sans Extra Condensed Medium"/>
              <a:ea typeface="Fira Sans Extra Condensed Medium"/>
              <a:cs typeface="Fira Sans Extra Condensed Medium"/>
              <a:sym typeface="Fira Sans Extra Condensed Medium"/>
            </a:endParaRPr>
          </a:p>
        </p:txBody>
      </p:sp>
      <p:cxnSp>
        <p:nvCxnSpPr>
          <p:cNvPr id="1550" name="Google Shape;1550;p18"/>
          <p:cNvCxnSpPr/>
          <p:nvPr/>
        </p:nvCxnSpPr>
        <p:spPr>
          <a:xfrm>
            <a:off x="6079325" y="1088125"/>
            <a:ext cx="297600" cy="0"/>
          </a:xfrm>
          <a:prstGeom prst="straightConnector1">
            <a:avLst/>
          </a:prstGeom>
          <a:noFill/>
          <a:ln w="9525" cap="flat" cmpd="sng">
            <a:solidFill>
              <a:srgbClr val="434343"/>
            </a:solidFill>
            <a:prstDash val="solid"/>
            <a:round/>
            <a:headEnd type="none" w="med" len="med"/>
            <a:tailEnd type="none" w="med" len="med"/>
          </a:ln>
        </p:spPr>
      </p:cxnSp>
      <p:cxnSp>
        <p:nvCxnSpPr>
          <p:cNvPr id="1551" name="Google Shape;1551;p18"/>
          <p:cNvCxnSpPr/>
          <p:nvPr/>
        </p:nvCxnSpPr>
        <p:spPr>
          <a:xfrm>
            <a:off x="6079318" y="2495957"/>
            <a:ext cx="297600" cy="0"/>
          </a:xfrm>
          <a:prstGeom prst="straightConnector1">
            <a:avLst/>
          </a:prstGeom>
          <a:noFill/>
          <a:ln w="9525" cap="flat" cmpd="sng">
            <a:solidFill>
              <a:schemeClr val="dk2"/>
            </a:solidFill>
            <a:prstDash val="solid"/>
            <a:round/>
            <a:headEnd type="none" w="med" len="med"/>
            <a:tailEnd type="none" w="med" len="med"/>
          </a:ln>
        </p:spPr>
      </p:cxnSp>
      <p:cxnSp>
        <p:nvCxnSpPr>
          <p:cNvPr id="1552" name="Google Shape;1552;p18"/>
          <p:cNvCxnSpPr/>
          <p:nvPr/>
        </p:nvCxnSpPr>
        <p:spPr>
          <a:xfrm>
            <a:off x="6079318" y="3957983"/>
            <a:ext cx="297600" cy="0"/>
          </a:xfrm>
          <a:prstGeom prst="straightConnector1">
            <a:avLst/>
          </a:prstGeom>
          <a:noFill/>
          <a:ln w="9525" cap="flat" cmpd="sng">
            <a:solidFill>
              <a:schemeClr val="dk2"/>
            </a:solidFill>
            <a:prstDash val="solid"/>
            <a:round/>
            <a:headEnd type="none" w="med" len="med"/>
            <a:tailEnd type="none" w="med" len="med"/>
          </a:ln>
        </p:spPr>
      </p:cxnSp>
      <p:pic>
        <p:nvPicPr>
          <p:cNvPr id="47" name="Picture 46">
            <a:extLst>
              <a:ext uri="{FF2B5EF4-FFF2-40B4-BE49-F238E27FC236}">
                <a16:creationId xmlns:a16="http://schemas.microsoft.com/office/drawing/2014/main" id="{3E805A6A-B03A-DA81-3CF4-003B37CA104E}"/>
              </a:ext>
            </a:extLst>
          </p:cNvPr>
          <p:cNvPicPr>
            <a:picLocks noChangeAspect="1"/>
          </p:cNvPicPr>
          <p:nvPr/>
        </p:nvPicPr>
        <p:blipFill>
          <a:blip r:embed="rId3"/>
          <a:stretch>
            <a:fillRect/>
          </a:stretch>
        </p:blipFill>
        <p:spPr>
          <a:xfrm>
            <a:off x="4525112" y="1472288"/>
            <a:ext cx="569958" cy="468981"/>
          </a:xfrm>
          <a:prstGeom prst="rect">
            <a:avLst/>
          </a:prstGeom>
        </p:spPr>
      </p:pic>
      <p:pic>
        <p:nvPicPr>
          <p:cNvPr id="49" name="Picture 48">
            <a:extLst>
              <a:ext uri="{FF2B5EF4-FFF2-40B4-BE49-F238E27FC236}">
                <a16:creationId xmlns:a16="http://schemas.microsoft.com/office/drawing/2014/main" id="{27A10D04-F65E-E177-240C-12B3CA4E8876}"/>
              </a:ext>
            </a:extLst>
          </p:cNvPr>
          <p:cNvPicPr>
            <a:picLocks noChangeAspect="1"/>
          </p:cNvPicPr>
          <p:nvPr/>
        </p:nvPicPr>
        <p:blipFill>
          <a:blip r:embed="rId4"/>
          <a:stretch>
            <a:fillRect/>
          </a:stretch>
        </p:blipFill>
        <p:spPr>
          <a:xfrm>
            <a:off x="4849600" y="2397634"/>
            <a:ext cx="584744" cy="519482"/>
          </a:xfrm>
          <a:prstGeom prst="rect">
            <a:avLst/>
          </a:prstGeom>
        </p:spPr>
      </p:pic>
      <p:pic>
        <p:nvPicPr>
          <p:cNvPr id="51" name="Picture 50">
            <a:extLst>
              <a:ext uri="{FF2B5EF4-FFF2-40B4-BE49-F238E27FC236}">
                <a16:creationId xmlns:a16="http://schemas.microsoft.com/office/drawing/2014/main" id="{DA70DB82-3AE9-DEB4-67B2-5E42BE2EBD03}"/>
              </a:ext>
            </a:extLst>
          </p:cNvPr>
          <p:cNvPicPr>
            <a:picLocks noChangeAspect="1"/>
          </p:cNvPicPr>
          <p:nvPr/>
        </p:nvPicPr>
        <p:blipFill>
          <a:blip r:embed="rId5"/>
          <a:stretch>
            <a:fillRect/>
          </a:stretch>
        </p:blipFill>
        <p:spPr>
          <a:xfrm>
            <a:off x="4494922" y="3404684"/>
            <a:ext cx="493172" cy="45389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57"/>
        <p:cNvGrpSpPr/>
        <p:nvPr/>
      </p:nvGrpSpPr>
      <p:grpSpPr>
        <a:xfrm>
          <a:off x="0" y="0"/>
          <a:ext cx="0" cy="0"/>
          <a:chOff x="0" y="0"/>
          <a:chExt cx="0" cy="0"/>
        </a:xfrm>
      </p:grpSpPr>
      <p:grpSp>
        <p:nvGrpSpPr>
          <p:cNvPr id="1558" name="Google Shape;1558;p19"/>
          <p:cNvGrpSpPr/>
          <p:nvPr/>
        </p:nvGrpSpPr>
        <p:grpSpPr>
          <a:xfrm>
            <a:off x="2830657" y="1324001"/>
            <a:ext cx="3496980" cy="3381105"/>
            <a:chOff x="2205550" y="1416550"/>
            <a:chExt cx="3190675" cy="3084950"/>
          </a:xfrm>
        </p:grpSpPr>
        <p:sp>
          <p:nvSpPr>
            <p:cNvPr id="1559" name="Google Shape;1559;p19"/>
            <p:cNvSpPr/>
            <p:nvPr/>
          </p:nvSpPr>
          <p:spPr>
            <a:xfrm>
              <a:off x="3142175" y="2075650"/>
              <a:ext cx="630225" cy="296925"/>
            </a:xfrm>
            <a:custGeom>
              <a:avLst/>
              <a:gdLst/>
              <a:ahLst/>
              <a:cxnLst/>
              <a:rect l="l" t="t" r="r" b="b"/>
              <a:pathLst>
                <a:path w="25209" h="11877" extrusionOk="0">
                  <a:moveTo>
                    <a:pt x="8741" y="0"/>
                  </a:moveTo>
                  <a:lnTo>
                    <a:pt x="0" y="11876"/>
                  </a:lnTo>
                  <a:lnTo>
                    <a:pt x="11369" y="11845"/>
                  </a:lnTo>
                  <a:cubicBezTo>
                    <a:pt x="14030" y="11845"/>
                    <a:pt x="16563" y="10768"/>
                    <a:pt x="18400" y="8836"/>
                  </a:cubicBezTo>
                  <a:lnTo>
                    <a:pt x="25209" y="1711"/>
                  </a:lnTo>
                  <a:lnTo>
                    <a:pt x="8741" y="0"/>
                  </a:ln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19"/>
            <p:cNvSpPr/>
            <p:nvPr/>
          </p:nvSpPr>
          <p:spPr>
            <a:xfrm>
              <a:off x="2647325" y="1417225"/>
              <a:ext cx="1125875" cy="893600"/>
            </a:xfrm>
            <a:custGeom>
              <a:avLst/>
              <a:gdLst/>
              <a:ahLst/>
              <a:cxnLst/>
              <a:rect l="l" t="t" r="r" b="b"/>
              <a:pathLst>
                <a:path w="45035" h="35744" extrusionOk="0">
                  <a:moveTo>
                    <a:pt x="40371" y="0"/>
                  </a:moveTo>
                  <a:cubicBezTo>
                    <a:pt x="40227" y="0"/>
                    <a:pt x="40082" y="7"/>
                    <a:pt x="39936" y="21"/>
                  </a:cubicBezTo>
                  <a:cubicBezTo>
                    <a:pt x="25241" y="1256"/>
                    <a:pt x="12320" y="7748"/>
                    <a:pt x="2091" y="17280"/>
                  </a:cubicBezTo>
                  <a:cubicBezTo>
                    <a:pt x="1" y="19212"/>
                    <a:pt x="159" y="22569"/>
                    <a:pt x="2408" y="24342"/>
                  </a:cubicBezTo>
                  <a:lnTo>
                    <a:pt x="16849" y="35743"/>
                  </a:lnTo>
                  <a:cubicBezTo>
                    <a:pt x="26668" y="24267"/>
                    <a:pt x="43920" y="24089"/>
                    <a:pt x="44983" y="24089"/>
                  </a:cubicBezTo>
                  <a:cubicBezTo>
                    <a:pt x="45017" y="24089"/>
                    <a:pt x="45034" y="24089"/>
                    <a:pt x="45034" y="24089"/>
                  </a:cubicBezTo>
                  <a:lnTo>
                    <a:pt x="45034" y="4676"/>
                  </a:lnTo>
                  <a:cubicBezTo>
                    <a:pt x="45034" y="2069"/>
                    <a:pt x="42908" y="0"/>
                    <a:pt x="40371"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19"/>
            <p:cNvSpPr/>
            <p:nvPr/>
          </p:nvSpPr>
          <p:spPr>
            <a:xfrm>
              <a:off x="3050325" y="2004400"/>
              <a:ext cx="722075" cy="368175"/>
            </a:xfrm>
            <a:custGeom>
              <a:avLst/>
              <a:gdLst/>
              <a:ahLst/>
              <a:cxnLst/>
              <a:rect l="l" t="t" r="r" b="b"/>
              <a:pathLst>
                <a:path w="28883" h="14727" extrusionOk="0">
                  <a:moveTo>
                    <a:pt x="28845" y="0"/>
                  </a:moveTo>
                  <a:cubicBezTo>
                    <a:pt x="27910" y="0"/>
                    <a:pt x="9870" y="150"/>
                    <a:pt x="1" y="11654"/>
                  </a:cubicBezTo>
                  <a:lnTo>
                    <a:pt x="32" y="11686"/>
                  </a:lnTo>
                  <a:lnTo>
                    <a:pt x="3674" y="14726"/>
                  </a:lnTo>
                  <a:cubicBezTo>
                    <a:pt x="10230" y="8424"/>
                    <a:pt x="19097" y="4561"/>
                    <a:pt x="28883" y="4561"/>
                  </a:cubicBezTo>
                  <a:lnTo>
                    <a:pt x="28883" y="64"/>
                  </a:lnTo>
                  <a:lnTo>
                    <a:pt x="28883" y="0"/>
                  </a:lnTo>
                  <a:cubicBezTo>
                    <a:pt x="28883" y="0"/>
                    <a:pt x="28870" y="0"/>
                    <a:pt x="28845" y="0"/>
                  </a:cubicBezTo>
                  <a:close/>
                </a:path>
              </a:pathLst>
            </a:custGeom>
            <a:solidFill>
              <a:srgbClr val="DD91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19"/>
            <p:cNvSpPr/>
            <p:nvPr/>
          </p:nvSpPr>
          <p:spPr>
            <a:xfrm>
              <a:off x="2951350" y="3125475"/>
              <a:ext cx="395900" cy="552650"/>
            </a:xfrm>
            <a:custGeom>
              <a:avLst/>
              <a:gdLst/>
              <a:ahLst/>
              <a:cxnLst/>
              <a:rect l="l" t="t" r="r" b="b"/>
              <a:pathLst>
                <a:path w="15836" h="22106" extrusionOk="0">
                  <a:moveTo>
                    <a:pt x="1" y="0"/>
                  </a:moveTo>
                  <a:lnTo>
                    <a:pt x="3675" y="15075"/>
                  </a:lnTo>
                  <a:lnTo>
                    <a:pt x="15835" y="22105"/>
                  </a:lnTo>
                  <a:lnTo>
                    <a:pt x="14347" y="11211"/>
                  </a:lnTo>
                  <a:cubicBezTo>
                    <a:pt x="13872" y="7791"/>
                    <a:pt x="11623" y="4877"/>
                    <a:pt x="8457" y="3547"/>
                  </a:cubicBezTo>
                  <a:lnTo>
                    <a:pt x="1"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19"/>
            <p:cNvSpPr/>
            <p:nvPr/>
          </p:nvSpPr>
          <p:spPr>
            <a:xfrm>
              <a:off x="2277600" y="3149225"/>
              <a:ext cx="1018975" cy="1122400"/>
            </a:xfrm>
            <a:custGeom>
              <a:avLst/>
              <a:gdLst/>
              <a:ahLst/>
              <a:cxnLst/>
              <a:rect l="l" t="t" r="r" b="b"/>
              <a:pathLst>
                <a:path w="40759" h="44896" extrusionOk="0">
                  <a:moveTo>
                    <a:pt x="22866" y="0"/>
                  </a:moveTo>
                  <a:lnTo>
                    <a:pt x="4181" y="4561"/>
                  </a:lnTo>
                  <a:cubicBezTo>
                    <a:pt x="1521" y="5226"/>
                    <a:pt x="1" y="7981"/>
                    <a:pt x="856" y="10578"/>
                  </a:cubicBezTo>
                  <a:cubicBezTo>
                    <a:pt x="5479" y="24702"/>
                    <a:pt x="14600" y="36261"/>
                    <a:pt x="26191" y="44115"/>
                  </a:cubicBezTo>
                  <a:cubicBezTo>
                    <a:pt x="26986" y="44646"/>
                    <a:pt x="27878" y="44895"/>
                    <a:pt x="28757" y="44895"/>
                  </a:cubicBezTo>
                  <a:cubicBezTo>
                    <a:pt x="30502" y="44895"/>
                    <a:pt x="32199" y="43911"/>
                    <a:pt x="33000" y="42183"/>
                  </a:cubicBezTo>
                  <a:lnTo>
                    <a:pt x="40759" y="25526"/>
                  </a:lnTo>
                  <a:cubicBezTo>
                    <a:pt x="26856" y="18463"/>
                    <a:pt x="22834" y="32"/>
                    <a:pt x="22834" y="32"/>
                  </a:cubicBezTo>
                  <a:lnTo>
                    <a:pt x="22897" y="32"/>
                  </a:lnTo>
                  <a:lnTo>
                    <a:pt x="22866"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19"/>
            <p:cNvSpPr/>
            <p:nvPr/>
          </p:nvSpPr>
          <p:spPr>
            <a:xfrm>
              <a:off x="2848425" y="3125475"/>
              <a:ext cx="498025" cy="661900"/>
            </a:xfrm>
            <a:custGeom>
              <a:avLst/>
              <a:gdLst/>
              <a:ahLst/>
              <a:cxnLst/>
              <a:rect l="l" t="t" r="r" b="b"/>
              <a:pathLst>
                <a:path w="19921" h="26476" extrusionOk="0">
                  <a:moveTo>
                    <a:pt x="4118" y="0"/>
                  </a:moveTo>
                  <a:lnTo>
                    <a:pt x="64" y="982"/>
                  </a:lnTo>
                  <a:lnTo>
                    <a:pt x="1" y="982"/>
                  </a:lnTo>
                  <a:cubicBezTo>
                    <a:pt x="1" y="982"/>
                    <a:pt x="4023" y="19413"/>
                    <a:pt x="17926" y="26476"/>
                  </a:cubicBezTo>
                  <a:lnTo>
                    <a:pt x="17926" y="26444"/>
                  </a:lnTo>
                  <a:lnTo>
                    <a:pt x="19921" y="22105"/>
                  </a:lnTo>
                  <a:cubicBezTo>
                    <a:pt x="12289" y="17228"/>
                    <a:pt x="6461" y="9501"/>
                    <a:pt x="4118"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19"/>
            <p:cNvSpPr/>
            <p:nvPr/>
          </p:nvSpPr>
          <p:spPr>
            <a:xfrm>
              <a:off x="3820675" y="1416550"/>
              <a:ext cx="1144075" cy="886350"/>
            </a:xfrm>
            <a:custGeom>
              <a:avLst/>
              <a:gdLst/>
              <a:ahLst/>
              <a:cxnLst/>
              <a:rect l="l" t="t" r="r" b="b"/>
              <a:pathLst>
                <a:path w="45763" h="35454" extrusionOk="0">
                  <a:moveTo>
                    <a:pt x="4651" y="0"/>
                  </a:moveTo>
                  <a:cubicBezTo>
                    <a:pt x="2098" y="0"/>
                    <a:pt x="1" y="2077"/>
                    <a:pt x="1" y="4671"/>
                  </a:cubicBezTo>
                  <a:lnTo>
                    <a:pt x="1" y="23546"/>
                  </a:lnTo>
                  <a:lnTo>
                    <a:pt x="32" y="23546"/>
                  </a:lnTo>
                  <a:lnTo>
                    <a:pt x="32" y="23514"/>
                  </a:lnTo>
                  <a:cubicBezTo>
                    <a:pt x="32" y="23514"/>
                    <a:pt x="18559" y="23641"/>
                    <a:pt x="28756" y="35453"/>
                  </a:cubicBezTo>
                  <a:lnTo>
                    <a:pt x="43387" y="23736"/>
                  </a:lnTo>
                  <a:cubicBezTo>
                    <a:pt x="45636" y="21963"/>
                    <a:pt x="45762" y="18574"/>
                    <a:pt x="43641" y="16674"/>
                  </a:cubicBezTo>
                  <a:cubicBezTo>
                    <a:pt x="33285" y="7236"/>
                    <a:pt x="19857" y="1156"/>
                    <a:pt x="5036" y="16"/>
                  </a:cubicBezTo>
                  <a:cubicBezTo>
                    <a:pt x="4906" y="5"/>
                    <a:pt x="4778" y="0"/>
                    <a:pt x="4651"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19"/>
            <p:cNvSpPr/>
            <p:nvPr/>
          </p:nvSpPr>
          <p:spPr>
            <a:xfrm>
              <a:off x="3821475" y="2075650"/>
              <a:ext cx="631825" cy="296125"/>
            </a:xfrm>
            <a:custGeom>
              <a:avLst/>
              <a:gdLst/>
              <a:ahLst/>
              <a:cxnLst/>
              <a:rect l="l" t="t" r="r" b="b"/>
              <a:pathLst>
                <a:path w="25273" h="11845" extrusionOk="0">
                  <a:moveTo>
                    <a:pt x="16468" y="0"/>
                  </a:moveTo>
                  <a:lnTo>
                    <a:pt x="0" y="1742"/>
                  </a:lnTo>
                  <a:lnTo>
                    <a:pt x="6809" y="8836"/>
                  </a:lnTo>
                  <a:cubicBezTo>
                    <a:pt x="8646" y="10768"/>
                    <a:pt x="11179" y="11845"/>
                    <a:pt x="13840" y="11845"/>
                  </a:cubicBezTo>
                  <a:lnTo>
                    <a:pt x="25272" y="11845"/>
                  </a:lnTo>
                  <a:lnTo>
                    <a:pt x="16468" y="0"/>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19"/>
            <p:cNvSpPr/>
            <p:nvPr/>
          </p:nvSpPr>
          <p:spPr>
            <a:xfrm>
              <a:off x="3820675" y="2002850"/>
              <a:ext cx="727625" cy="368925"/>
            </a:xfrm>
            <a:custGeom>
              <a:avLst/>
              <a:gdLst/>
              <a:ahLst/>
              <a:cxnLst/>
              <a:rect l="l" t="t" r="r" b="b"/>
              <a:pathLst>
                <a:path w="29105" h="14757" extrusionOk="0">
                  <a:moveTo>
                    <a:pt x="1205" y="1"/>
                  </a:moveTo>
                  <a:cubicBezTo>
                    <a:pt x="432" y="1"/>
                    <a:pt x="1" y="31"/>
                    <a:pt x="1" y="31"/>
                  </a:cubicBezTo>
                  <a:lnTo>
                    <a:pt x="1" y="94"/>
                  </a:lnTo>
                  <a:lnTo>
                    <a:pt x="1" y="4654"/>
                  </a:lnTo>
                  <a:cubicBezTo>
                    <a:pt x="9786" y="4654"/>
                    <a:pt x="18685" y="8486"/>
                    <a:pt x="25241" y="14757"/>
                  </a:cubicBezTo>
                  <a:lnTo>
                    <a:pt x="29073" y="11716"/>
                  </a:lnTo>
                  <a:lnTo>
                    <a:pt x="29104" y="11685"/>
                  </a:lnTo>
                  <a:cubicBezTo>
                    <a:pt x="19208" y="855"/>
                    <a:pt x="5334" y="1"/>
                    <a:pt x="1205" y="1"/>
                  </a:cubicBezTo>
                  <a:close/>
                </a:path>
              </a:pathLst>
            </a:custGeom>
            <a:solidFill>
              <a:srgbClr val="1B1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19"/>
            <p:cNvSpPr/>
            <p:nvPr/>
          </p:nvSpPr>
          <p:spPr>
            <a:xfrm>
              <a:off x="2853975" y="2412125"/>
              <a:ext cx="308800" cy="654000"/>
            </a:xfrm>
            <a:custGeom>
              <a:avLst/>
              <a:gdLst/>
              <a:ahLst/>
              <a:cxnLst/>
              <a:rect l="l" t="t" r="r" b="b"/>
              <a:pathLst>
                <a:path w="12352" h="26160" extrusionOk="0">
                  <a:moveTo>
                    <a:pt x="10831" y="1"/>
                  </a:moveTo>
                  <a:lnTo>
                    <a:pt x="1" y="9945"/>
                  </a:lnTo>
                  <a:lnTo>
                    <a:pt x="3453" y="26159"/>
                  </a:lnTo>
                  <a:lnTo>
                    <a:pt x="9818" y="18590"/>
                  </a:lnTo>
                  <a:cubicBezTo>
                    <a:pt x="11528" y="16564"/>
                    <a:pt x="12352" y="13935"/>
                    <a:pt x="12067" y="11275"/>
                  </a:cubicBezTo>
                  <a:lnTo>
                    <a:pt x="10831" y="1"/>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19"/>
            <p:cNvSpPr/>
            <p:nvPr/>
          </p:nvSpPr>
          <p:spPr>
            <a:xfrm>
              <a:off x="2205550" y="2031350"/>
              <a:ext cx="820250" cy="1178150"/>
            </a:xfrm>
            <a:custGeom>
              <a:avLst/>
              <a:gdLst/>
              <a:ahLst/>
              <a:cxnLst/>
              <a:rect l="l" t="t" r="r" b="b"/>
              <a:pathLst>
                <a:path w="32810" h="47126" extrusionOk="0">
                  <a:moveTo>
                    <a:pt x="15440" y="0"/>
                  </a:moveTo>
                  <a:cubicBezTo>
                    <a:pt x="13919" y="0"/>
                    <a:pt x="12428" y="742"/>
                    <a:pt x="11528" y="2121"/>
                  </a:cubicBezTo>
                  <a:cubicBezTo>
                    <a:pt x="3358" y="14535"/>
                    <a:pt x="1" y="28913"/>
                    <a:pt x="1141" y="42847"/>
                  </a:cubicBezTo>
                  <a:cubicBezTo>
                    <a:pt x="1333" y="45320"/>
                    <a:pt x="3433" y="47126"/>
                    <a:pt x="5785" y="47126"/>
                  </a:cubicBezTo>
                  <a:cubicBezTo>
                    <a:pt x="6144" y="47126"/>
                    <a:pt x="6508" y="47084"/>
                    <a:pt x="6873" y="46996"/>
                  </a:cubicBezTo>
                  <a:lnTo>
                    <a:pt x="25209" y="42530"/>
                  </a:lnTo>
                  <a:cubicBezTo>
                    <a:pt x="27204" y="37178"/>
                    <a:pt x="28249" y="32460"/>
                    <a:pt x="29516" y="27773"/>
                  </a:cubicBezTo>
                  <a:cubicBezTo>
                    <a:pt x="31828" y="19190"/>
                    <a:pt x="32778" y="12160"/>
                    <a:pt x="32778" y="12160"/>
                  </a:cubicBezTo>
                  <a:lnTo>
                    <a:pt x="32810" y="12192"/>
                  </a:lnTo>
                  <a:lnTo>
                    <a:pt x="32810" y="12160"/>
                  </a:lnTo>
                  <a:lnTo>
                    <a:pt x="18305" y="981"/>
                  </a:lnTo>
                  <a:cubicBezTo>
                    <a:pt x="17442" y="317"/>
                    <a:pt x="16434" y="0"/>
                    <a:pt x="15440"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19"/>
            <p:cNvSpPr/>
            <p:nvPr/>
          </p:nvSpPr>
          <p:spPr>
            <a:xfrm>
              <a:off x="2757375" y="2335325"/>
              <a:ext cx="368975" cy="759300"/>
            </a:xfrm>
            <a:custGeom>
              <a:avLst/>
              <a:gdLst/>
              <a:ahLst/>
              <a:cxnLst/>
              <a:rect l="l" t="t" r="r" b="b"/>
              <a:pathLst>
                <a:path w="14759" h="30372" extrusionOk="0">
                  <a:moveTo>
                    <a:pt x="10705" y="1"/>
                  </a:moveTo>
                  <a:cubicBezTo>
                    <a:pt x="10705" y="1"/>
                    <a:pt x="1" y="15107"/>
                    <a:pt x="3136" y="30371"/>
                  </a:cubicBezTo>
                  <a:lnTo>
                    <a:pt x="3168" y="30371"/>
                  </a:lnTo>
                  <a:lnTo>
                    <a:pt x="7348" y="29326"/>
                  </a:lnTo>
                  <a:cubicBezTo>
                    <a:pt x="6398" y="20301"/>
                    <a:pt x="8773" y="10927"/>
                    <a:pt x="14759" y="3168"/>
                  </a:cubicBezTo>
                  <a:lnTo>
                    <a:pt x="10737" y="33"/>
                  </a:lnTo>
                  <a:lnTo>
                    <a:pt x="10705" y="1"/>
                  </a:ln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19"/>
            <p:cNvSpPr/>
            <p:nvPr/>
          </p:nvSpPr>
          <p:spPr>
            <a:xfrm>
              <a:off x="4439800" y="2415300"/>
              <a:ext cx="308800" cy="653200"/>
            </a:xfrm>
            <a:custGeom>
              <a:avLst/>
              <a:gdLst/>
              <a:ahLst/>
              <a:cxnLst/>
              <a:rect l="l" t="t" r="r" b="b"/>
              <a:pathLst>
                <a:path w="12352" h="26128" extrusionOk="0">
                  <a:moveTo>
                    <a:pt x="1426" y="0"/>
                  </a:moveTo>
                  <a:lnTo>
                    <a:pt x="286" y="11148"/>
                  </a:lnTo>
                  <a:cubicBezTo>
                    <a:pt x="1" y="13808"/>
                    <a:pt x="792" y="16437"/>
                    <a:pt x="2503" y="18463"/>
                  </a:cubicBezTo>
                  <a:lnTo>
                    <a:pt x="8836" y="26127"/>
                  </a:lnTo>
                  <a:lnTo>
                    <a:pt x="12352" y="9818"/>
                  </a:lnTo>
                  <a:lnTo>
                    <a:pt x="1426" y="0"/>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19"/>
            <p:cNvSpPr/>
            <p:nvPr/>
          </p:nvSpPr>
          <p:spPr>
            <a:xfrm>
              <a:off x="4570450" y="2031675"/>
              <a:ext cx="825775" cy="1177825"/>
            </a:xfrm>
            <a:custGeom>
              <a:avLst/>
              <a:gdLst/>
              <a:ahLst/>
              <a:cxnLst/>
              <a:rect l="l" t="t" r="r" b="b"/>
              <a:pathLst>
                <a:path w="33031" h="47113" extrusionOk="0">
                  <a:moveTo>
                    <a:pt x="17599" y="1"/>
                  </a:moveTo>
                  <a:cubicBezTo>
                    <a:pt x="16602" y="1"/>
                    <a:pt x="15592" y="315"/>
                    <a:pt x="14726" y="968"/>
                  </a:cubicBezTo>
                  <a:lnTo>
                    <a:pt x="0" y="12369"/>
                  </a:lnTo>
                  <a:lnTo>
                    <a:pt x="0" y="12400"/>
                  </a:lnTo>
                  <a:lnTo>
                    <a:pt x="32" y="12369"/>
                  </a:lnTo>
                  <a:cubicBezTo>
                    <a:pt x="32" y="12369"/>
                    <a:pt x="11971" y="27475"/>
                    <a:pt x="8836" y="42739"/>
                  </a:cubicBezTo>
                  <a:lnTo>
                    <a:pt x="26159" y="46983"/>
                  </a:lnTo>
                  <a:cubicBezTo>
                    <a:pt x="26523" y="47071"/>
                    <a:pt x="26888" y="47113"/>
                    <a:pt x="27247" y="47113"/>
                  </a:cubicBezTo>
                  <a:cubicBezTo>
                    <a:pt x="29599" y="47113"/>
                    <a:pt x="31703" y="45307"/>
                    <a:pt x="31923" y="42834"/>
                  </a:cubicBezTo>
                  <a:cubicBezTo>
                    <a:pt x="33031" y="28900"/>
                    <a:pt x="29674" y="14522"/>
                    <a:pt x="21503" y="2108"/>
                  </a:cubicBezTo>
                  <a:cubicBezTo>
                    <a:pt x="20605" y="731"/>
                    <a:pt x="19117" y="1"/>
                    <a:pt x="17599"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19"/>
            <p:cNvSpPr/>
            <p:nvPr/>
          </p:nvSpPr>
          <p:spPr>
            <a:xfrm>
              <a:off x="4475425" y="2340075"/>
              <a:ext cx="394325" cy="760100"/>
            </a:xfrm>
            <a:custGeom>
              <a:avLst/>
              <a:gdLst/>
              <a:ahLst/>
              <a:cxnLst/>
              <a:rect l="l" t="t" r="r" b="b"/>
              <a:pathLst>
                <a:path w="15773" h="30404" extrusionOk="0">
                  <a:moveTo>
                    <a:pt x="3833" y="1"/>
                  </a:moveTo>
                  <a:lnTo>
                    <a:pt x="3801" y="33"/>
                  </a:lnTo>
                  <a:lnTo>
                    <a:pt x="1" y="2978"/>
                  </a:lnTo>
                  <a:cubicBezTo>
                    <a:pt x="5986" y="10705"/>
                    <a:pt x="8361" y="20111"/>
                    <a:pt x="7411" y="29136"/>
                  </a:cubicBezTo>
                  <a:lnTo>
                    <a:pt x="12605" y="30403"/>
                  </a:lnTo>
                  <a:lnTo>
                    <a:pt x="12637" y="30403"/>
                  </a:lnTo>
                  <a:cubicBezTo>
                    <a:pt x="15772" y="15139"/>
                    <a:pt x="3833" y="1"/>
                    <a:pt x="3833"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19"/>
            <p:cNvSpPr/>
            <p:nvPr/>
          </p:nvSpPr>
          <p:spPr>
            <a:xfrm>
              <a:off x="4247425" y="3125475"/>
              <a:ext cx="394300" cy="551850"/>
            </a:xfrm>
            <a:custGeom>
              <a:avLst/>
              <a:gdLst/>
              <a:ahLst/>
              <a:cxnLst/>
              <a:rect l="l" t="t" r="r" b="b"/>
              <a:pathLst>
                <a:path w="15772" h="22074" extrusionOk="0">
                  <a:moveTo>
                    <a:pt x="15771" y="0"/>
                  </a:moveTo>
                  <a:lnTo>
                    <a:pt x="7316" y="3547"/>
                  </a:lnTo>
                  <a:cubicBezTo>
                    <a:pt x="4149" y="4877"/>
                    <a:pt x="1900" y="7791"/>
                    <a:pt x="1457" y="11211"/>
                  </a:cubicBezTo>
                  <a:lnTo>
                    <a:pt x="0" y="22074"/>
                  </a:lnTo>
                  <a:lnTo>
                    <a:pt x="12129" y="15075"/>
                  </a:lnTo>
                  <a:lnTo>
                    <a:pt x="15771" y="0"/>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19"/>
            <p:cNvSpPr/>
            <p:nvPr/>
          </p:nvSpPr>
          <p:spPr>
            <a:xfrm>
              <a:off x="4299675" y="3155550"/>
              <a:ext cx="1016600" cy="1116075"/>
            </a:xfrm>
            <a:custGeom>
              <a:avLst/>
              <a:gdLst/>
              <a:ahLst/>
              <a:cxnLst/>
              <a:rect l="l" t="t" r="r" b="b"/>
              <a:pathLst>
                <a:path w="40664" h="44643" extrusionOk="0">
                  <a:moveTo>
                    <a:pt x="18780" y="1"/>
                  </a:moveTo>
                  <a:lnTo>
                    <a:pt x="18748" y="33"/>
                  </a:lnTo>
                  <a:lnTo>
                    <a:pt x="18780" y="33"/>
                  </a:lnTo>
                  <a:cubicBezTo>
                    <a:pt x="18780" y="33"/>
                    <a:pt x="12763" y="4308"/>
                    <a:pt x="8044" y="11465"/>
                  </a:cubicBezTo>
                  <a:cubicBezTo>
                    <a:pt x="5162" y="15804"/>
                    <a:pt x="5257" y="22802"/>
                    <a:pt x="0" y="25463"/>
                  </a:cubicBezTo>
                  <a:lnTo>
                    <a:pt x="7633" y="41930"/>
                  </a:lnTo>
                  <a:cubicBezTo>
                    <a:pt x="8433" y="43658"/>
                    <a:pt x="10144" y="44642"/>
                    <a:pt x="11899" y="44642"/>
                  </a:cubicBezTo>
                  <a:cubicBezTo>
                    <a:pt x="12783" y="44642"/>
                    <a:pt x="13678" y="44393"/>
                    <a:pt x="14473" y="43862"/>
                  </a:cubicBezTo>
                  <a:cubicBezTo>
                    <a:pt x="26064" y="36008"/>
                    <a:pt x="35185" y="24449"/>
                    <a:pt x="39808" y="10325"/>
                  </a:cubicBezTo>
                  <a:cubicBezTo>
                    <a:pt x="40663" y="7728"/>
                    <a:pt x="39112" y="4973"/>
                    <a:pt x="36483" y="4308"/>
                  </a:cubicBezTo>
                  <a:lnTo>
                    <a:pt x="18780" y="1"/>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19"/>
            <p:cNvSpPr/>
            <p:nvPr/>
          </p:nvSpPr>
          <p:spPr>
            <a:xfrm>
              <a:off x="4247425" y="3124675"/>
              <a:ext cx="522550" cy="675375"/>
            </a:xfrm>
            <a:custGeom>
              <a:avLst/>
              <a:gdLst/>
              <a:ahLst/>
              <a:cxnLst/>
              <a:rect l="l" t="t" r="r" b="b"/>
              <a:pathLst>
                <a:path w="20902" h="27015" extrusionOk="0">
                  <a:moveTo>
                    <a:pt x="15803" y="1"/>
                  </a:moveTo>
                  <a:cubicBezTo>
                    <a:pt x="13491" y="9501"/>
                    <a:pt x="7632" y="17229"/>
                    <a:pt x="0" y="22106"/>
                  </a:cubicBezTo>
                  <a:lnTo>
                    <a:pt x="2217" y="27014"/>
                  </a:lnTo>
                  <a:cubicBezTo>
                    <a:pt x="16120" y="19920"/>
                    <a:pt x="20902" y="1236"/>
                    <a:pt x="20902" y="1236"/>
                  </a:cubicBezTo>
                  <a:lnTo>
                    <a:pt x="20870" y="1236"/>
                  </a:lnTo>
                  <a:lnTo>
                    <a:pt x="15803" y="1"/>
                  </a:ln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19"/>
            <p:cNvSpPr/>
            <p:nvPr/>
          </p:nvSpPr>
          <p:spPr>
            <a:xfrm>
              <a:off x="3405800" y="2900625"/>
              <a:ext cx="781475" cy="1600875"/>
            </a:xfrm>
            <a:custGeom>
              <a:avLst/>
              <a:gdLst/>
              <a:ahLst/>
              <a:cxnLst/>
              <a:rect l="l" t="t" r="r" b="b"/>
              <a:pathLst>
                <a:path w="31259" h="64035" extrusionOk="0">
                  <a:moveTo>
                    <a:pt x="4693" y="0"/>
                  </a:moveTo>
                  <a:cubicBezTo>
                    <a:pt x="2092" y="0"/>
                    <a:pt x="1" y="2110"/>
                    <a:pt x="1" y="4719"/>
                  </a:cubicBezTo>
                  <a:lnTo>
                    <a:pt x="1" y="59285"/>
                  </a:lnTo>
                  <a:cubicBezTo>
                    <a:pt x="1" y="61913"/>
                    <a:pt x="2123" y="64035"/>
                    <a:pt x="4751" y="64035"/>
                  </a:cubicBezTo>
                  <a:lnTo>
                    <a:pt x="26508" y="64035"/>
                  </a:lnTo>
                  <a:cubicBezTo>
                    <a:pt x="29105" y="64035"/>
                    <a:pt x="31227" y="61913"/>
                    <a:pt x="31227" y="59285"/>
                  </a:cubicBezTo>
                  <a:lnTo>
                    <a:pt x="31258" y="4751"/>
                  </a:lnTo>
                  <a:cubicBezTo>
                    <a:pt x="31258" y="2122"/>
                    <a:pt x="29136" y="0"/>
                    <a:pt x="26508" y="0"/>
                  </a:cubicBezTo>
                  <a:lnTo>
                    <a:pt x="4751" y="0"/>
                  </a:lnTo>
                  <a:cubicBezTo>
                    <a:pt x="4732" y="0"/>
                    <a:pt x="4713" y="0"/>
                    <a:pt x="4693" y="0"/>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19"/>
            <p:cNvSpPr/>
            <p:nvPr/>
          </p:nvSpPr>
          <p:spPr>
            <a:xfrm>
              <a:off x="3441450" y="2948125"/>
              <a:ext cx="709400" cy="1497975"/>
            </a:xfrm>
            <a:custGeom>
              <a:avLst/>
              <a:gdLst/>
              <a:ahLst/>
              <a:cxnLst/>
              <a:rect l="l" t="t" r="r" b="b"/>
              <a:pathLst>
                <a:path w="28376" h="59919" extrusionOk="0">
                  <a:moveTo>
                    <a:pt x="3325" y="1"/>
                  </a:moveTo>
                  <a:cubicBezTo>
                    <a:pt x="1520" y="1"/>
                    <a:pt x="32" y="1489"/>
                    <a:pt x="32" y="3326"/>
                  </a:cubicBezTo>
                  <a:lnTo>
                    <a:pt x="0" y="56593"/>
                  </a:lnTo>
                  <a:cubicBezTo>
                    <a:pt x="0" y="58398"/>
                    <a:pt x="1489" y="59886"/>
                    <a:pt x="3325" y="59886"/>
                  </a:cubicBezTo>
                  <a:lnTo>
                    <a:pt x="25050" y="59918"/>
                  </a:lnTo>
                  <a:cubicBezTo>
                    <a:pt x="26887" y="59918"/>
                    <a:pt x="28376" y="58430"/>
                    <a:pt x="28376" y="56593"/>
                  </a:cubicBezTo>
                  <a:lnTo>
                    <a:pt x="28376" y="3326"/>
                  </a:lnTo>
                  <a:cubicBezTo>
                    <a:pt x="28376" y="1521"/>
                    <a:pt x="26887" y="32"/>
                    <a:pt x="25050" y="32"/>
                  </a:cubicBezTo>
                  <a:lnTo>
                    <a:pt x="20838" y="32"/>
                  </a:lnTo>
                  <a:cubicBezTo>
                    <a:pt x="20268" y="32"/>
                    <a:pt x="19825" y="507"/>
                    <a:pt x="19825" y="1077"/>
                  </a:cubicBezTo>
                  <a:lnTo>
                    <a:pt x="19825" y="1869"/>
                  </a:lnTo>
                  <a:cubicBezTo>
                    <a:pt x="19825" y="2439"/>
                    <a:pt x="19350" y="2914"/>
                    <a:pt x="18780" y="2914"/>
                  </a:cubicBezTo>
                  <a:lnTo>
                    <a:pt x="10578" y="2914"/>
                  </a:lnTo>
                  <a:cubicBezTo>
                    <a:pt x="10007" y="2914"/>
                    <a:pt x="9532" y="2439"/>
                    <a:pt x="9532" y="1837"/>
                  </a:cubicBezTo>
                  <a:lnTo>
                    <a:pt x="9532" y="1077"/>
                  </a:lnTo>
                  <a:cubicBezTo>
                    <a:pt x="9532" y="476"/>
                    <a:pt x="9089" y="1"/>
                    <a:pt x="85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19"/>
            <p:cNvSpPr/>
            <p:nvPr/>
          </p:nvSpPr>
          <p:spPr>
            <a:xfrm>
              <a:off x="3569700" y="3242650"/>
              <a:ext cx="23775" cy="29325"/>
            </a:xfrm>
            <a:custGeom>
              <a:avLst/>
              <a:gdLst/>
              <a:ahLst/>
              <a:cxnLst/>
              <a:rect l="l" t="t" r="r" b="b"/>
              <a:pathLst>
                <a:path w="951" h="1173" extrusionOk="0">
                  <a:moveTo>
                    <a:pt x="0" y="0"/>
                  </a:moveTo>
                  <a:lnTo>
                    <a:pt x="0" y="95"/>
                  </a:lnTo>
                  <a:lnTo>
                    <a:pt x="412" y="95"/>
                  </a:lnTo>
                  <a:lnTo>
                    <a:pt x="412" y="1172"/>
                  </a:lnTo>
                  <a:lnTo>
                    <a:pt x="539" y="1172"/>
                  </a:lnTo>
                  <a:lnTo>
                    <a:pt x="539" y="95"/>
                  </a:lnTo>
                  <a:lnTo>
                    <a:pt x="951" y="95"/>
                  </a:lnTo>
                  <a:lnTo>
                    <a:pt x="95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19"/>
            <p:cNvSpPr/>
            <p:nvPr/>
          </p:nvSpPr>
          <p:spPr>
            <a:xfrm>
              <a:off x="3593450" y="3249775"/>
              <a:ext cx="21400" cy="22200"/>
            </a:xfrm>
            <a:custGeom>
              <a:avLst/>
              <a:gdLst/>
              <a:ahLst/>
              <a:cxnLst/>
              <a:rect l="l" t="t" r="r" b="b"/>
              <a:pathLst>
                <a:path w="856" h="888" extrusionOk="0">
                  <a:moveTo>
                    <a:pt x="444" y="95"/>
                  </a:moveTo>
                  <a:cubicBezTo>
                    <a:pt x="602" y="95"/>
                    <a:pt x="729" y="222"/>
                    <a:pt x="729" y="380"/>
                  </a:cubicBezTo>
                  <a:lnTo>
                    <a:pt x="127" y="380"/>
                  </a:lnTo>
                  <a:cubicBezTo>
                    <a:pt x="127" y="222"/>
                    <a:pt x="254" y="95"/>
                    <a:pt x="444" y="95"/>
                  </a:cubicBezTo>
                  <a:close/>
                  <a:moveTo>
                    <a:pt x="412" y="0"/>
                  </a:moveTo>
                  <a:cubicBezTo>
                    <a:pt x="191" y="0"/>
                    <a:pt x="1" y="190"/>
                    <a:pt x="1" y="444"/>
                  </a:cubicBezTo>
                  <a:cubicBezTo>
                    <a:pt x="1" y="697"/>
                    <a:pt x="191" y="887"/>
                    <a:pt x="476" y="887"/>
                  </a:cubicBezTo>
                  <a:cubicBezTo>
                    <a:pt x="602" y="887"/>
                    <a:pt x="729" y="855"/>
                    <a:pt x="792" y="760"/>
                  </a:cubicBezTo>
                  <a:lnTo>
                    <a:pt x="729" y="665"/>
                  </a:lnTo>
                  <a:cubicBezTo>
                    <a:pt x="666" y="760"/>
                    <a:pt x="571" y="792"/>
                    <a:pt x="476" y="792"/>
                  </a:cubicBezTo>
                  <a:cubicBezTo>
                    <a:pt x="286" y="792"/>
                    <a:pt x="127" y="665"/>
                    <a:pt x="127" y="475"/>
                  </a:cubicBezTo>
                  <a:lnTo>
                    <a:pt x="856" y="475"/>
                  </a:lnTo>
                  <a:cubicBezTo>
                    <a:pt x="856" y="475"/>
                    <a:pt x="856" y="444"/>
                    <a:pt x="856" y="444"/>
                  </a:cubicBezTo>
                  <a:cubicBezTo>
                    <a:pt x="856" y="190"/>
                    <a:pt x="666" y="0"/>
                    <a:pt x="412"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19"/>
            <p:cNvSpPr/>
            <p:nvPr/>
          </p:nvSpPr>
          <p:spPr>
            <a:xfrm>
              <a:off x="3617200" y="3249775"/>
              <a:ext cx="20600" cy="22200"/>
            </a:xfrm>
            <a:custGeom>
              <a:avLst/>
              <a:gdLst/>
              <a:ahLst/>
              <a:cxnLst/>
              <a:rect l="l" t="t" r="r" b="b"/>
              <a:pathLst>
                <a:path w="824" h="888" extrusionOk="0">
                  <a:moveTo>
                    <a:pt x="1" y="0"/>
                  </a:moveTo>
                  <a:lnTo>
                    <a:pt x="349" y="412"/>
                  </a:lnTo>
                  <a:lnTo>
                    <a:pt x="1" y="887"/>
                  </a:lnTo>
                  <a:lnTo>
                    <a:pt x="127" y="887"/>
                  </a:lnTo>
                  <a:lnTo>
                    <a:pt x="412" y="507"/>
                  </a:lnTo>
                  <a:lnTo>
                    <a:pt x="697" y="887"/>
                  </a:lnTo>
                  <a:lnTo>
                    <a:pt x="824" y="887"/>
                  </a:lnTo>
                  <a:lnTo>
                    <a:pt x="476" y="412"/>
                  </a:lnTo>
                  <a:lnTo>
                    <a:pt x="792" y="0"/>
                  </a:lnTo>
                  <a:lnTo>
                    <a:pt x="666" y="0"/>
                  </a:lnTo>
                  <a:lnTo>
                    <a:pt x="412" y="349"/>
                  </a:lnTo>
                  <a:lnTo>
                    <a:pt x="159"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19"/>
            <p:cNvSpPr/>
            <p:nvPr/>
          </p:nvSpPr>
          <p:spPr>
            <a:xfrm>
              <a:off x="3639375" y="3245025"/>
              <a:ext cx="15075" cy="26950"/>
            </a:xfrm>
            <a:custGeom>
              <a:avLst/>
              <a:gdLst/>
              <a:ahLst/>
              <a:cxnLst/>
              <a:rect l="l" t="t" r="r" b="b"/>
              <a:pathLst>
                <a:path w="603" h="1078" extrusionOk="0">
                  <a:moveTo>
                    <a:pt x="159" y="0"/>
                  </a:moveTo>
                  <a:lnTo>
                    <a:pt x="159" y="190"/>
                  </a:lnTo>
                  <a:lnTo>
                    <a:pt x="0" y="190"/>
                  </a:lnTo>
                  <a:lnTo>
                    <a:pt x="0" y="285"/>
                  </a:lnTo>
                  <a:lnTo>
                    <a:pt x="159" y="285"/>
                  </a:lnTo>
                  <a:lnTo>
                    <a:pt x="159" y="824"/>
                  </a:lnTo>
                  <a:cubicBezTo>
                    <a:pt x="159" y="982"/>
                    <a:pt x="254" y="1077"/>
                    <a:pt x="412" y="1077"/>
                  </a:cubicBezTo>
                  <a:cubicBezTo>
                    <a:pt x="475" y="1077"/>
                    <a:pt x="570" y="1077"/>
                    <a:pt x="602" y="1014"/>
                  </a:cubicBezTo>
                  <a:lnTo>
                    <a:pt x="570" y="950"/>
                  </a:lnTo>
                  <a:cubicBezTo>
                    <a:pt x="539" y="950"/>
                    <a:pt x="475" y="982"/>
                    <a:pt x="444" y="982"/>
                  </a:cubicBezTo>
                  <a:cubicBezTo>
                    <a:pt x="349" y="982"/>
                    <a:pt x="285" y="919"/>
                    <a:pt x="285" y="824"/>
                  </a:cubicBezTo>
                  <a:lnTo>
                    <a:pt x="285" y="285"/>
                  </a:lnTo>
                  <a:lnTo>
                    <a:pt x="539" y="285"/>
                  </a:lnTo>
                  <a:lnTo>
                    <a:pt x="539" y="190"/>
                  </a:lnTo>
                  <a:lnTo>
                    <a:pt x="285" y="190"/>
                  </a:lnTo>
                  <a:lnTo>
                    <a:pt x="285"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19"/>
            <p:cNvSpPr/>
            <p:nvPr/>
          </p:nvSpPr>
          <p:spPr>
            <a:xfrm>
              <a:off x="3526150" y="3394650"/>
              <a:ext cx="126700" cy="126700"/>
            </a:xfrm>
            <a:custGeom>
              <a:avLst/>
              <a:gdLst/>
              <a:ahLst/>
              <a:cxnLst/>
              <a:rect l="l" t="t" r="r" b="b"/>
              <a:pathLst>
                <a:path w="5068" h="5068" extrusionOk="0">
                  <a:moveTo>
                    <a:pt x="1" y="1"/>
                  </a:moveTo>
                  <a:lnTo>
                    <a:pt x="1" y="5068"/>
                  </a:lnTo>
                  <a:lnTo>
                    <a:pt x="5068" y="5068"/>
                  </a:lnTo>
                  <a:lnTo>
                    <a:pt x="5068" y="1"/>
                  </a:ln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19"/>
            <p:cNvSpPr/>
            <p:nvPr/>
          </p:nvSpPr>
          <p:spPr>
            <a:xfrm>
              <a:off x="3526150" y="3606050"/>
              <a:ext cx="126700" cy="126700"/>
            </a:xfrm>
            <a:custGeom>
              <a:avLst/>
              <a:gdLst/>
              <a:ahLst/>
              <a:cxnLst/>
              <a:rect l="l" t="t" r="r" b="b"/>
              <a:pathLst>
                <a:path w="5068" h="5068" extrusionOk="0">
                  <a:moveTo>
                    <a:pt x="1" y="0"/>
                  </a:moveTo>
                  <a:lnTo>
                    <a:pt x="1" y="5067"/>
                  </a:lnTo>
                  <a:lnTo>
                    <a:pt x="5068" y="5067"/>
                  </a:lnTo>
                  <a:lnTo>
                    <a:pt x="5068" y="0"/>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19"/>
            <p:cNvSpPr/>
            <p:nvPr/>
          </p:nvSpPr>
          <p:spPr>
            <a:xfrm>
              <a:off x="3526150" y="3817450"/>
              <a:ext cx="126700" cy="126700"/>
            </a:xfrm>
            <a:custGeom>
              <a:avLst/>
              <a:gdLst/>
              <a:ahLst/>
              <a:cxnLst/>
              <a:rect l="l" t="t" r="r" b="b"/>
              <a:pathLst>
                <a:path w="5068" h="5068" extrusionOk="0">
                  <a:moveTo>
                    <a:pt x="1" y="0"/>
                  </a:moveTo>
                  <a:lnTo>
                    <a:pt x="1" y="5067"/>
                  </a:lnTo>
                  <a:lnTo>
                    <a:pt x="5068" y="5067"/>
                  </a:lnTo>
                  <a:lnTo>
                    <a:pt x="5068" y="0"/>
                  </a:ln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19"/>
            <p:cNvSpPr/>
            <p:nvPr/>
          </p:nvSpPr>
          <p:spPr>
            <a:xfrm>
              <a:off x="3526150" y="4028025"/>
              <a:ext cx="126700" cy="126700"/>
            </a:xfrm>
            <a:custGeom>
              <a:avLst/>
              <a:gdLst/>
              <a:ahLst/>
              <a:cxnLst/>
              <a:rect l="l" t="t" r="r" b="b"/>
              <a:pathLst>
                <a:path w="5068" h="5068" extrusionOk="0">
                  <a:moveTo>
                    <a:pt x="1" y="1"/>
                  </a:moveTo>
                  <a:lnTo>
                    <a:pt x="1" y="5068"/>
                  </a:lnTo>
                  <a:lnTo>
                    <a:pt x="5068" y="5068"/>
                  </a:lnTo>
                  <a:lnTo>
                    <a:pt x="5068" y="1"/>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19"/>
            <p:cNvSpPr/>
            <p:nvPr/>
          </p:nvSpPr>
          <p:spPr>
            <a:xfrm>
              <a:off x="3526150" y="4239425"/>
              <a:ext cx="126700" cy="126700"/>
            </a:xfrm>
            <a:custGeom>
              <a:avLst/>
              <a:gdLst/>
              <a:ahLst/>
              <a:cxnLst/>
              <a:rect l="l" t="t" r="r" b="b"/>
              <a:pathLst>
                <a:path w="5068" h="5068" extrusionOk="0">
                  <a:moveTo>
                    <a:pt x="1" y="1"/>
                  </a:moveTo>
                  <a:lnTo>
                    <a:pt x="1" y="5068"/>
                  </a:lnTo>
                  <a:lnTo>
                    <a:pt x="5068" y="5068"/>
                  </a:lnTo>
                  <a:lnTo>
                    <a:pt x="5068"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19"/>
            <p:cNvSpPr/>
            <p:nvPr/>
          </p:nvSpPr>
          <p:spPr>
            <a:xfrm>
              <a:off x="3526150" y="4028025"/>
              <a:ext cx="126700" cy="126700"/>
            </a:xfrm>
            <a:custGeom>
              <a:avLst/>
              <a:gdLst/>
              <a:ahLst/>
              <a:cxnLst/>
              <a:rect l="l" t="t" r="r" b="b"/>
              <a:pathLst>
                <a:path w="5068" h="5068" extrusionOk="0">
                  <a:moveTo>
                    <a:pt x="1" y="1"/>
                  </a:moveTo>
                  <a:lnTo>
                    <a:pt x="1" y="5068"/>
                  </a:lnTo>
                  <a:lnTo>
                    <a:pt x="5068" y="5068"/>
                  </a:lnTo>
                  <a:lnTo>
                    <a:pt x="5068" y="1"/>
                  </a:ln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19"/>
            <p:cNvSpPr/>
            <p:nvPr/>
          </p:nvSpPr>
          <p:spPr>
            <a:xfrm>
              <a:off x="3526150" y="3606050"/>
              <a:ext cx="126700" cy="126700"/>
            </a:xfrm>
            <a:custGeom>
              <a:avLst/>
              <a:gdLst/>
              <a:ahLst/>
              <a:cxnLst/>
              <a:rect l="l" t="t" r="r" b="b"/>
              <a:pathLst>
                <a:path w="5068" h="5068" extrusionOk="0">
                  <a:moveTo>
                    <a:pt x="1" y="0"/>
                  </a:moveTo>
                  <a:lnTo>
                    <a:pt x="1" y="5067"/>
                  </a:lnTo>
                  <a:lnTo>
                    <a:pt x="5068" y="5067"/>
                  </a:lnTo>
                  <a:lnTo>
                    <a:pt x="5068" y="0"/>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19"/>
            <p:cNvSpPr/>
            <p:nvPr/>
          </p:nvSpPr>
          <p:spPr>
            <a:xfrm>
              <a:off x="3708250" y="3408900"/>
              <a:ext cx="189250" cy="25"/>
            </a:xfrm>
            <a:custGeom>
              <a:avLst/>
              <a:gdLst/>
              <a:ahLst/>
              <a:cxnLst/>
              <a:rect l="l" t="t" r="r" b="b"/>
              <a:pathLst>
                <a:path w="7570" h="1" fill="none" extrusionOk="0">
                  <a:moveTo>
                    <a:pt x="1" y="1"/>
                  </a:moveTo>
                  <a:lnTo>
                    <a:pt x="7569"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19"/>
            <p:cNvSpPr/>
            <p:nvPr/>
          </p:nvSpPr>
          <p:spPr>
            <a:xfrm>
              <a:off x="3708250" y="3500750"/>
              <a:ext cx="197950" cy="25"/>
            </a:xfrm>
            <a:custGeom>
              <a:avLst/>
              <a:gdLst/>
              <a:ahLst/>
              <a:cxnLst/>
              <a:rect l="l" t="t" r="r" b="b"/>
              <a:pathLst>
                <a:path w="7918" h="1" fill="none" extrusionOk="0">
                  <a:moveTo>
                    <a:pt x="1" y="0"/>
                  </a:moveTo>
                  <a:lnTo>
                    <a:pt x="7918"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19"/>
            <p:cNvSpPr/>
            <p:nvPr/>
          </p:nvSpPr>
          <p:spPr>
            <a:xfrm>
              <a:off x="3708250" y="3447700"/>
              <a:ext cx="338875" cy="25"/>
            </a:xfrm>
            <a:custGeom>
              <a:avLst/>
              <a:gdLst/>
              <a:ahLst/>
              <a:cxnLst/>
              <a:rect l="l" t="t" r="r" b="b"/>
              <a:pathLst>
                <a:path w="13555" h="1" fill="none" extrusionOk="0">
                  <a:moveTo>
                    <a:pt x="1" y="1"/>
                  </a:moveTo>
                  <a:lnTo>
                    <a:pt x="13555"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19"/>
            <p:cNvSpPr/>
            <p:nvPr/>
          </p:nvSpPr>
          <p:spPr>
            <a:xfrm>
              <a:off x="3708250" y="3475425"/>
              <a:ext cx="338875" cy="25"/>
            </a:xfrm>
            <a:custGeom>
              <a:avLst/>
              <a:gdLst/>
              <a:ahLst/>
              <a:cxnLst/>
              <a:rect l="l" t="t" r="r" b="b"/>
              <a:pathLst>
                <a:path w="13555" h="1" fill="none" extrusionOk="0">
                  <a:moveTo>
                    <a:pt x="1" y="0"/>
                  </a:moveTo>
                  <a:lnTo>
                    <a:pt x="13555"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19"/>
            <p:cNvSpPr/>
            <p:nvPr/>
          </p:nvSpPr>
          <p:spPr>
            <a:xfrm>
              <a:off x="3708250" y="3620300"/>
              <a:ext cx="189250" cy="25"/>
            </a:xfrm>
            <a:custGeom>
              <a:avLst/>
              <a:gdLst/>
              <a:ahLst/>
              <a:cxnLst/>
              <a:rect l="l" t="t" r="r" b="b"/>
              <a:pathLst>
                <a:path w="7570" h="1" fill="none" extrusionOk="0">
                  <a:moveTo>
                    <a:pt x="1" y="0"/>
                  </a:moveTo>
                  <a:lnTo>
                    <a:pt x="7569"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19"/>
            <p:cNvSpPr/>
            <p:nvPr/>
          </p:nvSpPr>
          <p:spPr>
            <a:xfrm>
              <a:off x="3708250" y="3712150"/>
              <a:ext cx="197950" cy="25"/>
            </a:xfrm>
            <a:custGeom>
              <a:avLst/>
              <a:gdLst/>
              <a:ahLst/>
              <a:cxnLst/>
              <a:rect l="l" t="t" r="r" b="b"/>
              <a:pathLst>
                <a:path w="7918" h="1" fill="none" extrusionOk="0">
                  <a:moveTo>
                    <a:pt x="1" y="0"/>
                  </a:moveTo>
                  <a:lnTo>
                    <a:pt x="7918"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19"/>
            <p:cNvSpPr/>
            <p:nvPr/>
          </p:nvSpPr>
          <p:spPr>
            <a:xfrm>
              <a:off x="3708250" y="3659100"/>
              <a:ext cx="338875" cy="25"/>
            </a:xfrm>
            <a:custGeom>
              <a:avLst/>
              <a:gdLst/>
              <a:ahLst/>
              <a:cxnLst/>
              <a:rect l="l" t="t" r="r" b="b"/>
              <a:pathLst>
                <a:path w="13555" h="1" fill="none" extrusionOk="0">
                  <a:moveTo>
                    <a:pt x="1" y="0"/>
                  </a:moveTo>
                  <a:lnTo>
                    <a:pt x="13555"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19"/>
            <p:cNvSpPr/>
            <p:nvPr/>
          </p:nvSpPr>
          <p:spPr>
            <a:xfrm>
              <a:off x="3708250" y="3686800"/>
              <a:ext cx="338875" cy="25"/>
            </a:xfrm>
            <a:custGeom>
              <a:avLst/>
              <a:gdLst/>
              <a:ahLst/>
              <a:cxnLst/>
              <a:rect l="l" t="t" r="r" b="b"/>
              <a:pathLst>
                <a:path w="13555" h="1" fill="none" extrusionOk="0">
                  <a:moveTo>
                    <a:pt x="1" y="1"/>
                  </a:moveTo>
                  <a:lnTo>
                    <a:pt x="13555"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19"/>
            <p:cNvSpPr/>
            <p:nvPr/>
          </p:nvSpPr>
          <p:spPr>
            <a:xfrm>
              <a:off x="3708250" y="3830100"/>
              <a:ext cx="189250" cy="25"/>
            </a:xfrm>
            <a:custGeom>
              <a:avLst/>
              <a:gdLst/>
              <a:ahLst/>
              <a:cxnLst/>
              <a:rect l="l" t="t" r="r" b="b"/>
              <a:pathLst>
                <a:path w="7570" h="1" fill="none" extrusionOk="0">
                  <a:moveTo>
                    <a:pt x="1" y="1"/>
                  </a:moveTo>
                  <a:lnTo>
                    <a:pt x="7569"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19"/>
            <p:cNvSpPr/>
            <p:nvPr/>
          </p:nvSpPr>
          <p:spPr>
            <a:xfrm>
              <a:off x="3708250" y="3922725"/>
              <a:ext cx="197950" cy="25"/>
            </a:xfrm>
            <a:custGeom>
              <a:avLst/>
              <a:gdLst/>
              <a:ahLst/>
              <a:cxnLst/>
              <a:rect l="l" t="t" r="r" b="b"/>
              <a:pathLst>
                <a:path w="7918" h="1" fill="none" extrusionOk="0">
                  <a:moveTo>
                    <a:pt x="1" y="1"/>
                  </a:moveTo>
                  <a:lnTo>
                    <a:pt x="7918"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19"/>
            <p:cNvSpPr/>
            <p:nvPr/>
          </p:nvSpPr>
          <p:spPr>
            <a:xfrm>
              <a:off x="3708250" y="3869700"/>
              <a:ext cx="338875" cy="25"/>
            </a:xfrm>
            <a:custGeom>
              <a:avLst/>
              <a:gdLst/>
              <a:ahLst/>
              <a:cxnLst/>
              <a:rect l="l" t="t" r="r" b="b"/>
              <a:pathLst>
                <a:path w="13555" h="1" fill="none" extrusionOk="0">
                  <a:moveTo>
                    <a:pt x="1" y="0"/>
                  </a:moveTo>
                  <a:lnTo>
                    <a:pt x="13555"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19"/>
            <p:cNvSpPr/>
            <p:nvPr/>
          </p:nvSpPr>
          <p:spPr>
            <a:xfrm>
              <a:off x="3708250" y="3897400"/>
              <a:ext cx="338875" cy="25"/>
            </a:xfrm>
            <a:custGeom>
              <a:avLst/>
              <a:gdLst/>
              <a:ahLst/>
              <a:cxnLst/>
              <a:rect l="l" t="t" r="r" b="b"/>
              <a:pathLst>
                <a:path w="13555" h="1" fill="none" extrusionOk="0">
                  <a:moveTo>
                    <a:pt x="1" y="1"/>
                  </a:moveTo>
                  <a:lnTo>
                    <a:pt x="13555"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19"/>
            <p:cNvSpPr/>
            <p:nvPr/>
          </p:nvSpPr>
          <p:spPr>
            <a:xfrm>
              <a:off x="3708250" y="4041500"/>
              <a:ext cx="189250" cy="25"/>
            </a:xfrm>
            <a:custGeom>
              <a:avLst/>
              <a:gdLst/>
              <a:ahLst/>
              <a:cxnLst/>
              <a:rect l="l" t="t" r="r" b="b"/>
              <a:pathLst>
                <a:path w="7570" h="1" fill="none" extrusionOk="0">
                  <a:moveTo>
                    <a:pt x="1" y="0"/>
                  </a:moveTo>
                  <a:lnTo>
                    <a:pt x="7569"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19"/>
            <p:cNvSpPr/>
            <p:nvPr/>
          </p:nvSpPr>
          <p:spPr>
            <a:xfrm>
              <a:off x="3708250" y="4134125"/>
              <a:ext cx="197950" cy="25"/>
            </a:xfrm>
            <a:custGeom>
              <a:avLst/>
              <a:gdLst/>
              <a:ahLst/>
              <a:cxnLst/>
              <a:rect l="l" t="t" r="r" b="b"/>
              <a:pathLst>
                <a:path w="7918" h="1" fill="none" extrusionOk="0">
                  <a:moveTo>
                    <a:pt x="1" y="1"/>
                  </a:moveTo>
                  <a:lnTo>
                    <a:pt x="7918"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19"/>
            <p:cNvSpPr/>
            <p:nvPr/>
          </p:nvSpPr>
          <p:spPr>
            <a:xfrm>
              <a:off x="3708250" y="4081075"/>
              <a:ext cx="338875" cy="25"/>
            </a:xfrm>
            <a:custGeom>
              <a:avLst/>
              <a:gdLst/>
              <a:ahLst/>
              <a:cxnLst/>
              <a:rect l="l" t="t" r="r" b="b"/>
              <a:pathLst>
                <a:path w="13555" h="1" fill="none" extrusionOk="0">
                  <a:moveTo>
                    <a:pt x="1" y="1"/>
                  </a:moveTo>
                  <a:lnTo>
                    <a:pt x="13555"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19"/>
            <p:cNvSpPr/>
            <p:nvPr/>
          </p:nvSpPr>
          <p:spPr>
            <a:xfrm>
              <a:off x="3708250" y="4108800"/>
              <a:ext cx="338875" cy="25"/>
            </a:xfrm>
            <a:custGeom>
              <a:avLst/>
              <a:gdLst/>
              <a:ahLst/>
              <a:cxnLst/>
              <a:rect l="l" t="t" r="r" b="b"/>
              <a:pathLst>
                <a:path w="13555" h="1" fill="none" extrusionOk="0">
                  <a:moveTo>
                    <a:pt x="1" y="0"/>
                  </a:moveTo>
                  <a:lnTo>
                    <a:pt x="13555"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19"/>
            <p:cNvSpPr/>
            <p:nvPr/>
          </p:nvSpPr>
          <p:spPr>
            <a:xfrm>
              <a:off x="3708250" y="4252100"/>
              <a:ext cx="189250" cy="25"/>
            </a:xfrm>
            <a:custGeom>
              <a:avLst/>
              <a:gdLst/>
              <a:ahLst/>
              <a:cxnLst/>
              <a:rect l="l" t="t" r="r" b="b"/>
              <a:pathLst>
                <a:path w="7570" h="1" fill="none" extrusionOk="0">
                  <a:moveTo>
                    <a:pt x="1" y="0"/>
                  </a:moveTo>
                  <a:lnTo>
                    <a:pt x="7569"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19"/>
            <p:cNvSpPr/>
            <p:nvPr/>
          </p:nvSpPr>
          <p:spPr>
            <a:xfrm>
              <a:off x="3708250" y="4343925"/>
              <a:ext cx="197950" cy="25"/>
            </a:xfrm>
            <a:custGeom>
              <a:avLst/>
              <a:gdLst/>
              <a:ahLst/>
              <a:cxnLst/>
              <a:rect l="l" t="t" r="r" b="b"/>
              <a:pathLst>
                <a:path w="7918" h="1" fill="none" extrusionOk="0">
                  <a:moveTo>
                    <a:pt x="1" y="1"/>
                  </a:moveTo>
                  <a:lnTo>
                    <a:pt x="7918"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19"/>
            <p:cNvSpPr/>
            <p:nvPr/>
          </p:nvSpPr>
          <p:spPr>
            <a:xfrm>
              <a:off x="3708250" y="4291675"/>
              <a:ext cx="338875" cy="25"/>
            </a:xfrm>
            <a:custGeom>
              <a:avLst/>
              <a:gdLst/>
              <a:ahLst/>
              <a:cxnLst/>
              <a:rect l="l" t="t" r="r" b="b"/>
              <a:pathLst>
                <a:path w="13555" h="1" fill="none" extrusionOk="0">
                  <a:moveTo>
                    <a:pt x="1" y="1"/>
                  </a:moveTo>
                  <a:lnTo>
                    <a:pt x="13555"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19"/>
            <p:cNvSpPr/>
            <p:nvPr/>
          </p:nvSpPr>
          <p:spPr>
            <a:xfrm>
              <a:off x="3708250" y="4318600"/>
              <a:ext cx="338875" cy="25"/>
            </a:xfrm>
            <a:custGeom>
              <a:avLst/>
              <a:gdLst/>
              <a:ahLst/>
              <a:cxnLst/>
              <a:rect l="l" t="t" r="r" b="b"/>
              <a:pathLst>
                <a:path w="13555" h="1" fill="none" extrusionOk="0">
                  <a:moveTo>
                    <a:pt x="1" y="0"/>
                  </a:moveTo>
                  <a:lnTo>
                    <a:pt x="13555"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19"/>
            <p:cNvSpPr/>
            <p:nvPr/>
          </p:nvSpPr>
          <p:spPr>
            <a:xfrm>
              <a:off x="4022575" y="3070850"/>
              <a:ext cx="61775" cy="25"/>
            </a:xfrm>
            <a:custGeom>
              <a:avLst/>
              <a:gdLst/>
              <a:ahLst/>
              <a:cxnLst/>
              <a:rect l="l" t="t" r="r" b="b"/>
              <a:pathLst>
                <a:path w="2471" h="1" fill="none" extrusionOk="0">
                  <a:moveTo>
                    <a:pt x="0" y="0"/>
                  </a:moveTo>
                  <a:lnTo>
                    <a:pt x="2470"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19"/>
            <p:cNvSpPr/>
            <p:nvPr/>
          </p:nvSpPr>
          <p:spPr>
            <a:xfrm>
              <a:off x="4022575" y="3086675"/>
              <a:ext cx="61775" cy="25"/>
            </a:xfrm>
            <a:custGeom>
              <a:avLst/>
              <a:gdLst/>
              <a:ahLst/>
              <a:cxnLst/>
              <a:rect l="l" t="t" r="r" b="b"/>
              <a:pathLst>
                <a:path w="2471" h="1" fill="none" extrusionOk="0">
                  <a:moveTo>
                    <a:pt x="0" y="1"/>
                  </a:moveTo>
                  <a:lnTo>
                    <a:pt x="2470"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19"/>
            <p:cNvSpPr/>
            <p:nvPr/>
          </p:nvSpPr>
          <p:spPr>
            <a:xfrm>
              <a:off x="4022575" y="3102525"/>
              <a:ext cx="61775" cy="25"/>
            </a:xfrm>
            <a:custGeom>
              <a:avLst/>
              <a:gdLst/>
              <a:ahLst/>
              <a:cxnLst/>
              <a:rect l="l" t="t" r="r" b="b"/>
              <a:pathLst>
                <a:path w="2471" h="1" fill="none" extrusionOk="0">
                  <a:moveTo>
                    <a:pt x="0" y="0"/>
                  </a:moveTo>
                  <a:lnTo>
                    <a:pt x="2470"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19"/>
            <p:cNvSpPr/>
            <p:nvPr/>
          </p:nvSpPr>
          <p:spPr>
            <a:xfrm>
              <a:off x="3991700" y="3227600"/>
              <a:ext cx="55425" cy="56050"/>
            </a:xfrm>
            <a:custGeom>
              <a:avLst/>
              <a:gdLst/>
              <a:ahLst/>
              <a:cxnLst/>
              <a:rect l="l" t="t" r="r" b="b"/>
              <a:pathLst>
                <a:path w="2217" h="2242" extrusionOk="0">
                  <a:moveTo>
                    <a:pt x="855" y="191"/>
                  </a:moveTo>
                  <a:cubicBezTo>
                    <a:pt x="1203" y="191"/>
                    <a:pt x="1520" y="476"/>
                    <a:pt x="1520" y="856"/>
                  </a:cubicBezTo>
                  <a:cubicBezTo>
                    <a:pt x="1520" y="1236"/>
                    <a:pt x="1203" y="1552"/>
                    <a:pt x="855" y="1552"/>
                  </a:cubicBezTo>
                  <a:cubicBezTo>
                    <a:pt x="475" y="1552"/>
                    <a:pt x="158" y="1236"/>
                    <a:pt x="158" y="856"/>
                  </a:cubicBezTo>
                  <a:cubicBezTo>
                    <a:pt x="158" y="476"/>
                    <a:pt x="475" y="191"/>
                    <a:pt x="855" y="191"/>
                  </a:cubicBezTo>
                  <a:close/>
                  <a:moveTo>
                    <a:pt x="855" y="1"/>
                  </a:moveTo>
                  <a:cubicBezTo>
                    <a:pt x="380" y="1"/>
                    <a:pt x="0" y="381"/>
                    <a:pt x="0" y="856"/>
                  </a:cubicBezTo>
                  <a:cubicBezTo>
                    <a:pt x="0" y="1331"/>
                    <a:pt x="380" y="1711"/>
                    <a:pt x="855" y="1711"/>
                  </a:cubicBezTo>
                  <a:cubicBezTo>
                    <a:pt x="1045" y="1711"/>
                    <a:pt x="1235" y="1647"/>
                    <a:pt x="1393" y="1521"/>
                  </a:cubicBezTo>
                  <a:lnTo>
                    <a:pt x="2090" y="2218"/>
                  </a:lnTo>
                  <a:cubicBezTo>
                    <a:pt x="2106" y="2233"/>
                    <a:pt x="2122" y="2241"/>
                    <a:pt x="2138" y="2241"/>
                  </a:cubicBezTo>
                  <a:cubicBezTo>
                    <a:pt x="2154" y="2241"/>
                    <a:pt x="2169" y="2233"/>
                    <a:pt x="2185" y="2218"/>
                  </a:cubicBezTo>
                  <a:cubicBezTo>
                    <a:pt x="2217" y="2186"/>
                    <a:pt x="2217" y="2123"/>
                    <a:pt x="2185" y="2091"/>
                  </a:cubicBezTo>
                  <a:lnTo>
                    <a:pt x="1489" y="1394"/>
                  </a:lnTo>
                  <a:cubicBezTo>
                    <a:pt x="1615" y="1236"/>
                    <a:pt x="1679" y="1046"/>
                    <a:pt x="1679" y="856"/>
                  </a:cubicBezTo>
                  <a:cubicBezTo>
                    <a:pt x="1679" y="381"/>
                    <a:pt x="1298" y="1"/>
                    <a:pt x="855" y="1"/>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19"/>
            <p:cNvSpPr/>
            <p:nvPr/>
          </p:nvSpPr>
          <p:spPr>
            <a:xfrm>
              <a:off x="3502400" y="3202275"/>
              <a:ext cx="580350" cy="107700"/>
            </a:xfrm>
            <a:custGeom>
              <a:avLst/>
              <a:gdLst/>
              <a:ahLst/>
              <a:cxnLst/>
              <a:rect l="l" t="t" r="r" b="b"/>
              <a:pathLst>
                <a:path w="23214" h="4308" fill="none" extrusionOk="0">
                  <a:moveTo>
                    <a:pt x="21536" y="4307"/>
                  </a:moveTo>
                  <a:lnTo>
                    <a:pt x="1679" y="4307"/>
                  </a:lnTo>
                  <a:cubicBezTo>
                    <a:pt x="761" y="4307"/>
                    <a:pt x="1" y="3547"/>
                    <a:pt x="1" y="2629"/>
                  </a:cubicBezTo>
                  <a:lnTo>
                    <a:pt x="1" y="1710"/>
                  </a:lnTo>
                  <a:cubicBezTo>
                    <a:pt x="1" y="760"/>
                    <a:pt x="761" y="0"/>
                    <a:pt x="1679" y="0"/>
                  </a:cubicBezTo>
                  <a:lnTo>
                    <a:pt x="21536" y="0"/>
                  </a:lnTo>
                  <a:cubicBezTo>
                    <a:pt x="22454" y="0"/>
                    <a:pt x="23214" y="760"/>
                    <a:pt x="23214" y="1710"/>
                  </a:cubicBezTo>
                  <a:lnTo>
                    <a:pt x="23214" y="2629"/>
                  </a:lnTo>
                  <a:cubicBezTo>
                    <a:pt x="23214" y="3547"/>
                    <a:pt x="22454" y="4307"/>
                    <a:pt x="21536" y="4307"/>
                  </a:cubicBezTo>
                  <a:close/>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19"/>
            <p:cNvSpPr/>
            <p:nvPr/>
          </p:nvSpPr>
          <p:spPr>
            <a:xfrm>
              <a:off x="3528525" y="3070250"/>
              <a:ext cx="42775" cy="48925"/>
            </a:xfrm>
            <a:custGeom>
              <a:avLst/>
              <a:gdLst/>
              <a:ahLst/>
              <a:cxnLst/>
              <a:rect l="l" t="t" r="r" b="b"/>
              <a:pathLst>
                <a:path w="1711" h="1957" extrusionOk="0">
                  <a:moveTo>
                    <a:pt x="856" y="183"/>
                  </a:moveTo>
                  <a:lnTo>
                    <a:pt x="1584" y="848"/>
                  </a:lnTo>
                  <a:lnTo>
                    <a:pt x="1584" y="1798"/>
                  </a:lnTo>
                  <a:lnTo>
                    <a:pt x="1172" y="1798"/>
                  </a:lnTo>
                  <a:lnTo>
                    <a:pt x="1172" y="1323"/>
                  </a:lnTo>
                  <a:cubicBezTo>
                    <a:pt x="1172" y="1291"/>
                    <a:pt x="1141" y="1259"/>
                    <a:pt x="1109" y="1259"/>
                  </a:cubicBezTo>
                  <a:lnTo>
                    <a:pt x="634" y="1259"/>
                  </a:lnTo>
                  <a:cubicBezTo>
                    <a:pt x="602" y="1259"/>
                    <a:pt x="571" y="1291"/>
                    <a:pt x="571" y="1323"/>
                  </a:cubicBezTo>
                  <a:lnTo>
                    <a:pt x="571" y="1798"/>
                  </a:lnTo>
                  <a:lnTo>
                    <a:pt x="159" y="1798"/>
                  </a:lnTo>
                  <a:lnTo>
                    <a:pt x="159" y="848"/>
                  </a:lnTo>
                  <a:lnTo>
                    <a:pt x="856" y="183"/>
                  </a:lnTo>
                  <a:close/>
                  <a:moveTo>
                    <a:pt x="840" y="1"/>
                  </a:moveTo>
                  <a:cubicBezTo>
                    <a:pt x="824" y="1"/>
                    <a:pt x="808" y="8"/>
                    <a:pt x="792" y="24"/>
                  </a:cubicBezTo>
                  <a:lnTo>
                    <a:pt x="32" y="784"/>
                  </a:lnTo>
                  <a:cubicBezTo>
                    <a:pt x="32" y="784"/>
                    <a:pt x="1" y="784"/>
                    <a:pt x="1" y="816"/>
                  </a:cubicBezTo>
                  <a:lnTo>
                    <a:pt x="1" y="1893"/>
                  </a:lnTo>
                  <a:cubicBezTo>
                    <a:pt x="1" y="1924"/>
                    <a:pt x="64" y="1956"/>
                    <a:pt x="96" y="1956"/>
                  </a:cubicBezTo>
                  <a:lnTo>
                    <a:pt x="634" y="1956"/>
                  </a:lnTo>
                  <a:cubicBezTo>
                    <a:pt x="697" y="1956"/>
                    <a:pt x="729" y="1924"/>
                    <a:pt x="729" y="1893"/>
                  </a:cubicBezTo>
                  <a:lnTo>
                    <a:pt x="729" y="1386"/>
                  </a:lnTo>
                  <a:lnTo>
                    <a:pt x="1014" y="1386"/>
                  </a:lnTo>
                  <a:lnTo>
                    <a:pt x="1014" y="1893"/>
                  </a:lnTo>
                  <a:cubicBezTo>
                    <a:pt x="1014" y="1924"/>
                    <a:pt x="1046" y="1956"/>
                    <a:pt x="1109" y="1956"/>
                  </a:cubicBezTo>
                  <a:lnTo>
                    <a:pt x="1647" y="1956"/>
                  </a:lnTo>
                  <a:cubicBezTo>
                    <a:pt x="1679" y="1956"/>
                    <a:pt x="1711" y="1924"/>
                    <a:pt x="1711" y="1893"/>
                  </a:cubicBezTo>
                  <a:lnTo>
                    <a:pt x="1711" y="816"/>
                  </a:lnTo>
                  <a:cubicBezTo>
                    <a:pt x="1711" y="816"/>
                    <a:pt x="1711" y="784"/>
                    <a:pt x="1711" y="784"/>
                  </a:cubicBezTo>
                  <a:lnTo>
                    <a:pt x="887" y="24"/>
                  </a:lnTo>
                  <a:cubicBezTo>
                    <a:pt x="872" y="8"/>
                    <a:pt x="856" y="1"/>
                    <a:pt x="840" y="1"/>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6" name="Google Shape;1616;p19"/>
          <p:cNvSpPr txBox="1"/>
          <p:nvPr/>
        </p:nvSpPr>
        <p:spPr>
          <a:xfrm>
            <a:off x="533400" y="1324625"/>
            <a:ext cx="2033100" cy="29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zh-CN" altLang="zh-CN" sz="1500">
                <a:solidFill>
                  <a:srgbClr val="FFA66F"/>
                </a:solidFill>
                <a:latin typeface="Fira Sans Medium"/>
              </a:rPr>
              <a:t>Popular</a:t>
            </a:r>
            <a:r>
              <a:rPr lang="en-US" altLang="zh-CN" sz="1500">
                <a:solidFill>
                  <a:srgbClr val="FFA66F"/>
                </a:solidFill>
                <a:latin typeface="Fira Sans Medium"/>
              </a:rPr>
              <a:t> </a:t>
            </a:r>
            <a:r>
              <a:rPr lang="zh-CN" altLang="zh-CN" sz="1500">
                <a:solidFill>
                  <a:srgbClr val="FFA66F"/>
                </a:solidFill>
                <a:latin typeface="Fira Sans Medium"/>
              </a:rPr>
              <a:t>Category</a:t>
            </a:r>
            <a:endParaRPr lang="en-US" sz="1500">
              <a:solidFill>
                <a:srgbClr val="FFA66F"/>
              </a:solidFill>
              <a:latin typeface="Fira Sans Medium"/>
              <a:sym typeface="Fira Sans Medium"/>
            </a:endParaRPr>
          </a:p>
        </p:txBody>
      </p:sp>
      <p:sp>
        <p:nvSpPr>
          <p:cNvPr id="1617" name="Google Shape;1617;p19"/>
          <p:cNvSpPr txBox="1"/>
          <p:nvPr/>
        </p:nvSpPr>
        <p:spPr>
          <a:xfrm>
            <a:off x="533400" y="1540876"/>
            <a:ext cx="2033100" cy="5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Fira Sans"/>
                <a:ea typeface="Fira Sans"/>
                <a:cs typeface="Fira Sans"/>
                <a:sym typeface="Fira Sans"/>
              </a:rPr>
              <a:t>A bar chart </a:t>
            </a:r>
            <a:r>
              <a:rPr lang="en" sz="1200">
                <a:latin typeface="Fira Sans"/>
                <a:sym typeface="Fira Sans"/>
              </a:rPr>
              <a:t>shows </a:t>
            </a:r>
            <a:r>
              <a:rPr lang="zh-CN" altLang="zh-CN" sz="1200">
                <a:latin typeface="Fira Sans"/>
              </a:rPr>
              <a:t>Popular Manufacturers </a:t>
            </a:r>
            <a:r>
              <a:rPr lang="en-US" altLang="zh-CN" sz="1200">
                <a:latin typeface="Fira Sans"/>
              </a:rPr>
              <a:t>and their avg rating</a:t>
            </a:r>
            <a:endParaRPr sz="1200">
              <a:latin typeface="Fira Sans"/>
              <a:sym typeface="Fira Sans"/>
            </a:endParaRPr>
          </a:p>
        </p:txBody>
      </p:sp>
      <p:sp>
        <p:nvSpPr>
          <p:cNvPr id="1618" name="Google Shape;1618;p19"/>
          <p:cNvSpPr txBox="1"/>
          <p:nvPr/>
        </p:nvSpPr>
        <p:spPr>
          <a:xfrm>
            <a:off x="533400" y="2473062"/>
            <a:ext cx="2033100" cy="29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500">
                <a:solidFill>
                  <a:srgbClr val="30475E"/>
                </a:solidFill>
                <a:latin typeface="Fira Sans Medium"/>
                <a:ea typeface="Fira Sans Medium"/>
                <a:cs typeface="Fira Sans Medium"/>
                <a:sym typeface="Fira Sans Medium"/>
              </a:rPr>
              <a:t>Review Distribution</a:t>
            </a:r>
            <a:endParaRPr sz="1500">
              <a:solidFill>
                <a:srgbClr val="30475E"/>
              </a:solidFill>
              <a:latin typeface="Fira Sans Medium"/>
              <a:ea typeface="Fira Sans Medium"/>
              <a:cs typeface="Fira Sans Medium"/>
              <a:sym typeface="Fira Sans Medium"/>
            </a:endParaRPr>
          </a:p>
        </p:txBody>
      </p:sp>
      <p:sp>
        <p:nvSpPr>
          <p:cNvPr id="1619" name="Google Shape;1619;p19"/>
          <p:cNvSpPr txBox="1"/>
          <p:nvPr/>
        </p:nvSpPr>
        <p:spPr>
          <a:xfrm>
            <a:off x="517845" y="2776112"/>
            <a:ext cx="2033100" cy="5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a:latin typeface="Fira Sans"/>
                <a:ea typeface="Fira Sans"/>
                <a:cs typeface="Fira Sans"/>
                <a:sym typeface="Fira Sans"/>
              </a:rPr>
              <a:t>A histogram shows rating distribution</a:t>
            </a:r>
          </a:p>
        </p:txBody>
      </p:sp>
      <p:sp>
        <p:nvSpPr>
          <p:cNvPr id="1620" name="Google Shape;1620;p19"/>
          <p:cNvSpPr txBox="1"/>
          <p:nvPr/>
        </p:nvSpPr>
        <p:spPr>
          <a:xfrm>
            <a:off x="533409" y="3621599"/>
            <a:ext cx="2033100" cy="29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500">
                <a:solidFill>
                  <a:srgbClr val="C4C4C4"/>
                </a:solidFill>
                <a:latin typeface="Fira Sans Medium"/>
              </a:rPr>
              <a:t>Price Distribution</a:t>
            </a:r>
            <a:endParaRPr lang="en-US" sz="1500">
              <a:solidFill>
                <a:srgbClr val="C4C4C4"/>
              </a:solidFill>
              <a:latin typeface="Fira Sans Medium"/>
              <a:sym typeface="Fira Sans Medium"/>
            </a:endParaRPr>
          </a:p>
        </p:txBody>
      </p:sp>
      <p:sp>
        <p:nvSpPr>
          <p:cNvPr id="1621" name="Google Shape;1621;p19"/>
          <p:cNvSpPr txBox="1"/>
          <p:nvPr/>
        </p:nvSpPr>
        <p:spPr>
          <a:xfrm>
            <a:off x="533409" y="3837950"/>
            <a:ext cx="2033100" cy="5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a:latin typeface="Fira Sans"/>
                <a:ea typeface="Fira Sans"/>
                <a:cs typeface="Fira Sans"/>
                <a:sym typeface="Fira Sans"/>
              </a:rPr>
              <a:t>A</a:t>
            </a:r>
            <a:r>
              <a:rPr lang="en" sz="1200">
                <a:latin typeface="Fira Sans"/>
                <a:ea typeface="Fira Sans"/>
                <a:cs typeface="Fira Sans"/>
                <a:sym typeface="Fira Sans"/>
              </a:rPr>
              <a:t> histogram shows product price distribution</a:t>
            </a:r>
            <a:endParaRPr sz="1200">
              <a:latin typeface="Fira Sans"/>
              <a:ea typeface="Fira Sans"/>
              <a:cs typeface="Fira Sans"/>
              <a:sym typeface="Fira Sans"/>
            </a:endParaRPr>
          </a:p>
        </p:txBody>
      </p:sp>
      <p:sp>
        <p:nvSpPr>
          <p:cNvPr id="1622" name="Google Shape;1622;p19"/>
          <p:cNvSpPr txBox="1"/>
          <p:nvPr/>
        </p:nvSpPr>
        <p:spPr>
          <a:xfrm>
            <a:off x="717400" y="411475"/>
            <a:ext cx="7723500" cy="48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sz="2800">
                <a:latin typeface="Fira Sans Medium"/>
                <a:ea typeface="Fira Sans Medium"/>
                <a:cs typeface="Fira Sans Medium"/>
                <a:sym typeface="Fira Sans Medium"/>
              </a:rPr>
              <a:t>Exploratory Data Analysis</a:t>
            </a:r>
          </a:p>
        </p:txBody>
      </p:sp>
      <p:sp>
        <p:nvSpPr>
          <p:cNvPr id="1623" name="Google Shape;1623;p19"/>
          <p:cNvSpPr txBox="1"/>
          <p:nvPr/>
        </p:nvSpPr>
        <p:spPr>
          <a:xfrm>
            <a:off x="6577498" y="1324625"/>
            <a:ext cx="2033100" cy="299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zh-CN" altLang="zh-CN" sz="1500">
                <a:solidFill>
                  <a:srgbClr val="222831"/>
                </a:solidFill>
                <a:latin typeface="Fira Sans Medium"/>
              </a:rPr>
              <a:t>Top 10 </a:t>
            </a:r>
            <a:r>
              <a:rPr lang="en-US" altLang="zh-CN" sz="1500">
                <a:solidFill>
                  <a:srgbClr val="222831"/>
                </a:solidFill>
                <a:latin typeface="Fira Sans Medium"/>
              </a:rPr>
              <a:t>products</a:t>
            </a:r>
            <a:endParaRPr lang="en-US" sz="1500">
              <a:solidFill>
                <a:srgbClr val="222831"/>
              </a:solidFill>
              <a:latin typeface="Fira Sans Medium"/>
              <a:ea typeface="Fira Sans Medium"/>
              <a:cs typeface="Fira Sans Medium"/>
              <a:sym typeface="Fira Sans Medium"/>
            </a:endParaRPr>
          </a:p>
        </p:txBody>
      </p:sp>
      <p:sp>
        <p:nvSpPr>
          <p:cNvPr id="1624" name="Google Shape;1624;p19"/>
          <p:cNvSpPr txBox="1"/>
          <p:nvPr/>
        </p:nvSpPr>
        <p:spPr>
          <a:xfrm>
            <a:off x="6577498" y="1540876"/>
            <a:ext cx="2033100" cy="532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altLang="zh-CN" sz="1200" b="0" i="0">
                <a:solidFill>
                  <a:srgbClr val="000000"/>
                </a:solidFill>
                <a:effectLst/>
                <a:latin typeface="WordVisi_MSFontService"/>
              </a:rPr>
              <a:t>A bar chart shows top 10 Categories by Number of Products</a:t>
            </a:r>
            <a:endParaRPr sz="1200">
              <a:latin typeface="Fira Sans"/>
              <a:ea typeface="Fira Sans"/>
              <a:cs typeface="Fira Sans"/>
              <a:sym typeface="Fira Sans"/>
            </a:endParaRPr>
          </a:p>
        </p:txBody>
      </p:sp>
      <p:sp>
        <p:nvSpPr>
          <p:cNvPr id="1625" name="Google Shape;1625;p19"/>
          <p:cNvSpPr txBox="1"/>
          <p:nvPr/>
        </p:nvSpPr>
        <p:spPr>
          <a:xfrm>
            <a:off x="6577498" y="2473062"/>
            <a:ext cx="2033100" cy="299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zh-CN" altLang="zh-CN" sz="1500">
                <a:solidFill>
                  <a:srgbClr val="C4C4C4"/>
                </a:solidFill>
                <a:latin typeface="Fira Sans Medium"/>
              </a:rPr>
              <a:t>Price vs Av</a:t>
            </a:r>
            <a:r>
              <a:rPr lang="en-US" altLang="zh-CN" sz="1500">
                <a:solidFill>
                  <a:srgbClr val="C4C4C4"/>
                </a:solidFill>
                <a:latin typeface="Fira Sans Medium"/>
              </a:rPr>
              <a:t>g</a:t>
            </a:r>
            <a:r>
              <a:rPr lang="zh-CN" altLang="zh-CN" sz="1500">
                <a:solidFill>
                  <a:srgbClr val="C4C4C4"/>
                </a:solidFill>
                <a:latin typeface="Fira Sans Medium"/>
              </a:rPr>
              <a:t> Review</a:t>
            </a:r>
            <a:endParaRPr sz="1500">
              <a:solidFill>
                <a:srgbClr val="C4C4C4"/>
              </a:solidFill>
              <a:latin typeface="Fira Sans Medium"/>
              <a:ea typeface="Fira Sans Medium"/>
              <a:cs typeface="Fira Sans Medium"/>
              <a:sym typeface="Fira Sans Medium"/>
            </a:endParaRPr>
          </a:p>
        </p:txBody>
      </p:sp>
      <p:sp>
        <p:nvSpPr>
          <p:cNvPr id="1626" name="Google Shape;1626;p19"/>
          <p:cNvSpPr txBox="1"/>
          <p:nvPr/>
        </p:nvSpPr>
        <p:spPr>
          <a:xfrm>
            <a:off x="6577498" y="2689413"/>
            <a:ext cx="2033100" cy="532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zh-CN" altLang="zh-CN" sz="1200">
                <a:latin typeface="Fira Sans"/>
              </a:rPr>
              <a:t>Regression Line</a:t>
            </a:r>
            <a:endParaRPr lang="en-US" sz="1200">
              <a:latin typeface="Fira Sans"/>
              <a:sym typeface="Fira Sans"/>
            </a:endParaRPr>
          </a:p>
        </p:txBody>
      </p:sp>
      <p:sp>
        <p:nvSpPr>
          <p:cNvPr id="1627" name="Google Shape;1627;p19"/>
          <p:cNvSpPr txBox="1"/>
          <p:nvPr/>
        </p:nvSpPr>
        <p:spPr>
          <a:xfrm>
            <a:off x="6577507" y="3621599"/>
            <a:ext cx="2033100" cy="299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500">
                <a:solidFill>
                  <a:srgbClr val="30475E"/>
                </a:solidFill>
                <a:latin typeface="Fira Sans Medium"/>
                <a:ea typeface="Fira Sans Medium"/>
                <a:cs typeface="Fira Sans Medium"/>
                <a:sym typeface="Fira Sans Medium"/>
              </a:rPr>
              <a:t>Key Features</a:t>
            </a:r>
            <a:endParaRPr sz="1500">
              <a:solidFill>
                <a:srgbClr val="30475E"/>
              </a:solidFill>
              <a:latin typeface="Fira Sans Medium"/>
              <a:ea typeface="Fira Sans Medium"/>
              <a:cs typeface="Fira Sans Medium"/>
              <a:sym typeface="Fira Sans Medium"/>
            </a:endParaRPr>
          </a:p>
        </p:txBody>
      </p:sp>
      <p:sp>
        <p:nvSpPr>
          <p:cNvPr id="1628" name="Google Shape;1628;p19"/>
          <p:cNvSpPr txBox="1"/>
          <p:nvPr/>
        </p:nvSpPr>
        <p:spPr>
          <a:xfrm>
            <a:off x="6577507" y="3837950"/>
            <a:ext cx="2033100" cy="532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altLang="zh-CN" sz="1200" b="0" i="0">
                <a:solidFill>
                  <a:srgbClr val="000000"/>
                </a:solidFill>
                <a:effectLst/>
                <a:latin typeface="Aptos" panose="020B0004020202020204" pitchFamily="34" charset="0"/>
              </a:rPr>
              <a:t>Correlation Matrix of Key Features</a:t>
            </a:r>
            <a:endParaRPr sz="1200">
              <a:latin typeface="Fira Sans"/>
              <a:ea typeface="Fira Sans"/>
              <a:cs typeface="Fira Sans"/>
              <a:sym typeface="Fira Sans"/>
            </a:endParaRPr>
          </a:p>
        </p:txBody>
      </p:sp>
      <p:sp>
        <p:nvSpPr>
          <p:cNvPr id="1629" name="Google Shape;1629;p19"/>
          <p:cNvSpPr txBox="1"/>
          <p:nvPr/>
        </p:nvSpPr>
        <p:spPr>
          <a:xfrm>
            <a:off x="3204950" y="3533400"/>
            <a:ext cx="558900" cy="47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a:solidFill>
                  <a:srgbClr val="FFFFFF"/>
                </a:solidFill>
                <a:latin typeface="Fira Sans"/>
                <a:ea typeface="Fira Sans"/>
                <a:cs typeface="Fira Sans"/>
                <a:sym typeface="Fira Sans"/>
              </a:rPr>
              <a:t>01</a:t>
            </a:r>
            <a:endParaRPr sz="2100">
              <a:solidFill>
                <a:srgbClr val="FFFFFF"/>
              </a:solidFill>
              <a:latin typeface="Fira Sans"/>
              <a:ea typeface="Fira Sans"/>
              <a:cs typeface="Fira Sans"/>
              <a:sym typeface="Fira Sans"/>
            </a:endParaRPr>
          </a:p>
        </p:txBody>
      </p:sp>
      <p:sp>
        <p:nvSpPr>
          <p:cNvPr id="1630" name="Google Shape;1630;p19"/>
          <p:cNvSpPr txBox="1"/>
          <p:nvPr/>
        </p:nvSpPr>
        <p:spPr>
          <a:xfrm>
            <a:off x="2947000" y="2419400"/>
            <a:ext cx="558900" cy="47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a:solidFill>
                  <a:srgbClr val="FFFFFF"/>
                </a:solidFill>
                <a:latin typeface="Fira Sans"/>
                <a:ea typeface="Fira Sans"/>
                <a:cs typeface="Fira Sans"/>
                <a:sym typeface="Fira Sans"/>
              </a:rPr>
              <a:t>02</a:t>
            </a:r>
            <a:endParaRPr sz="2100">
              <a:solidFill>
                <a:srgbClr val="FFFFFF"/>
              </a:solidFill>
              <a:latin typeface="Fira Sans"/>
              <a:ea typeface="Fira Sans"/>
              <a:cs typeface="Fira Sans"/>
              <a:sym typeface="Fira Sans"/>
            </a:endParaRPr>
          </a:p>
        </p:txBody>
      </p:sp>
      <p:sp>
        <p:nvSpPr>
          <p:cNvPr id="1631" name="Google Shape;1631;p19"/>
          <p:cNvSpPr txBox="1"/>
          <p:nvPr/>
        </p:nvSpPr>
        <p:spPr>
          <a:xfrm>
            <a:off x="3707850" y="1540875"/>
            <a:ext cx="558900" cy="47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a:solidFill>
                  <a:srgbClr val="FFFFFF"/>
                </a:solidFill>
                <a:latin typeface="Fira Sans"/>
                <a:ea typeface="Fira Sans"/>
                <a:cs typeface="Fira Sans"/>
                <a:sym typeface="Fira Sans"/>
              </a:rPr>
              <a:t>03</a:t>
            </a:r>
            <a:endParaRPr sz="2100">
              <a:solidFill>
                <a:srgbClr val="FFFFFF"/>
              </a:solidFill>
              <a:latin typeface="Fira Sans"/>
              <a:ea typeface="Fira Sans"/>
              <a:cs typeface="Fira Sans"/>
              <a:sym typeface="Fira Sans"/>
            </a:endParaRPr>
          </a:p>
        </p:txBody>
      </p:sp>
      <p:sp>
        <p:nvSpPr>
          <p:cNvPr id="1632" name="Google Shape;1632;p19"/>
          <p:cNvSpPr txBox="1"/>
          <p:nvPr/>
        </p:nvSpPr>
        <p:spPr>
          <a:xfrm>
            <a:off x="4879050" y="1540875"/>
            <a:ext cx="558900" cy="47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a:solidFill>
                  <a:srgbClr val="FFFFFF"/>
                </a:solidFill>
                <a:latin typeface="Fira Sans"/>
                <a:ea typeface="Fira Sans"/>
                <a:cs typeface="Fira Sans"/>
                <a:sym typeface="Fira Sans"/>
              </a:rPr>
              <a:t>04</a:t>
            </a:r>
            <a:endParaRPr sz="2100">
              <a:solidFill>
                <a:srgbClr val="FFFFFF"/>
              </a:solidFill>
              <a:latin typeface="Fira Sans"/>
              <a:ea typeface="Fira Sans"/>
              <a:cs typeface="Fira Sans"/>
              <a:sym typeface="Fira Sans"/>
            </a:endParaRPr>
          </a:p>
        </p:txBody>
      </p:sp>
      <p:sp>
        <p:nvSpPr>
          <p:cNvPr id="1633" name="Google Shape;1633;p19"/>
          <p:cNvSpPr txBox="1"/>
          <p:nvPr/>
        </p:nvSpPr>
        <p:spPr>
          <a:xfrm>
            <a:off x="5660550" y="2419400"/>
            <a:ext cx="558900" cy="47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a:solidFill>
                  <a:srgbClr val="FFFFFF"/>
                </a:solidFill>
                <a:latin typeface="Fira Sans"/>
                <a:ea typeface="Fira Sans"/>
                <a:cs typeface="Fira Sans"/>
                <a:sym typeface="Fira Sans"/>
              </a:rPr>
              <a:t>05</a:t>
            </a:r>
            <a:endParaRPr sz="2100">
              <a:solidFill>
                <a:srgbClr val="FFFFFF"/>
              </a:solidFill>
              <a:latin typeface="Fira Sans"/>
              <a:ea typeface="Fira Sans"/>
              <a:cs typeface="Fira Sans"/>
              <a:sym typeface="Fira Sans"/>
            </a:endParaRPr>
          </a:p>
        </p:txBody>
      </p:sp>
      <p:sp>
        <p:nvSpPr>
          <p:cNvPr id="1634" name="Google Shape;1634;p19"/>
          <p:cNvSpPr txBox="1"/>
          <p:nvPr/>
        </p:nvSpPr>
        <p:spPr>
          <a:xfrm>
            <a:off x="5402575" y="3533400"/>
            <a:ext cx="558900" cy="47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a:solidFill>
                  <a:srgbClr val="FFFFFF"/>
                </a:solidFill>
                <a:latin typeface="Fira Sans"/>
                <a:ea typeface="Fira Sans"/>
                <a:cs typeface="Fira Sans"/>
                <a:sym typeface="Fira Sans"/>
              </a:rPr>
              <a:t>06</a:t>
            </a:r>
            <a:endParaRPr sz="2100">
              <a:solidFill>
                <a:srgbClr val="FFFFFF"/>
              </a:solidFill>
              <a:latin typeface="Fira Sans"/>
              <a:ea typeface="Fira Sans"/>
              <a:cs typeface="Fira Sans"/>
              <a:sym typeface="Fira Sans"/>
            </a:endParaRPr>
          </a:p>
        </p:txBody>
      </p:sp>
      <p:pic>
        <p:nvPicPr>
          <p:cNvPr id="2" name="Picture 1">
            <a:extLst>
              <a:ext uri="{FF2B5EF4-FFF2-40B4-BE49-F238E27FC236}">
                <a16:creationId xmlns:a16="http://schemas.microsoft.com/office/drawing/2014/main" id="{377EC9D1-D590-6278-426E-C3FF3F5473ED}"/>
              </a:ext>
            </a:extLst>
          </p:cNvPr>
          <p:cNvPicPr>
            <a:picLocks noChangeAspect="1"/>
          </p:cNvPicPr>
          <p:nvPr/>
        </p:nvPicPr>
        <p:blipFill>
          <a:blip r:embed="rId3"/>
          <a:stretch>
            <a:fillRect/>
          </a:stretch>
        </p:blipFill>
        <p:spPr>
          <a:xfrm>
            <a:off x="4207833" y="3137739"/>
            <a:ext cx="726550" cy="4846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showing a distribution of product prices&#10;&#10;AI-generated content may be incorrect.">
            <a:extLst>
              <a:ext uri="{FF2B5EF4-FFF2-40B4-BE49-F238E27FC236}">
                <a16:creationId xmlns:a16="http://schemas.microsoft.com/office/drawing/2014/main" id="{D38F84FF-1EE0-1800-4A10-C5B74E915DF8}"/>
              </a:ext>
            </a:extLst>
          </p:cNvPr>
          <p:cNvPicPr>
            <a:picLocks noChangeAspect="1"/>
          </p:cNvPicPr>
          <p:nvPr/>
        </p:nvPicPr>
        <p:blipFill>
          <a:blip r:embed="rId3"/>
          <a:stretch>
            <a:fillRect/>
          </a:stretch>
        </p:blipFill>
        <p:spPr>
          <a:xfrm>
            <a:off x="4440835" y="910891"/>
            <a:ext cx="4441936" cy="3690050"/>
          </a:xfrm>
          <a:prstGeom prst="rect">
            <a:avLst/>
          </a:prstGeom>
        </p:spPr>
      </p:pic>
      <p:sp>
        <p:nvSpPr>
          <p:cNvPr id="3" name="TextBox 2">
            <a:extLst>
              <a:ext uri="{FF2B5EF4-FFF2-40B4-BE49-F238E27FC236}">
                <a16:creationId xmlns:a16="http://schemas.microsoft.com/office/drawing/2014/main" id="{58460A1D-038F-F25A-1259-650FC948652C}"/>
              </a:ext>
            </a:extLst>
          </p:cNvPr>
          <p:cNvSpPr txBox="1"/>
          <p:nvPr/>
        </p:nvSpPr>
        <p:spPr>
          <a:xfrm>
            <a:off x="215484" y="1341333"/>
            <a:ext cx="4141032"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400">
                <a:latin typeface="Fira Sans"/>
                <a:ea typeface="+mn-lt"/>
                <a:cs typeface="+mn-lt"/>
              </a:rPr>
              <a:t>This histogram visualizes the distribution of product prices in the dataset.</a:t>
            </a:r>
            <a:endParaRPr lang="en-US" sz="1400">
              <a:latin typeface="Fira Sans"/>
              <a:ea typeface="等线"/>
            </a:endParaRPr>
          </a:p>
          <a:p>
            <a:pPr marL="285750" indent="-285750">
              <a:buFont typeface="Arial"/>
              <a:buChar char="•"/>
            </a:pPr>
            <a:r>
              <a:rPr lang="en-GB" sz="1400">
                <a:latin typeface="Fira Sans"/>
                <a:ea typeface="+mn-lt"/>
                <a:cs typeface="+mn-lt"/>
              </a:rPr>
              <a:t>The x-axis represents the price in </a:t>
            </a:r>
            <a:r>
              <a:rPr lang="en-GB" sz="1400" b="1">
                <a:latin typeface="Fira Sans"/>
                <a:ea typeface="+mn-lt"/>
                <a:cs typeface="+mn-lt"/>
              </a:rPr>
              <a:t>British Pounds (£)</a:t>
            </a:r>
            <a:r>
              <a:rPr lang="en-GB" sz="1400">
                <a:latin typeface="Fira Sans"/>
                <a:ea typeface="+mn-lt"/>
                <a:cs typeface="+mn-lt"/>
              </a:rPr>
              <a:t>, while the y-axis shows the count of products within each price range.</a:t>
            </a:r>
          </a:p>
          <a:p>
            <a:pPr marL="285750" indent="-285750">
              <a:buFont typeface="Arial"/>
              <a:buChar char="•"/>
            </a:pPr>
            <a:r>
              <a:rPr lang="en-GB" sz="1400">
                <a:latin typeface="Fira Sans"/>
                <a:ea typeface="+mn-lt"/>
                <a:cs typeface="+mn-lt"/>
              </a:rPr>
              <a:t>A </a:t>
            </a:r>
            <a:r>
              <a:rPr lang="en-GB" sz="1400" b="1">
                <a:latin typeface="Fira Sans"/>
                <a:ea typeface="+mn-lt"/>
                <a:cs typeface="+mn-lt"/>
              </a:rPr>
              <a:t>Kernel Density Estimate (KDE) curve</a:t>
            </a:r>
            <a:r>
              <a:rPr lang="en-GB" sz="1400">
                <a:latin typeface="Fira Sans"/>
                <a:ea typeface="+mn-lt"/>
                <a:cs typeface="+mn-lt"/>
              </a:rPr>
              <a:t> overlays the histogram, showing the smooth probability distribution of prices.</a:t>
            </a:r>
          </a:p>
          <a:p>
            <a:pPr marL="285750" indent="-285750">
              <a:buFont typeface="Arial"/>
              <a:buChar char="•"/>
            </a:pPr>
            <a:r>
              <a:rPr lang="en-GB" sz="1400">
                <a:latin typeface="Fira Sans"/>
                <a:ea typeface="+mn-lt"/>
                <a:cs typeface="+mn-lt"/>
              </a:rPr>
              <a:t>Businesses can use this distribution to understand pricing trends and adjust strategies accordingly.</a:t>
            </a:r>
            <a:endParaRPr lang="en-GB" sz="1400">
              <a:latin typeface="Fira Sans"/>
              <a:ea typeface="等线" panose="02110004020202020204"/>
            </a:endParaRPr>
          </a:p>
        </p:txBody>
      </p:sp>
      <p:sp>
        <p:nvSpPr>
          <p:cNvPr id="4" name="TextBox 3">
            <a:extLst>
              <a:ext uri="{FF2B5EF4-FFF2-40B4-BE49-F238E27FC236}">
                <a16:creationId xmlns:a16="http://schemas.microsoft.com/office/drawing/2014/main" id="{601A8818-0D3D-97F8-DFBF-4F79AFC3DFDB}"/>
              </a:ext>
            </a:extLst>
          </p:cNvPr>
          <p:cNvSpPr txBox="1"/>
          <p:nvPr/>
        </p:nvSpPr>
        <p:spPr>
          <a:xfrm>
            <a:off x="365385" y="327909"/>
            <a:ext cx="40754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Fira Sans"/>
                <a:ea typeface="等线"/>
              </a:rPr>
              <a:t>Distribution of Product Prices</a:t>
            </a:r>
            <a:endParaRPr lang="en-GB">
              <a:latin typeface="Fira Sans"/>
            </a:endParaRPr>
          </a:p>
        </p:txBody>
      </p:sp>
    </p:spTree>
    <p:extLst>
      <p:ext uri="{BB962C8B-B14F-4D97-AF65-F5344CB8AC3E}">
        <p14:creationId xmlns:p14="http://schemas.microsoft.com/office/powerpoint/2010/main" val="294447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1EAD3-1E3D-EF3E-C26C-D4DA975070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5844FD5-ACFB-6FBF-C6DB-7BD40F50E9CF}"/>
              </a:ext>
            </a:extLst>
          </p:cNvPr>
          <p:cNvSpPr txBox="1"/>
          <p:nvPr/>
        </p:nvSpPr>
        <p:spPr>
          <a:xfrm>
            <a:off x="215484" y="1288217"/>
            <a:ext cx="4056713"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GB" sz="1400">
                <a:latin typeface="Fira Sans"/>
                <a:ea typeface="+mn-lt"/>
                <a:cs typeface="+mn-lt"/>
              </a:rPr>
              <a:t> This histogram represents the distribution of </a:t>
            </a:r>
            <a:r>
              <a:rPr lang="en-GB" sz="1400" b="1">
                <a:latin typeface="Fira Sans"/>
                <a:ea typeface="+mn-lt"/>
                <a:cs typeface="+mn-lt"/>
              </a:rPr>
              <a:t>average review ratings</a:t>
            </a:r>
            <a:r>
              <a:rPr lang="en-GB" sz="1400">
                <a:latin typeface="Fira Sans"/>
                <a:ea typeface="+mn-lt"/>
                <a:cs typeface="+mn-lt"/>
              </a:rPr>
              <a:t> for products.</a:t>
            </a:r>
            <a:endParaRPr lang="en-GB" sz="1400">
              <a:latin typeface="Fira Sans"/>
              <a:ea typeface="等线"/>
            </a:endParaRPr>
          </a:p>
          <a:p>
            <a:pPr>
              <a:buFont typeface="Arial"/>
              <a:buChar char="•"/>
            </a:pPr>
            <a:r>
              <a:rPr lang="en-GB" sz="1400">
                <a:latin typeface="Fira Sans"/>
                <a:ea typeface="+mn-lt"/>
                <a:cs typeface="+mn-lt"/>
              </a:rPr>
              <a:t> The x-axis denotes the </a:t>
            </a:r>
            <a:r>
              <a:rPr lang="en-GB" sz="1400" b="1">
                <a:latin typeface="Fira Sans"/>
                <a:ea typeface="+mn-lt"/>
                <a:cs typeface="+mn-lt"/>
              </a:rPr>
              <a:t>average rating (out of 5)</a:t>
            </a:r>
            <a:r>
              <a:rPr lang="en-GB" sz="1400">
                <a:latin typeface="Fira Sans"/>
                <a:ea typeface="+mn-lt"/>
                <a:cs typeface="+mn-lt"/>
              </a:rPr>
              <a:t>, while the y-axis indicates the count of products within each rating range.</a:t>
            </a:r>
            <a:endParaRPr lang="en-GB" sz="1400">
              <a:latin typeface="Fira Sans"/>
            </a:endParaRPr>
          </a:p>
          <a:p>
            <a:pPr>
              <a:buFont typeface="Arial"/>
              <a:buChar char="•"/>
            </a:pPr>
            <a:r>
              <a:rPr lang="en-GB" sz="1400">
                <a:latin typeface="Fira Sans"/>
                <a:ea typeface="等线"/>
              </a:rPr>
              <a:t> </a:t>
            </a:r>
            <a:r>
              <a:rPr lang="en-GB" sz="1400">
                <a:latin typeface="Fira Sans"/>
                <a:ea typeface="+mn-lt"/>
                <a:cs typeface="+mn-lt"/>
              </a:rPr>
              <a:t>The </a:t>
            </a:r>
            <a:r>
              <a:rPr lang="en-GB" sz="1400" b="1">
                <a:latin typeface="Fira Sans"/>
                <a:ea typeface="+mn-lt"/>
                <a:cs typeface="+mn-lt"/>
              </a:rPr>
              <a:t>KDE curve</a:t>
            </a:r>
            <a:r>
              <a:rPr lang="en-GB" sz="1400">
                <a:latin typeface="Fira Sans"/>
                <a:ea typeface="+mn-lt"/>
                <a:cs typeface="+mn-lt"/>
              </a:rPr>
              <a:t> highlights a peak near </a:t>
            </a:r>
            <a:r>
              <a:rPr lang="en-GB" sz="1400" b="1">
                <a:latin typeface="Fira Sans"/>
                <a:ea typeface="+mn-lt"/>
                <a:cs typeface="+mn-lt"/>
              </a:rPr>
              <a:t>4.5–5</a:t>
            </a:r>
            <a:r>
              <a:rPr lang="en-GB" sz="1400">
                <a:latin typeface="Fira Sans"/>
                <a:ea typeface="+mn-lt"/>
                <a:cs typeface="+mn-lt"/>
              </a:rPr>
              <a:t>, suggesting that most products receive </a:t>
            </a:r>
            <a:r>
              <a:rPr lang="en-GB" sz="1400" b="1">
                <a:latin typeface="Fira Sans"/>
                <a:ea typeface="+mn-lt"/>
                <a:cs typeface="+mn-lt"/>
              </a:rPr>
              <a:t>positive feedback</a:t>
            </a:r>
            <a:r>
              <a:rPr lang="en-GB" sz="1400">
                <a:latin typeface="Fira Sans"/>
                <a:ea typeface="+mn-lt"/>
                <a:cs typeface="+mn-lt"/>
              </a:rPr>
              <a:t>.</a:t>
            </a:r>
          </a:p>
          <a:p>
            <a:pPr>
              <a:buFont typeface="Arial"/>
              <a:buChar char="•"/>
            </a:pPr>
            <a:r>
              <a:rPr lang="en-GB" sz="1400">
                <a:latin typeface="Fira Sans"/>
                <a:ea typeface="等线"/>
              </a:rPr>
              <a:t> </a:t>
            </a:r>
            <a:r>
              <a:rPr lang="en-GB" sz="1400">
                <a:latin typeface="Fira Sans"/>
                <a:ea typeface="+mn-lt"/>
                <a:cs typeface="+mn-lt"/>
              </a:rPr>
              <a:t>Consumers may rely heavily on reviews when making purchasing decisions, given the high concentration of ratings around 4.5–5.</a:t>
            </a:r>
          </a:p>
          <a:p>
            <a:pPr>
              <a:buFont typeface="Arial"/>
              <a:buChar char="•"/>
            </a:pPr>
            <a:endParaRPr lang="en-GB" sz="1400">
              <a:latin typeface="Fira Sans"/>
              <a:ea typeface="等线"/>
            </a:endParaRPr>
          </a:p>
        </p:txBody>
      </p:sp>
      <p:sp>
        <p:nvSpPr>
          <p:cNvPr id="4" name="TextBox 3">
            <a:extLst>
              <a:ext uri="{FF2B5EF4-FFF2-40B4-BE49-F238E27FC236}">
                <a16:creationId xmlns:a16="http://schemas.microsoft.com/office/drawing/2014/main" id="{0B0BC606-9F74-6FE4-778C-059A41284466}"/>
              </a:ext>
            </a:extLst>
          </p:cNvPr>
          <p:cNvSpPr txBox="1"/>
          <p:nvPr/>
        </p:nvSpPr>
        <p:spPr>
          <a:xfrm>
            <a:off x="365385" y="327909"/>
            <a:ext cx="40754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Fira Sans"/>
                <a:ea typeface="等线"/>
              </a:rPr>
              <a:t>Distribution of Review Ratings</a:t>
            </a:r>
            <a:endParaRPr lang="en-GB">
              <a:latin typeface="Fira Sans"/>
            </a:endParaRPr>
          </a:p>
        </p:txBody>
      </p:sp>
      <p:pic>
        <p:nvPicPr>
          <p:cNvPr id="5" name="Picture 4" descr="A graph with red lines&#10;&#10;AI-generated content may be incorrect.">
            <a:extLst>
              <a:ext uri="{FF2B5EF4-FFF2-40B4-BE49-F238E27FC236}">
                <a16:creationId xmlns:a16="http://schemas.microsoft.com/office/drawing/2014/main" id="{770DA29D-C93E-B555-BEB2-5234B807C734}"/>
              </a:ext>
            </a:extLst>
          </p:cNvPr>
          <p:cNvPicPr>
            <a:picLocks noChangeAspect="1"/>
          </p:cNvPicPr>
          <p:nvPr/>
        </p:nvPicPr>
        <p:blipFill>
          <a:blip r:embed="rId3"/>
          <a:stretch>
            <a:fillRect/>
          </a:stretch>
        </p:blipFill>
        <p:spPr>
          <a:xfrm>
            <a:off x="4274989" y="1114893"/>
            <a:ext cx="4870903" cy="3293152"/>
          </a:xfrm>
          <a:prstGeom prst="rect">
            <a:avLst/>
          </a:prstGeom>
        </p:spPr>
      </p:pic>
    </p:spTree>
    <p:extLst>
      <p:ext uri="{BB962C8B-B14F-4D97-AF65-F5344CB8AC3E}">
        <p14:creationId xmlns:p14="http://schemas.microsoft.com/office/powerpoint/2010/main" val="1982648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B32CB9A8-866A-C641-E8A6-B165431341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7806" y="1717268"/>
            <a:ext cx="3792592" cy="300654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1DCFFEE2-ED5C-8602-51A2-0C1E5280F8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9557" y="239234"/>
            <a:ext cx="3269485" cy="147962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3CCCAEC-C139-7F40-2551-5BE78A502BC4}"/>
              </a:ext>
            </a:extLst>
          </p:cNvPr>
          <p:cNvSpPr txBox="1"/>
          <p:nvPr/>
        </p:nvSpPr>
        <p:spPr>
          <a:xfrm>
            <a:off x="141341" y="1232922"/>
            <a:ext cx="4815589"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400">
                <a:latin typeface="Fira Sans"/>
                <a:ea typeface="+mn-lt"/>
                <a:cs typeface="+mn-lt"/>
              </a:rPr>
              <a:t>This bar chart highlights the </a:t>
            </a:r>
            <a:r>
              <a:rPr lang="en-GB" sz="1400" b="1">
                <a:latin typeface="Fira Sans"/>
                <a:ea typeface="+mn-lt"/>
                <a:cs typeface="+mn-lt"/>
              </a:rPr>
              <a:t>top 10 manufacturers</a:t>
            </a:r>
            <a:r>
              <a:rPr lang="en-GB" sz="1400">
                <a:latin typeface="Fira Sans"/>
                <a:ea typeface="+mn-lt"/>
                <a:cs typeface="+mn-lt"/>
              </a:rPr>
              <a:t> based on the number of products in the dataset.</a:t>
            </a:r>
            <a:endParaRPr lang="en-US" sz="1400">
              <a:latin typeface="Fira Sans"/>
              <a:ea typeface="等线"/>
            </a:endParaRPr>
          </a:p>
          <a:p>
            <a:pPr marL="285750" indent="-285750">
              <a:buFont typeface="Arial"/>
              <a:buChar char="•"/>
            </a:pPr>
            <a:r>
              <a:rPr lang="en-GB" sz="1400">
                <a:latin typeface="Fira Sans"/>
                <a:ea typeface="+mn-lt"/>
                <a:cs typeface="+mn-lt"/>
              </a:rPr>
              <a:t>The x-axis represents </a:t>
            </a:r>
            <a:r>
              <a:rPr lang="en-GB" sz="1400" b="1">
                <a:latin typeface="Fira Sans"/>
                <a:ea typeface="+mn-lt"/>
                <a:cs typeface="+mn-lt"/>
              </a:rPr>
              <a:t>manufacturer names</a:t>
            </a:r>
            <a:r>
              <a:rPr lang="en-GB" sz="1400">
                <a:latin typeface="Fira Sans"/>
                <a:ea typeface="+mn-lt"/>
                <a:cs typeface="+mn-lt"/>
              </a:rPr>
              <a:t>, while the y-axis shows the </a:t>
            </a:r>
            <a:r>
              <a:rPr lang="en-GB" sz="1400" b="1">
                <a:latin typeface="Fira Sans"/>
                <a:ea typeface="+mn-lt"/>
                <a:cs typeface="+mn-lt"/>
              </a:rPr>
              <a:t>number of products</a:t>
            </a:r>
            <a:r>
              <a:rPr lang="en-GB" sz="1400">
                <a:latin typeface="Fira Sans"/>
                <a:ea typeface="+mn-lt"/>
                <a:cs typeface="+mn-lt"/>
              </a:rPr>
              <a:t> they offer.</a:t>
            </a:r>
            <a:endParaRPr lang="en-GB" sz="1400">
              <a:latin typeface="Fira Sans"/>
              <a:ea typeface="+mn-lt"/>
              <a:cs typeface="Arial"/>
            </a:endParaRPr>
          </a:p>
          <a:p>
            <a:pPr marL="285750" indent="-285750">
              <a:buFont typeface="Arial"/>
              <a:buChar char="•"/>
            </a:pPr>
            <a:r>
              <a:rPr lang="en-GB" sz="1400" b="1">
                <a:latin typeface="Fira Sans"/>
                <a:ea typeface="+mn-lt"/>
                <a:cs typeface="+mn-lt"/>
              </a:rPr>
              <a:t>Reputable brands</a:t>
            </a:r>
            <a:r>
              <a:rPr lang="en-GB" sz="1400">
                <a:latin typeface="Fira Sans"/>
                <a:ea typeface="+mn-lt"/>
                <a:cs typeface="+mn-lt"/>
              </a:rPr>
              <a:t> like </a:t>
            </a:r>
            <a:r>
              <a:rPr lang="en-GB" sz="1400" b="1">
                <a:latin typeface="Fira Sans"/>
                <a:ea typeface="+mn-lt"/>
                <a:cs typeface="+mn-lt"/>
              </a:rPr>
              <a:t>LEGO, Disney, and Playmobil</a:t>
            </a:r>
            <a:r>
              <a:rPr lang="en-GB" sz="1400">
                <a:latin typeface="Fira Sans"/>
                <a:ea typeface="+mn-lt"/>
                <a:cs typeface="+mn-lt"/>
              </a:rPr>
              <a:t> dominate the market with high product availability and strong ratings.</a:t>
            </a:r>
          </a:p>
          <a:p>
            <a:pPr marL="285750" indent="-285750">
              <a:buFont typeface="Arial"/>
              <a:buChar char="•"/>
            </a:pPr>
            <a:r>
              <a:rPr lang="en-GB" sz="1400">
                <a:latin typeface="Fira Sans"/>
                <a:ea typeface="+mn-lt"/>
                <a:cs typeface="+mn-lt"/>
              </a:rPr>
              <a:t>Manufacturers with </a:t>
            </a:r>
            <a:r>
              <a:rPr lang="en-GB" sz="1400" b="1">
                <a:latin typeface="Fira Sans"/>
                <a:ea typeface="+mn-lt"/>
                <a:cs typeface="+mn-lt"/>
              </a:rPr>
              <a:t>fewer but highly rated products (e.g., </a:t>
            </a:r>
            <a:r>
              <a:rPr lang="en-GB" sz="1400" b="1" err="1">
                <a:latin typeface="Fira Sans"/>
                <a:ea typeface="+mn-lt"/>
                <a:cs typeface="+mn-lt"/>
              </a:rPr>
              <a:t>MyTinyWorld</a:t>
            </a:r>
            <a:r>
              <a:rPr lang="en-GB" sz="1400" b="1">
                <a:latin typeface="Fira Sans"/>
                <a:ea typeface="+mn-lt"/>
                <a:cs typeface="+mn-lt"/>
              </a:rPr>
              <a:t>)</a:t>
            </a:r>
            <a:r>
              <a:rPr lang="en-GB" sz="1400">
                <a:latin typeface="Fira Sans"/>
                <a:ea typeface="+mn-lt"/>
                <a:cs typeface="+mn-lt"/>
              </a:rPr>
              <a:t> may focus on quality over quantity.</a:t>
            </a:r>
            <a:endParaRPr lang="en-GB" sz="1400">
              <a:latin typeface="Fira Sans"/>
              <a:ea typeface="等线" panose="02110004020202020204"/>
            </a:endParaRPr>
          </a:p>
          <a:p>
            <a:pPr marL="285750" indent="-285750" algn="l">
              <a:buFont typeface="Arial"/>
              <a:buChar char="•"/>
            </a:pPr>
            <a:endParaRPr lang="en-GB" sz="1400">
              <a:latin typeface="Fira Sans"/>
              <a:ea typeface="等线"/>
              <a:cs typeface="Arial"/>
            </a:endParaRPr>
          </a:p>
          <a:p>
            <a:endParaRPr lang="en-GB" sz="1400">
              <a:latin typeface="Fira Sans"/>
              <a:ea typeface="等线"/>
              <a:cs typeface="Arial"/>
            </a:endParaRPr>
          </a:p>
        </p:txBody>
      </p:sp>
      <p:sp>
        <p:nvSpPr>
          <p:cNvPr id="3" name="TextBox 2">
            <a:extLst>
              <a:ext uri="{FF2B5EF4-FFF2-40B4-BE49-F238E27FC236}">
                <a16:creationId xmlns:a16="http://schemas.microsoft.com/office/drawing/2014/main" id="{AB1AC495-7FAC-143B-067F-731F689098BF}"/>
              </a:ext>
            </a:extLst>
          </p:cNvPr>
          <p:cNvSpPr txBox="1"/>
          <p:nvPr/>
        </p:nvSpPr>
        <p:spPr>
          <a:xfrm>
            <a:off x="243590" y="252958"/>
            <a:ext cx="43846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Fira Sans"/>
                <a:ea typeface="等线"/>
              </a:rPr>
              <a:t>Distribution of Manufacturers</a:t>
            </a:r>
            <a:endParaRPr lang="en-GB">
              <a:latin typeface="Fira Sans"/>
            </a:endParaRPr>
          </a:p>
        </p:txBody>
      </p:sp>
    </p:spTree>
    <p:extLst>
      <p:ext uri="{BB962C8B-B14F-4D97-AF65-F5344CB8AC3E}">
        <p14:creationId xmlns:p14="http://schemas.microsoft.com/office/powerpoint/2010/main" val="759078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6BB246A-384F-9FDB-BBCF-0250EC5DB809}"/>
              </a:ext>
            </a:extLst>
          </p:cNvPr>
          <p:cNvPicPr>
            <a:picLocks noChangeAspect="1"/>
          </p:cNvPicPr>
          <p:nvPr/>
        </p:nvPicPr>
        <p:blipFill>
          <a:blip r:embed="rId3"/>
          <a:stretch>
            <a:fillRect/>
          </a:stretch>
        </p:blipFill>
        <p:spPr>
          <a:xfrm>
            <a:off x="4356516" y="834432"/>
            <a:ext cx="4787484" cy="3469950"/>
          </a:xfrm>
          <a:prstGeom prst="rect">
            <a:avLst/>
          </a:prstGeom>
        </p:spPr>
      </p:pic>
      <p:sp>
        <p:nvSpPr>
          <p:cNvPr id="3" name="TextBox 2">
            <a:extLst>
              <a:ext uri="{FF2B5EF4-FFF2-40B4-BE49-F238E27FC236}">
                <a16:creationId xmlns:a16="http://schemas.microsoft.com/office/drawing/2014/main" id="{4B601928-2569-67DD-1B23-F6CACE94D62A}"/>
              </a:ext>
            </a:extLst>
          </p:cNvPr>
          <p:cNvSpPr txBox="1"/>
          <p:nvPr/>
        </p:nvSpPr>
        <p:spPr>
          <a:xfrm>
            <a:off x="168639" y="852565"/>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4" name="TextBox 3">
            <a:extLst>
              <a:ext uri="{FF2B5EF4-FFF2-40B4-BE49-F238E27FC236}">
                <a16:creationId xmlns:a16="http://schemas.microsoft.com/office/drawing/2014/main" id="{5036BB7A-1D8B-5FAC-DB4F-5BCDF6221FD5}"/>
              </a:ext>
            </a:extLst>
          </p:cNvPr>
          <p:cNvSpPr txBox="1"/>
          <p:nvPr/>
        </p:nvSpPr>
        <p:spPr>
          <a:xfrm>
            <a:off x="291214" y="1215537"/>
            <a:ext cx="4005469"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400">
                <a:latin typeface="Fira Sans"/>
                <a:ea typeface="+mn-lt"/>
                <a:cs typeface="+mn-lt"/>
              </a:rPr>
              <a:t>This bar chart displays the </a:t>
            </a:r>
            <a:r>
              <a:rPr lang="en-GB" sz="1400" b="1">
                <a:latin typeface="Fira Sans"/>
                <a:ea typeface="+mn-lt"/>
                <a:cs typeface="+mn-lt"/>
              </a:rPr>
              <a:t>top 10 product categories</a:t>
            </a:r>
            <a:r>
              <a:rPr lang="en-GB" sz="1400">
                <a:latin typeface="Fira Sans"/>
                <a:ea typeface="+mn-lt"/>
                <a:cs typeface="+mn-lt"/>
              </a:rPr>
              <a:t> based on the number of products available.</a:t>
            </a:r>
          </a:p>
          <a:p>
            <a:pPr marL="285750" indent="-285750">
              <a:buFont typeface="Arial"/>
              <a:buChar char="•"/>
            </a:pPr>
            <a:r>
              <a:rPr lang="en-GB" sz="1400">
                <a:latin typeface="Fira Sans"/>
                <a:ea typeface="+mn-lt"/>
                <a:cs typeface="+mn-lt"/>
              </a:rPr>
              <a:t>The x-axis represents the </a:t>
            </a:r>
            <a:r>
              <a:rPr lang="en-GB" sz="1400" b="1">
                <a:latin typeface="Fira Sans"/>
                <a:ea typeface="+mn-lt"/>
                <a:cs typeface="+mn-lt"/>
              </a:rPr>
              <a:t>number of products</a:t>
            </a:r>
            <a:r>
              <a:rPr lang="en-GB" sz="1400">
                <a:latin typeface="Fira Sans"/>
                <a:ea typeface="+mn-lt"/>
                <a:cs typeface="+mn-lt"/>
              </a:rPr>
              <a:t>, while the y-axis shows the </a:t>
            </a:r>
            <a:r>
              <a:rPr lang="en-GB" sz="1400" b="1">
                <a:latin typeface="Fira Sans"/>
                <a:ea typeface="+mn-lt"/>
                <a:cs typeface="+mn-lt"/>
              </a:rPr>
              <a:t>category names</a:t>
            </a:r>
            <a:r>
              <a:rPr lang="en-GB" sz="1400">
                <a:latin typeface="Fira Sans"/>
                <a:ea typeface="+mn-lt"/>
                <a:cs typeface="+mn-lt"/>
              </a:rPr>
              <a:t>.</a:t>
            </a:r>
          </a:p>
          <a:p>
            <a:pPr marL="285750" indent="-285750">
              <a:buFont typeface="Arial"/>
              <a:buChar char="•"/>
            </a:pPr>
            <a:r>
              <a:rPr lang="en-GB" sz="1400">
                <a:latin typeface="Fira Sans"/>
                <a:ea typeface="+mn-lt"/>
                <a:cs typeface="+mn-lt"/>
              </a:rPr>
              <a:t>The </a:t>
            </a:r>
            <a:r>
              <a:rPr lang="en-GB" sz="1400" b="1">
                <a:latin typeface="Fira Sans"/>
                <a:ea typeface="+mn-lt"/>
                <a:cs typeface="+mn-lt"/>
              </a:rPr>
              <a:t>most popular categories</a:t>
            </a:r>
            <a:r>
              <a:rPr lang="en-GB" sz="1400">
                <a:latin typeface="Fira Sans"/>
                <a:ea typeface="+mn-lt"/>
                <a:cs typeface="+mn-lt"/>
              </a:rPr>
              <a:t> contain a significantly higher number of products compared to others.</a:t>
            </a:r>
            <a:endParaRPr lang="en-GB" sz="1400">
              <a:latin typeface="Fira Sans"/>
              <a:ea typeface="等线" panose="02110004020202020204"/>
            </a:endParaRPr>
          </a:p>
          <a:p>
            <a:pPr marL="285750" indent="-285750">
              <a:buFont typeface="Arial"/>
              <a:buChar char="•"/>
            </a:pPr>
            <a:r>
              <a:rPr lang="en-GB" sz="1400">
                <a:latin typeface="Fira Sans"/>
                <a:ea typeface="+mn-lt"/>
                <a:cs typeface="+mn-lt"/>
              </a:rPr>
              <a:t>Some categories may be </a:t>
            </a:r>
            <a:r>
              <a:rPr lang="en-GB" sz="1400" b="1">
                <a:latin typeface="Fira Sans"/>
                <a:ea typeface="+mn-lt"/>
                <a:cs typeface="+mn-lt"/>
              </a:rPr>
              <a:t>overrepresented</a:t>
            </a:r>
            <a:r>
              <a:rPr lang="en-GB" sz="1400">
                <a:latin typeface="Fira Sans"/>
                <a:ea typeface="+mn-lt"/>
                <a:cs typeface="+mn-lt"/>
              </a:rPr>
              <a:t>, suggesting </a:t>
            </a:r>
            <a:r>
              <a:rPr lang="en-GB" sz="1400" b="1">
                <a:latin typeface="Fira Sans"/>
                <a:ea typeface="+mn-lt"/>
                <a:cs typeface="+mn-lt"/>
              </a:rPr>
              <a:t>high demand</a:t>
            </a:r>
            <a:r>
              <a:rPr lang="en-GB" sz="1400">
                <a:latin typeface="Fira Sans"/>
                <a:ea typeface="+mn-lt"/>
                <a:cs typeface="+mn-lt"/>
              </a:rPr>
              <a:t> or </a:t>
            </a:r>
            <a:r>
              <a:rPr lang="en-GB" sz="1400" b="1">
                <a:latin typeface="Fira Sans"/>
                <a:ea typeface="+mn-lt"/>
                <a:cs typeface="+mn-lt"/>
              </a:rPr>
              <a:t>wider product variety</a:t>
            </a:r>
            <a:r>
              <a:rPr lang="en-GB" sz="1400">
                <a:latin typeface="Fira Sans"/>
                <a:ea typeface="+mn-lt"/>
                <a:cs typeface="+mn-lt"/>
              </a:rPr>
              <a:t> within these groups.</a:t>
            </a:r>
            <a:endParaRPr lang="en-GB" sz="1400">
              <a:latin typeface="Fira Sans"/>
              <a:ea typeface="等线" panose="02110004020202020204"/>
            </a:endParaRPr>
          </a:p>
          <a:p>
            <a:pPr marL="285750" indent="-285750">
              <a:buFont typeface="Arial"/>
              <a:buChar char="•"/>
            </a:pPr>
            <a:endParaRPr lang="en-GB" sz="1400">
              <a:latin typeface="Fira Sans"/>
              <a:ea typeface="等线" panose="02110004020202020204"/>
            </a:endParaRPr>
          </a:p>
        </p:txBody>
      </p:sp>
      <p:sp>
        <p:nvSpPr>
          <p:cNvPr id="6" name="TextBox 5">
            <a:extLst>
              <a:ext uri="{FF2B5EF4-FFF2-40B4-BE49-F238E27FC236}">
                <a16:creationId xmlns:a16="http://schemas.microsoft.com/office/drawing/2014/main" id="{05389788-551D-84F3-B858-86BBCBA7FA24}"/>
              </a:ext>
            </a:extLst>
          </p:cNvPr>
          <p:cNvSpPr txBox="1"/>
          <p:nvPr/>
        </p:nvSpPr>
        <p:spPr>
          <a:xfrm>
            <a:off x="296574" y="187377"/>
            <a:ext cx="495008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Fira Sans"/>
                <a:ea typeface="+mn-lt"/>
                <a:cs typeface="+mn-lt"/>
              </a:rPr>
              <a:t>Top 10 Categories by Number of Products</a:t>
            </a:r>
            <a:endParaRPr lang="en-US">
              <a:latin typeface="Fira Sans"/>
            </a:endParaRPr>
          </a:p>
        </p:txBody>
      </p:sp>
    </p:spTree>
    <p:extLst>
      <p:ext uri="{BB962C8B-B14F-4D97-AF65-F5344CB8AC3E}">
        <p14:creationId xmlns:p14="http://schemas.microsoft.com/office/powerpoint/2010/main" val="3266122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showing a comparison of the average review rating&#10;&#10;AI-generated content may be incorrect.">
            <a:extLst>
              <a:ext uri="{FF2B5EF4-FFF2-40B4-BE49-F238E27FC236}">
                <a16:creationId xmlns:a16="http://schemas.microsoft.com/office/drawing/2014/main" id="{4F118EDA-8766-D7BB-963A-4798BC5C262F}"/>
              </a:ext>
            </a:extLst>
          </p:cNvPr>
          <p:cNvPicPr>
            <a:picLocks noChangeAspect="1"/>
          </p:cNvPicPr>
          <p:nvPr/>
        </p:nvPicPr>
        <p:blipFill>
          <a:blip r:embed="rId3"/>
          <a:stretch>
            <a:fillRect/>
          </a:stretch>
        </p:blipFill>
        <p:spPr>
          <a:xfrm>
            <a:off x="4271945" y="521162"/>
            <a:ext cx="4673365" cy="3888074"/>
          </a:xfrm>
          <a:prstGeom prst="rect">
            <a:avLst/>
          </a:prstGeom>
        </p:spPr>
      </p:pic>
      <p:sp>
        <p:nvSpPr>
          <p:cNvPr id="4" name="TextBox 3">
            <a:extLst>
              <a:ext uri="{FF2B5EF4-FFF2-40B4-BE49-F238E27FC236}">
                <a16:creationId xmlns:a16="http://schemas.microsoft.com/office/drawing/2014/main" id="{958C68CE-C836-1C63-A41C-193EEBCBFCA1}"/>
              </a:ext>
            </a:extLst>
          </p:cNvPr>
          <p:cNvSpPr txBox="1"/>
          <p:nvPr/>
        </p:nvSpPr>
        <p:spPr>
          <a:xfrm>
            <a:off x="318074" y="1051625"/>
            <a:ext cx="3933045"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200">
                <a:latin typeface="Fira Sans"/>
                <a:ea typeface="等线"/>
              </a:rPr>
              <a:t>The x-axis represents </a:t>
            </a:r>
            <a:r>
              <a:rPr lang="en-US" sz="1200" b="1">
                <a:latin typeface="Fira Sans"/>
                <a:ea typeface="等线"/>
              </a:rPr>
              <a:t>review ratings</a:t>
            </a:r>
            <a:r>
              <a:rPr lang="en-US" sz="1200">
                <a:latin typeface="Fira Sans"/>
                <a:ea typeface="等线"/>
              </a:rPr>
              <a:t>, while the y-axis shows the </a:t>
            </a:r>
            <a:r>
              <a:rPr lang="en-US" sz="1200" b="1">
                <a:latin typeface="Fira Sans"/>
                <a:ea typeface="等线"/>
              </a:rPr>
              <a:t>price of products</a:t>
            </a:r>
            <a:r>
              <a:rPr lang="en-US" sz="1200">
                <a:latin typeface="Fira Sans"/>
                <a:ea typeface="等线"/>
              </a:rPr>
              <a:t>.</a:t>
            </a:r>
            <a:endParaRPr lang="en-US" sz="1200">
              <a:latin typeface="Fira Sans"/>
              <a:ea typeface="等线"/>
              <a:cs typeface="+mn-lt"/>
            </a:endParaRPr>
          </a:p>
          <a:p>
            <a:pPr marL="285750" indent="-285750">
              <a:buFont typeface="Arial"/>
              <a:buChar char="•"/>
            </a:pPr>
            <a:r>
              <a:rPr lang="en-US" sz="1200">
                <a:latin typeface="Fira Sans"/>
                <a:ea typeface="+mn-lt"/>
                <a:cs typeface="+mn-lt"/>
              </a:rPr>
              <a:t>The majority of ratings are clustered around </a:t>
            </a:r>
            <a:r>
              <a:rPr lang="en-US" sz="1200" b="1">
                <a:latin typeface="Fira Sans"/>
                <a:ea typeface="+mn-lt"/>
                <a:cs typeface="+mn-lt"/>
              </a:rPr>
              <a:t>4.0 to 5.0</a:t>
            </a:r>
            <a:r>
              <a:rPr lang="en-US" sz="1200">
                <a:latin typeface="Fira Sans"/>
                <a:ea typeface="+mn-lt"/>
                <a:cs typeface="+mn-lt"/>
              </a:rPr>
              <a:t>, with very few products rated below </a:t>
            </a:r>
            <a:r>
              <a:rPr lang="en-US" sz="1200" b="1">
                <a:latin typeface="Fira Sans"/>
                <a:ea typeface="+mn-lt"/>
                <a:cs typeface="+mn-lt"/>
              </a:rPr>
              <a:t>3.5</a:t>
            </a:r>
            <a:r>
              <a:rPr lang="en-US" sz="1200">
                <a:latin typeface="Fira Sans"/>
                <a:ea typeface="+mn-lt"/>
                <a:cs typeface="+mn-lt"/>
              </a:rPr>
              <a:t>.</a:t>
            </a:r>
          </a:p>
          <a:p>
            <a:pPr marL="285750" indent="-285750">
              <a:buFont typeface="Arial"/>
              <a:buChar char="•"/>
            </a:pPr>
            <a:r>
              <a:rPr lang="en-US" sz="1200">
                <a:latin typeface="Fira Sans"/>
                <a:ea typeface="+mn-lt"/>
                <a:cs typeface="+mn-lt"/>
              </a:rPr>
              <a:t>The </a:t>
            </a:r>
            <a:r>
              <a:rPr lang="en-US" sz="1200" b="1">
                <a:latin typeface="Fira Sans"/>
                <a:ea typeface="+mn-lt"/>
                <a:cs typeface="+mn-lt"/>
              </a:rPr>
              <a:t>regression line is nearly flat</a:t>
            </a:r>
            <a:r>
              <a:rPr lang="en-US" sz="1200">
                <a:latin typeface="Fira Sans"/>
                <a:ea typeface="+mn-lt"/>
                <a:cs typeface="+mn-lt"/>
              </a:rPr>
              <a:t>, suggesting a </a:t>
            </a:r>
            <a:r>
              <a:rPr lang="en-US" sz="1200" b="1">
                <a:latin typeface="Fira Sans"/>
                <a:ea typeface="+mn-lt"/>
                <a:cs typeface="+mn-lt"/>
              </a:rPr>
              <a:t>weak or no correlation</a:t>
            </a:r>
            <a:r>
              <a:rPr lang="en-US" sz="1200">
                <a:latin typeface="Fira Sans"/>
                <a:ea typeface="+mn-lt"/>
                <a:cs typeface="+mn-lt"/>
              </a:rPr>
              <a:t> between price and average review rating.</a:t>
            </a:r>
            <a:endParaRPr lang="en-US" sz="1200">
              <a:latin typeface="Fira Sans"/>
              <a:ea typeface="等线"/>
            </a:endParaRPr>
          </a:p>
          <a:p>
            <a:pPr marL="285750" indent="-285750">
              <a:buFont typeface="Arial"/>
              <a:buChar char="•"/>
            </a:pPr>
            <a:r>
              <a:rPr lang="en-US" sz="1200">
                <a:latin typeface="Fira Sans"/>
                <a:ea typeface="+mn-lt"/>
                <a:cs typeface="+mn-lt"/>
              </a:rPr>
              <a:t>Products of varying prices, from </a:t>
            </a:r>
            <a:r>
              <a:rPr lang="en-US" sz="1200" b="1">
                <a:latin typeface="Fira Sans"/>
                <a:ea typeface="+mn-lt"/>
                <a:cs typeface="+mn-lt"/>
              </a:rPr>
              <a:t>low-cost to high-cost items</a:t>
            </a:r>
            <a:r>
              <a:rPr lang="en-US" sz="1200">
                <a:latin typeface="Fira Sans"/>
                <a:ea typeface="+mn-lt"/>
                <a:cs typeface="+mn-lt"/>
              </a:rPr>
              <a:t>, receive similar ratings, indicating that </a:t>
            </a:r>
            <a:r>
              <a:rPr lang="en-US" sz="1200" b="1">
                <a:latin typeface="Fira Sans"/>
                <a:ea typeface="+mn-lt"/>
                <a:cs typeface="+mn-lt"/>
              </a:rPr>
              <a:t>price does not heavily influence customer satisfaction</a:t>
            </a:r>
            <a:r>
              <a:rPr lang="en-US" sz="1200">
                <a:latin typeface="Fira Sans"/>
                <a:ea typeface="+mn-lt"/>
                <a:cs typeface="+mn-lt"/>
              </a:rPr>
              <a:t>.</a:t>
            </a:r>
          </a:p>
          <a:p>
            <a:pPr marL="285750" indent="-285750">
              <a:buFont typeface="Arial"/>
              <a:buChar char="•"/>
            </a:pPr>
            <a:r>
              <a:rPr lang="en-US" sz="1200">
                <a:latin typeface="Fira Sans"/>
                <a:ea typeface="+mn-lt"/>
                <a:cs typeface="+mn-lt"/>
              </a:rPr>
              <a:t>A notable pattern is the </a:t>
            </a:r>
            <a:r>
              <a:rPr lang="en-US" sz="1200" b="1">
                <a:latin typeface="Fira Sans"/>
                <a:ea typeface="+mn-lt"/>
                <a:cs typeface="+mn-lt"/>
              </a:rPr>
              <a:t>vertical stacking of data points at discrete rating values</a:t>
            </a:r>
            <a:r>
              <a:rPr lang="en-US" sz="1200">
                <a:latin typeface="Fira Sans"/>
                <a:ea typeface="+mn-lt"/>
                <a:cs typeface="+mn-lt"/>
              </a:rPr>
              <a:t> (e.g., 4.0, 4.5, 5.0), which suggests a possible rounding effect in how ratings are given.</a:t>
            </a:r>
            <a:endParaRPr lang="en-US" sz="1200">
              <a:latin typeface="Fira Sans"/>
              <a:ea typeface="等线"/>
            </a:endParaRPr>
          </a:p>
          <a:p>
            <a:pPr marL="285750" indent="-285750">
              <a:buFont typeface="Arial"/>
              <a:buChar char="•"/>
            </a:pPr>
            <a:endParaRPr lang="en-US" sz="1200">
              <a:latin typeface="Fira Sans"/>
              <a:ea typeface="等线"/>
            </a:endParaRPr>
          </a:p>
        </p:txBody>
      </p:sp>
      <p:sp>
        <p:nvSpPr>
          <p:cNvPr id="5" name="TextBox 4">
            <a:extLst>
              <a:ext uri="{FF2B5EF4-FFF2-40B4-BE49-F238E27FC236}">
                <a16:creationId xmlns:a16="http://schemas.microsoft.com/office/drawing/2014/main" id="{E60EDC13-2994-FB75-30F2-4BE0C79D39E4}"/>
              </a:ext>
            </a:extLst>
          </p:cNvPr>
          <p:cNvSpPr txBox="1"/>
          <p:nvPr/>
        </p:nvSpPr>
        <p:spPr>
          <a:xfrm>
            <a:off x="440336" y="149901"/>
            <a:ext cx="38318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Fira Sans"/>
                <a:ea typeface="等线"/>
              </a:rPr>
              <a:t>Price vs Average Review Rating</a:t>
            </a:r>
            <a:endParaRPr lang="en-GB">
              <a:latin typeface="Fira Sans"/>
            </a:endParaRPr>
          </a:p>
        </p:txBody>
      </p:sp>
    </p:spTree>
    <p:extLst>
      <p:ext uri="{BB962C8B-B14F-4D97-AF65-F5344CB8AC3E}">
        <p14:creationId xmlns:p14="http://schemas.microsoft.com/office/powerpoint/2010/main" val="19336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graph&#10;&#10;AI-generated content may be incorrect.">
            <a:extLst>
              <a:ext uri="{FF2B5EF4-FFF2-40B4-BE49-F238E27FC236}">
                <a16:creationId xmlns:a16="http://schemas.microsoft.com/office/drawing/2014/main" id="{10806FF7-097C-810A-60ED-6B171F24326C}"/>
              </a:ext>
            </a:extLst>
          </p:cNvPr>
          <p:cNvPicPr>
            <a:picLocks noChangeAspect="1"/>
          </p:cNvPicPr>
          <p:nvPr/>
        </p:nvPicPr>
        <p:blipFill>
          <a:blip r:embed="rId3"/>
          <a:stretch>
            <a:fillRect/>
          </a:stretch>
        </p:blipFill>
        <p:spPr>
          <a:xfrm>
            <a:off x="5216568" y="760624"/>
            <a:ext cx="3745696" cy="3756908"/>
          </a:xfrm>
          <a:prstGeom prst="rect">
            <a:avLst/>
          </a:prstGeom>
        </p:spPr>
      </p:pic>
      <p:sp>
        <p:nvSpPr>
          <p:cNvPr id="3" name="TextBox 2">
            <a:extLst>
              <a:ext uri="{FF2B5EF4-FFF2-40B4-BE49-F238E27FC236}">
                <a16:creationId xmlns:a16="http://schemas.microsoft.com/office/drawing/2014/main" id="{05EA4DAA-25D0-6A27-9F41-C70A650BFE29}"/>
              </a:ext>
            </a:extLst>
          </p:cNvPr>
          <p:cNvSpPr txBox="1"/>
          <p:nvPr/>
        </p:nvSpPr>
        <p:spPr>
          <a:xfrm>
            <a:off x="278524" y="1348585"/>
            <a:ext cx="4740639"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200" b="1">
                <a:latin typeface="Fira Sans"/>
                <a:ea typeface="+mn-lt"/>
                <a:cs typeface="+mn-lt"/>
              </a:rPr>
              <a:t>Price and Average Review Rating (0.02)</a:t>
            </a:r>
            <a:r>
              <a:rPr lang="en-GB" sz="1200">
                <a:latin typeface="Fira Sans"/>
                <a:ea typeface="+mn-lt"/>
                <a:cs typeface="+mn-lt"/>
              </a:rPr>
              <a:t>:</a:t>
            </a:r>
            <a:endParaRPr lang="en-US" sz="1200">
              <a:latin typeface="Fira Sans"/>
              <a:ea typeface="等线"/>
            </a:endParaRPr>
          </a:p>
          <a:p>
            <a:pPr marL="285750" indent="-285750">
              <a:buFont typeface="Arial"/>
              <a:buChar char="•"/>
            </a:pPr>
            <a:r>
              <a:rPr lang="en-GB" sz="1200">
                <a:latin typeface="Fira Sans"/>
                <a:ea typeface="+mn-lt"/>
                <a:cs typeface="+mn-lt"/>
              </a:rPr>
              <a:t>A near-zero correlation, confirming that </a:t>
            </a:r>
            <a:r>
              <a:rPr lang="en-GB" sz="1200" b="1">
                <a:latin typeface="Fira Sans"/>
                <a:ea typeface="+mn-lt"/>
                <a:cs typeface="+mn-lt"/>
              </a:rPr>
              <a:t>higher prices do not lead to better ratings</a:t>
            </a:r>
            <a:r>
              <a:rPr lang="en-GB" sz="1200">
                <a:latin typeface="Fira Sans"/>
                <a:ea typeface="+mn-lt"/>
                <a:cs typeface="+mn-lt"/>
              </a:rPr>
              <a:t>.</a:t>
            </a:r>
            <a:endParaRPr lang="en-GB" sz="1200">
              <a:latin typeface="Fira Sans"/>
              <a:ea typeface="等线"/>
            </a:endParaRPr>
          </a:p>
          <a:p>
            <a:pPr marL="285750" indent="-285750">
              <a:buFont typeface="Arial"/>
              <a:buChar char="•"/>
            </a:pPr>
            <a:r>
              <a:rPr lang="en-GB" sz="1200" b="1">
                <a:latin typeface="Fira Sans"/>
                <a:ea typeface="+mn-lt"/>
                <a:cs typeface="+mn-lt"/>
              </a:rPr>
              <a:t>Number of Reviews and Average Review Rating (-0.10)</a:t>
            </a:r>
            <a:r>
              <a:rPr lang="en-GB" sz="1200">
                <a:latin typeface="Fira Sans"/>
                <a:ea typeface="+mn-lt"/>
                <a:cs typeface="+mn-lt"/>
              </a:rPr>
              <a:t>:</a:t>
            </a:r>
            <a:endParaRPr lang="en-GB" sz="1200">
              <a:latin typeface="Fira Sans"/>
              <a:ea typeface="等线"/>
            </a:endParaRPr>
          </a:p>
          <a:p>
            <a:pPr marL="285750" indent="-285750">
              <a:buFont typeface="Arial"/>
              <a:buChar char="•"/>
            </a:pPr>
            <a:r>
              <a:rPr lang="en-GB" sz="1200">
                <a:latin typeface="Fira Sans"/>
                <a:ea typeface="+mn-lt"/>
                <a:cs typeface="+mn-lt"/>
              </a:rPr>
              <a:t>A slight </a:t>
            </a:r>
            <a:r>
              <a:rPr lang="en-GB" sz="1200" b="1">
                <a:latin typeface="Fira Sans"/>
                <a:ea typeface="+mn-lt"/>
                <a:cs typeface="+mn-lt"/>
              </a:rPr>
              <a:t>negative correlation</a:t>
            </a:r>
            <a:r>
              <a:rPr lang="en-GB" sz="1200">
                <a:latin typeface="Fira Sans"/>
                <a:ea typeface="+mn-lt"/>
                <a:cs typeface="+mn-lt"/>
              </a:rPr>
              <a:t>, meaning products with more reviews tend to have </a:t>
            </a:r>
            <a:r>
              <a:rPr lang="en-GB" sz="1200" b="1">
                <a:latin typeface="Fira Sans"/>
                <a:ea typeface="+mn-lt"/>
                <a:cs typeface="+mn-lt"/>
              </a:rPr>
              <a:t>slightly lower ratings</a:t>
            </a:r>
            <a:r>
              <a:rPr lang="en-GB" sz="1200">
                <a:latin typeface="Fira Sans"/>
                <a:ea typeface="+mn-lt"/>
                <a:cs typeface="+mn-lt"/>
              </a:rPr>
              <a:t>.</a:t>
            </a:r>
            <a:endParaRPr lang="en-GB" sz="1200">
              <a:latin typeface="Fira Sans"/>
              <a:ea typeface="等线"/>
            </a:endParaRPr>
          </a:p>
          <a:p>
            <a:pPr marL="285750" indent="-285750">
              <a:buFont typeface="Arial"/>
              <a:buChar char="•"/>
            </a:pPr>
            <a:r>
              <a:rPr lang="en-GB" sz="1200">
                <a:latin typeface="Fira Sans"/>
                <a:ea typeface="+mn-lt"/>
                <a:cs typeface="+mn-lt"/>
              </a:rPr>
              <a:t>This could be due to </a:t>
            </a:r>
            <a:r>
              <a:rPr lang="en-GB" sz="1200" b="1">
                <a:latin typeface="Fira Sans"/>
                <a:ea typeface="+mn-lt"/>
                <a:cs typeface="+mn-lt"/>
              </a:rPr>
              <a:t>higher exposure</a:t>
            </a:r>
            <a:r>
              <a:rPr lang="en-GB" sz="1200">
                <a:latin typeface="Fira Sans"/>
                <a:ea typeface="+mn-lt"/>
                <a:cs typeface="+mn-lt"/>
              </a:rPr>
              <a:t>, attracting both </a:t>
            </a:r>
            <a:r>
              <a:rPr lang="en-GB" sz="1200" b="1">
                <a:latin typeface="Fira Sans"/>
                <a:ea typeface="+mn-lt"/>
                <a:cs typeface="+mn-lt"/>
              </a:rPr>
              <a:t>positive and negative feedback</a:t>
            </a:r>
            <a:r>
              <a:rPr lang="en-GB" sz="1200">
                <a:latin typeface="Fira Sans"/>
                <a:ea typeface="+mn-lt"/>
                <a:cs typeface="+mn-lt"/>
              </a:rPr>
              <a:t>.</a:t>
            </a:r>
            <a:endParaRPr lang="en-GB" sz="1200">
              <a:latin typeface="Fira Sans"/>
              <a:ea typeface="等线"/>
            </a:endParaRPr>
          </a:p>
          <a:p>
            <a:pPr marL="285750" indent="-285750">
              <a:buFont typeface="Arial"/>
              <a:buChar char="•"/>
            </a:pPr>
            <a:r>
              <a:rPr lang="en-GB" sz="1200" b="1">
                <a:latin typeface="Fira Sans"/>
                <a:ea typeface="+mn-lt"/>
                <a:cs typeface="+mn-lt"/>
              </a:rPr>
              <a:t>Price and Number of Reviews (-0.01)</a:t>
            </a:r>
            <a:r>
              <a:rPr lang="en-GB" sz="1200">
                <a:latin typeface="Fira Sans"/>
                <a:ea typeface="+mn-lt"/>
                <a:cs typeface="+mn-lt"/>
              </a:rPr>
              <a:t>:</a:t>
            </a:r>
            <a:endParaRPr lang="en-GB" sz="1200">
              <a:latin typeface="Fira Sans"/>
              <a:ea typeface="等线"/>
            </a:endParaRPr>
          </a:p>
          <a:p>
            <a:pPr marL="285750" indent="-285750">
              <a:buFont typeface="Arial"/>
              <a:buChar char="•"/>
            </a:pPr>
            <a:r>
              <a:rPr lang="en-GB" sz="1200">
                <a:latin typeface="Fira Sans"/>
                <a:ea typeface="+mn-lt"/>
                <a:cs typeface="+mn-lt"/>
              </a:rPr>
              <a:t>Almost no correlation, suggesting </a:t>
            </a:r>
            <a:r>
              <a:rPr lang="en-GB" sz="1200" b="1">
                <a:latin typeface="Fira Sans"/>
                <a:ea typeface="+mn-lt"/>
                <a:cs typeface="+mn-lt"/>
              </a:rPr>
              <a:t>price does not impact the number of reviews</a:t>
            </a:r>
            <a:r>
              <a:rPr lang="en-GB" sz="1200">
                <a:latin typeface="Fira Sans"/>
                <a:ea typeface="+mn-lt"/>
                <a:cs typeface="+mn-lt"/>
              </a:rPr>
              <a:t> a product receives.</a:t>
            </a:r>
            <a:endParaRPr lang="en-GB" sz="1200">
              <a:latin typeface="Fira Sans"/>
              <a:ea typeface="等线"/>
            </a:endParaRPr>
          </a:p>
          <a:p>
            <a:pPr marL="285750" indent="-285750">
              <a:buFont typeface="Arial"/>
              <a:buChar char="•"/>
            </a:pPr>
            <a:r>
              <a:rPr lang="en-GB" sz="1200" b="1">
                <a:latin typeface="Fira Sans"/>
                <a:ea typeface="+mn-lt"/>
                <a:cs typeface="+mn-lt"/>
              </a:rPr>
              <a:t>Highly reviewed products</a:t>
            </a:r>
            <a:r>
              <a:rPr lang="en-GB" sz="1200">
                <a:latin typeface="Fira Sans"/>
                <a:ea typeface="+mn-lt"/>
                <a:cs typeface="+mn-lt"/>
              </a:rPr>
              <a:t> may receive more criticism, leading to </a:t>
            </a:r>
            <a:r>
              <a:rPr lang="en-GB" sz="1200" b="1">
                <a:latin typeface="Fira Sans"/>
                <a:ea typeface="+mn-lt"/>
                <a:cs typeface="+mn-lt"/>
              </a:rPr>
              <a:t>slightly lower ratings</a:t>
            </a:r>
            <a:r>
              <a:rPr lang="en-GB" sz="1200">
                <a:latin typeface="Fira Sans"/>
                <a:ea typeface="+mn-lt"/>
                <a:cs typeface="+mn-lt"/>
              </a:rPr>
              <a:t>.</a:t>
            </a:r>
          </a:p>
          <a:p>
            <a:pPr marL="285750" indent="-285750">
              <a:buFont typeface="Arial"/>
              <a:buChar char="•"/>
            </a:pPr>
            <a:r>
              <a:rPr lang="en-GB" sz="1200" b="1">
                <a:latin typeface="Fira Sans"/>
                <a:ea typeface="+mn-lt"/>
                <a:cs typeface="+mn-lt"/>
              </a:rPr>
              <a:t>Product quality and customer experience</a:t>
            </a:r>
            <a:r>
              <a:rPr lang="en-GB" sz="1200">
                <a:latin typeface="Fira Sans"/>
                <a:ea typeface="+mn-lt"/>
                <a:cs typeface="+mn-lt"/>
              </a:rPr>
              <a:t> matter more for ratings than pricing.</a:t>
            </a:r>
          </a:p>
          <a:p>
            <a:endParaRPr lang="en-GB" sz="1200">
              <a:latin typeface="Fira Sans"/>
              <a:ea typeface="等线"/>
            </a:endParaRPr>
          </a:p>
        </p:txBody>
      </p:sp>
      <p:sp>
        <p:nvSpPr>
          <p:cNvPr id="4" name="TextBox 3">
            <a:extLst>
              <a:ext uri="{FF2B5EF4-FFF2-40B4-BE49-F238E27FC236}">
                <a16:creationId xmlns:a16="http://schemas.microsoft.com/office/drawing/2014/main" id="{813530F6-BF71-103D-48E8-21834A9ED0C0}"/>
              </a:ext>
            </a:extLst>
          </p:cNvPr>
          <p:cNvSpPr txBox="1"/>
          <p:nvPr/>
        </p:nvSpPr>
        <p:spPr>
          <a:xfrm>
            <a:off x="459073" y="327909"/>
            <a:ext cx="373629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Fira Sans"/>
                <a:ea typeface="+mn-lt"/>
                <a:cs typeface="+mn-lt"/>
              </a:rPr>
              <a:t>Correlation Matrix of Key Features</a:t>
            </a:r>
            <a:endParaRPr lang="en-US">
              <a:latin typeface="Fira Sans"/>
            </a:endParaRPr>
          </a:p>
        </p:txBody>
      </p:sp>
    </p:spTree>
    <p:extLst>
      <p:ext uri="{BB962C8B-B14F-4D97-AF65-F5344CB8AC3E}">
        <p14:creationId xmlns:p14="http://schemas.microsoft.com/office/powerpoint/2010/main" val="4128223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6">
          <a:extLst>
            <a:ext uri="{FF2B5EF4-FFF2-40B4-BE49-F238E27FC236}">
              <a16:creationId xmlns:a16="http://schemas.microsoft.com/office/drawing/2014/main" id="{B8055CAA-F55E-ABA6-6E8A-2D0262DD0B71}"/>
            </a:ext>
          </a:extLst>
        </p:cNvPr>
        <p:cNvGrpSpPr/>
        <p:nvPr/>
      </p:nvGrpSpPr>
      <p:grpSpPr>
        <a:xfrm>
          <a:off x="0" y="0"/>
          <a:ext cx="0" cy="0"/>
          <a:chOff x="0" y="0"/>
          <a:chExt cx="0" cy="0"/>
        </a:xfrm>
      </p:grpSpPr>
      <p:grpSp>
        <p:nvGrpSpPr>
          <p:cNvPr id="317" name="Google Shape;317;p15">
            <a:extLst>
              <a:ext uri="{FF2B5EF4-FFF2-40B4-BE49-F238E27FC236}">
                <a16:creationId xmlns:a16="http://schemas.microsoft.com/office/drawing/2014/main" id="{E6B9A36C-0CFC-8697-A2EF-868AFD8A8F5B}"/>
              </a:ext>
            </a:extLst>
          </p:cNvPr>
          <p:cNvGrpSpPr/>
          <p:nvPr/>
        </p:nvGrpSpPr>
        <p:grpSpPr>
          <a:xfrm>
            <a:off x="1599227" y="1185560"/>
            <a:ext cx="7092027" cy="3553375"/>
            <a:chOff x="1595125" y="1508875"/>
            <a:chExt cx="5455825" cy="2733575"/>
          </a:xfrm>
        </p:grpSpPr>
        <p:sp>
          <p:nvSpPr>
            <p:cNvPr id="318" name="Google Shape;318;p15">
              <a:extLst>
                <a:ext uri="{FF2B5EF4-FFF2-40B4-BE49-F238E27FC236}">
                  <a16:creationId xmlns:a16="http://schemas.microsoft.com/office/drawing/2014/main" id="{400E7BB9-6888-B7B7-C6D2-4009DC270CB6}"/>
                </a:ext>
              </a:extLst>
            </p:cNvPr>
            <p:cNvSpPr/>
            <p:nvPr/>
          </p:nvSpPr>
          <p:spPr>
            <a:xfrm>
              <a:off x="4369350" y="2513175"/>
              <a:ext cx="2681600" cy="724925"/>
            </a:xfrm>
            <a:custGeom>
              <a:avLst/>
              <a:gdLst/>
              <a:ahLst/>
              <a:cxnLst/>
              <a:rect l="l" t="t" r="r" b="b"/>
              <a:pathLst>
                <a:path w="107264" h="28997" extrusionOk="0">
                  <a:moveTo>
                    <a:pt x="52173" y="0"/>
                  </a:moveTo>
                  <a:cubicBezTo>
                    <a:pt x="28601" y="0"/>
                    <a:pt x="4999" y="635"/>
                    <a:pt x="3325" y="2293"/>
                  </a:cubicBezTo>
                  <a:cubicBezTo>
                    <a:pt x="0" y="5618"/>
                    <a:pt x="5162" y="27374"/>
                    <a:pt x="6936" y="27913"/>
                  </a:cubicBezTo>
                  <a:cubicBezTo>
                    <a:pt x="9502" y="28707"/>
                    <a:pt x="23688" y="28997"/>
                    <a:pt x="40484" y="28997"/>
                  </a:cubicBezTo>
                  <a:cubicBezTo>
                    <a:pt x="67222" y="28997"/>
                    <a:pt x="100574" y="28262"/>
                    <a:pt x="104191" y="27659"/>
                  </a:cubicBezTo>
                  <a:cubicBezTo>
                    <a:pt x="107263" y="27153"/>
                    <a:pt x="103431" y="3338"/>
                    <a:pt x="100866" y="1532"/>
                  </a:cubicBezTo>
                  <a:cubicBezTo>
                    <a:pt x="99580" y="643"/>
                    <a:pt x="75891" y="0"/>
                    <a:pt x="52173"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5">
              <a:extLst>
                <a:ext uri="{FF2B5EF4-FFF2-40B4-BE49-F238E27FC236}">
                  <a16:creationId xmlns:a16="http://schemas.microsoft.com/office/drawing/2014/main" id="{6DCFC33B-394F-1829-0845-7361267E4C54}"/>
                </a:ext>
              </a:extLst>
            </p:cNvPr>
            <p:cNvSpPr/>
            <p:nvPr/>
          </p:nvSpPr>
          <p:spPr>
            <a:xfrm>
              <a:off x="6560850" y="2534850"/>
              <a:ext cx="490100" cy="688025"/>
            </a:xfrm>
            <a:custGeom>
              <a:avLst/>
              <a:gdLst/>
              <a:ahLst/>
              <a:cxnLst/>
              <a:rect l="l" t="t" r="r" b="b"/>
              <a:pathLst>
                <a:path w="19604" h="27521" extrusionOk="0">
                  <a:moveTo>
                    <a:pt x="8392" y="0"/>
                  </a:moveTo>
                  <a:cubicBezTo>
                    <a:pt x="6682" y="6113"/>
                    <a:pt x="4371" y="22137"/>
                    <a:pt x="0" y="27521"/>
                  </a:cubicBezTo>
                  <a:cubicBezTo>
                    <a:pt x="8551" y="27299"/>
                    <a:pt x="14916" y="26982"/>
                    <a:pt x="16531" y="26729"/>
                  </a:cubicBezTo>
                  <a:cubicBezTo>
                    <a:pt x="19603" y="26222"/>
                    <a:pt x="15771" y="2439"/>
                    <a:pt x="13206" y="665"/>
                  </a:cubicBezTo>
                  <a:cubicBezTo>
                    <a:pt x="12858" y="412"/>
                    <a:pt x="11116" y="190"/>
                    <a:pt x="8392"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5">
              <a:extLst>
                <a:ext uri="{FF2B5EF4-FFF2-40B4-BE49-F238E27FC236}">
                  <a16:creationId xmlns:a16="http://schemas.microsoft.com/office/drawing/2014/main" id="{1A96704A-19C9-20ED-F95E-4DCD41C93D7C}"/>
                </a:ext>
              </a:extLst>
            </p:cNvPr>
            <p:cNvSpPr/>
            <p:nvPr/>
          </p:nvSpPr>
          <p:spPr>
            <a:xfrm>
              <a:off x="4177750" y="1508875"/>
              <a:ext cx="2681600" cy="724925"/>
            </a:xfrm>
            <a:custGeom>
              <a:avLst/>
              <a:gdLst/>
              <a:ahLst/>
              <a:cxnLst/>
              <a:rect l="l" t="t" r="r" b="b"/>
              <a:pathLst>
                <a:path w="107264" h="28997" extrusionOk="0">
                  <a:moveTo>
                    <a:pt x="52586" y="0"/>
                  </a:moveTo>
                  <a:cubicBezTo>
                    <a:pt x="28872" y="0"/>
                    <a:pt x="4993" y="641"/>
                    <a:pt x="3326" y="2308"/>
                  </a:cubicBezTo>
                  <a:cubicBezTo>
                    <a:pt x="0" y="5634"/>
                    <a:pt x="5131" y="27358"/>
                    <a:pt x="6936" y="27929"/>
                  </a:cubicBezTo>
                  <a:cubicBezTo>
                    <a:pt x="9499" y="28710"/>
                    <a:pt x="23652" y="28997"/>
                    <a:pt x="40420" y="28997"/>
                  </a:cubicBezTo>
                  <a:cubicBezTo>
                    <a:pt x="67160" y="28997"/>
                    <a:pt x="100552" y="28266"/>
                    <a:pt x="104192" y="27643"/>
                  </a:cubicBezTo>
                  <a:cubicBezTo>
                    <a:pt x="107263" y="27137"/>
                    <a:pt x="103400" y="3322"/>
                    <a:pt x="100835" y="1517"/>
                  </a:cubicBezTo>
                  <a:cubicBezTo>
                    <a:pt x="99556" y="633"/>
                    <a:pt x="76152" y="0"/>
                    <a:pt x="52586"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5">
              <a:extLst>
                <a:ext uri="{FF2B5EF4-FFF2-40B4-BE49-F238E27FC236}">
                  <a16:creationId xmlns:a16="http://schemas.microsoft.com/office/drawing/2014/main" id="{B8601552-3F07-AAB9-5254-2C9D50194A4E}"/>
                </a:ext>
              </a:extLst>
            </p:cNvPr>
            <p:cNvSpPr/>
            <p:nvPr/>
          </p:nvSpPr>
          <p:spPr>
            <a:xfrm>
              <a:off x="4245825" y="3517575"/>
              <a:ext cx="2681600" cy="724875"/>
            </a:xfrm>
            <a:custGeom>
              <a:avLst/>
              <a:gdLst/>
              <a:ahLst/>
              <a:cxnLst/>
              <a:rect l="l" t="t" r="r" b="b"/>
              <a:pathLst>
                <a:path w="107264" h="28995" extrusionOk="0">
                  <a:moveTo>
                    <a:pt x="52393" y="0"/>
                  </a:moveTo>
                  <a:cubicBezTo>
                    <a:pt x="28748" y="0"/>
                    <a:pt x="5005" y="642"/>
                    <a:pt x="3326" y="2304"/>
                  </a:cubicBezTo>
                  <a:cubicBezTo>
                    <a:pt x="1" y="5630"/>
                    <a:pt x="5163" y="27354"/>
                    <a:pt x="6936" y="27924"/>
                  </a:cubicBezTo>
                  <a:cubicBezTo>
                    <a:pt x="9508" y="28708"/>
                    <a:pt x="23747" y="28995"/>
                    <a:pt x="40589" y="28995"/>
                  </a:cubicBezTo>
                  <a:cubicBezTo>
                    <a:pt x="67309" y="28995"/>
                    <a:pt x="100579" y="28273"/>
                    <a:pt x="104192" y="27671"/>
                  </a:cubicBezTo>
                  <a:cubicBezTo>
                    <a:pt x="107264" y="27133"/>
                    <a:pt x="103432" y="3318"/>
                    <a:pt x="100867" y="1544"/>
                  </a:cubicBezTo>
                  <a:cubicBezTo>
                    <a:pt x="99584" y="642"/>
                    <a:pt x="76038" y="0"/>
                    <a:pt x="52393"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5">
              <a:extLst>
                <a:ext uri="{FF2B5EF4-FFF2-40B4-BE49-F238E27FC236}">
                  <a16:creationId xmlns:a16="http://schemas.microsoft.com/office/drawing/2014/main" id="{BB75BFC3-3B1D-66B4-E53A-D7693FE17476}"/>
                </a:ext>
              </a:extLst>
            </p:cNvPr>
            <p:cNvSpPr/>
            <p:nvPr/>
          </p:nvSpPr>
          <p:spPr>
            <a:xfrm>
              <a:off x="6437325" y="3538750"/>
              <a:ext cx="490100" cy="688825"/>
            </a:xfrm>
            <a:custGeom>
              <a:avLst/>
              <a:gdLst/>
              <a:ahLst/>
              <a:cxnLst/>
              <a:rect l="l" t="t" r="r" b="b"/>
              <a:pathLst>
                <a:path w="19604" h="27553" extrusionOk="0">
                  <a:moveTo>
                    <a:pt x="8393" y="1"/>
                  </a:moveTo>
                  <a:cubicBezTo>
                    <a:pt x="6683" y="6113"/>
                    <a:pt x="4371" y="22137"/>
                    <a:pt x="1" y="27553"/>
                  </a:cubicBezTo>
                  <a:cubicBezTo>
                    <a:pt x="8551" y="27299"/>
                    <a:pt x="14917" y="27014"/>
                    <a:pt x="16532" y="26729"/>
                  </a:cubicBezTo>
                  <a:cubicBezTo>
                    <a:pt x="19604" y="26222"/>
                    <a:pt x="15772" y="2471"/>
                    <a:pt x="13207" y="697"/>
                  </a:cubicBezTo>
                  <a:cubicBezTo>
                    <a:pt x="12858" y="444"/>
                    <a:pt x="11117" y="222"/>
                    <a:pt x="8393"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5">
              <a:extLst>
                <a:ext uri="{FF2B5EF4-FFF2-40B4-BE49-F238E27FC236}">
                  <a16:creationId xmlns:a16="http://schemas.microsoft.com/office/drawing/2014/main" id="{0093C036-8DB0-428A-8A25-1AE87851EC8A}"/>
                </a:ext>
              </a:extLst>
            </p:cNvPr>
            <p:cNvSpPr/>
            <p:nvPr/>
          </p:nvSpPr>
          <p:spPr>
            <a:xfrm>
              <a:off x="3887175" y="1628325"/>
              <a:ext cx="486150" cy="486150"/>
            </a:xfrm>
            <a:custGeom>
              <a:avLst/>
              <a:gdLst/>
              <a:ahLst/>
              <a:cxnLst/>
              <a:rect l="l" t="t" r="r" b="b"/>
              <a:pathLst>
                <a:path w="19446" h="19446" extrusionOk="0">
                  <a:moveTo>
                    <a:pt x="9723" y="1"/>
                  </a:moveTo>
                  <a:cubicBezTo>
                    <a:pt x="4371" y="1"/>
                    <a:pt x="1" y="4371"/>
                    <a:pt x="1" y="9723"/>
                  </a:cubicBezTo>
                  <a:cubicBezTo>
                    <a:pt x="1" y="15075"/>
                    <a:pt x="4371" y="19445"/>
                    <a:pt x="9723" y="19445"/>
                  </a:cubicBezTo>
                  <a:cubicBezTo>
                    <a:pt x="15075" y="19445"/>
                    <a:pt x="19446" y="15075"/>
                    <a:pt x="19446" y="9723"/>
                  </a:cubicBezTo>
                  <a:cubicBezTo>
                    <a:pt x="19446" y="4371"/>
                    <a:pt x="15075" y="1"/>
                    <a:pt x="9723" y="1"/>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5">
              <a:extLst>
                <a:ext uri="{FF2B5EF4-FFF2-40B4-BE49-F238E27FC236}">
                  <a16:creationId xmlns:a16="http://schemas.microsoft.com/office/drawing/2014/main" id="{0B02C6D4-1863-1992-0D66-8F0D74795FF2}"/>
                </a:ext>
              </a:extLst>
            </p:cNvPr>
            <p:cNvSpPr/>
            <p:nvPr/>
          </p:nvSpPr>
          <p:spPr>
            <a:xfrm>
              <a:off x="3950525" y="1768050"/>
              <a:ext cx="225650" cy="193625"/>
            </a:xfrm>
            <a:custGeom>
              <a:avLst/>
              <a:gdLst/>
              <a:ahLst/>
              <a:cxnLst/>
              <a:rect l="l" t="t" r="r" b="b"/>
              <a:pathLst>
                <a:path w="9026" h="7745" extrusionOk="0">
                  <a:moveTo>
                    <a:pt x="4845" y="0"/>
                  </a:moveTo>
                  <a:cubicBezTo>
                    <a:pt x="4606" y="0"/>
                    <a:pt x="4363" y="16"/>
                    <a:pt x="4117" y="49"/>
                  </a:cubicBezTo>
                  <a:cubicBezTo>
                    <a:pt x="1774" y="365"/>
                    <a:pt x="0" y="2075"/>
                    <a:pt x="222" y="3912"/>
                  </a:cubicBezTo>
                  <a:cubicBezTo>
                    <a:pt x="317" y="4704"/>
                    <a:pt x="760" y="5401"/>
                    <a:pt x="1457" y="5907"/>
                  </a:cubicBezTo>
                  <a:lnTo>
                    <a:pt x="1014" y="7744"/>
                  </a:lnTo>
                  <a:lnTo>
                    <a:pt x="2819" y="6541"/>
                  </a:lnTo>
                  <a:cubicBezTo>
                    <a:pt x="3225" y="6663"/>
                    <a:pt x="3657" y="6719"/>
                    <a:pt x="4115" y="6719"/>
                  </a:cubicBezTo>
                  <a:cubicBezTo>
                    <a:pt x="4372" y="6719"/>
                    <a:pt x="4636" y="6702"/>
                    <a:pt x="4909" y="6667"/>
                  </a:cubicBezTo>
                  <a:cubicBezTo>
                    <a:pt x="7284" y="6382"/>
                    <a:pt x="9026" y="4641"/>
                    <a:pt x="8804" y="2804"/>
                  </a:cubicBezTo>
                  <a:cubicBezTo>
                    <a:pt x="8634" y="1186"/>
                    <a:pt x="6911" y="0"/>
                    <a:pt x="4845"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5">
              <a:extLst>
                <a:ext uri="{FF2B5EF4-FFF2-40B4-BE49-F238E27FC236}">
                  <a16:creationId xmlns:a16="http://schemas.microsoft.com/office/drawing/2014/main" id="{587609FA-6829-831E-8FE4-15A4240B59BC}"/>
                </a:ext>
              </a:extLst>
            </p:cNvPr>
            <p:cNvSpPr/>
            <p:nvPr/>
          </p:nvSpPr>
          <p:spPr>
            <a:xfrm>
              <a:off x="4083525" y="1732100"/>
              <a:ext cx="226475" cy="200275"/>
            </a:xfrm>
            <a:custGeom>
              <a:avLst/>
              <a:gdLst/>
              <a:ahLst/>
              <a:cxnLst/>
              <a:rect l="l" t="t" r="r" b="b"/>
              <a:pathLst>
                <a:path w="9059" h="8011" extrusionOk="0">
                  <a:moveTo>
                    <a:pt x="4151" y="0"/>
                  </a:moveTo>
                  <a:cubicBezTo>
                    <a:pt x="2152" y="0"/>
                    <a:pt x="477" y="1103"/>
                    <a:pt x="254" y="2722"/>
                  </a:cubicBezTo>
                  <a:cubicBezTo>
                    <a:pt x="1" y="4558"/>
                    <a:pt x="1711" y="6300"/>
                    <a:pt x="4054" y="6680"/>
                  </a:cubicBezTo>
                  <a:cubicBezTo>
                    <a:pt x="4339" y="6716"/>
                    <a:pt x="4615" y="6734"/>
                    <a:pt x="4884" y="6734"/>
                  </a:cubicBezTo>
                  <a:cubicBezTo>
                    <a:pt x="5332" y="6734"/>
                    <a:pt x="5760" y="6684"/>
                    <a:pt x="6176" y="6585"/>
                  </a:cubicBezTo>
                  <a:lnTo>
                    <a:pt x="8108" y="8010"/>
                  </a:lnTo>
                  <a:lnTo>
                    <a:pt x="7538" y="5952"/>
                  </a:lnTo>
                  <a:cubicBezTo>
                    <a:pt x="8235" y="5477"/>
                    <a:pt x="8678" y="4812"/>
                    <a:pt x="8805" y="4020"/>
                  </a:cubicBezTo>
                  <a:cubicBezTo>
                    <a:pt x="9058" y="2183"/>
                    <a:pt x="7348" y="410"/>
                    <a:pt x="4973" y="62"/>
                  </a:cubicBezTo>
                  <a:cubicBezTo>
                    <a:pt x="4695" y="20"/>
                    <a:pt x="4420" y="0"/>
                    <a:pt x="41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5">
              <a:extLst>
                <a:ext uri="{FF2B5EF4-FFF2-40B4-BE49-F238E27FC236}">
                  <a16:creationId xmlns:a16="http://schemas.microsoft.com/office/drawing/2014/main" id="{E549EED7-DB73-B75F-F4D1-49F5CBCCB9B9}"/>
                </a:ext>
              </a:extLst>
            </p:cNvPr>
            <p:cNvSpPr/>
            <p:nvPr/>
          </p:nvSpPr>
          <p:spPr>
            <a:xfrm>
              <a:off x="4084325" y="1771625"/>
              <a:ext cx="88700" cy="119575"/>
            </a:xfrm>
            <a:custGeom>
              <a:avLst/>
              <a:gdLst/>
              <a:ahLst/>
              <a:cxnLst/>
              <a:rect l="l" t="t" r="r" b="b"/>
              <a:pathLst>
                <a:path w="3548" h="4783" extrusionOk="0">
                  <a:moveTo>
                    <a:pt x="665" y="1"/>
                  </a:moveTo>
                  <a:cubicBezTo>
                    <a:pt x="412" y="381"/>
                    <a:pt x="222" y="792"/>
                    <a:pt x="190" y="1267"/>
                  </a:cubicBezTo>
                  <a:cubicBezTo>
                    <a:pt x="0" y="2724"/>
                    <a:pt x="1140" y="4149"/>
                    <a:pt x="2819" y="4783"/>
                  </a:cubicBezTo>
                  <a:cubicBezTo>
                    <a:pt x="3294" y="4149"/>
                    <a:pt x="3547" y="3421"/>
                    <a:pt x="3452" y="2661"/>
                  </a:cubicBezTo>
                  <a:cubicBezTo>
                    <a:pt x="3294" y="1362"/>
                    <a:pt x="2186" y="349"/>
                    <a:pt x="66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5">
              <a:extLst>
                <a:ext uri="{FF2B5EF4-FFF2-40B4-BE49-F238E27FC236}">
                  <a16:creationId xmlns:a16="http://schemas.microsoft.com/office/drawing/2014/main" id="{2F934556-DDEF-6A91-5532-51FD3D9C2CB5}"/>
                </a:ext>
              </a:extLst>
            </p:cNvPr>
            <p:cNvSpPr/>
            <p:nvPr/>
          </p:nvSpPr>
          <p:spPr>
            <a:xfrm>
              <a:off x="3953675" y="3636925"/>
              <a:ext cx="485375" cy="486150"/>
            </a:xfrm>
            <a:custGeom>
              <a:avLst/>
              <a:gdLst/>
              <a:ahLst/>
              <a:cxnLst/>
              <a:rect l="l" t="t" r="r" b="b"/>
              <a:pathLst>
                <a:path w="19415" h="19446" extrusionOk="0">
                  <a:moveTo>
                    <a:pt x="9723" y="1"/>
                  </a:moveTo>
                  <a:cubicBezTo>
                    <a:pt x="4340" y="1"/>
                    <a:pt x="1" y="4371"/>
                    <a:pt x="1" y="9723"/>
                  </a:cubicBezTo>
                  <a:cubicBezTo>
                    <a:pt x="1" y="15075"/>
                    <a:pt x="4340" y="19445"/>
                    <a:pt x="9723" y="19445"/>
                  </a:cubicBezTo>
                  <a:cubicBezTo>
                    <a:pt x="15075" y="19445"/>
                    <a:pt x="19414" y="15075"/>
                    <a:pt x="19414" y="9723"/>
                  </a:cubicBezTo>
                  <a:cubicBezTo>
                    <a:pt x="19414" y="4371"/>
                    <a:pt x="15075" y="1"/>
                    <a:pt x="9723" y="1"/>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5">
              <a:extLst>
                <a:ext uri="{FF2B5EF4-FFF2-40B4-BE49-F238E27FC236}">
                  <a16:creationId xmlns:a16="http://schemas.microsoft.com/office/drawing/2014/main" id="{82F6C543-03F5-6C17-5F66-1B6499FAD7A9}"/>
                </a:ext>
              </a:extLst>
            </p:cNvPr>
            <p:cNvSpPr/>
            <p:nvPr/>
          </p:nvSpPr>
          <p:spPr>
            <a:xfrm>
              <a:off x="4063725" y="3741900"/>
              <a:ext cx="232000" cy="296800"/>
            </a:xfrm>
            <a:custGeom>
              <a:avLst/>
              <a:gdLst/>
              <a:ahLst/>
              <a:cxnLst/>
              <a:rect l="l" t="t" r="r" b="b"/>
              <a:pathLst>
                <a:path w="9280" h="11872" extrusionOk="0">
                  <a:moveTo>
                    <a:pt x="5062" y="1"/>
                  </a:moveTo>
                  <a:cubicBezTo>
                    <a:pt x="4809" y="1"/>
                    <a:pt x="4565" y="17"/>
                    <a:pt x="4340" y="45"/>
                  </a:cubicBezTo>
                  <a:cubicBezTo>
                    <a:pt x="2534" y="235"/>
                    <a:pt x="1521" y="1470"/>
                    <a:pt x="1331" y="2547"/>
                  </a:cubicBezTo>
                  <a:cubicBezTo>
                    <a:pt x="1331" y="2547"/>
                    <a:pt x="1331" y="4510"/>
                    <a:pt x="1046" y="4922"/>
                  </a:cubicBezTo>
                  <a:cubicBezTo>
                    <a:pt x="793" y="5334"/>
                    <a:pt x="1" y="6506"/>
                    <a:pt x="349" y="6696"/>
                  </a:cubicBezTo>
                  <a:cubicBezTo>
                    <a:pt x="465" y="6763"/>
                    <a:pt x="630" y="6787"/>
                    <a:pt x="805" y="6787"/>
                  </a:cubicBezTo>
                  <a:cubicBezTo>
                    <a:pt x="1203" y="6787"/>
                    <a:pt x="1648" y="6664"/>
                    <a:pt x="1648" y="6664"/>
                  </a:cubicBezTo>
                  <a:lnTo>
                    <a:pt x="1648" y="6664"/>
                  </a:lnTo>
                  <a:cubicBezTo>
                    <a:pt x="1648" y="6664"/>
                    <a:pt x="1426" y="8437"/>
                    <a:pt x="2313" y="8659"/>
                  </a:cubicBezTo>
                  <a:cubicBezTo>
                    <a:pt x="3231" y="8849"/>
                    <a:pt x="3801" y="8912"/>
                    <a:pt x="3801" y="8912"/>
                  </a:cubicBezTo>
                  <a:lnTo>
                    <a:pt x="3801" y="11509"/>
                  </a:lnTo>
                  <a:cubicBezTo>
                    <a:pt x="3801" y="11509"/>
                    <a:pt x="4579" y="11871"/>
                    <a:pt x="5584" y="11871"/>
                  </a:cubicBezTo>
                  <a:cubicBezTo>
                    <a:pt x="6124" y="11871"/>
                    <a:pt x="6730" y="11767"/>
                    <a:pt x="7316" y="11446"/>
                  </a:cubicBezTo>
                  <a:lnTo>
                    <a:pt x="7221" y="8659"/>
                  </a:lnTo>
                  <a:cubicBezTo>
                    <a:pt x="7221" y="8659"/>
                    <a:pt x="9280" y="8026"/>
                    <a:pt x="9185" y="4510"/>
                  </a:cubicBezTo>
                  <a:cubicBezTo>
                    <a:pt x="9102" y="825"/>
                    <a:pt x="6837" y="1"/>
                    <a:pt x="50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5">
              <a:extLst>
                <a:ext uri="{FF2B5EF4-FFF2-40B4-BE49-F238E27FC236}">
                  <a16:creationId xmlns:a16="http://schemas.microsoft.com/office/drawing/2014/main" id="{88911065-01A8-FEC0-B8BE-73FEB5FDF08D}"/>
                </a:ext>
              </a:extLst>
            </p:cNvPr>
            <p:cNvSpPr/>
            <p:nvPr/>
          </p:nvSpPr>
          <p:spPr>
            <a:xfrm>
              <a:off x="4109650" y="3765975"/>
              <a:ext cx="146500" cy="84750"/>
            </a:xfrm>
            <a:custGeom>
              <a:avLst/>
              <a:gdLst/>
              <a:ahLst/>
              <a:cxnLst/>
              <a:rect l="l" t="t" r="r" b="b"/>
              <a:pathLst>
                <a:path w="5860" h="3390" extrusionOk="0">
                  <a:moveTo>
                    <a:pt x="2845" y="0"/>
                  </a:moveTo>
                  <a:cubicBezTo>
                    <a:pt x="2561" y="0"/>
                    <a:pt x="731" y="54"/>
                    <a:pt x="381" y="1426"/>
                  </a:cubicBezTo>
                  <a:cubicBezTo>
                    <a:pt x="1" y="2882"/>
                    <a:pt x="1394" y="3389"/>
                    <a:pt x="2883" y="3389"/>
                  </a:cubicBezTo>
                  <a:cubicBezTo>
                    <a:pt x="4529" y="3389"/>
                    <a:pt x="5860" y="3041"/>
                    <a:pt x="5860" y="2186"/>
                  </a:cubicBezTo>
                  <a:cubicBezTo>
                    <a:pt x="5860" y="1046"/>
                    <a:pt x="5575" y="32"/>
                    <a:pt x="2883" y="1"/>
                  </a:cubicBezTo>
                  <a:cubicBezTo>
                    <a:pt x="2883" y="1"/>
                    <a:pt x="2870" y="0"/>
                    <a:pt x="2845"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5">
              <a:extLst>
                <a:ext uri="{FF2B5EF4-FFF2-40B4-BE49-F238E27FC236}">
                  <a16:creationId xmlns:a16="http://schemas.microsoft.com/office/drawing/2014/main" id="{2D28AF48-BCD4-697E-CEE4-07A75D359436}"/>
                </a:ext>
              </a:extLst>
            </p:cNvPr>
            <p:cNvSpPr/>
            <p:nvPr/>
          </p:nvSpPr>
          <p:spPr>
            <a:xfrm>
              <a:off x="4185650" y="2633025"/>
              <a:ext cx="485375" cy="485350"/>
            </a:xfrm>
            <a:custGeom>
              <a:avLst/>
              <a:gdLst/>
              <a:ahLst/>
              <a:cxnLst/>
              <a:rect l="l" t="t" r="r" b="b"/>
              <a:pathLst>
                <a:path w="19415" h="19414" extrusionOk="0">
                  <a:moveTo>
                    <a:pt x="9723" y="0"/>
                  </a:moveTo>
                  <a:cubicBezTo>
                    <a:pt x="4340" y="0"/>
                    <a:pt x="1" y="4339"/>
                    <a:pt x="1" y="9691"/>
                  </a:cubicBezTo>
                  <a:cubicBezTo>
                    <a:pt x="1" y="15075"/>
                    <a:pt x="4340" y="19413"/>
                    <a:pt x="9723" y="19413"/>
                  </a:cubicBezTo>
                  <a:cubicBezTo>
                    <a:pt x="15075" y="19413"/>
                    <a:pt x="19414" y="15075"/>
                    <a:pt x="19414" y="9691"/>
                  </a:cubicBezTo>
                  <a:cubicBezTo>
                    <a:pt x="19414" y="4339"/>
                    <a:pt x="15075" y="0"/>
                    <a:pt x="9723"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5">
              <a:extLst>
                <a:ext uri="{FF2B5EF4-FFF2-40B4-BE49-F238E27FC236}">
                  <a16:creationId xmlns:a16="http://schemas.microsoft.com/office/drawing/2014/main" id="{DA8059A7-7EB7-0679-1191-29E59FC78F0A}"/>
                </a:ext>
              </a:extLst>
            </p:cNvPr>
            <p:cNvSpPr/>
            <p:nvPr/>
          </p:nvSpPr>
          <p:spPr>
            <a:xfrm>
              <a:off x="4257700" y="2823825"/>
              <a:ext cx="200350" cy="200325"/>
            </a:xfrm>
            <a:custGeom>
              <a:avLst/>
              <a:gdLst/>
              <a:ahLst/>
              <a:cxnLst/>
              <a:rect l="l" t="t" r="r" b="b"/>
              <a:pathLst>
                <a:path w="8014" h="8013" extrusionOk="0">
                  <a:moveTo>
                    <a:pt x="3991" y="2312"/>
                  </a:moveTo>
                  <a:cubicBezTo>
                    <a:pt x="4941" y="2312"/>
                    <a:pt x="5670" y="3072"/>
                    <a:pt x="5670" y="3991"/>
                  </a:cubicBezTo>
                  <a:cubicBezTo>
                    <a:pt x="5670" y="4941"/>
                    <a:pt x="4941" y="5669"/>
                    <a:pt x="3991" y="5669"/>
                  </a:cubicBezTo>
                  <a:cubicBezTo>
                    <a:pt x="3073" y="5669"/>
                    <a:pt x="2313" y="4909"/>
                    <a:pt x="2313" y="3991"/>
                  </a:cubicBezTo>
                  <a:cubicBezTo>
                    <a:pt x="2313" y="3072"/>
                    <a:pt x="3073" y="2312"/>
                    <a:pt x="3991" y="2312"/>
                  </a:cubicBezTo>
                  <a:close/>
                  <a:moveTo>
                    <a:pt x="3769" y="1"/>
                  </a:moveTo>
                  <a:cubicBezTo>
                    <a:pt x="3579" y="1"/>
                    <a:pt x="3453" y="127"/>
                    <a:pt x="3453" y="317"/>
                  </a:cubicBezTo>
                  <a:lnTo>
                    <a:pt x="3453" y="1489"/>
                  </a:lnTo>
                  <a:cubicBezTo>
                    <a:pt x="3136" y="1584"/>
                    <a:pt x="2883" y="1679"/>
                    <a:pt x="2629" y="1837"/>
                  </a:cubicBezTo>
                  <a:lnTo>
                    <a:pt x="1806" y="1014"/>
                  </a:lnTo>
                  <a:cubicBezTo>
                    <a:pt x="1743" y="951"/>
                    <a:pt x="1656" y="919"/>
                    <a:pt x="1568" y="919"/>
                  </a:cubicBezTo>
                  <a:cubicBezTo>
                    <a:pt x="1481" y="919"/>
                    <a:pt x="1394" y="951"/>
                    <a:pt x="1331" y="1014"/>
                  </a:cubicBezTo>
                  <a:lnTo>
                    <a:pt x="1014" y="1331"/>
                  </a:lnTo>
                  <a:cubicBezTo>
                    <a:pt x="888" y="1457"/>
                    <a:pt x="888" y="1679"/>
                    <a:pt x="1014" y="1806"/>
                  </a:cubicBezTo>
                  <a:lnTo>
                    <a:pt x="1838" y="2629"/>
                  </a:lnTo>
                  <a:cubicBezTo>
                    <a:pt x="1679" y="2882"/>
                    <a:pt x="1584" y="3136"/>
                    <a:pt x="1489" y="3452"/>
                  </a:cubicBezTo>
                  <a:lnTo>
                    <a:pt x="318" y="3452"/>
                  </a:lnTo>
                  <a:cubicBezTo>
                    <a:pt x="128" y="3452"/>
                    <a:pt x="1" y="3579"/>
                    <a:pt x="1" y="3769"/>
                  </a:cubicBezTo>
                  <a:lnTo>
                    <a:pt x="1" y="4244"/>
                  </a:lnTo>
                  <a:cubicBezTo>
                    <a:pt x="1" y="4403"/>
                    <a:pt x="128" y="4561"/>
                    <a:pt x="318" y="4561"/>
                  </a:cubicBezTo>
                  <a:lnTo>
                    <a:pt x="1489" y="4561"/>
                  </a:lnTo>
                  <a:cubicBezTo>
                    <a:pt x="1553" y="4846"/>
                    <a:pt x="1679" y="5131"/>
                    <a:pt x="1838" y="5353"/>
                  </a:cubicBezTo>
                  <a:lnTo>
                    <a:pt x="1014" y="6208"/>
                  </a:lnTo>
                  <a:cubicBezTo>
                    <a:pt x="888" y="6334"/>
                    <a:pt x="888" y="6524"/>
                    <a:pt x="1014" y="6651"/>
                  </a:cubicBezTo>
                  <a:lnTo>
                    <a:pt x="1331" y="6999"/>
                  </a:lnTo>
                  <a:cubicBezTo>
                    <a:pt x="1394" y="7063"/>
                    <a:pt x="1481" y="7094"/>
                    <a:pt x="1568" y="7094"/>
                  </a:cubicBezTo>
                  <a:cubicBezTo>
                    <a:pt x="1656" y="7094"/>
                    <a:pt x="1743" y="7063"/>
                    <a:pt x="1806" y="6999"/>
                  </a:cubicBezTo>
                  <a:lnTo>
                    <a:pt x="2629" y="6144"/>
                  </a:lnTo>
                  <a:cubicBezTo>
                    <a:pt x="2883" y="6303"/>
                    <a:pt x="3136" y="6429"/>
                    <a:pt x="3453" y="6493"/>
                  </a:cubicBezTo>
                  <a:lnTo>
                    <a:pt x="3453" y="7664"/>
                  </a:lnTo>
                  <a:cubicBezTo>
                    <a:pt x="3453" y="7854"/>
                    <a:pt x="3579" y="8013"/>
                    <a:pt x="3769" y="8013"/>
                  </a:cubicBezTo>
                  <a:lnTo>
                    <a:pt x="4245" y="8013"/>
                  </a:lnTo>
                  <a:cubicBezTo>
                    <a:pt x="4403" y="8013"/>
                    <a:pt x="4561" y="7854"/>
                    <a:pt x="4561" y="7664"/>
                  </a:cubicBezTo>
                  <a:lnTo>
                    <a:pt x="4561" y="6493"/>
                  </a:lnTo>
                  <a:cubicBezTo>
                    <a:pt x="4846" y="6429"/>
                    <a:pt x="5131" y="6303"/>
                    <a:pt x="5385" y="6144"/>
                  </a:cubicBezTo>
                  <a:lnTo>
                    <a:pt x="6208" y="6999"/>
                  </a:lnTo>
                  <a:cubicBezTo>
                    <a:pt x="6271" y="7063"/>
                    <a:pt x="6351" y="7094"/>
                    <a:pt x="6430" y="7094"/>
                  </a:cubicBezTo>
                  <a:cubicBezTo>
                    <a:pt x="6509" y="7094"/>
                    <a:pt x="6588" y="7063"/>
                    <a:pt x="6651" y="6999"/>
                  </a:cubicBezTo>
                  <a:lnTo>
                    <a:pt x="7000" y="6651"/>
                  </a:lnTo>
                  <a:cubicBezTo>
                    <a:pt x="7126" y="6524"/>
                    <a:pt x="7126" y="6334"/>
                    <a:pt x="7000" y="6208"/>
                  </a:cubicBezTo>
                  <a:lnTo>
                    <a:pt x="6176" y="5353"/>
                  </a:lnTo>
                  <a:cubicBezTo>
                    <a:pt x="6303" y="5131"/>
                    <a:pt x="6430" y="4846"/>
                    <a:pt x="6493" y="4561"/>
                  </a:cubicBezTo>
                  <a:lnTo>
                    <a:pt x="7696" y="4561"/>
                  </a:lnTo>
                  <a:cubicBezTo>
                    <a:pt x="7855" y="4561"/>
                    <a:pt x="8013" y="4403"/>
                    <a:pt x="8013" y="4244"/>
                  </a:cubicBezTo>
                  <a:lnTo>
                    <a:pt x="8013" y="3769"/>
                  </a:lnTo>
                  <a:cubicBezTo>
                    <a:pt x="8013" y="3579"/>
                    <a:pt x="7855" y="3452"/>
                    <a:pt x="7696" y="3452"/>
                  </a:cubicBezTo>
                  <a:lnTo>
                    <a:pt x="6493" y="3452"/>
                  </a:lnTo>
                  <a:cubicBezTo>
                    <a:pt x="6430" y="3136"/>
                    <a:pt x="6335" y="2882"/>
                    <a:pt x="6176" y="2629"/>
                  </a:cubicBezTo>
                  <a:lnTo>
                    <a:pt x="7000" y="1806"/>
                  </a:lnTo>
                  <a:cubicBezTo>
                    <a:pt x="7126" y="1679"/>
                    <a:pt x="7126" y="1457"/>
                    <a:pt x="7000" y="1331"/>
                  </a:cubicBezTo>
                  <a:lnTo>
                    <a:pt x="6651" y="1014"/>
                  </a:lnTo>
                  <a:cubicBezTo>
                    <a:pt x="6588" y="951"/>
                    <a:pt x="6509" y="919"/>
                    <a:pt x="6430" y="919"/>
                  </a:cubicBezTo>
                  <a:cubicBezTo>
                    <a:pt x="6351" y="919"/>
                    <a:pt x="6271" y="951"/>
                    <a:pt x="6208" y="1014"/>
                  </a:cubicBezTo>
                  <a:lnTo>
                    <a:pt x="5385" y="1837"/>
                  </a:lnTo>
                  <a:cubicBezTo>
                    <a:pt x="5131" y="1679"/>
                    <a:pt x="4846" y="1584"/>
                    <a:pt x="4561" y="1489"/>
                  </a:cubicBezTo>
                  <a:lnTo>
                    <a:pt x="4561" y="317"/>
                  </a:lnTo>
                  <a:cubicBezTo>
                    <a:pt x="4561" y="127"/>
                    <a:pt x="4403" y="1"/>
                    <a:pt x="4245"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5">
              <a:extLst>
                <a:ext uri="{FF2B5EF4-FFF2-40B4-BE49-F238E27FC236}">
                  <a16:creationId xmlns:a16="http://schemas.microsoft.com/office/drawing/2014/main" id="{7502DE0B-7554-2CB1-7F9C-2D8540AD4B82}"/>
                </a:ext>
              </a:extLst>
            </p:cNvPr>
            <p:cNvSpPr/>
            <p:nvPr/>
          </p:nvSpPr>
          <p:spPr>
            <a:xfrm>
              <a:off x="4331350" y="2897450"/>
              <a:ext cx="52275" cy="52275"/>
            </a:xfrm>
            <a:custGeom>
              <a:avLst/>
              <a:gdLst/>
              <a:ahLst/>
              <a:cxnLst/>
              <a:rect l="l" t="t" r="r" b="b"/>
              <a:pathLst>
                <a:path w="2091" h="2091" extrusionOk="0">
                  <a:moveTo>
                    <a:pt x="1045" y="1"/>
                  </a:moveTo>
                  <a:cubicBezTo>
                    <a:pt x="475" y="1"/>
                    <a:pt x="0" y="476"/>
                    <a:pt x="0" y="1046"/>
                  </a:cubicBezTo>
                  <a:cubicBezTo>
                    <a:pt x="0" y="1648"/>
                    <a:pt x="475" y="2091"/>
                    <a:pt x="1045" y="2091"/>
                  </a:cubicBezTo>
                  <a:cubicBezTo>
                    <a:pt x="1647" y="2091"/>
                    <a:pt x="2090" y="1648"/>
                    <a:pt x="2090" y="1046"/>
                  </a:cubicBezTo>
                  <a:cubicBezTo>
                    <a:pt x="2090" y="476"/>
                    <a:pt x="1647" y="1"/>
                    <a:pt x="1045"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5">
              <a:extLst>
                <a:ext uri="{FF2B5EF4-FFF2-40B4-BE49-F238E27FC236}">
                  <a16:creationId xmlns:a16="http://schemas.microsoft.com/office/drawing/2014/main" id="{61D14559-A200-52C5-B7AF-DF1E565C6A7B}"/>
                </a:ext>
              </a:extLst>
            </p:cNvPr>
            <p:cNvSpPr/>
            <p:nvPr/>
          </p:nvSpPr>
          <p:spPr>
            <a:xfrm>
              <a:off x="4424775" y="2740700"/>
              <a:ext cx="166275" cy="166275"/>
            </a:xfrm>
            <a:custGeom>
              <a:avLst/>
              <a:gdLst/>
              <a:ahLst/>
              <a:cxnLst/>
              <a:rect l="l" t="t" r="r" b="b"/>
              <a:pathLst>
                <a:path w="6651" h="6651" extrusionOk="0">
                  <a:moveTo>
                    <a:pt x="3325" y="1932"/>
                  </a:moveTo>
                  <a:cubicBezTo>
                    <a:pt x="4085" y="1932"/>
                    <a:pt x="4719" y="2566"/>
                    <a:pt x="4719" y="3326"/>
                  </a:cubicBezTo>
                  <a:cubicBezTo>
                    <a:pt x="4719" y="4117"/>
                    <a:pt x="4085" y="4719"/>
                    <a:pt x="3325" y="4719"/>
                  </a:cubicBezTo>
                  <a:cubicBezTo>
                    <a:pt x="2534" y="4719"/>
                    <a:pt x="1932" y="4117"/>
                    <a:pt x="1932" y="3326"/>
                  </a:cubicBezTo>
                  <a:cubicBezTo>
                    <a:pt x="1932" y="2566"/>
                    <a:pt x="2534" y="1932"/>
                    <a:pt x="3325" y="1932"/>
                  </a:cubicBezTo>
                  <a:close/>
                  <a:moveTo>
                    <a:pt x="3104" y="0"/>
                  </a:moveTo>
                  <a:cubicBezTo>
                    <a:pt x="2977" y="0"/>
                    <a:pt x="2850" y="127"/>
                    <a:pt x="2850" y="254"/>
                  </a:cubicBezTo>
                  <a:lnTo>
                    <a:pt x="2850" y="1267"/>
                  </a:lnTo>
                  <a:cubicBezTo>
                    <a:pt x="2597" y="1299"/>
                    <a:pt x="2375" y="1394"/>
                    <a:pt x="2185" y="1520"/>
                  </a:cubicBezTo>
                  <a:lnTo>
                    <a:pt x="1488" y="824"/>
                  </a:lnTo>
                  <a:cubicBezTo>
                    <a:pt x="1441" y="776"/>
                    <a:pt x="1370" y="752"/>
                    <a:pt x="1298" y="752"/>
                  </a:cubicBezTo>
                  <a:cubicBezTo>
                    <a:pt x="1227" y="752"/>
                    <a:pt x="1156" y="776"/>
                    <a:pt x="1108" y="824"/>
                  </a:cubicBezTo>
                  <a:lnTo>
                    <a:pt x="823" y="1109"/>
                  </a:lnTo>
                  <a:cubicBezTo>
                    <a:pt x="728" y="1235"/>
                    <a:pt x="728" y="1394"/>
                    <a:pt x="823" y="1489"/>
                  </a:cubicBezTo>
                  <a:lnTo>
                    <a:pt x="1520" y="2185"/>
                  </a:lnTo>
                  <a:cubicBezTo>
                    <a:pt x="1393" y="2407"/>
                    <a:pt x="1298" y="2629"/>
                    <a:pt x="1235" y="2851"/>
                  </a:cubicBezTo>
                  <a:lnTo>
                    <a:pt x="253" y="2851"/>
                  </a:lnTo>
                  <a:cubicBezTo>
                    <a:pt x="95" y="2851"/>
                    <a:pt x="0" y="2977"/>
                    <a:pt x="0" y="3136"/>
                  </a:cubicBezTo>
                  <a:lnTo>
                    <a:pt x="0" y="3516"/>
                  </a:lnTo>
                  <a:cubicBezTo>
                    <a:pt x="0" y="3674"/>
                    <a:pt x="95" y="3801"/>
                    <a:pt x="253" y="3801"/>
                  </a:cubicBezTo>
                  <a:lnTo>
                    <a:pt x="1235" y="3801"/>
                  </a:lnTo>
                  <a:cubicBezTo>
                    <a:pt x="1298" y="4022"/>
                    <a:pt x="1393" y="4244"/>
                    <a:pt x="1520" y="4466"/>
                  </a:cubicBezTo>
                  <a:lnTo>
                    <a:pt x="823" y="5162"/>
                  </a:lnTo>
                  <a:cubicBezTo>
                    <a:pt x="728" y="5257"/>
                    <a:pt x="728" y="5447"/>
                    <a:pt x="823" y="5542"/>
                  </a:cubicBezTo>
                  <a:lnTo>
                    <a:pt x="1108" y="5827"/>
                  </a:lnTo>
                  <a:cubicBezTo>
                    <a:pt x="1156" y="5875"/>
                    <a:pt x="1227" y="5899"/>
                    <a:pt x="1298" y="5899"/>
                  </a:cubicBezTo>
                  <a:cubicBezTo>
                    <a:pt x="1370" y="5899"/>
                    <a:pt x="1441" y="5875"/>
                    <a:pt x="1488" y="5827"/>
                  </a:cubicBezTo>
                  <a:lnTo>
                    <a:pt x="2185" y="5131"/>
                  </a:lnTo>
                  <a:cubicBezTo>
                    <a:pt x="2375" y="5257"/>
                    <a:pt x="2597" y="5352"/>
                    <a:pt x="2850" y="5416"/>
                  </a:cubicBezTo>
                  <a:lnTo>
                    <a:pt x="2850" y="6397"/>
                  </a:lnTo>
                  <a:cubicBezTo>
                    <a:pt x="2850" y="6524"/>
                    <a:pt x="2977" y="6651"/>
                    <a:pt x="3104" y="6651"/>
                  </a:cubicBezTo>
                  <a:lnTo>
                    <a:pt x="3515" y="6651"/>
                  </a:lnTo>
                  <a:cubicBezTo>
                    <a:pt x="3674" y="6651"/>
                    <a:pt x="3769" y="6524"/>
                    <a:pt x="3769" y="6397"/>
                  </a:cubicBezTo>
                  <a:lnTo>
                    <a:pt x="3769" y="5416"/>
                  </a:lnTo>
                  <a:cubicBezTo>
                    <a:pt x="4022" y="5352"/>
                    <a:pt x="4244" y="5257"/>
                    <a:pt x="4465" y="5131"/>
                  </a:cubicBezTo>
                  <a:lnTo>
                    <a:pt x="5162" y="5827"/>
                  </a:lnTo>
                  <a:cubicBezTo>
                    <a:pt x="5210" y="5875"/>
                    <a:pt x="5273" y="5899"/>
                    <a:pt x="5340" y="5899"/>
                  </a:cubicBezTo>
                  <a:cubicBezTo>
                    <a:pt x="5408" y="5899"/>
                    <a:pt x="5479" y="5875"/>
                    <a:pt x="5542" y="5827"/>
                  </a:cubicBezTo>
                  <a:lnTo>
                    <a:pt x="5795" y="5542"/>
                  </a:lnTo>
                  <a:cubicBezTo>
                    <a:pt x="5922" y="5447"/>
                    <a:pt x="5922" y="5257"/>
                    <a:pt x="5795" y="5162"/>
                  </a:cubicBezTo>
                  <a:lnTo>
                    <a:pt x="5099" y="4466"/>
                  </a:lnTo>
                  <a:cubicBezTo>
                    <a:pt x="5257" y="4244"/>
                    <a:pt x="5352" y="4022"/>
                    <a:pt x="5384" y="3801"/>
                  </a:cubicBezTo>
                  <a:lnTo>
                    <a:pt x="6366" y="3801"/>
                  </a:lnTo>
                  <a:cubicBezTo>
                    <a:pt x="6524" y="3801"/>
                    <a:pt x="6651" y="3674"/>
                    <a:pt x="6651" y="3516"/>
                  </a:cubicBezTo>
                  <a:lnTo>
                    <a:pt x="6651" y="3136"/>
                  </a:lnTo>
                  <a:cubicBezTo>
                    <a:pt x="6651" y="2977"/>
                    <a:pt x="6524" y="2851"/>
                    <a:pt x="6366" y="2851"/>
                  </a:cubicBezTo>
                  <a:lnTo>
                    <a:pt x="5384" y="2851"/>
                  </a:lnTo>
                  <a:cubicBezTo>
                    <a:pt x="5352" y="2629"/>
                    <a:pt x="5257" y="2407"/>
                    <a:pt x="5099" y="2185"/>
                  </a:cubicBezTo>
                  <a:lnTo>
                    <a:pt x="5795" y="1489"/>
                  </a:lnTo>
                  <a:cubicBezTo>
                    <a:pt x="5922" y="1394"/>
                    <a:pt x="5922" y="1235"/>
                    <a:pt x="5795" y="1109"/>
                  </a:cubicBezTo>
                  <a:lnTo>
                    <a:pt x="5542" y="824"/>
                  </a:lnTo>
                  <a:cubicBezTo>
                    <a:pt x="5479" y="776"/>
                    <a:pt x="5408" y="752"/>
                    <a:pt x="5340" y="752"/>
                  </a:cubicBezTo>
                  <a:cubicBezTo>
                    <a:pt x="5273" y="752"/>
                    <a:pt x="5210" y="776"/>
                    <a:pt x="5162" y="824"/>
                  </a:cubicBezTo>
                  <a:lnTo>
                    <a:pt x="4465" y="1520"/>
                  </a:lnTo>
                  <a:cubicBezTo>
                    <a:pt x="4244" y="1394"/>
                    <a:pt x="4022" y="1299"/>
                    <a:pt x="3769" y="1267"/>
                  </a:cubicBezTo>
                  <a:lnTo>
                    <a:pt x="3769" y="254"/>
                  </a:lnTo>
                  <a:cubicBezTo>
                    <a:pt x="3769" y="127"/>
                    <a:pt x="3674" y="0"/>
                    <a:pt x="35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5">
              <a:extLst>
                <a:ext uri="{FF2B5EF4-FFF2-40B4-BE49-F238E27FC236}">
                  <a16:creationId xmlns:a16="http://schemas.microsoft.com/office/drawing/2014/main" id="{040B0B33-64A9-19C1-5952-9CA97221425C}"/>
                </a:ext>
              </a:extLst>
            </p:cNvPr>
            <p:cNvSpPr/>
            <p:nvPr/>
          </p:nvSpPr>
          <p:spPr>
            <a:xfrm>
              <a:off x="4488900" y="2804825"/>
              <a:ext cx="38025" cy="38025"/>
            </a:xfrm>
            <a:custGeom>
              <a:avLst/>
              <a:gdLst/>
              <a:ahLst/>
              <a:cxnLst/>
              <a:rect l="l" t="t" r="r" b="b"/>
              <a:pathLst>
                <a:path w="1521" h="1521" extrusionOk="0">
                  <a:moveTo>
                    <a:pt x="760" y="1"/>
                  </a:moveTo>
                  <a:cubicBezTo>
                    <a:pt x="317" y="1"/>
                    <a:pt x="0" y="349"/>
                    <a:pt x="0" y="761"/>
                  </a:cubicBezTo>
                  <a:cubicBezTo>
                    <a:pt x="0" y="1204"/>
                    <a:pt x="317" y="1521"/>
                    <a:pt x="760" y="1521"/>
                  </a:cubicBezTo>
                  <a:cubicBezTo>
                    <a:pt x="1172" y="1521"/>
                    <a:pt x="1520" y="1172"/>
                    <a:pt x="1520" y="761"/>
                  </a:cubicBezTo>
                  <a:cubicBezTo>
                    <a:pt x="1520" y="349"/>
                    <a:pt x="1172" y="1"/>
                    <a:pt x="7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5">
              <a:extLst>
                <a:ext uri="{FF2B5EF4-FFF2-40B4-BE49-F238E27FC236}">
                  <a16:creationId xmlns:a16="http://schemas.microsoft.com/office/drawing/2014/main" id="{5498AC72-3F16-7C24-12C8-4D456FC74456}"/>
                </a:ext>
              </a:extLst>
            </p:cNvPr>
            <p:cNvSpPr/>
            <p:nvPr/>
          </p:nvSpPr>
          <p:spPr>
            <a:xfrm>
              <a:off x="1617300" y="2344750"/>
              <a:ext cx="330975" cy="184575"/>
            </a:xfrm>
            <a:custGeom>
              <a:avLst/>
              <a:gdLst/>
              <a:ahLst/>
              <a:cxnLst/>
              <a:rect l="l" t="t" r="r" b="b"/>
              <a:pathLst>
                <a:path w="13239" h="7383" extrusionOk="0">
                  <a:moveTo>
                    <a:pt x="9101" y="0"/>
                  </a:moveTo>
                  <a:cubicBezTo>
                    <a:pt x="6855" y="0"/>
                    <a:pt x="2510" y="1713"/>
                    <a:pt x="1362" y="2727"/>
                  </a:cubicBezTo>
                  <a:cubicBezTo>
                    <a:pt x="1" y="3899"/>
                    <a:pt x="317" y="7383"/>
                    <a:pt x="317" y="7383"/>
                  </a:cubicBezTo>
                  <a:lnTo>
                    <a:pt x="13238" y="3361"/>
                  </a:lnTo>
                  <a:cubicBezTo>
                    <a:pt x="13238" y="3361"/>
                    <a:pt x="11623" y="1017"/>
                    <a:pt x="10103" y="194"/>
                  </a:cubicBezTo>
                  <a:cubicBezTo>
                    <a:pt x="9864" y="60"/>
                    <a:pt x="9519" y="0"/>
                    <a:pt x="9101"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5">
              <a:extLst>
                <a:ext uri="{FF2B5EF4-FFF2-40B4-BE49-F238E27FC236}">
                  <a16:creationId xmlns:a16="http://schemas.microsoft.com/office/drawing/2014/main" id="{4B2B6600-2227-8670-D671-7CA5C4CA9ECE}"/>
                </a:ext>
              </a:extLst>
            </p:cNvPr>
            <p:cNvSpPr/>
            <p:nvPr/>
          </p:nvSpPr>
          <p:spPr>
            <a:xfrm>
              <a:off x="1813650" y="2344625"/>
              <a:ext cx="134625" cy="105525"/>
            </a:xfrm>
            <a:custGeom>
              <a:avLst/>
              <a:gdLst/>
              <a:ahLst/>
              <a:cxnLst/>
              <a:rect l="l" t="t" r="r" b="b"/>
              <a:pathLst>
                <a:path w="5385" h="4221" extrusionOk="0">
                  <a:moveTo>
                    <a:pt x="1243" y="0"/>
                  </a:moveTo>
                  <a:cubicBezTo>
                    <a:pt x="878" y="0"/>
                    <a:pt x="456" y="47"/>
                    <a:pt x="0" y="136"/>
                  </a:cubicBezTo>
                  <a:cubicBezTo>
                    <a:pt x="1204" y="1339"/>
                    <a:pt x="2059" y="2891"/>
                    <a:pt x="2661" y="4221"/>
                  </a:cubicBezTo>
                  <a:lnTo>
                    <a:pt x="5384" y="3366"/>
                  </a:lnTo>
                  <a:cubicBezTo>
                    <a:pt x="5384" y="3366"/>
                    <a:pt x="3769" y="1022"/>
                    <a:pt x="2249" y="199"/>
                  </a:cubicBezTo>
                  <a:cubicBezTo>
                    <a:pt x="2011" y="63"/>
                    <a:pt x="1665" y="0"/>
                    <a:pt x="1243"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5">
              <a:extLst>
                <a:ext uri="{FF2B5EF4-FFF2-40B4-BE49-F238E27FC236}">
                  <a16:creationId xmlns:a16="http://schemas.microsoft.com/office/drawing/2014/main" id="{837E0E03-B59A-33D5-313D-CE0BFE5267C7}"/>
                </a:ext>
              </a:extLst>
            </p:cNvPr>
            <p:cNvSpPr/>
            <p:nvPr/>
          </p:nvSpPr>
          <p:spPr>
            <a:xfrm>
              <a:off x="1595125" y="2366825"/>
              <a:ext cx="360275" cy="178350"/>
            </a:xfrm>
            <a:custGeom>
              <a:avLst/>
              <a:gdLst/>
              <a:ahLst/>
              <a:cxnLst/>
              <a:rect l="l" t="t" r="r" b="b"/>
              <a:pathLst>
                <a:path w="14411" h="7134" extrusionOk="0">
                  <a:moveTo>
                    <a:pt x="12428" y="1"/>
                  </a:moveTo>
                  <a:cubicBezTo>
                    <a:pt x="12311" y="1"/>
                    <a:pt x="12190" y="13"/>
                    <a:pt x="12067" y="39"/>
                  </a:cubicBezTo>
                  <a:cubicBezTo>
                    <a:pt x="10578" y="388"/>
                    <a:pt x="2946" y="2985"/>
                    <a:pt x="1078" y="4600"/>
                  </a:cubicBezTo>
                  <a:cubicBezTo>
                    <a:pt x="191" y="5391"/>
                    <a:pt x="1" y="7133"/>
                    <a:pt x="1" y="7133"/>
                  </a:cubicBezTo>
                  <a:lnTo>
                    <a:pt x="14410" y="1148"/>
                  </a:lnTo>
                  <a:cubicBezTo>
                    <a:pt x="14410" y="1148"/>
                    <a:pt x="13576" y="1"/>
                    <a:pt x="12428" y="1"/>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5">
              <a:extLst>
                <a:ext uri="{FF2B5EF4-FFF2-40B4-BE49-F238E27FC236}">
                  <a16:creationId xmlns:a16="http://schemas.microsoft.com/office/drawing/2014/main" id="{515C1CFC-EC0A-760F-5E74-8599246114ED}"/>
                </a:ext>
              </a:extLst>
            </p:cNvPr>
            <p:cNvSpPr/>
            <p:nvPr/>
          </p:nvSpPr>
          <p:spPr>
            <a:xfrm>
              <a:off x="1595125" y="2366825"/>
              <a:ext cx="360275" cy="178350"/>
            </a:xfrm>
            <a:custGeom>
              <a:avLst/>
              <a:gdLst/>
              <a:ahLst/>
              <a:cxnLst/>
              <a:rect l="l" t="t" r="r" b="b"/>
              <a:pathLst>
                <a:path w="14411" h="7134" extrusionOk="0">
                  <a:moveTo>
                    <a:pt x="12428" y="1"/>
                  </a:moveTo>
                  <a:cubicBezTo>
                    <a:pt x="12311" y="1"/>
                    <a:pt x="12190" y="13"/>
                    <a:pt x="12067" y="39"/>
                  </a:cubicBezTo>
                  <a:cubicBezTo>
                    <a:pt x="10578" y="388"/>
                    <a:pt x="2946" y="2985"/>
                    <a:pt x="1078" y="4600"/>
                  </a:cubicBezTo>
                  <a:cubicBezTo>
                    <a:pt x="191" y="5391"/>
                    <a:pt x="1" y="7133"/>
                    <a:pt x="1" y="7133"/>
                  </a:cubicBezTo>
                  <a:lnTo>
                    <a:pt x="14410" y="1148"/>
                  </a:lnTo>
                  <a:cubicBezTo>
                    <a:pt x="14410" y="1148"/>
                    <a:pt x="13576" y="1"/>
                    <a:pt x="12428" y="1"/>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5">
              <a:extLst>
                <a:ext uri="{FF2B5EF4-FFF2-40B4-BE49-F238E27FC236}">
                  <a16:creationId xmlns:a16="http://schemas.microsoft.com/office/drawing/2014/main" id="{19F439E9-B7E2-B265-94A0-31C826F441AB}"/>
                </a:ext>
              </a:extLst>
            </p:cNvPr>
            <p:cNvSpPr/>
            <p:nvPr/>
          </p:nvSpPr>
          <p:spPr>
            <a:xfrm>
              <a:off x="2700375" y="2150200"/>
              <a:ext cx="338100" cy="133700"/>
            </a:xfrm>
            <a:custGeom>
              <a:avLst/>
              <a:gdLst/>
              <a:ahLst/>
              <a:cxnLst/>
              <a:rect l="l" t="t" r="r" b="b"/>
              <a:pathLst>
                <a:path w="13524" h="5348" extrusionOk="0">
                  <a:moveTo>
                    <a:pt x="7572" y="1"/>
                  </a:moveTo>
                  <a:cubicBezTo>
                    <a:pt x="5207" y="1"/>
                    <a:pt x="2445" y="368"/>
                    <a:pt x="1743" y="1230"/>
                  </a:cubicBezTo>
                  <a:cubicBezTo>
                    <a:pt x="634" y="2561"/>
                    <a:pt x="1" y="5347"/>
                    <a:pt x="1" y="5347"/>
                  </a:cubicBezTo>
                  <a:lnTo>
                    <a:pt x="13523" y="4271"/>
                  </a:lnTo>
                  <a:cubicBezTo>
                    <a:pt x="13523" y="4271"/>
                    <a:pt x="12478" y="914"/>
                    <a:pt x="10800" y="344"/>
                  </a:cubicBezTo>
                  <a:cubicBezTo>
                    <a:pt x="10173" y="123"/>
                    <a:pt x="8939" y="1"/>
                    <a:pt x="7572"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5">
              <a:extLst>
                <a:ext uri="{FF2B5EF4-FFF2-40B4-BE49-F238E27FC236}">
                  <a16:creationId xmlns:a16="http://schemas.microsoft.com/office/drawing/2014/main" id="{BCE16D0B-2D5B-5368-45BC-89C7FF619841}"/>
                </a:ext>
              </a:extLst>
            </p:cNvPr>
            <p:cNvSpPr/>
            <p:nvPr/>
          </p:nvSpPr>
          <p:spPr>
            <a:xfrm>
              <a:off x="2700375" y="2158775"/>
              <a:ext cx="95050" cy="125125"/>
            </a:xfrm>
            <a:custGeom>
              <a:avLst/>
              <a:gdLst/>
              <a:ahLst/>
              <a:cxnLst/>
              <a:rect l="l" t="t" r="r" b="b"/>
              <a:pathLst>
                <a:path w="3802" h="5005" extrusionOk="0">
                  <a:moveTo>
                    <a:pt x="3801" y="1"/>
                  </a:moveTo>
                  <a:lnTo>
                    <a:pt x="3801" y="1"/>
                  </a:lnTo>
                  <a:cubicBezTo>
                    <a:pt x="2819" y="191"/>
                    <a:pt x="2059" y="476"/>
                    <a:pt x="1743" y="887"/>
                  </a:cubicBezTo>
                  <a:cubicBezTo>
                    <a:pt x="634" y="2218"/>
                    <a:pt x="1" y="5004"/>
                    <a:pt x="1" y="5004"/>
                  </a:cubicBezTo>
                  <a:lnTo>
                    <a:pt x="2851" y="4783"/>
                  </a:lnTo>
                  <a:cubicBezTo>
                    <a:pt x="2914" y="3326"/>
                    <a:pt x="3136" y="1552"/>
                    <a:pt x="3801"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5">
              <a:extLst>
                <a:ext uri="{FF2B5EF4-FFF2-40B4-BE49-F238E27FC236}">
                  <a16:creationId xmlns:a16="http://schemas.microsoft.com/office/drawing/2014/main" id="{1EBA241C-1707-7AAD-4879-EF0251141084}"/>
                </a:ext>
              </a:extLst>
            </p:cNvPr>
            <p:cNvSpPr/>
            <p:nvPr/>
          </p:nvSpPr>
          <p:spPr>
            <a:xfrm>
              <a:off x="2682175" y="2199625"/>
              <a:ext cx="389550" cy="60525"/>
            </a:xfrm>
            <a:custGeom>
              <a:avLst/>
              <a:gdLst/>
              <a:ahLst/>
              <a:cxnLst/>
              <a:rect l="l" t="t" r="r" b="b"/>
              <a:pathLst>
                <a:path w="15582" h="2421" extrusionOk="0">
                  <a:moveTo>
                    <a:pt x="8200" y="0"/>
                  </a:moveTo>
                  <a:cubicBezTo>
                    <a:pt x="5423" y="0"/>
                    <a:pt x="2568" y="190"/>
                    <a:pt x="1742" y="330"/>
                  </a:cubicBezTo>
                  <a:cubicBezTo>
                    <a:pt x="380" y="552"/>
                    <a:pt x="0" y="2230"/>
                    <a:pt x="0" y="2230"/>
                  </a:cubicBezTo>
                  <a:lnTo>
                    <a:pt x="15582" y="2420"/>
                  </a:lnTo>
                  <a:cubicBezTo>
                    <a:pt x="15582" y="2420"/>
                    <a:pt x="14758" y="869"/>
                    <a:pt x="13650" y="489"/>
                  </a:cubicBezTo>
                  <a:cubicBezTo>
                    <a:pt x="12607" y="122"/>
                    <a:pt x="10428" y="0"/>
                    <a:pt x="8200" y="0"/>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5">
              <a:extLst>
                <a:ext uri="{FF2B5EF4-FFF2-40B4-BE49-F238E27FC236}">
                  <a16:creationId xmlns:a16="http://schemas.microsoft.com/office/drawing/2014/main" id="{64479DB4-D3D1-F830-9FDD-323E357D8256}"/>
                </a:ext>
              </a:extLst>
            </p:cNvPr>
            <p:cNvSpPr/>
            <p:nvPr/>
          </p:nvSpPr>
          <p:spPr>
            <a:xfrm>
              <a:off x="2682175" y="2199625"/>
              <a:ext cx="389550" cy="60525"/>
            </a:xfrm>
            <a:custGeom>
              <a:avLst/>
              <a:gdLst/>
              <a:ahLst/>
              <a:cxnLst/>
              <a:rect l="l" t="t" r="r" b="b"/>
              <a:pathLst>
                <a:path w="15582" h="2421" extrusionOk="0">
                  <a:moveTo>
                    <a:pt x="8200" y="0"/>
                  </a:moveTo>
                  <a:cubicBezTo>
                    <a:pt x="5423" y="0"/>
                    <a:pt x="2568" y="190"/>
                    <a:pt x="1742" y="330"/>
                  </a:cubicBezTo>
                  <a:cubicBezTo>
                    <a:pt x="380" y="552"/>
                    <a:pt x="0" y="2230"/>
                    <a:pt x="0" y="2230"/>
                  </a:cubicBezTo>
                  <a:lnTo>
                    <a:pt x="15582" y="2420"/>
                  </a:lnTo>
                  <a:cubicBezTo>
                    <a:pt x="15582" y="2420"/>
                    <a:pt x="14758" y="869"/>
                    <a:pt x="13650" y="489"/>
                  </a:cubicBezTo>
                  <a:cubicBezTo>
                    <a:pt x="12607" y="122"/>
                    <a:pt x="10428" y="0"/>
                    <a:pt x="8200"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5">
              <a:extLst>
                <a:ext uri="{FF2B5EF4-FFF2-40B4-BE49-F238E27FC236}">
                  <a16:creationId xmlns:a16="http://schemas.microsoft.com/office/drawing/2014/main" id="{0D194C73-DEC6-6E51-B482-11391474B0EC}"/>
                </a:ext>
              </a:extLst>
            </p:cNvPr>
            <p:cNvSpPr/>
            <p:nvPr/>
          </p:nvSpPr>
          <p:spPr>
            <a:xfrm>
              <a:off x="2203975" y="2226400"/>
              <a:ext cx="212200" cy="240625"/>
            </a:xfrm>
            <a:custGeom>
              <a:avLst/>
              <a:gdLst/>
              <a:ahLst/>
              <a:cxnLst/>
              <a:rect l="l" t="t" r="r" b="b"/>
              <a:pathLst>
                <a:path w="8488" h="9625" extrusionOk="0">
                  <a:moveTo>
                    <a:pt x="5598" y="1"/>
                  </a:moveTo>
                  <a:cubicBezTo>
                    <a:pt x="5548" y="1"/>
                    <a:pt x="5497" y="7"/>
                    <a:pt x="5447" y="19"/>
                  </a:cubicBezTo>
                  <a:lnTo>
                    <a:pt x="665" y="938"/>
                  </a:lnTo>
                  <a:cubicBezTo>
                    <a:pt x="254" y="1001"/>
                    <a:pt x="0" y="1413"/>
                    <a:pt x="64" y="1793"/>
                  </a:cubicBezTo>
                  <a:lnTo>
                    <a:pt x="697" y="9013"/>
                  </a:lnTo>
                  <a:cubicBezTo>
                    <a:pt x="754" y="9383"/>
                    <a:pt x="1091" y="9625"/>
                    <a:pt x="1457" y="9625"/>
                  </a:cubicBezTo>
                  <a:cubicBezTo>
                    <a:pt x="1499" y="9625"/>
                    <a:pt x="1541" y="9621"/>
                    <a:pt x="1584" y="9615"/>
                  </a:cubicBezTo>
                  <a:lnTo>
                    <a:pt x="7823" y="8411"/>
                  </a:lnTo>
                  <a:cubicBezTo>
                    <a:pt x="8234" y="8348"/>
                    <a:pt x="8488" y="7936"/>
                    <a:pt x="8424" y="7525"/>
                  </a:cubicBezTo>
                  <a:lnTo>
                    <a:pt x="6302" y="589"/>
                  </a:lnTo>
                  <a:cubicBezTo>
                    <a:pt x="6247" y="259"/>
                    <a:pt x="5930" y="1"/>
                    <a:pt x="5598"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5">
              <a:extLst>
                <a:ext uri="{FF2B5EF4-FFF2-40B4-BE49-F238E27FC236}">
                  <a16:creationId xmlns:a16="http://schemas.microsoft.com/office/drawing/2014/main" id="{BE3C18EA-1032-F7BE-2B5B-2DC321949939}"/>
                </a:ext>
              </a:extLst>
            </p:cNvPr>
            <p:cNvSpPr/>
            <p:nvPr/>
          </p:nvSpPr>
          <p:spPr>
            <a:xfrm>
              <a:off x="2544400" y="2825675"/>
              <a:ext cx="345225" cy="317775"/>
            </a:xfrm>
            <a:custGeom>
              <a:avLst/>
              <a:gdLst/>
              <a:ahLst/>
              <a:cxnLst/>
              <a:rect l="l" t="t" r="r" b="b"/>
              <a:pathLst>
                <a:path w="13809" h="12711" extrusionOk="0">
                  <a:moveTo>
                    <a:pt x="6916" y="0"/>
                  </a:moveTo>
                  <a:cubicBezTo>
                    <a:pt x="6516" y="0"/>
                    <a:pt x="6110" y="38"/>
                    <a:pt x="5701" y="117"/>
                  </a:cubicBezTo>
                  <a:cubicBezTo>
                    <a:pt x="2250" y="782"/>
                    <a:pt x="1" y="4107"/>
                    <a:pt x="666" y="7559"/>
                  </a:cubicBezTo>
                  <a:cubicBezTo>
                    <a:pt x="1252" y="10603"/>
                    <a:pt x="3907" y="12711"/>
                    <a:pt x="6893" y="12711"/>
                  </a:cubicBezTo>
                  <a:cubicBezTo>
                    <a:pt x="7294" y="12711"/>
                    <a:pt x="7700" y="12673"/>
                    <a:pt x="8108" y="12594"/>
                  </a:cubicBezTo>
                  <a:cubicBezTo>
                    <a:pt x="11560" y="11929"/>
                    <a:pt x="13809" y="8604"/>
                    <a:pt x="13144" y="5152"/>
                  </a:cubicBezTo>
                  <a:cubicBezTo>
                    <a:pt x="12557" y="2108"/>
                    <a:pt x="9902" y="0"/>
                    <a:pt x="6916" y="0"/>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5">
              <a:extLst>
                <a:ext uri="{FF2B5EF4-FFF2-40B4-BE49-F238E27FC236}">
                  <a16:creationId xmlns:a16="http://schemas.microsoft.com/office/drawing/2014/main" id="{E17086B2-E1A2-8B56-6CDA-6781A4BC313F}"/>
                </a:ext>
              </a:extLst>
            </p:cNvPr>
            <p:cNvSpPr/>
            <p:nvPr/>
          </p:nvSpPr>
          <p:spPr>
            <a:xfrm>
              <a:off x="2544400" y="2825675"/>
              <a:ext cx="345225" cy="317775"/>
            </a:xfrm>
            <a:custGeom>
              <a:avLst/>
              <a:gdLst/>
              <a:ahLst/>
              <a:cxnLst/>
              <a:rect l="l" t="t" r="r" b="b"/>
              <a:pathLst>
                <a:path w="13809" h="12711" extrusionOk="0">
                  <a:moveTo>
                    <a:pt x="6916" y="0"/>
                  </a:moveTo>
                  <a:cubicBezTo>
                    <a:pt x="6516" y="0"/>
                    <a:pt x="6110" y="38"/>
                    <a:pt x="5701" y="117"/>
                  </a:cubicBezTo>
                  <a:cubicBezTo>
                    <a:pt x="2250" y="782"/>
                    <a:pt x="1" y="4107"/>
                    <a:pt x="666" y="7559"/>
                  </a:cubicBezTo>
                  <a:cubicBezTo>
                    <a:pt x="1252" y="10603"/>
                    <a:pt x="3907" y="12711"/>
                    <a:pt x="6893" y="12711"/>
                  </a:cubicBezTo>
                  <a:cubicBezTo>
                    <a:pt x="7294" y="12711"/>
                    <a:pt x="7700" y="12673"/>
                    <a:pt x="8108" y="12594"/>
                  </a:cubicBezTo>
                  <a:cubicBezTo>
                    <a:pt x="11560" y="11929"/>
                    <a:pt x="13809" y="8604"/>
                    <a:pt x="13144" y="5152"/>
                  </a:cubicBezTo>
                  <a:cubicBezTo>
                    <a:pt x="12557" y="2108"/>
                    <a:pt x="9902" y="0"/>
                    <a:pt x="6916"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5">
              <a:extLst>
                <a:ext uri="{FF2B5EF4-FFF2-40B4-BE49-F238E27FC236}">
                  <a16:creationId xmlns:a16="http://schemas.microsoft.com/office/drawing/2014/main" id="{63589A9E-0FFB-0413-F51C-B323164053C5}"/>
                </a:ext>
              </a:extLst>
            </p:cNvPr>
            <p:cNvSpPr/>
            <p:nvPr/>
          </p:nvSpPr>
          <p:spPr>
            <a:xfrm>
              <a:off x="2580825" y="2860225"/>
              <a:ext cx="270800" cy="249475"/>
            </a:xfrm>
            <a:custGeom>
              <a:avLst/>
              <a:gdLst/>
              <a:ahLst/>
              <a:cxnLst/>
              <a:rect l="l" t="t" r="r" b="b"/>
              <a:pathLst>
                <a:path w="10832" h="9979" extrusionOk="0">
                  <a:moveTo>
                    <a:pt x="5465" y="0"/>
                  </a:moveTo>
                  <a:cubicBezTo>
                    <a:pt x="5146" y="0"/>
                    <a:pt x="4823" y="31"/>
                    <a:pt x="4498" y="96"/>
                  </a:cubicBezTo>
                  <a:cubicBezTo>
                    <a:pt x="1774" y="603"/>
                    <a:pt x="1" y="3232"/>
                    <a:pt x="539" y="5923"/>
                  </a:cubicBezTo>
                  <a:cubicBezTo>
                    <a:pt x="985" y="8318"/>
                    <a:pt x="3071" y="9978"/>
                    <a:pt x="5398" y="9978"/>
                  </a:cubicBezTo>
                  <a:cubicBezTo>
                    <a:pt x="5717" y="9978"/>
                    <a:pt x="6041" y="9947"/>
                    <a:pt x="6366" y="9882"/>
                  </a:cubicBezTo>
                  <a:cubicBezTo>
                    <a:pt x="9090" y="9375"/>
                    <a:pt x="10832" y="6747"/>
                    <a:pt x="10325" y="4055"/>
                  </a:cubicBezTo>
                  <a:cubicBezTo>
                    <a:pt x="9852" y="1660"/>
                    <a:pt x="7787" y="0"/>
                    <a:pt x="5465"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5">
              <a:extLst>
                <a:ext uri="{FF2B5EF4-FFF2-40B4-BE49-F238E27FC236}">
                  <a16:creationId xmlns:a16="http://schemas.microsoft.com/office/drawing/2014/main" id="{B0C7F508-081B-B5A3-CE40-0CE7B1743086}"/>
                </a:ext>
              </a:extLst>
            </p:cNvPr>
            <p:cNvSpPr/>
            <p:nvPr/>
          </p:nvSpPr>
          <p:spPr>
            <a:xfrm>
              <a:off x="2612500" y="2889550"/>
              <a:ext cx="239125" cy="220175"/>
            </a:xfrm>
            <a:custGeom>
              <a:avLst/>
              <a:gdLst/>
              <a:ahLst/>
              <a:cxnLst/>
              <a:rect l="l" t="t" r="r" b="b"/>
              <a:pathLst>
                <a:path w="9565" h="8807" extrusionOk="0">
                  <a:moveTo>
                    <a:pt x="7348" y="0"/>
                  </a:moveTo>
                  <a:lnTo>
                    <a:pt x="7348" y="0"/>
                  </a:lnTo>
                  <a:cubicBezTo>
                    <a:pt x="7696" y="507"/>
                    <a:pt x="7949" y="1140"/>
                    <a:pt x="8076" y="1805"/>
                  </a:cubicBezTo>
                  <a:cubicBezTo>
                    <a:pt x="8615" y="4497"/>
                    <a:pt x="6841" y="7126"/>
                    <a:pt x="4149" y="7632"/>
                  </a:cubicBezTo>
                  <a:cubicBezTo>
                    <a:pt x="3834" y="7690"/>
                    <a:pt x="3522" y="7718"/>
                    <a:pt x="3216" y="7718"/>
                  </a:cubicBezTo>
                  <a:cubicBezTo>
                    <a:pt x="2009" y="7718"/>
                    <a:pt x="884" y="7288"/>
                    <a:pt x="1" y="6556"/>
                  </a:cubicBezTo>
                  <a:lnTo>
                    <a:pt x="1" y="6556"/>
                  </a:lnTo>
                  <a:cubicBezTo>
                    <a:pt x="904" y="7938"/>
                    <a:pt x="2455" y="8807"/>
                    <a:pt x="4129" y="8807"/>
                  </a:cubicBezTo>
                  <a:cubicBezTo>
                    <a:pt x="4449" y="8807"/>
                    <a:pt x="4774" y="8775"/>
                    <a:pt x="5099" y="8709"/>
                  </a:cubicBezTo>
                  <a:cubicBezTo>
                    <a:pt x="7823" y="8202"/>
                    <a:pt x="9565" y="5574"/>
                    <a:pt x="9058" y="2882"/>
                  </a:cubicBezTo>
                  <a:cubicBezTo>
                    <a:pt x="8836" y="1710"/>
                    <a:pt x="8203" y="697"/>
                    <a:pt x="7348"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5">
              <a:extLst>
                <a:ext uri="{FF2B5EF4-FFF2-40B4-BE49-F238E27FC236}">
                  <a16:creationId xmlns:a16="http://schemas.microsoft.com/office/drawing/2014/main" id="{1655460A-D262-3D91-2419-5D25D8559ABE}"/>
                </a:ext>
              </a:extLst>
            </p:cNvPr>
            <p:cNvSpPr/>
            <p:nvPr/>
          </p:nvSpPr>
          <p:spPr>
            <a:xfrm>
              <a:off x="1692525" y="2768400"/>
              <a:ext cx="147275" cy="80375"/>
            </a:xfrm>
            <a:custGeom>
              <a:avLst/>
              <a:gdLst/>
              <a:ahLst/>
              <a:cxnLst/>
              <a:rect l="l" t="t" r="r" b="b"/>
              <a:pathLst>
                <a:path w="5891" h="3215" extrusionOk="0">
                  <a:moveTo>
                    <a:pt x="0" y="1616"/>
                  </a:moveTo>
                  <a:cubicBezTo>
                    <a:pt x="3" y="1628"/>
                    <a:pt x="5" y="1640"/>
                    <a:pt x="8" y="1652"/>
                  </a:cubicBezTo>
                  <a:lnTo>
                    <a:pt x="8" y="1652"/>
                  </a:lnTo>
                  <a:lnTo>
                    <a:pt x="0" y="1616"/>
                  </a:lnTo>
                  <a:close/>
                  <a:moveTo>
                    <a:pt x="5352" y="1"/>
                  </a:moveTo>
                  <a:lnTo>
                    <a:pt x="4085" y="1743"/>
                  </a:lnTo>
                  <a:lnTo>
                    <a:pt x="1077" y="2313"/>
                  </a:lnTo>
                  <a:cubicBezTo>
                    <a:pt x="1016" y="2324"/>
                    <a:pt x="956" y="2329"/>
                    <a:pt x="897" y="2329"/>
                  </a:cubicBezTo>
                  <a:cubicBezTo>
                    <a:pt x="474" y="2329"/>
                    <a:pt x="106" y="2051"/>
                    <a:pt x="8" y="1652"/>
                  </a:cubicBezTo>
                  <a:lnTo>
                    <a:pt x="8" y="1652"/>
                  </a:lnTo>
                  <a:lnTo>
                    <a:pt x="190" y="2471"/>
                  </a:lnTo>
                  <a:cubicBezTo>
                    <a:pt x="275" y="2893"/>
                    <a:pt x="659" y="3215"/>
                    <a:pt x="1077" y="3215"/>
                  </a:cubicBezTo>
                  <a:cubicBezTo>
                    <a:pt x="1129" y="3215"/>
                    <a:pt x="1182" y="3210"/>
                    <a:pt x="1235" y="3199"/>
                  </a:cubicBezTo>
                  <a:lnTo>
                    <a:pt x="4275" y="2598"/>
                  </a:lnTo>
                  <a:lnTo>
                    <a:pt x="5891" y="317"/>
                  </a:lnTo>
                  <a:lnTo>
                    <a:pt x="5352" y="1"/>
                  </a:ln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5">
              <a:extLst>
                <a:ext uri="{FF2B5EF4-FFF2-40B4-BE49-F238E27FC236}">
                  <a16:creationId xmlns:a16="http://schemas.microsoft.com/office/drawing/2014/main" id="{320409AD-E20F-5DB7-9889-B9DC18494272}"/>
                </a:ext>
              </a:extLst>
            </p:cNvPr>
            <p:cNvSpPr/>
            <p:nvPr/>
          </p:nvSpPr>
          <p:spPr>
            <a:xfrm>
              <a:off x="1867475" y="2746250"/>
              <a:ext cx="155225" cy="62550"/>
            </a:xfrm>
            <a:custGeom>
              <a:avLst/>
              <a:gdLst/>
              <a:ahLst/>
              <a:cxnLst/>
              <a:rect l="l" t="t" r="r" b="b"/>
              <a:pathLst>
                <a:path w="6209" h="2502" extrusionOk="0">
                  <a:moveTo>
                    <a:pt x="5955" y="0"/>
                  </a:moveTo>
                  <a:lnTo>
                    <a:pt x="5959" y="24"/>
                  </a:lnTo>
                  <a:lnTo>
                    <a:pt x="5959" y="24"/>
                  </a:lnTo>
                  <a:cubicBezTo>
                    <a:pt x="5958" y="16"/>
                    <a:pt x="5956" y="8"/>
                    <a:pt x="5955" y="0"/>
                  </a:cubicBezTo>
                  <a:close/>
                  <a:moveTo>
                    <a:pt x="5959" y="24"/>
                  </a:moveTo>
                  <a:cubicBezTo>
                    <a:pt x="6039" y="492"/>
                    <a:pt x="5724" y="983"/>
                    <a:pt x="5226" y="1077"/>
                  </a:cubicBezTo>
                  <a:lnTo>
                    <a:pt x="2218" y="1647"/>
                  </a:lnTo>
                  <a:lnTo>
                    <a:pt x="381" y="475"/>
                  </a:lnTo>
                  <a:lnTo>
                    <a:pt x="1" y="982"/>
                  </a:lnTo>
                  <a:lnTo>
                    <a:pt x="2376" y="2502"/>
                  </a:lnTo>
                  <a:lnTo>
                    <a:pt x="5385" y="1932"/>
                  </a:lnTo>
                  <a:cubicBezTo>
                    <a:pt x="5891" y="1837"/>
                    <a:pt x="6208" y="1362"/>
                    <a:pt x="6113" y="855"/>
                  </a:cubicBezTo>
                  <a:lnTo>
                    <a:pt x="5959" y="24"/>
                  </a:ln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5">
              <a:extLst>
                <a:ext uri="{FF2B5EF4-FFF2-40B4-BE49-F238E27FC236}">
                  <a16:creationId xmlns:a16="http://schemas.microsoft.com/office/drawing/2014/main" id="{E26086D6-91D7-1658-42AA-CF3BF62D971E}"/>
                </a:ext>
              </a:extLst>
            </p:cNvPr>
            <p:cNvSpPr/>
            <p:nvPr/>
          </p:nvSpPr>
          <p:spPr>
            <a:xfrm>
              <a:off x="1828700" y="2607275"/>
              <a:ext cx="60200" cy="152450"/>
            </a:xfrm>
            <a:custGeom>
              <a:avLst/>
              <a:gdLst/>
              <a:ahLst/>
              <a:cxnLst/>
              <a:rect l="l" t="t" r="r" b="b"/>
              <a:pathLst>
                <a:path w="2408" h="6098" extrusionOk="0">
                  <a:moveTo>
                    <a:pt x="40" y="137"/>
                  </a:moveTo>
                  <a:cubicBezTo>
                    <a:pt x="27" y="139"/>
                    <a:pt x="13" y="141"/>
                    <a:pt x="0" y="144"/>
                  </a:cubicBezTo>
                  <a:lnTo>
                    <a:pt x="40" y="137"/>
                  </a:lnTo>
                  <a:close/>
                  <a:moveTo>
                    <a:pt x="929" y="0"/>
                  </a:moveTo>
                  <a:cubicBezTo>
                    <a:pt x="873" y="0"/>
                    <a:pt x="817" y="6"/>
                    <a:pt x="760" y="17"/>
                  </a:cubicBezTo>
                  <a:lnTo>
                    <a:pt x="40" y="137"/>
                  </a:lnTo>
                  <a:lnTo>
                    <a:pt x="40" y="137"/>
                  </a:lnTo>
                  <a:cubicBezTo>
                    <a:pt x="87" y="130"/>
                    <a:pt x="133" y="127"/>
                    <a:pt x="179" y="127"/>
                  </a:cubicBezTo>
                  <a:cubicBezTo>
                    <a:pt x="615" y="127"/>
                    <a:pt x="993" y="426"/>
                    <a:pt x="1077" y="872"/>
                  </a:cubicBezTo>
                  <a:lnTo>
                    <a:pt x="1647" y="3881"/>
                  </a:lnTo>
                  <a:lnTo>
                    <a:pt x="475" y="5781"/>
                  </a:lnTo>
                  <a:lnTo>
                    <a:pt x="919" y="6097"/>
                  </a:lnTo>
                  <a:lnTo>
                    <a:pt x="2407" y="3754"/>
                  </a:lnTo>
                  <a:lnTo>
                    <a:pt x="1805" y="745"/>
                  </a:lnTo>
                  <a:cubicBezTo>
                    <a:pt x="1722" y="299"/>
                    <a:pt x="1343" y="0"/>
                    <a:pt x="929"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5">
              <a:extLst>
                <a:ext uri="{FF2B5EF4-FFF2-40B4-BE49-F238E27FC236}">
                  <a16:creationId xmlns:a16="http://schemas.microsoft.com/office/drawing/2014/main" id="{44A43432-C7B1-8DB1-53D2-7F4517263E8E}"/>
                </a:ext>
              </a:extLst>
            </p:cNvPr>
            <p:cNvSpPr/>
            <p:nvPr/>
          </p:nvSpPr>
          <p:spPr>
            <a:xfrm>
              <a:off x="2865050" y="2783450"/>
              <a:ext cx="274775" cy="467150"/>
            </a:xfrm>
            <a:custGeom>
              <a:avLst/>
              <a:gdLst/>
              <a:ahLst/>
              <a:cxnLst/>
              <a:rect l="l" t="t" r="r" b="b"/>
              <a:pathLst>
                <a:path w="10991" h="18686" extrusionOk="0">
                  <a:moveTo>
                    <a:pt x="10705" y="0"/>
                  </a:moveTo>
                  <a:lnTo>
                    <a:pt x="10705" y="0"/>
                  </a:lnTo>
                  <a:cubicBezTo>
                    <a:pt x="8773" y="3674"/>
                    <a:pt x="5385" y="7189"/>
                    <a:pt x="1" y="10135"/>
                  </a:cubicBezTo>
                  <a:cubicBezTo>
                    <a:pt x="919" y="11148"/>
                    <a:pt x="3263" y="14695"/>
                    <a:pt x="6240" y="18685"/>
                  </a:cubicBezTo>
                  <a:cubicBezTo>
                    <a:pt x="10990" y="12858"/>
                    <a:pt x="10768" y="1742"/>
                    <a:pt x="10705"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5">
              <a:extLst>
                <a:ext uri="{FF2B5EF4-FFF2-40B4-BE49-F238E27FC236}">
                  <a16:creationId xmlns:a16="http://schemas.microsoft.com/office/drawing/2014/main" id="{011BE2F3-5376-30AF-ECF0-57F376E1F8D8}"/>
                </a:ext>
              </a:extLst>
            </p:cNvPr>
            <p:cNvSpPr/>
            <p:nvPr/>
          </p:nvSpPr>
          <p:spPr>
            <a:xfrm>
              <a:off x="2255425" y="2559425"/>
              <a:ext cx="198750" cy="116300"/>
            </a:xfrm>
            <a:custGeom>
              <a:avLst/>
              <a:gdLst/>
              <a:ahLst/>
              <a:cxnLst/>
              <a:rect l="l" t="t" r="r" b="b"/>
              <a:pathLst>
                <a:path w="7950" h="4652" extrusionOk="0">
                  <a:moveTo>
                    <a:pt x="6197" y="0"/>
                  </a:moveTo>
                  <a:cubicBezTo>
                    <a:pt x="6096" y="0"/>
                    <a:pt x="5994" y="10"/>
                    <a:pt x="5891" y="31"/>
                  </a:cubicBezTo>
                  <a:lnTo>
                    <a:pt x="1363" y="886"/>
                  </a:lnTo>
                  <a:cubicBezTo>
                    <a:pt x="539" y="1044"/>
                    <a:pt x="1" y="1804"/>
                    <a:pt x="159" y="2564"/>
                  </a:cubicBezTo>
                  <a:lnTo>
                    <a:pt x="349" y="3514"/>
                  </a:lnTo>
                  <a:cubicBezTo>
                    <a:pt x="460" y="4180"/>
                    <a:pt x="1082" y="4652"/>
                    <a:pt x="1788" y="4652"/>
                  </a:cubicBezTo>
                  <a:cubicBezTo>
                    <a:pt x="1888" y="4652"/>
                    <a:pt x="1989" y="4642"/>
                    <a:pt x="2091" y="4623"/>
                  </a:cubicBezTo>
                  <a:lnTo>
                    <a:pt x="6620" y="3768"/>
                  </a:lnTo>
                  <a:cubicBezTo>
                    <a:pt x="7411" y="3609"/>
                    <a:pt x="7950" y="2849"/>
                    <a:pt x="7791" y="2058"/>
                  </a:cubicBezTo>
                  <a:lnTo>
                    <a:pt x="7633" y="1139"/>
                  </a:lnTo>
                  <a:cubicBezTo>
                    <a:pt x="7495" y="450"/>
                    <a:pt x="6877" y="0"/>
                    <a:pt x="6197" y="0"/>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5">
              <a:extLst>
                <a:ext uri="{FF2B5EF4-FFF2-40B4-BE49-F238E27FC236}">
                  <a16:creationId xmlns:a16="http://schemas.microsoft.com/office/drawing/2014/main" id="{50E4A150-4D12-6063-06AB-17E1991B48E8}"/>
                </a:ext>
              </a:extLst>
            </p:cNvPr>
            <p:cNvSpPr/>
            <p:nvPr/>
          </p:nvSpPr>
          <p:spPr>
            <a:xfrm>
              <a:off x="2282350" y="2699800"/>
              <a:ext cx="198750" cy="116850"/>
            </a:xfrm>
            <a:custGeom>
              <a:avLst/>
              <a:gdLst/>
              <a:ahLst/>
              <a:cxnLst/>
              <a:rect l="l" t="t" r="r" b="b"/>
              <a:pathLst>
                <a:path w="7950" h="4674" extrusionOk="0">
                  <a:moveTo>
                    <a:pt x="6155" y="1"/>
                  </a:moveTo>
                  <a:cubicBezTo>
                    <a:pt x="6068" y="1"/>
                    <a:pt x="5980" y="8"/>
                    <a:pt x="5891" y="21"/>
                  </a:cubicBezTo>
                  <a:lnTo>
                    <a:pt x="1362" y="908"/>
                  </a:lnTo>
                  <a:cubicBezTo>
                    <a:pt x="539" y="1066"/>
                    <a:pt x="1" y="1826"/>
                    <a:pt x="159" y="2586"/>
                  </a:cubicBezTo>
                  <a:lnTo>
                    <a:pt x="349" y="3536"/>
                  </a:lnTo>
                  <a:cubicBezTo>
                    <a:pt x="488" y="4202"/>
                    <a:pt x="1088" y="4674"/>
                    <a:pt x="1789" y="4674"/>
                  </a:cubicBezTo>
                  <a:cubicBezTo>
                    <a:pt x="1888" y="4674"/>
                    <a:pt x="1989" y="4664"/>
                    <a:pt x="2091" y="4645"/>
                  </a:cubicBezTo>
                  <a:lnTo>
                    <a:pt x="6619" y="3758"/>
                  </a:lnTo>
                  <a:cubicBezTo>
                    <a:pt x="7411" y="3600"/>
                    <a:pt x="7949" y="2871"/>
                    <a:pt x="7823" y="2080"/>
                  </a:cubicBezTo>
                  <a:lnTo>
                    <a:pt x="7633" y="1161"/>
                  </a:lnTo>
                  <a:cubicBezTo>
                    <a:pt x="7492" y="455"/>
                    <a:pt x="6872" y="1"/>
                    <a:pt x="6155" y="1"/>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5">
              <a:extLst>
                <a:ext uri="{FF2B5EF4-FFF2-40B4-BE49-F238E27FC236}">
                  <a16:creationId xmlns:a16="http://schemas.microsoft.com/office/drawing/2014/main" id="{D2054E2E-AFFF-BB29-126D-C6CA8ED5212C}"/>
                </a:ext>
              </a:extLst>
            </p:cNvPr>
            <p:cNvSpPr/>
            <p:nvPr/>
          </p:nvSpPr>
          <p:spPr>
            <a:xfrm>
              <a:off x="2255425" y="2559425"/>
              <a:ext cx="198750" cy="116300"/>
            </a:xfrm>
            <a:custGeom>
              <a:avLst/>
              <a:gdLst/>
              <a:ahLst/>
              <a:cxnLst/>
              <a:rect l="l" t="t" r="r" b="b"/>
              <a:pathLst>
                <a:path w="7950" h="4652" extrusionOk="0">
                  <a:moveTo>
                    <a:pt x="6197" y="0"/>
                  </a:moveTo>
                  <a:cubicBezTo>
                    <a:pt x="6096" y="0"/>
                    <a:pt x="5994" y="10"/>
                    <a:pt x="5891" y="31"/>
                  </a:cubicBezTo>
                  <a:lnTo>
                    <a:pt x="1363" y="886"/>
                  </a:lnTo>
                  <a:cubicBezTo>
                    <a:pt x="539" y="1044"/>
                    <a:pt x="1" y="1804"/>
                    <a:pt x="159" y="2564"/>
                  </a:cubicBezTo>
                  <a:lnTo>
                    <a:pt x="349" y="3514"/>
                  </a:lnTo>
                  <a:cubicBezTo>
                    <a:pt x="460" y="4180"/>
                    <a:pt x="1082" y="4652"/>
                    <a:pt x="1788" y="4652"/>
                  </a:cubicBezTo>
                  <a:cubicBezTo>
                    <a:pt x="1888" y="4652"/>
                    <a:pt x="1989" y="4642"/>
                    <a:pt x="2091" y="4623"/>
                  </a:cubicBezTo>
                  <a:lnTo>
                    <a:pt x="6620" y="3768"/>
                  </a:lnTo>
                  <a:cubicBezTo>
                    <a:pt x="7411" y="3609"/>
                    <a:pt x="7950" y="2849"/>
                    <a:pt x="7791" y="2058"/>
                  </a:cubicBezTo>
                  <a:lnTo>
                    <a:pt x="7633" y="1139"/>
                  </a:lnTo>
                  <a:cubicBezTo>
                    <a:pt x="7495" y="450"/>
                    <a:pt x="6877" y="0"/>
                    <a:pt x="6197"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5">
              <a:extLst>
                <a:ext uri="{FF2B5EF4-FFF2-40B4-BE49-F238E27FC236}">
                  <a16:creationId xmlns:a16="http://schemas.microsoft.com/office/drawing/2014/main" id="{C10877C9-A012-1399-973A-E3F2FC7D542B}"/>
                </a:ext>
              </a:extLst>
            </p:cNvPr>
            <p:cNvSpPr/>
            <p:nvPr/>
          </p:nvSpPr>
          <p:spPr>
            <a:xfrm>
              <a:off x="2282350" y="2699800"/>
              <a:ext cx="198750" cy="116850"/>
            </a:xfrm>
            <a:custGeom>
              <a:avLst/>
              <a:gdLst/>
              <a:ahLst/>
              <a:cxnLst/>
              <a:rect l="l" t="t" r="r" b="b"/>
              <a:pathLst>
                <a:path w="7950" h="4674" extrusionOk="0">
                  <a:moveTo>
                    <a:pt x="6155" y="1"/>
                  </a:moveTo>
                  <a:cubicBezTo>
                    <a:pt x="6068" y="1"/>
                    <a:pt x="5980" y="8"/>
                    <a:pt x="5891" y="21"/>
                  </a:cubicBezTo>
                  <a:lnTo>
                    <a:pt x="1362" y="908"/>
                  </a:lnTo>
                  <a:cubicBezTo>
                    <a:pt x="539" y="1066"/>
                    <a:pt x="1" y="1826"/>
                    <a:pt x="159" y="2586"/>
                  </a:cubicBezTo>
                  <a:lnTo>
                    <a:pt x="349" y="3536"/>
                  </a:lnTo>
                  <a:cubicBezTo>
                    <a:pt x="488" y="4202"/>
                    <a:pt x="1088" y="4674"/>
                    <a:pt x="1789" y="4674"/>
                  </a:cubicBezTo>
                  <a:cubicBezTo>
                    <a:pt x="1888" y="4674"/>
                    <a:pt x="1989" y="4664"/>
                    <a:pt x="2091" y="4645"/>
                  </a:cubicBezTo>
                  <a:lnTo>
                    <a:pt x="6619" y="3758"/>
                  </a:lnTo>
                  <a:cubicBezTo>
                    <a:pt x="7411" y="3600"/>
                    <a:pt x="7949" y="2871"/>
                    <a:pt x="7823" y="2080"/>
                  </a:cubicBezTo>
                  <a:lnTo>
                    <a:pt x="7633" y="1161"/>
                  </a:lnTo>
                  <a:cubicBezTo>
                    <a:pt x="7492" y="455"/>
                    <a:pt x="6872" y="1"/>
                    <a:pt x="6155" y="1"/>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5">
              <a:extLst>
                <a:ext uri="{FF2B5EF4-FFF2-40B4-BE49-F238E27FC236}">
                  <a16:creationId xmlns:a16="http://schemas.microsoft.com/office/drawing/2014/main" id="{CB488213-75F3-2B6B-E24C-BE04CB0E1DA3}"/>
                </a:ext>
              </a:extLst>
            </p:cNvPr>
            <p:cNvSpPr/>
            <p:nvPr/>
          </p:nvSpPr>
          <p:spPr>
            <a:xfrm>
              <a:off x="2276025" y="2577900"/>
              <a:ext cx="157575" cy="79175"/>
            </a:xfrm>
            <a:custGeom>
              <a:avLst/>
              <a:gdLst/>
              <a:ahLst/>
              <a:cxnLst/>
              <a:rect l="l" t="t" r="r" b="b"/>
              <a:pathLst>
                <a:path w="6303" h="3167" extrusionOk="0">
                  <a:moveTo>
                    <a:pt x="5369" y="0"/>
                  </a:moveTo>
                  <a:cubicBezTo>
                    <a:pt x="5312" y="0"/>
                    <a:pt x="5253" y="7"/>
                    <a:pt x="5194" y="20"/>
                  </a:cubicBezTo>
                  <a:lnTo>
                    <a:pt x="665" y="875"/>
                  </a:lnTo>
                  <a:cubicBezTo>
                    <a:pt x="254" y="970"/>
                    <a:pt x="0" y="1319"/>
                    <a:pt x="64" y="1699"/>
                  </a:cubicBezTo>
                  <a:lnTo>
                    <a:pt x="254" y="2617"/>
                  </a:lnTo>
                  <a:cubicBezTo>
                    <a:pt x="310" y="2954"/>
                    <a:pt x="614" y="3166"/>
                    <a:pt x="969" y="3166"/>
                  </a:cubicBezTo>
                  <a:cubicBezTo>
                    <a:pt x="1015" y="3166"/>
                    <a:pt x="1062" y="3163"/>
                    <a:pt x="1109" y="3155"/>
                  </a:cubicBezTo>
                  <a:lnTo>
                    <a:pt x="5637" y="2269"/>
                  </a:lnTo>
                  <a:cubicBezTo>
                    <a:pt x="6049" y="2205"/>
                    <a:pt x="6302" y="1857"/>
                    <a:pt x="6239" y="1477"/>
                  </a:cubicBezTo>
                  <a:lnTo>
                    <a:pt x="6049" y="527"/>
                  </a:lnTo>
                  <a:cubicBezTo>
                    <a:pt x="5995" y="229"/>
                    <a:pt x="5708" y="0"/>
                    <a:pt x="5369"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5">
              <a:extLst>
                <a:ext uri="{FF2B5EF4-FFF2-40B4-BE49-F238E27FC236}">
                  <a16:creationId xmlns:a16="http://schemas.microsoft.com/office/drawing/2014/main" id="{BD9B0D01-E28D-63E3-FE44-80D37E918391}"/>
                </a:ext>
              </a:extLst>
            </p:cNvPr>
            <p:cNvSpPr/>
            <p:nvPr/>
          </p:nvSpPr>
          <p:spPr>
            <a:xfrm>
              <a:off x="2302925" y="2718775"/>
              <a:ext cx="158375" cy="79225"/>
            </a:xfrm>
            <a:custGeom>
              <a:avLst/>
              <a:gdLst/>
              <a:ahLst/>
              <a:cxnLst/>
              <a:rect l="l" t="t" r="r" b="b"/>
              <a:pathLst>
                <a:path w="6335" h="3169" extrusionOk="0">
                  <a:moveTo>
                    <a:pt x="5384" y="0"/>
                  </a:moveTo>
                  <a:cubicBezTo>
                    <a:pt x="5322" y="0"/>
                    <a:pt x="5259" y="7"/>
                    <a:pt x="5195" y="22"/>
                  </a:cubicBezTo>
                  <a:lnTo>
                    <a:pt x="666" y="877"/>
                  </a:lnTo>
                  <a:cubicBezTo>
                    <a:pt x="286" y="972"/>
                    <a:pt x="1" y="1321"/>
                    <a:pt x="64" y="1701"/>
                  </a:cubicBezTo>
                  <a:lnTo>
                    <a:pt x="254" y="2619"/>
                  </a:lnTo>
                  <a:cubicBezTo>
                    <a:pt x="310" y="2956"/>
                    <a:pt x="640" y="3168"/>
                    <a:pt x="979" y="3168"/>
                  </a:cubicBezTo>
                  <a:cubicBezTo>
                    <a:pt x="1022" y="3168"/>
                    <a:pt x="1066" y="3165"/>
                    <a:pt x="1109" y="3158"/>
                  </a:cubicBezTo>
                  <a:lnTo>
                    <a:pt x="5638" y="2271"/>
                  </a:lnTo>
                  <a:cubicBezTo>
                    <a:pt x="6050" y="2207"/>
                    <a:pt x="6335" y="1827"/>
                    <a:pt x="6240" y="1479"/>
                  </a:cubicBezTo>
                  <a:lnTo>
                    <a:pt x="6081" y="529"/>
                  </a:lnTo>
                  <a:cubicBezTo>
                    <a:pt x="6001" y="208"/>
                    <a:pt x="5718" y="0"/>
                    <a:pt x="5384"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5">
              <a:extLst>
                <a:ext uri="{FF2B5EF4-FFF2-40B4-BE49-F238E27FC236}">
                  <a16:creationId xmlns:a16="http://schemas.microsoft.com/office/drawing/2014/main" id="{65BB1212-59B9-04FA-05B7-6705A8525314}"/>
                </a:ext>
              </a:extLst>
            </p:cNvPr>
            <p:cNvSpPr/>
            <p:nvPr/>
          </p:nvSpPr>
          <p:spPr>
            <a:xfrm>
              <a:off x="2279175" y="2598975"/>
              <a:ext cx="154425" cy="58100"/>
            </a:xfrm>
            <a:custGeom>
              <a:avLst/>
              <a:gdLst/>
              <a:ahLst/>
              <a:cxnLst/>
              <a:rect l="l" t="t" r="r" b="b"/>
              <a:pathLst>
                <a:path w="6177" h="2324" extrusionOk="0">
                  <a:moveTo>
                    <a:pt x="1" y="1141"/>
                  </a:moveTo>
                  <a:cubicBezTo>
                    <a:pt x="3" y="1155"/>
                    <a:pt x="6" y="1168"/>
                    <a:pt x="9" y="1182"/>
                  </a:cubicBezTo>
                  <a:lnTo>
                    <a:pt x="9" y="1182"/>
                  </a:lnTo>
                  <a:lnTo>
                    <a:pt x="1" y="1141"/>
                  </a:lnTo>
                  <a:close/>
                  <a:moveTo>
                    <a:pt x="5986" y="1"/>
                  </a:moveTo>
                  <a:cubicBezTo>
                    <a:pt x="6050" y="349"/>
                    <a:pt x="5796" y="729"/>
                    <a:pt x="5385" y="792"/>
                  </a:cubicBezTo>
                  <a:lnTo>
                    <a:pt x="856" y="1679"/>
                  </a:lnTo>
                  <a:cubicBezTo>
                    <a:pt x="809" y="1686"/>
                    <a:pt x="762" y="1690"/>
                    <a:pt x="717" y="1690"/>
                  </a:cubicBezTo>
                  <a:cubicBezTo>
                    <a:pt x="376" y="1690"/>
                    <a:pt x="82" y="1495"/>
                    <a:pt x="9" y="1182"/>
                  </a:cubicBezTo>
                  <a:lnTo>
                    <a:pt x="9" y="1182"/>
                  </a:lnTo>
                  <a:lnTo>
                    <a:pt x="128" y="1774"/>
                  </a:lnTo>
                  <a:cubicBezTo>
                    <a:pt x="184" y="2111"/>
                    <a:pt x="488" y="2323"/>
                    <a:pt x="843" y="2323"/>
                  </a:cubicBezTo>
                  <a:cubicBezTo>
                    <a:pt x="889" y="2323"/>
                    <a:pt x="936" y="2320"/>
                    <a:pt x="983" y="2312"/>
                  </a:cubicBezTo>
                  <a:lnTo>
                    <a:pt x="5511" y="1426"/>
                  </a:lnTo>
                  <a:cubicBezTo>
                    <a:pt x="5923" y="1362"/>
                    <a:pt x="6176" y="982"/>
                    <a:pt x="6113" y="634"/>
                  </a:cubicBezTo>
                  <a:lnTo>
                    <a:pt x="5986" y="1"/>
                  </a:lnTo>
                  <a:close/>
                </a:path>
              </a:pathLst>
            </a:custGeom>
            <a:solidFill>
              <a:srgbClr val="DD91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5">
              <a:extLst>
                <a:ext uri="{FF2B5EF4-FFF2-40B4-BE49-F238E27FC236}">
                  <a16:creationId xmlns:a16="http://schemas.microsoft.com/office/drawing/2014/main" id="{6DC06267-80C5-2D8B-C148-066E9C397755}"/>
                </a:ext>
              </a:extLst>
            </p:cNvPr>
            <p:cNvSpPr/>
            <p:nvPr/>
          </p:nvSpPr>
          <p:spPr>
            <a:xfrm>
              <a:off x="2306100" y="2739125"/>
              <a:ext cx="155200" cy="58875"/>
            </a:xfrm>
            <a:custGeom>
              <a:avLst/>
              <a:gdLst/>
              <a:ahLst/>
              <a:cxnLst/>
              <a:rect l="l" t="t" r="r" b="b"/>
              <a:pathLst>
                <a:path w="6208" h="2355" extrusionOk="0">
                  <a:moveTo>
                    <a:pt x="6018" y="0"/>
                  </a:moveTo>
                  <a:lnTo>
                    <a:pt x="6022" y="30"/>
                  </a:lnTo>
                  <a:lnTo>
                    <a:pt x="6022" y="30"/>
                  </a:lnTo>
                  <a:cubicBezTo>
                    <a:pt x="6021" y="20"/>
                    <a:pt x="6019" y="10"/>
                    <a:pt x="6018" y="0"/>
                  </a:cubicBezTo>
                  <a:close/>
                  <a:moveTo>
                    <a:pt x="1" y="1172"/>
                  </a:moveTo>
                  <a:cubicBezTo>
                    <a:pt x="3" y="1185"/>
                    <a:pt x="5" y="1197"/>
                    <a:pt x="8" y="1210"/>
                  </a:cubicBezTo>
                  <a:lnTo>
                    <a:pt x="8" y="1210"/>
                  </a:lnTo>
                  <a:lnTo>
                    <a:pt x="1" y="1172"/>
                  </a:lnTo>
                  <a:close/>
                  <a:moveTo>
                    <a:pt x="6022" y="30"/>
                  </a:moveTo>
                  <a:lnTo>
                    <a:pt x="6022" y="30"/>
                  </a:lnTo>
                  <a:cubicBezTo>
                    <a:pt x="6066" y="398"/>
                    <a:pt x="5785" y="731"/>
                    <a:pt x="5384" y="823"/>
                  </a:cubicBezTo>
                  <a:lnTo>
                    <a:pt x="856" y="1678"/>
                  </a:lnTo>
                  <a:cubicBezTo>
                    <a:pt x="796" y="1693"/>
                    <a:pt x="736" y="1700"/>
                    <a:pt x="677" y="1700"/>
                  </a:cubicBezTo>
                  <a:cubicBezTo>
                    <a:pt x="368" y="1700"/>
                    <a:pt x="78" y="1509"/>
                    <a:pt x="8" y="1210"/>
                  </a:cubicBezTo>
                  <a:lnTo>
                    <a:pt x="8" y="1210"/>
                  </a:lnTo>
                  <a:lnTo>
                    <a:pt x="127" y="1805"/>
                  </a:lnTo>
                  <a:cubicBezTo>
                    <a:pt x="183" y="2142"/>
                    <a:pt x="488" y="2354"/>
                    <a:pt x="843" y="2354"/>
                  </a:cubicBezTo>
                  <a:cubicBezTo>
                    <a:pt x="889" y="2354"/>
                    <a:pt x="935" y="2351"/>
                    <a:pt x="982" y="2344"/>
                  </a:cubicBezTo>
                  <a:lnTo>
                    <a:pt x="5511" y="1457"/>
                  </a:lnTo>
                  <a:cubicBezTo>
                    <a:pt x="5923" y="1393"/>
                    <a:pt x="6208" y="1013"/>
                    <a:pt x="6113" y="665"/>
                  </a:cubicBezTo>
                  <a:lnTo>
                    <a:pt x="6022" y="30"/>
                  </a:lnTo>
                  <a:close/>
                </a:path>
              </a:pathLst>
            </a:custGeom>
            <a:solidFill>
              <a:srgbClr val="DD91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5">
              <a:extLst>
                <a:ext uri="{FF2B5EF4-FFF2-40B4-BE49-F238E27FC236}">
                  <a16:creationId xmlns:a16="http://schemas.microsoft.com/office/drawing/2014/main" id="{040CAA5E-F78A-6BB3-1563-6682CBB92F9D}"/>
                </a:ext>
              </a:extLst>
            </p:cNvPr>
            <p:cNvSpPr/>
            <p:nvPr/>
          </p:nvSpPr>
          <p:spPr>
            <a:xfrm>
              <a:off x="2747100" y="2315225"/>
              <a:ext cx="239900" cy="221525"/>
            </a:xfrm>
            <a:custGeom>
              <a:avLst/>
              <a:gdLst/>
              <a:ahLst/>
              <a:cxnLst/>
              <a:rect l="l" t="t" r="r" b="b"/>
              <a:pathLst>
                <a:path w="9596" h="8861" extrusionOk="0">
                  <a:moveTo>
                    <a:pt x="4782" y="1"/>
                  </a:moveTo>
                  <a:cubicBezTo>
                    <a:pt x="4511" y="1"/>
                    <a:pt x="4235" y="26"/>
                    <a:pt x="3959" y="76"/>
                  </a:cubicBezTo>
                  <a:cubicBezTo>
                    <a:pt x="1552" y="552"/>
                    <a:pt x="0" y="2863"/>
                    <a:pt x="444" y="5270"/>
                  </a:cubicBezTo>
                  <a:cubicBezTo>
                    <a:pt x="864" y="7401"/>
                    <a:pt x="2724" y="8861"/>
                    <a:pt x="4814" y="8861"/>
                  </a:cubicBezTo>
                  <a:cubicBezTo>
                    <a:pt x="5086" y="8861"/>
                    <a:pt x="5361" y="8836"/>
                    <a:pt x="5637" y="8785"/>
                  </a:cubicBezTo>
                  <a:cubicBezTo>
                    <a:pt x="8044" y="8310"/>
                    <a:pt x="9596" y="5999"/>
                    <a:pt x="9153" y="3592"/>
                  </a:cubicBezTo>
                  <a:cubicBezTo>
                    <a:pt x="8732" y="1461"/>
                    <a:pt x="6873" y="1"/>
                    <a:pt x="4782" y="1"/>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5">
              <a:extLst>
                <a:ext uri="{FF2B5EF4-FFF2-40B4-BE49-F238E27FC236}">
                  <a16:creationId xmlns:a16="http://schemas.microsoft.com/office/drawing/2014/main" id="{9D50F719-6FE2-5EB3-1428-4C0E407E6463}"/>
                </a:ext>
              </a:extLst>
            </p:cNvPr>
            <p:cNvSpPr/>
            <p:nvPr/>
          </p:nvSpPr>
          <p:spPr>
            <a:xfrm>
              <a:off x="2747100" y="2315225"/>
              <a:ext cx="239900" cy="221525"/>
            </a:xfrm>
            <a:custGeom>
              <a:avLst/>
              <a:gdLst/>
              <a:ahLst/>
              <a:cxnLst/>
              <a:rect l="l" t="t" r="r" b="b"/>
              <a:pathLst>
                <a:path w="9596" h="8861" extrusionOk="0">
                  <a:moveTo>
                    <a:pt x="4782" y="1"/>
                  </a:moveTo>
                  <a:cubicBezTo>
                    <a:pt x="4511" y="1"/>
                    <a:pt x="4235" y="26"/>
                    <a:pt x="3959" y="76"/>
                  </a:cubicBezTo>
                  <a:cubicBezTo>
                    <a:pt x="1552" y="552"/>
                    <a:pt x="0" y="2863"/>
                    <a:pt x="444" y="5270"/>
                  </a:cubicBezTo>
                  <a:cubicBezTo>
                    <a:pt x="864" y="7401"/>
                    <a:pt x="2724" y="8861"/>
                    <a:pt x="4814" y="8861"/>
                  </a:cubicBezTo>
                  <a:cubicBezTo>
                    <a:pt x="5086" y="8861"/>
                    <a:pt x="5361" y="8836"/>
                    <a:pt x="5637" y="8785"/>
                  </a:cubicBezTo>
                  <a:cubicBezTo>
                    <a:pt x="8044" y="8310"/>
                    <a:pt x="9596" y="5999"/>
                    <a:pt x="9153" y="3592"/>
                  </a:cubicBezTo>
                  <a:cubicBezTo>
                    <a:pt x="8732" y="1461"/>
                    <a:pt x="6873" y="1"/>
                    <a:pt x="4782" y="1"/>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5">
              <a:extLst>
                <a:ext uri="{FF2B5EF4-FFF2-40B4-BE49-F238E27FC236}">
                  <a16:creationId xmlns:a16="http://schemas.microsoft.com/office/drawing/2014/main" id="{24F9B6AF-269C-0C6A-73F8-6061C132614C}"/>
                </a:ext>
              </a:extLst>
            </p:cNvPr>
            <p:cNvSpPr/>
            <p:nvPr/>
          </p:nvSpPr>
          <p:spPr>
            <a:xfrm>
              <a:off x="2777175" y="2342750"/>
              <a:ext cx="180550" cy="165950"/>
            </a:xfrm>
            <a:custGeom>
              <a:avLst/>
              <a:gdLst/>
              <a:ahLst/>
              <a:cxnLst/>
              <a:rect l="l" t="t" r="r" b="b"/>
              <a:pathLst>
                <a:path w="7222" h="6638" extrusionOk="0">
                  <a:moveTo>
                    <a:pt x="3568" y="1"/>
                  </a:moveTo>
                  <a:cubicBezTo>
                    <a:pt x="3373" y="1"/>
                    <a:pt x="3176" y="17"/>
                    <a:pt x="2978" y="52"/>
                  </a:cubicBezTo>
                  <a:cubicBezTo>
                    <a:pt x="1172" y="401"/>
                    <a:pt x="1" y="2142"/>
                    <a:pt x="349" y="3948"/>
                  </a:cubicBezTo>
                  <a:cubicBezTo>
                    <a:pt x="656" y="5538"/>
                    <a:pt x="2045" y="6637"/>
                    <a:pt x="3585" y="6637"/>
                  </a:cubicBezTo>
                  <a:cubicBezTo>
                    <a:pt x="3792" y="6637"/>
                    <a:pt x="4002" y="6617"/>
                    <a:pt x="4213" y="6576"/>
                  </a:cubicBezTo>
                  <a:cubicBezTo>
                    <a:pt x="6018" y="6228"/>
                    <a:pt x="7221" y="4486"/>
                    <a:pt x="6873" y="2712"/>
                  </a:cubicBezTo>
                  <a:cubicBezTo>
                    <a:pt x="6563" y="1106"/>
                    <a:pt x="5149" y="1"/>
                    <a:pt x="3568"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5">
              <a:extLst>
                <a:ext uri="{FF2B5EF4-FFF2-40B4-BE49-F238E27FC236}">
                  <a16:creationId xmlns:a16="http://schemas.microsoft.com/office/drawing/2014/main" id="{7C3F04FD-4D25-38B2-58AE-CA9D662F2138}"/>
                </a:ext>
              </a:extLst>
            </p:cNvPr>
            <p:cNvSpPr/>
            <p:nvPr/>
          </p:nvSpPr>
          <p:spPr>
            <a:xfrm>
              <a:off x="2796175" y="2363825"/>
              <a:ext cx="160750" cy="145525"/>
            </a:xfrm>
            <a:custGeom>
              <a:avLst/>
              <a:gdLst/>
              <a:ahLst/>
              <a:cxnLst/>
              <a:rect l="l" t="t" r="r" b="b"/>
              <a:pathLst>
                <a:path w="6430" h="5821" extrusionOk="0">
                  <a:moveTo>
                    <a:pt x="5036" y="1"/>
                  </a:moveTo>
                  <a:lnTo>
                    <a:pt x="5036" y="1"/>
                  </a:lnTo>
                  <a:cubicBezTo>
                    <a:pt x="5226" y="318"/>
                    <a:pt x="5385" y="698"/>
                    <a:pt x="5480" y="1109"/>
                  </a:cubicBezTo>
                  <a:cubicBezTo>
                    <a:pt x="5828" y="2914"/>
                    <a:pt x="4624" y="4656"/>
                    <a:pt x="2819" y="5005"/>
                  </a:cubicBezTo>
                  <a:cubicBezTo>
                    <a:pt x="2616" y="5042"/>
                    <a:pt x="2414" y="5059"/>
                    <a:pt x="2214" y="5059"/>
                  </a:cubicBezTo>
                  <a:cubicBezTo>
                    <a:pt x="1389" y="5059"/>
                    <a:pt x="613" y="4755"/>
                    <a:pt x="1" y="4245"/>
                  </a:cubicBezTo>
                  <a:lnTo>
                    <a:pt x="1" y="4245"/>
                  </a:lnTo>
                  <a:cubicBezTo>
                    <a:pt x="622" y="5216"/>
                    <a:pt x="1680" y="5820"/>
                    <a:pt x="2842" y="5820"/>
                  </a:cubicBezTo>
                  <a:cubicBezTo>
                    <a:pt x="3043" y="5820"/>
                    <a:pt x="3247" y="5802"/>
                    <a:pt x="3453" y="5765"/>
                  </a:cubicBezTo>
                  <a:cubicBezTo>
                    <a:pt x="5258" y="5416"/>
                    <a:pt x="6430" y="3675"/>
                    <a:pt x="6081" y="1869"/>
                  </a:cubicBezTo>
                  <a:cubicBezTo>
                    <a:pt x="5955" y="1109"/>
                    <a:pt x="5575" y="476"/>
                    <a:pt x="5036"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5">
              <a:extLst>
                <a:ext uri="{FF2B5EF4-FFF2-40B4-BE49-F238E27FC236}">
                  <a16:creationId xmlns:a16="http://schemas.microsoft.com/office/drawing/2014/main" id="{8D784810-06DE-0781-C608-6E0AD715AE55}"/>
                </a:ext>
              </a:extLst>
            </p:cNvPr>
            <p:cNvSpPr/>
            <p:nvPr/>
          </p:nvSpPr>
          <p:spPr>
            <a:xfrm>
              <a:off x="2804900" y="2615875"/>
              <a:ext cx="240700" cy="221175"/>
            </a:xfrm>
            <a:custGeom>
              <a:avLst/>
              <a:gdLst/>
              <a:ahLst/>
              <a:cxnLst/>
              <a:rect l="l" t="t" r="r" b="b"/>
              <a:pathLst>
                <a:path w="9628" h="8847" extrusionOk="0">
                  <a:moveTo>
                    <a:pt x="4816" y="0"/>
                  </a:moveTo>
                  <a:cubicBezTo>
                    <a:pt x="4534" y="0"/>
                    <a:pt x="4247" y="28"/>
                    <a:pt x="3959" y="85"/>
                  </a:cubicBezTo>
                  <a:cubicBezTo>
                    <a:pt x="1584" y="528"/>
                    <a:pt x="0" y="2872"/>
                    <a:pt x="475" y="5247"/>
                  </a:cubicBezTo>
                  <a:cubicBezTo>
                    <a:pt x="865" y="7365"/>
                    <a:pt x="2704" y="8846"/>
                    <a:pt x="4780" y="8846"/>
                  </a:cubicBezTo>
                  <a:cubicBezTo>
                    <a:pt x="5062" y="8846"/>
                    <a:pt x="5349" y="8819"/>
                    <a:pt x="5637" y="8762"/>
                  </a:cubicBezTo>
                  <a:cubicBezTo>
                    <a:pt x="8044" y="8319"/>
                    <a:pt x="9628" y="5975"/>
                    <a:pt x="9152" y="3600"/>
                  </a:cubicBezTo>
                  <a:cubicBezTo>
                    <a:pt x="8734" y="1481"/>
                    <a:pt x="6893" y="0"/>
                    <a:pt x="4816" y="0"/>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5">
              <a:extLst>
                <a:ext uri="{FF2B5EF4-FFF2-40B4-BE49-F238E27FC236}">
                  <a16:creationId xmlns:a16="http://schemas.microsoft.com/office/drawing/2014/main" id="{60C5E50C-4BC3-AB03-E61A-F496DCE31C60}"/>
                </a:ext>
              </a:extLst>
            </p:cNvPr>
            <p:cNvSpPr/>
            <p:nvPr/>
          </p:nvSpPr>
          <p:spPr>
            <a:xfrm>
              <a:off x="2804900" y="2615875"/>
              <a:ext cx="240700" cy="221175"/>
            </a:xfrm>
            <a:custGeom>
              <a:avLst/>
              <a:gdLst/>
              <a:ahLst/>
              <a:cxnLst/>
              <a:rect l="l" t="t" r="r" b="b"/>
              <a:pathLst>
                <a:path w="9628" h="8847" extrusionOk="0">
                  <a:moveTo>
                    <a:pt x="4816" y="0"/>
                  </a:moveTo>
                  <a:cubicBezTo>
                    <a:pt x="4534" y="0"/>
                    <a:pt x="4247" y="28"/>
                    <a:pt x="3959" y="85"/>
                  </a:cubicBezTo>
                  <a:cubicBezTo>
                    <a:pt x="1584" y="528"/>
                    <a:pt x="0" y="2872"/>
                    <a:pt x="475" y="5247"/>
                  </a:cubicBezTo>
                  <a:cubicBezTo>
                    <a:pt x="865" y="7365"/>
                    <a:pt x="2704" y="8846"/>
                    <a:pt x="4780" y="8846"/>
                  </a:cubicBezTo>
                  <a:cubicBezTo>
                    <a:pt x="5062" y="8846"/>
                    <a:pt x="5349" y="8819"/>
                    <a:pt x="5637" y="8762"/>
                  </a:cubicBezTo>
                  <a:cubicBezTo>
                    <a:pt x="8044" y="8319"/>
                    <a:pt x="9628" y="5975"/>
                    <a:pt x="9152" y="3600"/>
                  </a:cubicBezTo>
                  <a:cubicBezTo>
                    <a:pt x="8734" y="1481"/>
                    <a:pt x="6893" y="0"/>
                    <a:pt x="4816"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5">
              <a:extLst>
                <a:ext uri="{FF2B5EF4-FFF2-40B4-BE49-F238E27FC236}">
                  <a16:creationId xmlns:a16="http://schemas.microsoft.com/office/drawing/2014/main" id="{59FE50C8-86CC-6FDE-9438-D91889FE7CCB}"/>
                </a:ext>
              </a:extLst>
            </p:cNvPr>
            <p:cNvSpPr/>
            <p:nvPr/>
          </p:nvSpPr>
          <p:spPr>
            <a:xfrm>
              <a:off x="2834975" y="2643375"/>
              <a:ext cx="180550" cy="166175"/>
            </a:xfrm>
            <a:custGeom>
              <a:avLst/>
              <a:gdLst/>
              <a:ahLst/>
              <a:cxnLst/>
              <a:rect l="l" t="t" r="r" b="b"/>
              <a:pathLst>
                <a:path w="7222" h="6647" extrusionOk="0">
                  <a:moveTo>
                    <a:pt x="3615" y="0"/>
                  </a:moveTo>
                  <a:cubicBezTo>
                    <a:pt x="3405" y="0"/>
                    <a:pt x="3192" y="20"/>
                    <a:pt x="2977" y="61"/>
                  </a:cubicBezTo>
                  <a:cubicBezTo>
                    <a:pt x="1172" y="410"/>
                    <a:pt x="1" y="2152"/>
                    <a:pt x="349" y="3957"/>
                  </a:cubicBezTo>
                  <a:cubicBezTo>
                    <a:pt x="656" y="5548"/>
                    <a:pt x="2045" y="6646"/>
                    <a:pt x="3606" y="6646"/>
                  </a:cubicBezTo>
                  <a:cubicBezTo>
                    <a:pt x="3817" y="6646"/>
                    <a:pt x="4030" y="6627"/>
                    <a:pt x="4244" y="6585"/>
                  </a:cubicBezTo>
                  <a:cubicBezTo>
                    <a:pt x="6018" y="6237"/>
                    <a:pt x="7221" y="4495"/>
                    <a:pt x="6873" y="2690"/>
                  </a:cubicBezTo>
                  <a:cubicBezTo>
                    <a:pt x="6566" y="1099"/>
                    <a:pt x="5176" y="0"/>
                    <a:pt x="3615"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5">
              <a:extLst>
                <a:ext uri="{FF2B5EF4-FFF2-40B4-BE49-F238E27FC236}">
                  <a16:creationId xmlns:a16="http://schemas.microsoft.com/office/drawing/2014/main" id="{5FB5B183-CAE3-7671-FEB4-B4CEE6337B73}"/>
                </a:ext>
              </a:extLst>
            </p:cNvPr>
            <p:cNvSpPr/>
            <p:nvPr/>
          </p:nvSpPr>
          <p:spPr>
            <a:xfrm>
              <a:off x="2854775" y="2663900"/>
              <a:ext cx="159950" cy="145775"/>
            </a:xfrm>
            <a:custGeom>
              <a:avLst/>
              <a:gdLst/>
              <a:ahLst/>
              <a:cxnLst/>
              <a:rect l="l" t="t" r="r" b="b"/>
              <a:pathLst>
                <a:path w="6398" h="5831" extrusionOk="0">
                  <a:moveTo>
                    <a:pt x="5004" y="0"/>
                  </a:moveTo>
                  <a:lnTo>
                    <a:pt x="5004" y="0"/>
                  </a:lnTo>
                  <a:cubicBezTo>
                    <a:pt x="5194" y="349"/>
                    <a:pt x="5352" y="729"/>
                    <a:pt x="5447" y="1141"/>
                  </a:cubicBezTo>
                  <a:cubicBezTo>
                    <a:pt x="5796" y="2946"/>
                    <a:pt x="4592" y="4687"/>
                    <a:pt x="2819" y="5036"/>
                  </a:cubicBezTo>
                  <a:cubicBezTo>
                    <a:pt x="2617" y="5073"/>
                    <a:pt x="2415" y="5090"/>
                    <a:pt x="2215" y="5090"/>
                  </a:cubicBezTo>
                  <a:cubicBezTo>
                    <a:pt x="1381" y="5090"/>
                    <a:pt x="588" y="4781"/>
                    <a:pt x="0" y="4244"/>
                  </a:cubicBezTo>
                  <a:lnTo>
                    <a:pt x="0" y="4244"/>
                  </a:lnTo>
                  <a:cubicBezTo>
                    <a:pt x="588" y="5206"/>
                    <a:pt x="1650" y="5830"/>
                    <a:pt x="2804" y="5830"/>
                  </a:cubicBezTo>
                  <a:cubicBezTo>
                    <a:pt x="3018" y="5830"/>
                    <a:pt x="3235" y="5809"/>
                    <a:pt x="3452" y="5764"/>
                  </a:cubicBezTo>
                  <a:cubicBezTo>
                    <a:pt x="5226" y="5416"/>
                    <a:pt x="6397" y="3674"/>
                    <a:pt x="6081" y="1869"/>
                  </a:cubicBezTo>
                  <a:cubicBezTo>
                    <a:pt x="5922" y="1109"/>
                    <a:pt x="5542" y="475"/>
                    <a:pt x="5004"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5">
              <a:extLst>
                <a:ext uri="{FF2B5EF4-FFF2-40B4-BE49-F238E27FC236}">
                  <a16:creationId xmlns:a16="http://schemas.microsoft.com/office/drawing/2014/main" id="{3ACF99E5-6D18-1E37-D285-1C330CE82E91}"/>
                </a:ext>
              </a:extLst>
            </p:cNvPr>
            <p:cNvSpPr/>
            <p:nvPr/>
          </p:nvSpPr>
          <p:spPr>
            <a:xfrm>
              <a:off x="2614075" y="2496550"/>
              <a:ext cx="240725" cy="221525"/>
            </a:xfrm>
            <a:custGeom>
              <a:avLst/>
              <a:gdLst/>
              <a:ahLst/>
              <a:cxnLst/>
              <a:rect l="l" t="t" r="r" b="b"/>
              <a:pathLst>
                <a:path w="9629" h="8861" extrusionOk="0">
                  <a:moveTo>
                    <a:pt x="4806" y="0"/>
                  </a:moveTo>
                  <a:cubicBezTo>
                    <a:pt x="4536" y="0"/>
                    <a:pt x="4264" y="25"/>
                    <a:pt x="3991" y="76"/>
                  </a:cubicBezTo>
                  <a:cubicBezTo>
                    <a:pt x="1584" y="551"/>
                    <a:pt x="1" y="2863"/>
                    <a:pt x="476" y="5269"/>
                  </a:cubicBezTo>
                  <a:cubicBezTo>
                    <a:pt x="896" y="7400"/>
                    <a:pt x="2756" y="8860"/>
                    <a:pt x="4847" y="8860"/>
                  </a:cubicBezTo>
                  <a:cubicBezTo>
                    <a:pt x="5118" y="8860"/>
                    <a:pt x="5393" y="8836"/>
                    <a:pt x="5670" y="8785"/>
                  </a:cubicBezTo>
                  <a:cubicBezTo>
                    <a:pt x="8045" y="8310"/>
                    <a:pt x="9628" y="5998"/>
                    <a:pt x="9153" y="3591"/>
                  </a:cubicBezTo>
                  <a:cubicBezTo>
                    <a:pt x="8761" y="1461"/>
                    <a:pt x="6880" y="0"/>
                    <a:pt x="4806" y="0"/>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5">
              <a:extLst>
                <a:ext uri="{FF2B5EF4-FFF2-40B4-BE49-F238E27FC236}">
                  <a16:creationId xmlns:a16="http://schemas.microsoft.com/office/drawing/2014/main" id="{05B7C3A7-FDA9-EDEC-CEF9-BB75D68DE10D}"/>
                </a:ext>
              </a:extLst>
            </p:cNvPr>
            <p:cNvSpPr/>
            <p:nvPr/>
          </p:nvSpPr>
          <p:spPr>
            <a:xfrm>
              <a:off x="2614075" y="2496550"/>
              <a:ext cx="240725" cy="221525"/>
            </a:xfrm>
            <a:custGeom>
              <a:avLst/>
              <a:gdLst/>
              <a:ahLst/>
              <a:cxnLst/>
              <a:rect l="l" t="t" r="r" b="b"/>
              <a:pathLst>
                <a:path w="9629" h="8861" extrusionOk="0">
                  <a:moveTo>
                    <a:pt x="4806" y="0"/>
                  </a:moveTo>
                  <a:cubicBezTo>
                    <a:pt x="4536" y="0"/>
                    <a:pt x="4264" y="25"/>
                    <a:pt x="3991" y="76"/>
                  </a:cubicBezTo>
                  <a:cubicBezTo>
                    <a:pt x="1584" y="551"/>
                    <a:pt x="1" y="2863"/>
                    <a:pt x="476" y="5269"/>
                  </a:cubicBezTo>
                  <a:cubicBezTo>
                    <a:pt x="896" y="7400"/>
                    <a:pt x="2756" y="8860"/>
                    <a:pt x="4847" y="8860"/>
                  </a:cubicBezTo>
                  <a:cubicBezTo>
                    <a:pt x="5118" y="8860"/>
                    <a:pt x="5393" y="8836"/>
                    <a:pt x="5670" y="8785"/>
                  </a:cubicBezTo>
                  <a:cubicBezTo>
                    <a:pt x="8045" y="8310"/>
                    <a:pt x="9628" y="5998"/>
                    <a:pt x="9153" y="3591"/>
                  </a:cubicBezTo>
                  <a:cubicBezTo>
                    <a:pt x="8761" y="1461"/>
                    <a:pt x="6880" y="0"/>
                    <a:pt x="4806"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5">
              <a:extLst>
                <a:ext uri="{FF2B5EF4-FFF2-40B4-BE49-F238E27FC236}">
                  <a16:creationId xmlns:a16="http://schemas.microsoft.com/office/drawing/2014/main" id="{0BAEDBF5-A08A-99E6-3F36-491C6870C249}"/>
                </a:ext>
              </a:extLst>
            </p:cNvPr>
            <p:cNvSpPr/>
            <p:nvPr/>
          </p:nvSpPr>
          <p:spPr>
            <a:xfrm>
              <a:off x="2644175" y="2524600"/>
              <a:ext cx="180525" cy="166150"/>
            </a:xfrm>
            <a:custGeom>
              <a:avLst/>
              <a:gdLst/>
              <a:ahLst/>
              <a:cxnLst/>
              <a:rect l="l" t="t" r="r" b="b"/>
              <a:pathLst>
                <a:path w="7221" h="6646" extrusionOk="0">
                  <a:moveTo>
                    <a:pt x="3615" y="1"/>
                  </a:moveTo>
                  <a:cubicBezTo>
                    <a:pt x="3405" y="1"/>
                    <a:pt x="3191" y="21"/>
                    <a:pt x="2977" y="62"/>
                  </a:cubicBezTo>
                  <a:cubicBezTo>
                    <a:pt x="1172" y="410"/>
                    <a:pt x="0" y="2152"/>
                    <a:pt x="349" y="3926"/>
                  </a:cubicBezTo>
                  <a:cubicBezTo>
                    <a:pt x="656" y="5521"/>
                    <a:pt x="2052" y="6646"/>
                    <a:pt x="3618" y="6646"/>
                  </a:cubicBezTo>
                  <a:cubicBezTo>
                    <a:pt x="3825" y="6646"/>
                    <a:pt x="4034" y="6626"/>
                    <a:pt x="4244" y="6586"/>
                  </a:cubicBezTo>
                  <a:cubicBezTo>
                    <a:pt x="6049" y="6206"/>
                    <a:pt x="7221" y="4496"/>
                    <a:pt x="6872" y="2691"/>
                  </a:cubicBezTo>
                  <a:cubicBezTo>
                    <a:pt x="6565" y="1100"/>
                    <a:pt x="5176" y="1"/>
                    <a:pt x="3615"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5">
              <a:extLst>
                <a:ext uri="{FF2B5EF4-FFF2-40B4-BE49-F238E27FC236}">
                  <a16:creationId xmlns:a16="http://schemas.microsoft.com/office/drawing/2014/main" id="{64E0BA7A-115A-FC3B-D9B3-FEE543CB7817}"/>
                </a:ext>
              </a:extLst>
            </p:cNvPr>
            <p:cNvSpPr/>
            <p:nvPr/>
          </p:nvSpPr>
          <p:spPr>
            <a:xfrm>
              <a:off x="2663975" y="2545150"/>
              <a:ext cx="160725" cy="145500"/>
            </a:xfrm>
            <a:custGeom>
              <a:avLst/>
              <a:gdLst/>
              <a:ahLst/>
              <a:cxnLst/>
              <a:rect l="l" t="t" r="r" b="b"/>
              <a:pathLst>
                <a:path w="6429" h="5820" extrusionOk="0">
                  <a:moveTo>
                    <a:pt x="5004" y="0"/>
                  </a:moveTo>
                  <a:lnTo>
                    <a:pt x="5004" y="0"/>
                  </a:lnTo>
                  <a:cubicBezTo>
                    <a:pt x="5225" y="317"/>
                    <a:pt x="5384" y="697"/>
                    <a:pt x="5447" y="1109"/>
                  </a:cubicBezTo>
                  <a:cubicBezTo>
                    <a:pt x="5795" y="2914"/>
                    <a:pt x="4624" y="4655"/>
                    <a:pt x="2819" y="5004"/>
                  </a:cubicBezTo>
                  <a:cubicBezTo>
                    <a:pt x="2615" y="5041"/>
                    <a:pt x="2413" y="5059"/>
                    <a:pt x="2214" y="5059"/>
                  </a:cubicBezTo>
                  <a:cubicBezTo>
                    <a:pt x="1389" y="5059"/>
                    <a:pt x="612" y="4754"/>
                    <a:pt x="0" y="4244"/>
                  </a:cubicBezTo>
                  <a:lnTo>
                    <a:pt x="0" y="4244"/>
                  </a:lnTo>
                  <a:cubicBezTo>
                    <a:pt x="594" y="5216"/>
                    <a:pt x="1671" y="5819"/>
                    <a:pt x="2839" y="5819"/>
                  </a:cubicBezTo>
                  <a:cubicBezTo>
                    <a:pt x="3042" y="5819"/>
                    <a:pt x="3246" y="5801"/>
                    <a:pt x="3452" y="5764"/>
                  </a:cubicBezTo>
                  <a:cubicBezTo>
                    <a:pt x="5257" y="5416"/>
                    <a:pt x="6429" y="3674"/>
                    <a:pt x="6080" y="1869"/>
                  </a:cubicBezTo>
                  <a:cubicBezTo>
                    <a:pt x="5954" y="1109"/>
                    <a:pt x="5542" y="475"/>
                    <a:pt x="5004"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5">
              <a:extLst>
                <a:ext uri="{FF2B5EF4-FFF2-40B4-BE49-F238E27FC236}">
                  <a16:creationId xmlns:a16="http://schemas.microsoft.com/office/drawing/2014/main" id="{0D0191FB-0E8F-236B-D7DE-1FB33FA063E9}"/>
                </a:ext>
              </a:extLst>
            </p:cNvPr>
            <p:cNvSpPr/>
            <p:nvPr/>
          </p:nvSpPr>
          <p:spPr>
            <a:xfrm>
              <a:off x="2937100" y="2434575"/>
              <a:ext cx="240725" cy="221150"/>
            </a:xfrm>
            <a:custGeom>
              <a:avLst/>
              <a:gdLst/>
              <a:ahLst/>
              <a:cxnLst/>
              <a:rect l="l" t="t" r="r" b="b"/>
              <a:pathLst>
                <a:path w="9629" h="8846" extrusionOk="0">
                  <a:moveTo>
                    <a:pt x="4840" y="0"/>
                  </a:moveTo>
                  <a:cubicBezTo>
                    <a:pt x="4560" y="0"/>
                    <a:pt x="4276" y="28"/>
                    <a:pt x="3991" y="84"/>
                  </a:cubicBezTo>
                  <a:cubicBezTo>
                    <a:pt x="1584" y="528"/>
                    <a:pt x="1" y="2871"/>
                    <a:pt x="476" y="5247"/>
                  </a:cubicBezTo>
                  <a:cubicBezTo>
                    <a:pt x="894" y="7365"/>
                    <a:pt x="2736" y="8846"/>
                    <a:pt x="4813" y="8846"/>
                  </a:cubicBezTo>
                  <a:cubicBezTo>
                    <a:pt x="5095" y="8846"/>
                    <a:pt x="5382" y="8819"/>
                    <a:pt x="5670" y="8762"/>
                  </a:cubicBezTo>
                  <a:cubicBezTo>
                    <a:pt x="8045" y="8287"/>
                    <a:pt x="9628" y="5975"/>
                    <a:pt x="9153" y="3568"/>
                  </a:cubicBezTo>
                  <a:cubicBezTo>
                    <a:pt x="8763" y="1477"/>
                    <a:pt x="6901" y="0"/>
                    <a:pt x="4840" y="0"/>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5">
              <a:extLst>
                <a:ext uri="{FF2B5EF4-FFF2-40B4-BE49-F238E27FC236}">
                  <a16:creationId xmlns:a16="http://schemas.microsoft.com/office/drawing/2014/main" id="{89DD2805-7703-54EC-1617-60D4F3204C46}"/>
                </a:ext>
              </a:extLst>
            </p:cNvPr>
            <p:cNvSpPr/>
            <p:nvPr/>
          </p:nvSpPr>
          <p:spPr>
            <a:xfrm>
              <a:off x="2937100" y="2434575"/>
              <a:ext cx="240725" cy="221150"/>
            </a:xfrm>
            <a:custGeom>
              <a:avLst/>
              <a:gdLst/>
              <a:ahLst/>
              <a:cxnLst/>
              <a:rect l="l" t="t" r="r" b="b"/>
              <a:pathLst>
                <a:path w="9629" h="8846" extrusionOk="0">
                  <a:moveTo>
                    <a:pt x="4840" y="0"/>
                  </a:moveTo>
                  <a:cubicBezTo>
                    <a:pt x="4560" y="0"/>
                    <a:pt x="4276" y="28"/>
                    <a:pt x="3991" y="84"/>
                  </a:cubicBezTo>
                  <a:cubicBezTo>
                    <a:pt x="1584" y="528"/>
                    <a:pt x="1" y="2871"/>
                    <a:pt x="476" y="5247"/>
                  </a:cubicBezTo>
                  <a:cubicBezTo>
                    <a:pt x="894" y="7365"/>
                    <a:pt x="2736" y="8846"/>
                    <a:pt x="4813" y="8846"/>
                  </a:cubicBezTo>
                  <a:cubicBezTo>
                    <a:pt x="5095" y="8846"/>
                    <a:pt x="5382" y="8819"/>
                    <a:pt x="5670" y="8762"/>
                  </a:cubicBezTo>
                  <a:cubicBezTo>
                    <a:pt x="8045" y="8287"/>
                    <a:pt x="9628" y="5975"/>
                    <a:pt x="9153" y="3568"/>
                  </a:cubicBezTo>
                  <a:cubicBezTo>
                    <a:pt x="8763" y="1477"/>
                    <a:pt x="6901" y="0"/>
                    <a:pt x="4840"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5">
              <a:extLst>
                <a:ext uri="{FF2B5EF4-FFF2-40B4-BE49-F238E27FC236}">
                  <a16:creationId xmlns:a16="http://schemas.microsoft.com/office/drawing/2014/main" id="{3D3FB6FA-C95D-C549-262D-A8E818A365A7}"/>
                </a:ext>
              </a:extLst>
            </p:cNvPr>
            <p:cNvSpPr/>
            <p:nvPr/>
          </p:nvSpPr>
          <p:spPr>
            <a:xfrm>
              <a:off x="2967200" y="2462050"/>
              <a:ext cx="180525" cy="166200"/>
            </a:xfrm>
            <a:custGeom>
              <a:avLst/>
              <a:gdLst/>
              <a:ahLst/>
              <a:cxnLst/>
              <a:rect l="l" t="t" r="r" b="b"/>
              <a:pathLst>
                <a:path w="7221" h="6648" extrusionOk="0">
                  <a:moveTo>
                    <a:pt x="3615" y="1"/>
                  </a:moveTo>
                  <a:cubicBezTo>
                    <a:pt x="3405" y="1"/>
                    <a:pt x="3191" y="21"/>
                    <a:pt x="2977" y="62"/>
                  </a:cubicBezTo>
                  <a:cubicBezTo>
                    <a:pt x="1172" y="411"/>
                    <a:pt x="0" y="2152"/>
                    <a:pt x="349" y="3958"/>
                  </a:cubicBezTo>
                  <a:cubicBezTo>
                    <a:pt x="656" y="5548"/>
                    <a:pt x="2045" y="6647"/>
                    <a:pt x="3606" y="6647"/>
                  </a:cubicBezTo>
                  <a:cubicBezTo>
                    <a:pt x="3816" y="6647"/>
                    <a:pt x="4030" y="6627"/>
                    <a:pt x="4244" y="6586"/>
                  </a:cubicBezTo>
                  <a:cubicBezTo>
                    <a:pt x="6049" y="6238"/>
                    <a:pt x="7221" y="4496"/>
                    <a:pt x="6872" y="2691"/>
                  </a:cubicBezTo>
                  <a:cubicBezTo>
                    <a:pt x="6565" y="1100"/>
                    <a:pt x="5176" y="1"/>
                    <a:pt x="3615"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5">
              <a:extLst>
                <a:ext uri="{FF2B5EF4-FFF2-40B4-BE49-F238E27FC236}">
                  <a16:creationId xmlns:a16="http://schemas.microsoft.com/office/drawing/2014/main" id="{4C1B43B5-5775-0AE6-A4CE-5C0AAAD0DABB}"/>
                </a:ext>
              </a:extLst>
            </p:cNvPr>
            <p:cNvSpPr/>
            <p:nvPr/>
          </p:nvSpPr>
          <p:spPr>
            <a:xfrm>
              <a:off x="2987000" y="2482600"/>
              <a:ext cx="160725" cy="145500"/>
            </a:xfrm>
            <a:custGeom>
              <a:avLst/>
              <a:gdLst/>
              <a:ahLst/>
              <a:cxnLst/>
              <a:rect l="l" t="t" r="r" b="b"/>
              <a:pathLst>
                <a:path w="6429" h="5820" extrusionOk="0">
                  <a:moveTo>
                    <a:pt x="5004" y="0"/>
                  </a:moveTo>
                  <a:cubicBezTo>
                    <a:pt x="5225" y="349"/>
                    <a:pt x="5384" y="697"/>
                    <a:pt x="5447" y="1140"/>
                  </a:cubicBezTo>
                  <a:cubicBezTo>
                    <a:pt x="5795" y="2914"/>
                    <a:pt x="4624" y="4656"/>
                    <a:pt x="2819" y="5004"/>
                  </a:cubicBezTo>
                  <a:cubicBezTo>
                    <a:pt x="2595" y="5051"/>
                    <a:pt x="2373" y="5074"/>
                    <a:pt x="2154" y="5074"/>
                  </a:cubicBezTo>
                  <a:cubicBezTo>
                    <a:pt x="1351" y="5074"/>
                    <a:pt x="597" y="4767"/>
                    <a:pt x="0" y="4244"/>
                  </a:cubicBezTo>
                  <a:lnTo>
                    <a:pt x="0" y="4244"/>
                  </a:lnTo>
                  <a:cubicBezTo>
                    <a:pt x="594" y="5216"/>
                    <a:pt x="1671" y="5819"/>
                    <a:pt x="2839" y="5819"/>
                  </a:cubicBezTo>
                  <a:cubicBezTo>
                    <a:pt x="3042" y="5819"/>
                    <a:pt x="3246" y="5801"/>
                    <a:pt x="3452" y="5764"/>
                  </a:cubicBezTo>
                  <a:cubicBezTo>
                    <a:pt x="5257" y="5416"/>
                    <a:pt x="6429" y="3674"/>
                    <a:pt x="6080" y="1869"/>
                  </a:cubicBezTo>
                  <a:cubicBezTo>
                    <a:pt x="5954" y="1109"/>
                    <a:pt x="5542" y="475"/>
                    <a:pt x="5004"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5">
              <a:extLst>
                <a:ext uri="{FF2B5EF4-FFF2-40B4-BE49-F238E27FC236}">
                  <a16:creationId xmlns:a16="http://schemas.microsoft.com/office/drawing/2014/main" id="{337A6ED7-72AE-AC5D-A318-26CF001D2EBA}"/>
                </a:ext>
              </a:extLst>
            </p:cNvPr>
            <p:cNvSpPr/>
            <p:nvPr/>
          </p:nvSpPr>
          <p:spPr>
            <a:xfrm>
              <a:off x="3025775" y="2511075"/>
              <a:ext cx="76825" cy="80000"/>
            </a:xfrm>
            <a:custGeom>
              <a:avLst/>
              <a:gdLst/>
              <a:ahLst/>
              <a:cxnLst/>
              <a:rect l="l" t="t" r="r" b="b"/>
              <a:pathLst>
                <a:path w="3073" h="3200" extrusionOk="0">
                  <a:moveTo>
                    <a:pt x="824" y="920"/>
                  </a:moveTo>
                  <a:lnTo>
                    <a:pt x="2028" y="1331"/>
                  </a:lnTo>
                  <a:lnTo>
                    <a:pt x="1046" y="2155"/>
                  </a:lnTo>
                  <a:lnTo>
                    <a:pt x="824" y="920"/>
                  </a:lnTo>
                  <a:close/>
                  <a:moveTo>
                    <a:pt x="343" y="0"/>
                  </a:moveTo>
                  <a:cubicBezTo>
                    <a:pt x="263" y="0"/>
                    <a:pt x="189" y="35"/>
                    <a:pt x="127" y="96"/>
                  </a:cubicBezTo>
                  <a:cubicBezTo>
                    <a:pt x="32" y="160"/>
                    <a:pt x="1" y="255"/>
                    <a:pt x="1" y="350"/>
                  </a:cubicBezTo>
                  <a:cubicBezTo>
                    <a:pt x="1" y="381"/>
                    <a:pt x="1" y="413"/>
                    <a:pt x="1" y="445"/>
                  </a:cubicBezTo>
                  <a:lnTo>
                    <a:pt x="476" y="2915"/>
                  </a:lnTo>
                  <a:cubicBezTo>
                    <a:pt x="507" y="3042"/>
                    <a:pt x="603" y="3137"/>
                    <a:pt x="698" y="3168"/>
                  </a:cubicBezTo>
                  <a:cubicBezTo>
                    <a:pt x="761" y="3200"/>
                    <a:pt x="793" y="3200"/>
                    <a:pt x="824" y="3200"/>
                  </a:cubicBezTo>
                  <a:cubicBezTo>
                    <a:pt x="919" y="3200"/>
                    <a:pt x="983" y="3168"/>
                    <a:pt x="1046" y="3105"/>
                  </a:cubicBezTo>
                  <a:lnTo>
                    <a:pt x="2946" y="1458"/>
                  </a:lnTo>
                  <a:cubicBezTo>
                    <a:pt x="3041" y="1395"/>
                    <a:pt x="3073" y="1300"/>
                    <a:pt x="3073" y="1205"/>
                  </a:cubicBezTo>
                  <a:cubicBezTo>
                    <a:pt x="3073" y="1173"/>
                    <a:pt x="3073" y="1141"/>
                    <a:pt x="3073" y="1110"/>
                  </a:cubicBezTo>
                  <a:cubicBezTo>
                    <a:pt x="3041" y="983"/>
                    <a:pt x="2978" y="888"/>
                    <a:pt x="2851" y="856"/>
                  </a:cubicBezTo>
                  <a:lnTo>
                    <a:pt x="476" y="33"/>
                  </a:lnTo>
                  <a:cubicBezTo>
                    <a:pt x="431" y="11"/>
                    <a:pt x="386" y="0"/>
                    <a:pt x="343"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5">
              <a:extLst>
                <a:ext uri="{FF2B5EF4-FFF2-40B4-BE49-F238E27FC236}">
                  <a16:creationId xmlns:a16="http://schemas.microsoft.com/office/drawing/2014/main" id="{B7B183EC-9AB5-F568-E50E-A4FF656E5842}"/>
                </a:ext>
              </a:extLst>
            </p:cNvPr>
            <p:cNvSpPr/>
            <p:nvPr/>
          </p:nvSpPr>
          <p:spPr>
            <a:xfrm>
              <a:off x="2851600" y="2381925"/>
              <a:ext cx="32500" cy="84850"/>
            </a:xfrm>
            <a:custGeom>
              <a:avLst/>
              <a:gdLst/>
              <a:ahLst/>
              <a:cxnLst/>
              <a:rect l="l" t="t" r="r" b="b"/>
              <a:pathLst>
                <a:path w="1300" h="3394" extrusionOk="0">
                  <a:moveTo>
                    <a:pt x="376" y="0"/>
                  </a:moveTo>
                  <a:cubicBezTo>
                    <a:pt x="357" y="0"/>
                    <a:pt x="337" y="2"/>
                    <a:pt x="317" y="5"/>
                  </a:cubicBezTo>
                  <a:cubicBezTo>
                    <a:pt x="127" y="69"/>
                    <a:pt x="1" y="227"/>
                    <a:pt x="32" y="449"/>
                  </a:cubicBezTo>
                  <a:lnTo>
                    <a:pt x="571" y="3109"/>
                  </a:lnTo>
                  <a:cubicBezTo>
                    <a:pt x="602" y="3267"/>
                    <a:pt x="729" y="3394"/>
                    <a:pt x="919" y="3394"/>
                  </a:cubicBezTo>
                  <a:cubicBezTo>
                    <a:pt x="919" y="3394"/>
                    <a:pt x="951" y="3394"/>
                    <a:pt x="982" y="3362"/>
                  </a:cubicBezTo>
                  <a:cubicBezTo>
                    <a:pt x="1172" y="3331"/>
                    <a:pt x="1299" y="3141"/>
                    <a:pt x="1267" y="2951"/>
                  </a:cubicBezTo>
                  <a:lnTo>
                    <a:pt x="729" y="290"/>
                  </a:lnTo>
                  <a:cubicBezTo>
                    <a:pt x="701" y="120"/>
                    <a:pt x="545" y="0"/>
                    <a:pt x="376"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5">
              <a:extLst>
                <a:ext uri="{FF2B5EF4-FFF2-40B4-BE49-F238E27FC236}">
                  <a16:creationId xmlns:a16="http://schemas.microsoft.com/office/drawing/2014/main" id="{C3B40BD5-D903-6B5B-783A-9ED3BCDC1871}"/>
                </a:ext>
              </a:extLst>
            </p:cNvPr>
            <p:cNvSpPr/>
            <p:nvPr/>
          </p:nvSpPr>
          <p:spPr>
            <a:xfrm>
              <a:off x="2824675" y="2408850"/>
              <a:ext cx="86325" cy="31025"/>
            </a:xfrm>
            <a:custGeom>
              <a:avLst/>
              <a:gdLst/>
              <a:ahLst/>
              <a:cxnLst/>
              <a:rect l="l" t="t" r="r" b="b"/>
              <a:pathLst>
                <a:path w="3453" h="1241" extrusionOk="0">
                  <a:moveTo>
                    <a:pt x="3068" y="0"/>
                  </a:moveTo>
                  <a:cubicBezTo>
                    <a:pt x="3049" y="0"/>
                    <a:pt x="3029" y="2"/>
                    <a:pt x="3009" y="5"/>
                  </a:cubicBezTo>
                  <a:lnTo>
                    <a:pt x="318" y="512"/>
                  </a:lnTo>
                  <a:cubicBezTo>
                    <a:pt x="128" y="575"/>
                    <a:pt x="1" y="733"/>
                    <a:pt x="64" y="955"/>
                  </a:cubicBezTo>
                  <a:cubicBezTo>
                    <a:pt x="96" y="1113"/>
                    <a:pt x="223" y="1240"/>
                    <a:pt x="413" y="1240"/>
                  </a:cubicBezTo>
                  <a:cubicBezTo>
                    <a:pt x="413" y="1240"/>
                    <a:pt x="444" y="1240"/>
                    <a:pt x="476" y="1208"/>
                  </a:cubicBezTo>
                  <a:lnTo>
                    <a:pt x="3136" y="702"/>
                  </a:lnTo>
                  <a:cubicBezTo>
                    <a:pt x="3326" y="670"/>
                    <a:pt x="3453" y="480"/>
                    <a:pt x="3421" y="290"/>
                  </a:cubicBezTo>
                  <a:cubicBezTo>
                    <a:pt x="3393" y="120"/>
                    <a:pt x="3237" y="0"/>
                    <a:pt x="3068"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5">
              <a:extLst>
                <a:ext uri="{FF2B5EF4-FFF2-40B4-BE49-F238E27FC236}">
                  <a16:creationId xmlns:a16="http://schemas.microsoft.com/office/drawing/2014/main" id="{785A6B79-890B-750E-E29E-1B7741F0BA9B}"/>
                </a:ext>
              </a:extLst>
            </p:cNvPr>
            <p:cNvSpPr/>
            <p:nvPr/>
          </p:nvSpPr>
          <p:spPr>
            <a:xfrm>
              <a:off x="2694050" y="2566650"/>
              <a:ext cx="82375" cy="79850"/>
            </a:xfrm>
            <a:custGeom>
              <a:avLst/>
              <a:gdLst/>
              <a:ahLst/>
              <a:cxnLst/>
              <a:rect l="l" t="t" r="r" b="b"/>
              <a:pathLst>
                <a:path w="3295" h="3194" extrusionOk="0">
                  <a:moveTo>
                    <a:pt x="1647" y="724"/>
                  </a:moveTo>
                  <a:cubicBezTo>
                    <a:pt x="2059" y="724"/>
                    <a:pt x="2439" y="1009"/>
                    <a:pt x="2534" y="1420"/>
                  </a:cubicBezTo>
                  <a:cubicBezTo>
                    <a:pt x="2566" y="1674"/>
                    <a:pt x="2534" y="1895"/>
                    <a:pt x="2376" y="2117"/>
                  </a:cubicBezTo>
                  <a:cubicBezTo>
                    <a:pt x="2249" y="2307"/>
                    <a:pt x="2059" y="2434"/>
                    <a:pt x="1806" y="2465"/>
                  </a:cubicBezTo>
                  <a:cubicBezTo>
                    <a:pt x="1746" y="2482"/>
                    <a:pt x="1685" y="2490"/>
                    <a:pt x="1622" y="2490"/>
                  </a:cubicBezTo>
                  <a:cubicBezTo>
                    <a:pt x="1453" y="2490"/>
                    <a:pt x="1280" y="2431"/>
                    <a:pt x="1141" y="2339"/>
                  </a:cubicBezTo>
                  <a:cubicBezTo>
                    <a:pt x="951" y="2212"/>
                    <a:pt x="824" y="1990"/>
                    <a:pt x="761" y="1769"/>
                  </a:cubicBezTo>
                  <a:cubicBezTo>
                    <a:pt x="729" y="1547"/>
                    <a:pt x="761" y="1294"/>
                    <a:pt x="919" y="1104"/>
                  </a:cubicBezTo>
                  <a:cubicBezTo>
                    <a:pt x="1046" y="914"/>
                    <a:pt x="1236" y="787"/>
                    <a:pt x="1489" y="724"/>
                  </a:cubicBezTo>
                  <a:close/>
                  <a:moveTo>
                    <a:pt x="1650" y="0"/>
                  </a:moveTo>
                  <a:cubicBezTo>
                    <a:pt x="1555" y="0"/>
                    <a:pt x="1458" y="9"/>
                    <a:pt x="1362" y="27"/>
                  </a:cubicBezTo>
                  <a:cubicBezTo>
                    <a:pt x="919" y="122"/>
                    <a:pt x="570" y="344"/>
                    <a:pt x="317" y="692"/>
                  </a:cubicBezTo>
                  <a:cubicBezTo>
                    <a:pt x="95" y="1072"/>
                    <a:pt x="0" y="1484"/>
                    <a:pt x="64" y="1895"/>
                  </a:cubicBezTo>
                  <a:cubicBezTo>
                    <a:pt x="159" y="2339"/>
                    <a:pt x="412" y="2687"/>
                    <a:pt x="761" y="2940"/>
                  </a:cubicBezTo>
                  <a:cubicBezTo>
                    <a:pt x="1014" y="3099"/>
                    <a:pt x="1331" y="3194"/>
                    <a:pt x="1647" y="3194"/>
                  </a:cubicBezTo>
                  <a:cubicBezTo>
                    <a:pt x="1742" y="3194"/>
                    <a:pt x="1837" y="3194"/>
                    <a:pt x="1964" y="3162"/>
                  </a:cubicBezTo>
                  <a:cubicBezTo>
                    <a:pt x="2376" y="3099"/>
                    <a:pt x="2724" y="2845"/>
                    <a:pt x="2977" y="2497"/>
                  </a:cubicBezTo>
                  <a:cubicBezTo>
                    <a:pt x="3231" y="2149"/>
                    <a:pt x="3294" y="1705"/>
                    <a:pt x="3231" y="1294"/>
                  </a:cubicBezTo>
                  <a:cubicBezTo>
                    <a:pt x="3090" y="535"/>
                    <a:pt x="2401" y="0"/>
                    <a:pt x="1650"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5">
              <a:extLst>
                <a:ext uri="{FF2B5EF4-FFF2-40B4-BE49-F238E27FC236}">
                  <a16:creationId xmlns:a16="http://schemas.microsoft.com/office/drawing/2014/main" id="{B6C129C3-ADCF-43EB-B0BE-C69BC1B37219}"/>
                </a:ext>
              </a:extLst>
            </p:cNvPr>
            <p:cNvSpPr/>
            <p:nvPr/>
          </p:nvSpPr>
          <p:spPr>
            <a:xfrm>
              <a:off x="2879325" y="2688900"/>
              <a:ext cx="91050" cy="71625"/>
            </a:xfrm>
            <a:custGeom>
              <a:avLst/>
              <a:gdLst/>
              <a:ahLst/>
              <a:cxnLst/>
              <a:rect l="l" t="t" r="r" b="b"/>
              <a:pathLst>
                <a:path w="3642" h="2865" extrusionOk="0">
                  <a:moveTo>
                    <a:pt x="2660" y="774"/>
                  </a:moveTo>
                  <a:lnTo>
                    <a:pt x="2850" y="1724"/>
                  </a:lnTo>
                  <a:lnTo>
                    <a:pt x="982" y="2072"/>
                  </a:lnTo>
                  <a:lnTo>
                    <a:pt x="792" y="1122"/>
                  </a:lnTo>
                  <a:lnTo>
                    <a:pt x="2660" y="774"/>
                  </a:lnTo>
                  <a:close/>
                  <a:moveTo>
                    <a:pt x="2965" y="1"/>
                  </a:moveTo>
                  <a:cubicBezTo>
                    <a:pt x="2938" y="1"/>
                    <a:pt x="2910" y="5"/>
                    <a:pt x="2882" y="14"/>
                  </a:cubicBezTo>
                  <a:lnTo>
                    <a:pt x="317" y="489"/>
                  </a:lnTo>
                  <a:cubicBezTo>
                    <a:pt x="127" y="521"/>
                    <a:pt x="0" y="711"/>
                    <a:pt x="32" y="901"/>
                  </a:cubicBezTo>
                  <a:lnTo>
                    <a:pt x="348" y="2579"/>
                  </a:lnTo>
                  <a:cubicBezTo>
                    <a:pt x="348" y="2674"/>
                    <a:pt x="412" y="2737"/>
                    <a:pt x="507" y="2801"/>
                  </a:cubicBezTo>
                  <a:cubicBezTo>
                    <a:pt x="538" y="2832"/>
                    <a:pt x="633" y="2864"/>
                    <a:pt x="697" y="2864"/>
                  </a:cubicBezTo>
                  <a:cubicBezTo>
                    <a:pt x="697" y="2864"/>
                    <a:pt x="728" y="2864"/>
                    <a:pt x="760" y="2832"/>
                  </a:cubicBezTo>
                  <a:lnTo>
                    <a:pt x="3325" y="2357"/>
                  </a:lnTo>
                  <a:cubicBezTo>
                    <a:pt x="3515" y="2326"/>
                    <a:pt x="3642" y="2136"/>
                    <a:pt x="3610" y="1946"/>
                  </a:cubicBezTo>
                  <a:lnTo>
                    <a:pt x="3294" y="267"/>
                  </a:lnTo>
                  <a:cubicBezTo>
                    <a:pt x="3262" y="204"/>
                    <a:pt x="3230" y="109"/>
                    <a:pt x="3135" y="46"/>
                  </a:cubicBezTo>
                  <a:cubicBezTo>
                    <a:pt x="3090" y="23"/>
                    <a:pt x="3030" y="1"/>
                    <a:pt x="2965" y="1"/>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5">
              <a:extLst>
                <a:ext uri="{FF2B5EF4-FFF2-40B4-BE49-F238E27FC236}">
                  <a16:creationId xmlns:a16="http://schemas.microsoft.com/office/drawing/2014/main" id="{26EDF657-B799-6CE2-FBCC-E3C6B5B16125}"/>
                </a:ext>
              </a:extLst>
            </p:cNvPr>
            <p:cNvSpPr/>
            <p:nvPr/>
          </p:nvSpPr>
          <p:spPr>
            <a:xfrm>
              <a:off x="6368450" y="1530150"/>
              <a:ext cx="490100" cy="688825"/>
            </a:xfrm>
            <a:custGeom>
              <a:avLst/>
              <a:gdLst/>
              <a:ahLst/>
              <a:cxnLst/>
              <a:rect l="l" t="t" r="r" b="b"/>
              <a:pathLst>
                <a:path w="19604" h="27553" extrusionOk="0">
                  <a:moveTo>
                    <a:pt x="8393" y="1"/>
                  </a:moveTo>
                  <a:cubicBezTo>
                    <a:pt x="6683" y="6113"/>
                    <a:pt x="4371" y="22137"/>
                    <a:pt x="1" y="27553"/>
                  </a:cubicBezTo>
                  <a:cubicBezTo>
                    <a:pt x="8551" y="27299"/>
                    <a:pt x="14948" y="27014"/>
                    <a:pt x="16564" y="26729"/>
                  </a:cubicBezTo>
                  <a:cubicBezTo>
                    <a:pt x="19604" y="26222"/>
                    <a:pt x="15772" y="2471"/>
                    <a:pt x="13238" y="697"/>
                  </a:cubicBezTo>
                  <a:cubicBezTo>
                    <a:pt x="12890" y="444"/>
                    <a:pt x="11148" y="222"/>
                    <a:pt x="8393"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 name="Google Shape;418;p15">
            <a:extLst>
              <a:ext uri="{FF2B5EF4-FFF2-40B4-BE49-F238E27FC236}">
                <a16:creationId xmlns:a16="http://schemas.microsoft.com/office/drawing/2014/main" id="{52E0D7D7-8BE9-B961-C61E-DB6637A20939}"/>
              </a:ext>
            </a:extLst>
          </p:cNvPr>
          <p:cNvSpPr txBox="1"/>
          <p:nvPr/>
        </p:nvSpPr>
        <p:spPr>
          <a:xfrm>
            <a:off x="542925" y="406900"/>
            <a:ext cx="7890825" cy="481200"/>
          </a:xfrm>
          <a:prstGeom prst="rect">
            <a:avLst/>
          </a:prstGeom>
          <a:noFill/>
          <a:ln>
            <a:noFill/>
          </a:ln>
        </p:spPr>
        <p:txBody>
          <a:bodyPr spcFirstLastPara="1" wrap="square" lIns="91425" tIns="91425" rIns="91425" bIns="91425" anchor="ctr" anchorCtr="0">
            <a:noAutofit/>
          </a:bodyPr>
          <a:lstStyle/>
          <a:p>
            <a:pPr algn="ctr"/>
            <a:r>
              <a:rPr lang="en-US" altLang="zh-CN" sz="2400">
                <a:latin typeface="Fira Sans Medium"/>
                <a:ea typeface="等线"/>
              </a:rPr>
              <a:t>Logistic and Linear Regression Models</a:t>
            </a:r>
            <a:endParaRPr lang="en-US"/>
          </a:p>
        </p:txBody>
      </p:sp>
      <p:sp>
        <p:nvSpPr>
          <p:cNvPr id="419" name="Google Shape;419;p15">
            <a:extLst>
              <a:ext uri="{FF2B5EF4-FFF2-40B4-BE49-F238E27FC236}">
                <a16:creationId xmlns:a16="http://schemas.microsoft.com/office/drawing/2014/main" id="{EDF6DD87-634F-8921-F619-2F17DFA3521A}"/>
              </a:ext>
            </a:extLst>
          </p:cNvPr>
          <p:cNvSpPr txBox="1"/>
          <p:nvPr/>
        </p:nvSpPr>
        <p:spPr>
          <a:xfrm>
            <a:off x="5337079" y="1193150"/>
            <a:ext cx="2827500" cy="429600"/>
          </a:xfrm>
          <a:prstGeom prst="rect">
            <a:avLst/>
          </a:prstGeom>
          <a:noFill/>
          <a:ln>
            <a:noFill/>
          </a:ln>
        </p:spPr>
        <p:txBody>
          <a:bodyPr spcFirstLastPara="1" wrap="square" lIns="91425" tIns="91425" rIns="91425" bIns="91425" anchor="ctr" anchorCtr="0">
            <a:noAutofit/>
          </a:bodyPr>
          <a:lstStyle/>
          <a:p>
            <a:r>
              <a:rPr lang="en" sz="1700">
                <a:latin typeface="Fira Sans Medium"/>
                <a:ea typeface="Fira Sans Medium"/>
                <a:cs typeface="Fira Sans Medium"/>
                <a:sym typeface="Fira Sans Medium"/>
              </a:rPr>
              <a:t>Logistic Regression</a:t>
            </a:r>
            <a:endParaRPr sz="1700">
              <a:latin typeface="Fira Sans Medium"/>
              <a:ea typeface="Fira Sans Medium"/>
              <a:cs typeface="Fira Sans Medium"/>
              <a:sym typeface="Fira Sans Medium"/>
            </a:endParaRPr>
          </a:p>
        </p:txBody>
      </p:sp>
      <p:sp>
        <p:nvSpPr>
          <p:cNvPr id="420" name="Google Shape;420;p15">
            <a:extLst>
              <a:ext uri="{FF2B5EF4-FFF2-40B4-BE49-F238E27FC236}">
                <a16:creationId xmlns:a16="http://schemas.microsoft.com/office/drawing/2014/main" id="{27BD3FA0-8361-E9CD-0134-B551B93A28E7}"/>
              </a:ext>
            </a:extLst>
          </p:cNvPr>
          <p:cNvSpPr txBox="1"/>
          <p:nvPr/>
        </p:nvSpPr>
        <p:spPr>
          <a:xfrm>
            <a:off x="5337075" y="1540000"/>
            <a:ext cx="2827500" cy="532800"/>
          </a:xfrm>
          <a:prstGeom prst="rect">
            <a:avLst/>
          </a:prstGeom>
          <a:noFill/>
          <a:ln>
            <a:noFill/>
          </a:ln>
        </p:spPr>
        <p:txBody>
          <a:bodyPr spcFirstLastPara="1" wrap="square" lIns="91425" tIns="91425" rIns="91425" bIns="91425" anchor="t" anchorCtr="0">
            <a:noAutofit/>
          </a:bodyPr>
          <a:lstStyle/>
          <a:p>
            <a:r>
              <a:rPr lang="en-US" altLang="zh-CN" sz="1200">
                <a:ea typeface="等线"/>
              </a:rPr>
              <a:t>High vs low review impact on price</a:t>
            </a:r>
            <a:endParaRPr lang="en-US"/>
          </a:p>
        </p:txBody>
      </p:sp>
      <p:sp>
        <p:nvSpPr>
          <p:cNvPr id="421" name="Google Shape;421;p15">
            <a:extLst>
              <a:ext uri="{FF2B5EF4-FFF2-40B4-BE49-F238E27FC236}">
                <a16:creationId xmlns:a16="http://schemas.microsoft.com/office/drawing/2014/main" id="{D69D2BAF-2304-56B6-1EF6-4F6A617DC27C}"/>
              </a:ext>
            </a:extLst>
          </p:cNvPr>
          <p:cNvSpPr txBox="1"/>
          <p:nvPr/>
        </p:nvSpPr>
        <p:spPr>
          <a:xfrm>
            <a:off x="5712050" y="2525050"/>
            <a:ext cx="2827500" cy="429600"/>
          </a:xfrm>
          <a:prstGeom prst="rect">
            <a:avLst/>
          </a:prstGeom>
          <a:noFill/>
          <a:ln>
            <a:noFill/>
          </a:ln>
        </p:spPr>
        <p:txBody>
          <a:bodyPr spcFirstLastPara="1" wrap="square" lIns="91425" tIns="91425" rIns="91425" bIns="91425" anchor="ctr" anchorCtr="0">
            <a:noAutofit/>
          </a:bodyPr>
          <a:lstStyle/>
          <a:p>
            <a:r>
              <a:rPr lang="en" sz="1700">
                <a:latin typeface="Fira Sans Medium"/>
                <a:ea typeface="Fira Sans Medium"/>
                <a:cs typeface="Fira Sans Medium"/>
                <a:sym typeface="Fira Sans Medium"/>
              </a:rPr>
              <a:t>Correlation Analysis</a:t>
            </a:r>
            <a:endParaRPr sz="1700">
              <a:latin typeface="Fira Sans Medium"/>
              <a:ea typeface="Fira Sans Medium"/>
              <a:cs typeface="Fira Sans Medium"/>
              <a:sym typeface="Fira Sans Medium"/>
            </a:endParaRPr>
          </a:p>
        </p:txBody>
      </p:sp>
      <p:sp>
        <p:nvSpPr>
          <p:cNvPr id="422" name="Google Shape;422;p15">
            <a:extLst>
              <a:ext uri="{FF2B5EF4-FFF2-40B4-BE49-F238E27FC236}">
                <a16:creationId xmlns:a16="http://schemas.microsoft.com/office/drawing/2014/main" id="{05913E04-F856-633B-45EF-2EF4B2DCB975}"/>
              </a:ext>
            </a:extLst>
          </p:cNvPr>
          <p:cNvSpPr txBox="1"/>
          <p:nvPr/>
        </p:nvSpPr>
        <p:spPr>
          <a:xfrm>
            <a:off x="5712050" y="2871900"/>
            <a:ext cx="2573100" cy="532800"/>
          </a:xfrm>
          <a:prstGeom prst="rect">
            <a:avLst/>
          </a:prstGeom>
          <a:noFill/>
          <a:ln>
            <a:noFill/>
          </a:ln>
        </p:spPr>
        <p:txBody>
          <a:bodyPr spcFirstLastPara="1" wrap="square" lIns="91425" tIns="91425" rIns="91425" bIns="91425" anchor="t" anchorCtr="0">
            <a:noAutofit/>
          </a:bodyPr>
          <a:lstStyle/>
          <a:p>
            <a:r>
              <a:rPr lang="en-US" altLang="zh-CN" sz="1200">
                <a:ea typeface="等线"/>
              </a:rPr>
              <a:t>Price impact on reviews and ratings</a:t>
            </a:r>
          </a:p>
        </p:txBody>
      </p:sp>
      <p:sp>
        <p:nvSpPr>
          <p:cNvPr id="423" name="Google Shape;423;p15">
            <a:extLst>
              <a:ext uri="{FF2B5EF4-FFF2-40B4-BE49-F238E27FC236}">
                <a16:creationId xmlns:a16="http://schemas.microsoft.com/office/drawing/2014/main" id="{952408AA-5EB8-634D-F2E8-C02E1A1727EA}"/>
              </a:ext>
            </a:extLst>
          </p:cNvPr>
          <p:cNvSpPr txBox="1"/>
          <p:nvPr/>
        </p:nvSpPr>
        <p:spPr>
          <a:xfrm>
            <a:off x="5235307" y="3851575"/>
            <a:ext cx="3430321" cy="429600"/>
          </a:xfrm>
          <a:prstGeom prst="rect">
            <a:avLst/>
          </a:prstGeom>
          <a:noFill/>
          <a:ln>
            <a:noFill/>
          </a:ln>
        </p:spPr>
        <p:txBody>
          <a:bodyPr spcFirstLastPara="1" wrap="square" lIns="91425" tIns="91425" rIns="91425" bIns="91425" anchor="ctr" anchorCtr="0">
            <a:noAutofit/>
          </a:bodyPr>
          <a:lstStyle/>
          <a:p>
            <a:r>
              <a:rPr lang="en" sz="1700">
                <a:latin typeface="Fira Sans Medium"/>
                <a:ea typeface="等线"/>
                <a:sym typeface="Fira Sans Medium"/>
              </a:rPr>
              <a:t>Linear Regression</a:t>
            </a:r>
            <a:endParaRPr lang="en-US" altLang="zh-CN" sz="1700">
              <a:latin typeface="Fira Sans Medium"/>
              <a:ea typeface="等线"/>
            </a:endParaRPr>
          </a:p>
        </p:txBody>
      </p:sp>
      <p:sp>
        <p:nvSpPr>
          <p:cNvPr id="424" name="Google Shape;424;p15">
            <a:extLst>
              <a:ext uri="{FF2B5EF4-FFF2-40B4-BE49-F238E27FC236}">
                <a16:creationId xmlns:a16="http://schemas.microsoft.com/office/drawing/2014/main" id="{38662097-2DA0-DE2F-E1F5-531E92810246}"/>
              </a:ext>
            </a:extLst>
          </p:cNvPr>
          <p:cNvSpPr txBox="1"/>
          <p:nvPr/>
        </p:nvSpPr>
        <p:spPr>
          <a:xfrm>
            <a:off x="5337075" y="4203800"/>
            <a:ext cx="2827500" cy="532800"/>
          </a:xfrm>
          <a:prstGeom prst="rect">
            <a:avLst/>
          </a:prstGeom>
          <a:noFill/>
          <a:ln>
            <a:noFill/>
          </a:ln>
        </p:spPr>
        <p:txBody>
          <a:bodyPr spcFirstLastPara="1" wrap="square" lIns="91425" tIns="91425" rIns="91425" bIns="91425" anchor="t" anchorCtr="0">
            <a:noAutofit/>
          </a:bodyPr>
          <a:lstStyle/>
          <a:p>
            <a:r>
              <a:rPr lang="en-US" altLang="zh-CN" sz="1200">
                <a:ea typeface="等线"/>
              </a:rPr>
              <a:t>Price impact on reviews and ratings</a:t>
            </a:r>
            <a:endParaRPr lang="en-US"/>
          </a:p>
        </p:txBody>
      </p:sp>
      <p:pic>
        <p:nvPicPr>
          <p:cNvPr id="2" name="Picture 1">
            <a:extLst>
              <a:ext uri="{FF2B5EF4-FFF2-40B4-BE49-F238E27FC236}">
                <a16:creationId xmlns:a16="http://schemas.microsoft.com/office/drawing/2014/main" id="{1EA206D1-33B4-7B9D-346D-9BCE483ADF8D}"/>
              </a:ext>
            </a:extLst>
          </p:cNvPr>
          <p:cNvPicPr>
            <a:picLocks noChangeAspect="1"/>
          </p:cNvPicPr>
          <p:nvPr/>
        </p:nvPicPr>
        <p:blipFill>
          <a:blip r:embed="rId3"/>
          <a:stretch>
            <a:fillRect/>
          </a:stretch>
        </p:blipFill>
        <p:spPr>
          <a:xfrm>
            <a:off x="254702" y="1706769"/>
            <a:ext cx="3917857" cy="2271221"/>
          </a:xfrm>
          <a:prstGeom prst="rect">
            <a:avLst/>
          </a:prstGeom>
        </p:spPr>
      </p:pic>
    </p:spTree>
    <p:extLst>
      <p:ext uri="{BB962C8B-B14F-4D97-AF65-F5344CB8AC3E}">
        <p14:creationId xmlns:p14="http://schemas.microsoft.com/office/powerpoint/2010/main" val="3088891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8">
          <a:extLst>
            <a:ext uri="{FF2B5EF4-FFF2-40B4-BE49-F238E27FC236}">
              <a16:creationId xmlns:a16="http://schemas.microsoft.com/office/drawing/2014/main" id="{9D99BEA7-165B-964F-8F87-E48E04D0EF74}"/>
            </a:ext>
          </a:extLst>
        </p:cNvPr>
        <p:cNvGrpSpPr/>
        <p:nvPr/>
      </p:nvGrpSpPr>
      <p:grpSpPr>
        <a:xfrm>
          <a:off x="0" y="0"/>
          <a:ext cx="0" cy="0"/>
          <a:chOff x="0" y="0"/>
          <a:chExt cx="0" cy="0"/>
        </a:xfrm>
      </p:grpSpPr>
      <p:sp>
        <p:nvSpPr>
          <p:cNvPr id="1686" name="Google Shape;1686;p20">
            <a:extLst>
              <a:ext uri="{FF2B5EF4-FFF2-40B4-BE49-F238E27FC236}">
                <a16:creationId xmlns:a16="http://schemas.microsoft.com/office/drawing/2014/main" id="{81682437-DA14-E4BE-5C1F-4B1F8EA3C658}"/>
              </a:ext>
            </a:extLst>
          </p:cNvPr>
          <p:cNvSpPr txBox="1"/>
          <p:nvPr/>
        </p:nvSpPr>
        <p:spPr>
          <a:xfrm>
            <a:off x="717400" y="411475"/>
            <a:ext cx="7723500" cy="481200"/>
          </a:xfrm>
          <a:prstGeom prst="rect">
            <a:avLst/>
          </a:prstGeom>
          <a:noFill/>
          <a:ln>
            <a:noFill/>
          </a:ln>
        </p:spPr>
        <p:txBody>
          <a:bodyPr spcFirstLastPara="1" wrap="square" lIns="91425" tIns="91425" rIns="91425" bIns="91425" anchor="ctr" anchorCtr="0">
            <a:noAutofit/>
          </a:bodyPr>
          <a:lstStyle/>
          <a:p>
            <a:pPr algn="ctr"/>
            <a:r>
              <a:rPr lang="en" sz="2800">
                <a:latin typeface="Fira Sans Medium"/>
                <a:ea typeface="Fira Sans Medium"/>
                <a:cs typeface="Fira Sans Medium"/>
              </a:rPr>
              <a:t>Logistic Regression</a:t>
            </a:r>
          </a:p>
        </p:txBody>
      </p:sp>
      <p:sp>
        <p:nvSpPr>
          <p:cNvPr id="2" name="TextBox 1">
            <a:extLst>
              <a:ext uri="{FF2B5EF4-FFF2-40B4-BE49-F238E27FC236}">
                <a16:creationId xmlns:a16="http://schemas.microsoft.com/office/drawing/2014/main" id="{18D29EAB-8FCE-A460-4E93-12BD02F73386}"/>
              </a:ext>
            </a:extLst>
          </p:cNvPr>
          <p:cNvSpPr txBox="1"/>
          <p:nvPr/>
        </p:nvSpPr>
        <p:spPr>
          <a:xfrm>
            <a:off x="558752" y="1766944"/>
            <a:ext cx="3865002"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Fira Sans"/>
              </a:rPr>
              <a:t>Logistic Regression Model (for Review Volume Classification)</a:t>
            </a:r>
            <a:endParaRPr lang="en-US" sz="1400" b="1">
              <a:latin typeface="Fira Sans"/>
              <a:ea typeface="等线"/>
            </a:endParaRPr>
          </a:p>
          <a:p>
            <a:pPr>
              <a:buFont typeface=""/>
              <a:buChar char="•"/>
            </a:pPr>
            <a:r>
              <a:rPr lang="en-US" sz="1400">
                <a:latin typeface="Fira Sans"/>
              </a:rPr>
              <a:t>We </a:t>
            </a:r>
            <a:r>
              <a:rPr lang="en-US" sz="1400" b="1">
                <a:latin typeface="Fira Sans"/>
              </a:rPr>
              <a:t>trained a Logistic Regression model</a:t>
            </a:r>
            <a:r>
              <a:rPr lang="en-US" sz="1400">
                <a:latin typeface="Fira Sans"/>
              </a:rPr>
              <a:t> to classify </a:t>
            </a:r>
            <a:r>
              <a:rPr lang="en-US" sz="1400" b="1">
                <a:latin typeface="Fira Sans"/>
              </a:rPr>
              <a:t>high vs. low review volume</a:t>
            </a:r>
            <a:r>
              <a:rPr lang="en-US" sz="1400">
                <a:latin typeface="Fira Sans"/>
              </a:rPr>
              <a:t> based on price and product attributes.</a:t>
            </a:r>
            <a:endParaRPr lang="en-US" sz="1400">
              <a:latin typeface="Fira Sans"/>
              <a:ea typeface="等线"/>
            </a:endParaRPr>
          </a:p>
          <a:p>
            <a:pPr>
              <a:buFont typeface=""/>
              <a:buChar char="•"/>
            </a:pPr>
            <a:r>
              <a:rPr lang="en-US" sz="1400">
                <a:latin typeface="Fira Sans"/>
              </a:rPr>
              <a:t>The model achieved </a:t>
            </a:r>
            <a:r>
              <a:rPr lang="en-US" sz="1400" b="1">
                <a:latin typeface="Fira Sans"/>
              </a:rPr>
              <a:t>63% accuracy</a:t>
            </a:r>
            <a:r>
              <a:rPr lang="en-US" sz="1400">
                <a:latin typeface="Fira Sans"/>
              </a:rPr>
              <a:t>.</a:t>
            </a:r>
            <a:endParaRPr lang="en-US" sz="1400">
              <a:latin typeface="Fira Sans"/>
              <a:ea typeface="等线"/>
            </a:endParaRPr>
          </a:p>
          <a:p>
            <a:pPr>
              <a:buFont typeface=""/>
              <a:buChar char="•"/>
            </a:pPr>
            <a:r>
              <a:rPr lang="en-US" sz="1400">
                <a:latin typeface="Fira Sans"/>
              </a:rPr>
              <a:t>The confusion matrix revealed </a:t>
            </a:r>
            <a:r>
              <a:rPr lang="en-US" sz="1400" b="1">
                <a:latin typeface="Fira Sans"/>
              </a:rPr>
              <a:t>misclassifications, especially for mid-tier review counts</a:t>
            </a:r>
            <a:r>
              <a:rPr lang="en-US" sz="1400">
                <a:latin typeface="Fira Sans"/>
              </a:rPr>
              <a:t>.</a:t>
            </a:r>
            <a:endParaRPr lang="en-US" sz="1400">
              <a:latin typeface="Fira Sans"/>
              <a:ea typeface="等线"/>
            </a:endParaRPr>
          </a:p>
        </p:txBody>
      </p:sp>
      <p:pic>
        <p:nvPicPr>
          <p:cNvPr id="3" name="Picture 2" descr="A screenshot of a graph&#10;&#10;AI-generated content may be incorrect.">
            <a:extLst>
              <a:ext uri="{FF2B5EF4-FFF2-40B4-BE49-F238E27FC236}">
                <a16:creationId xmlns:a16="http://schemas.microsoft.com/office/drawing/2014/main" id="{299E1F4E-E485-F340-32D0-3E6916FCA0C3}"/>
              </a:ext>
            </a:extLst>
          </p:cNvPr>
          <p:cNvPicPr>
            <a:picLocks noChangeAspect="1"/>
          </p:cNvPicPr>
          <p:nvPr/>
        </p:nvPicPr>
        <p:blipFill>
          <a:blip r:embed="rId3"/>
          <a:stretch>
            <a:fillRect/>
          </a:stretch>
        </p:blipFill>
        <p:spPr>
          <a:xfrm>
            <a:off x="5064028" y="1131804"/>
            <a:ext cx="3054739" cy="3801947"/>
          </a:xfrm>
          <a:prstGeom prst="rect">
            <a:avLst/>
          </a:prstGeom>
        </p:spPr>
      </p:pic>
    </p:spTree>
    <p:extLst>
      <p:ext uri="{BB962C8B-B14F-4D97-AF65-F5344CB8AC3E}">
        <p14:creationId xmlns:p14="http://schemas.microsoft.com/office/powerpoint/2010/main" val="2562370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638">
          <a:extLst>
            <a:ext uri="{FF2B5EF4-FFF2-40B4-BE49-F238E27FC236}">
              <a16:creationId xmlns:a16="http://schemas.microsoft.com/office/drawing/2014/main" id="{18554CDA-71EA-002F-378F-3A6ECE0A2CAB}"/>
            </a:ext>
          </a:extLst>
        </p:cNvPr>
        <p:cNvGrpSpPr/>
        <p:nvPr/>
      </p:nvGrpSpPr>
      <p:grpSpPr>
        <a:xfrm>
          <a:off x="0" y="0"/>
          <a:ext cx="0" cy="0"/>
          <a:chOff x="0" y="0"/>
          <a:chExt cx="0" cy="0"/>
        </a:xfrm>
      </p:grpSpPr>
      <p:sp useBgFill="1">
        <p:nvSpPr>
          <p:cNvPr id="1727" name="Rectangle 1726">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28" name="Arc 1727">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473511" y="367870"/>
            <a:ext cx="2240924"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686" name="Google Shape;1686;p20">
            <a:extLst>
              <a:ext uri="{FF2B5EF4-FFF2-40B4-BE49-F238E27FC236}">
                <a16:creationId xmlns:a16="http://schemas.microsoft.com/office/drawing/2014/main" id="{8212AEC5-B708-6BE7-1F82-AFA419056D48}"/>
              </a:ext>
            </a:extLst>
          </p:cNvPr>
          <p:cNvSpPr txBox="1"/>
          <p:nvPr/>
        </p:nvSpPr>
        <p:spPr>
          <a:xfrm>
            <a:off x="4144309" y="492183"/>
            <a:ext cx="4094129" cy="994173"/>
          </a:xfrm>
          <a:prstGeom prst="rect">
            <a:avLst/>
          </a:prstGeom>
        </p:spPr>
        <p:txBody>
          <a:bodyPr spcFirstLastPara="1" vert="horz" lIns="91440" tIns="45720" rIns="91440" bIns="45720" rtlCol="0" anchor="ctr" anchorCtr="0">
            <a:normAutofit fontScale="92500" lnSpcReduction="20000"/>
          </a:bodyPr>
          <a:lstStyle/>
          <a:p>
            <a:pPr>
              <a:lnSpc>
                <a:spcPct val="90000"/>
              </a:lnSpc>
              <a:spcBef>
                <a:spcPct val="0"/>
              </a:spcBef>
              <a:spcAft>
                <a:spcPts val="600"/>
              </a:spcAft>
            </a:pPr>
            <a:r>
              <a:rPr lang="en-US" sz="4100" kern="1200">
                <a:latin typeface="Fira Sans Medium"/>
                <a:ea typeface="+mj-ea"/>
                <a:cs typeface="+mj-cs"/>
              </a:rPr>
              <a:t>Linear Regression</a:t>
            </a:r>
          </a:p>
        </p:txBody>
      </p:sp>
      <p:sp>
        <p:nvSpPr>
          <p:cNvPr id="1729" name="Freeform: Shape 1728">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114800"/>
            <a:ext cx="2004647" cy="10287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A close-up of a computer screen&#10;&#10;AI-generated content may be incorrect.">
            <a:extLst>
              <a:ext uri="{FF2B5EF4-FFF2-40B4-BE49-F238E27FC236}">
                <a16:creationId xmlns:a16="http://schemas.microsoft.com/office/drawing/2014/main" id="{1429C4A8-CCF2-5D92-B1B7-245333CB5D06}"/>
              </a:ext>
            </a:extLst>
          </p:cNvPr>
          <p:cNvPicPr>
            <a:picLocks noChangeAspect="1"/>
          </p:cNvPicPr>
          <p:nvPr/>
        </p:nvPicPr>
        <p:blipFill>
          <a:blip r:embed="rId3"/>
          <a:stretch>
            <a:fillRect/>
          </a:stretch>
        </p:blipFill>
        <p:spPr>
          <a:xfrm>
            <a:off x="494981" y="2216561"/>
            <a:ext cx="3583036" cy="108386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2" name="TextBox 1">
            <a:extLst>
              <a:ext uri="{FF2B5EF4-FFF2-40B4-BE49-F238E27FC236}">
                <a16:creationId xmlns:a16="http://schemas.microsoft.com/office/drawing/2014/main" id="{3137A3ED-8634-F559-7FF5-DA76CE6F2733}"/>
              </a:ext>
            </a:extLst>
          </p:cNvPr>
          <p:cNvSpPr txBox="1"/>
          <p:nvPr/>
        </p:nvSpPr>
        <p:spPr>
          <a:xfrm>
            <a:off x="4421221" y="1971455"/>
            <a:ext cx="4094129" cy="265832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1400" b="1">
                <a:latin typeface="Fira Sans"/>
              </a:rPr>
              <a:t>Price, review volume, and answered questions do not strongly predict review ratings</a:t>
            </a:r>
            <a:r>
              <a:rPr lang="en-US" sz="1400">
                <a:latin typeface="Fira Sans"/>
              </a:rPr>
              <a:t>.</a:t>
            </a:r>
          </a:p>
          <a:p>
            <a:pPr marL="285750" indent="-228600">
              <a:lnSpc>
                <a:spcPct val="90000"/>
              </a:lnSpc>
              <a:spcAft>
                <a:spcPts val="600"/>
              </a:spcAft>
              <a:buFont typeface="Arial" panose="020B0604020202020204" pitchFamily="34" charset="0"/>
              <a:buChar char="•"/>
            </a:pPr>
            <a:r>
              <a:rPr lang="en-US" sz="1400">
                <a:latin typeface="Fira Sans"/>
              </a:rPr>
              <a:t>The model </a:t>
            </a:r>
            <a:r>
              <a:rPr lang="en-US" sz="1400" b="1">
                <a:latin typeface="Fira Sans"/>
              </a:rPr>
              <a:t>performs poorly (R² = 0.0227)</a:t>
            </a:r>
            <a:r>
              <a:rPr lang="en-US" sz="1400">
                <a:latin typeface="Fira Sans"/>
              </a:rPr>
              <a:t>, meaning </a:t>
            </a:r>
            <a:r>
              <a:rPr lang="en-US" sz="1400" b="1">
                <a:latin typeface="Fira Sans"/>
              </a:rPr>
              <a:t>other factors (e.g., product category, review text sentiment, brand reputation) likely have a stronger influence</a:t>
            </a:r>
            <a:r>
              <a:rPr lang="en-US" sz="1400">
                <a:latin typeface="Fira Sans"/>
              </a:rPr>
              <a:t>.</a:t>
            </a:r>
          </a:p>
          <a:p>
            <a:pPr indent="-228600">
              <a:lnSpc>
                <a:spcPct val="90000"/>
              </a:lnSpc>
              <a:spcAft>
                <a:spcPts val="600"/>
              </a:spcAft>
              <a:buFont typeface="Arial" panose="020B0604020202020204" pitchFamily="34" charset="0"/>
              <a:buChar char="•"/>
            </a:pPr>
            <a:endParaRPr lang="en-US" sz="1400">
              <a:latin typeface="Fira Sans"/>
            </a:endParaRPr>
          </a:p>
        </p:txBody>
      </p:sp>
    </p:spTree>
    <p:extLst>
      <p:ext uri="{BB962C8B-B14F-4D97-AF65-F5344CB8AC3E}">
        <p14:creationId xmlns:p14="http://schemas.microsoft.com/office/powerpoint/2010/main" val="889125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8">
          <a:extLst>
            <a:ext uri="{FF2B5EF4-FFF2-40B4-BE49-F238E27FC236}">
              <a16:creationId xmlns:a16="http://schemas.microsoft.com/office/drawing/2014/main" id="{E309B325-6C35-5A8D-AC05-E6FA3D8E3484}"/>
            </a:ext>
          </a:extLst>
        </p:cNvPr>
        <p:cNvGrpSpPr/>
        <p:nvPr/>
      </p:nvGrpSpPr>
      <p:grpSpPr>
        <a:xfrm>
          <a:off x="0" y="0"/>
          <a:ext cx="0" cy="0"/>
          <a:chOff x="0" y="0"/>
          <a:chExt cx="0" cy="0"/>
        </a:xfrm>
      </p:grpSpPr>
      <p:sp>
        <p:nvSpPr>
          <p:cNvPr id="1686" name="Google Shape;1686;p20">
            <a:extLst>
              <a:ext uri="{FF2B5EF4-FFF2-40B4-BE49-F238E27FC236}">
                <a16:creationId xmlns:a16="http://schemas.microsoft.com/office/drawing/2014/main" id="{7B843A3B-6C1A-FF45-884F-D6A91CFBB928}"/>
              </a:ext>
            </a:extLst>
          </p:cNvPr>
          <p:cNvSpPr txBox="1"/>
          <p:nvPr/>
        </p:nvSpPr>
        <p:spPr>
          <a:xfrm>
            <a:off x="717400" y="411475"/>
            <a:ext cx="7723500" cy="481200"/>
          </a:xfrm>
          <a:prstGeom prst="rect">
            <a:avLst/>
          </a:prstGeom>
          <a:noFill/>
          <a:ln>
            <a:noFill/>
          </a:ln>
        </p:spPr>
        <p:txBody>
          <a:bodyPr spcFirstLastPara="1" wrap="square" lIns="91425" tIns="91425" rIns="91425" bIns="91425" anchor="ctr" anchorCtr="0">
            <a:noAutofit/>
          </a:bodyPr>
          <a:lstStyle/>
          <a:p>
            <a:pPr algn="ctr"/>
            <a:r>
              <a:rPr lang="en" sz="2800">
                <a:latin typeface="Fira Sans Medium"/>
                <a:ea typeface="Fira Sans Medium"/>
                <a:cs typeface="Fira Sans Medium"/>
              </a:rPr>
              <a:t>Regression Model Results</a:t>
            </a:r>
          </a:p>
        </p:txBody>
      </p:sp>
      <p:sp>
        <p:nvSpPr>
          <p:cNvPr id="2" name="TextBox 1">
            <a:extLst>
              <a:ext uri="{FF2B5EF4-FFF2-40B4-BE49-F238E27FC236}">
                <a16:creationId xmlns:a16="http://schemas.microsoft.com/office/drawing/2014/main" id="{9150FCF4-6412-9D4F-3ADD-52AB5E33BEA0}"/>
              </a:ext>
            </a:extLst>
          </p:cNvPr>
          <p:cNvSpPr txBox="1"/>
          <p:nvPr/>
        </p:nvSpPr>
        <p:spPr>
          <a:xfrm>
            <a:off x="345707" y="1039888"/>
            <a:ext cx="2471760"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200" b="1">
                <a:latin typeface="Fira Sans"/>
                <a:ea typeface="+mn-lt"/>
                <a:cs typeface="+mn-lt"/>
              </a:rPr>
              <a:t>Price alone does not drive review scores.</a:t>
            </a:r>
            <a:r>
              <a:rPr lang="en-US" sz="1200">
                <a:latin typeface="Fira Sans"/>
                <a:ea typeface="+mn-lt"/>
                <a:cs typeface="+mn-lt"/>
              </a:rPr>
              <a:t> Other aspects like </a:t>
            </a:r>
            <a:r>
              <a:rPr lang="en-US" sz="1200" b="1">
                <a:latin typeface="Fira Sans"/>
                <a:ea typeface="+mn-lt"/>
                <a:cs typeface="+mn-lt"/>
              </a:rPr>
              <a:t>brand reputation, product quality, and customer sentiment</a:t>
            </a:r>
            <a:r>
              <a:rPr lang="en-US" sz="1200">
                <a:latin typeface="Fira Sans"/>
                <a:ea typeface="+mn-lt"/>
                <a:cs typeface="+mn-lt"/>
              </a:rPr>
              <a:t> may be more important.</a:t>
            </a:r>
          </a:p>
          <a:p>
            <a:pPr marL="285750" indent="-285750">
              <a:buFont typeface="Arial"/>
              <a:buChar char="•"/>
            </a:pPr>
            <a:r>
              <a:rPr lang="en-US" sz="1200" b="1">
                <a:latin typeface="Fira Sans"/>
                <a:ea typeface="+mn-lt"/>
                <a:cs typeface="+mn-lt"/>
              </a:rPr>
              <a:t>More reviews tend to slightly lower ratings,</a:t>
            </a:r>
            <a:r>
              <a:rPr lang="en-US" sz="1200">
                <a:latin typeface="Fira Sans"/>
                <a:ea typeface="+mn-lt"/>
                <a:cs typeface="+mn-lt"/>
              </a:rPr>
              <a:t> likely because </a:t>
            </a:r>
            <a:r>
              <a:rPr lang="en-US" sz="1200" b="1">
                <a:latin typeface="Fira Sans"/>
                <a:ea typeface="+mn-lt"/>
                <a:cs typeface="+mn-lt"/>
              </a:rPr>
              <a:t>popular products receive more diverse opinions</a:t>
            </a:r>
            <a:r>
              <a:rPr lang="en-US" sz="1200">
                <a:latin typeface="Fira Sans"/>
                <a:ea typeface="+mn-lt"/>
                <a:cs typeface="+mn-lt"/>
              </a:rPr>
              <a:t>.</a:t>
            </a:r>
          </a:p>
          <a:p>
            <a:pPr marL="285750" indent="-285750">
              <a:buFont typeface="Arial"/>
              <a:buChar char="•"/>
            </a:pPr>
            <a:r>
              <a:rPr lang="en-US" sz="1200" b="1">
                <a:latin typeface="Fira Sans"/>
                <a:ea typeface="+mn-lt"/>
                <a:cs typeface="+mn-lt"/>
              </a:rPr>
              <a:t>The model struggles to predict ratings accurately,</a:t>
            </a:r>
            <a:r>
              <a:rPr lang="en-US" sz="1200">
                <a:latin typeface="Fira Sans"/>
                <a:ea typeface="+mn-lt"/>
                <a:cs typeface="+mn-lt"/>
              </a:rPr>
              <a:t> suggesting that </a:t>
            </a:r>
            <a:r>
              <a:rPr lang="en-US" sz="1200" b="1">
                <a:latin typeface="Fira Sans"/>
                <a:ea typeface="+mn-lt"/>
                <a:cs typeface="+mn-lt"/>
              </a:rPr>
              <a:t>text-based sentiment analysis or category-based comparisons</a:t>
            </a:r>
            <a:r>
              <a:rPr lang="en-US" sz="1200">
                <a:latin typeface="Fira Sans"/>
                <a:ea typeface="+mn-lt"/>
                <a:cs typeface="+mn-lt"/>
              </a:rPr>
              <a:t> may be better approaches.</a:t>
            </a:r>
          </a:p>
          <a:p>
            <a:pPr>
              <a:buFont typeface="Arial"/>
              <a:buChar char="•"/>
            </a:pPr>
            <a:endParaRPr lang="en-US"/>
          </a:p>
        </p:txBody>
      </p:sp>
      <p:grpSp>
        <p:nvGrpSpPr>
          <p:cNvPr id="1697" name="Google Shape;221;p14">
            <a:extLst>
              <a:ext uri="{FF2B5EF4-FFF2-40B4-BE49-F238E27FC236}">
                <a16:creationId xmlns:a16="http://schemas.microsoft.com/office/drawing/2014/main" id="{0FEC1AF3-4F51-3F01-E4D6-6B790963994C}"/>
              </a:ext>
            </a:extLst>
          </p:cNvPr>
          <p:cNvGrpSpPr/>
          <p:nvPr/>
        </p:nvGrpSpPr>
        <p:grpSpPr>
          <a:xfrm>
            <a:off x="3136306" y="1552231"/>
            <a:ext cx="2602743" cy="2041759"/>
            <a:chOff x="2820853" y="1403508"/>
            <a:chExt cx="3502263" cy="2951424"/>
          </a:xfrm>
        </p:grpSpPr>
        <p:sp>
          <p:nvSpPr>
            <p:cNvPr id="5" name="Google Shape;222;p14">
              <a:extLst>
                <a:ext uri="{FF2B5EF4-FFF2-40B4-BE49-F238E27FC236}">
                  <a16:creationId xmlns:a16="http://schemas.microsoft.com/office/drawing/2014/main" id="{3E927536-F9CA-C6A2-BE02-8DAE28E687E7}"/>
                </a:ext>
              </a:extLst>
            </p:cNvPr>
            <p:cNvSpPr/>
            <p:nvPr/>
          </p:nvSpPr>
          <p:spPr>
            <a:xfrm>
              <a:off x="2942335" y="1403508"/>
              <a:ext cx="3260177" cy="2951424"/>
            </a:xfrm>
            <a:custGeom>
              <a:avLst/>
              <a:gdLst/>
              <a:ahLst/>
              <a:cxnLst/>
              <a:rect l="l" t="t" r="r" b="b"/>
              <a:pathLst>
                <a:path w="122402" h="110810" fill="none" extrusionOk="0">
                  <a:moveTo>
                    <a:pt x="25335" y="0"/>
                  </a:moveTo>
                  <a:cubicBezTo>
                    <a:pt x="10008" y="11148"/>
                    <a:pt x="0" y="29199"/>
                    <a:pt x="0" y="49594"/>
                  </a:cubicBezTo>
                  <a:cubicBezTo>
                    <a:pt x="0" y="83416"/>
                    <a:pt x="27394" y="110810"/>
                    <a:pt x="61185" y="110810"/>
                  </a:cubicBezTo>
                  <a:cubicBezTo>
                    <a:pt x="95007" y="110810"/>
                    <a:pt x="122401" y="83416"/>
                    <a:pt x="122401" y="49594"/>
                  </a:cubicBezTo>
                  <a:cubicBezTo>
                    <a:pt x="122401" y="29199"/>
                    <a:pt x="112394" y="11116"/>
                    <a:pt x="97034" y="0"/>
                  </a:cubicBezTo>
                </a:path>
              </a:pathLst>
            </a:custGeom>
            <a:noFill/>
            <a:ln w="7925"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23;p14">
              <a:extLst>
                <a:ext uri="{FF2B5EF4-FFF2-40B4-BE49-F238E27FC236}">
                  <a16:creationId xmlns:a16="http://schemas.microsoft.com/office/drawing/2014/main" id="{AD550A33-BC7E-2AB2-7380-962211F6CEBB}"/>
                </a:ext>
              </a:extLst>
            </p:cNvPr>
            <p:cNvSpPr/>
            <p:nvPr/>
          </p:nvSpPr>
          <p:spPr>
            <a:xfrm>
              <a:off x="2820853" y="1675958"/>
              <a:ext cx="504440" cy="27"/>
            </a:xfrm>
            <a:custGeom>
              <a:avLst/>
              <a:gdLst/>
              <a:ahLst/>
              <a:cxnLst/>
              <a:rect l="l" t="t" r="r" b="b"/>
              <a:pathLst>
                <a:path w="18939" h="1" fill="none" extrusionOk="0">
                  <a:moveTo>
                    <a:pt x="1" y="0"/>
                  </a:moveTo>
                  <a:lnTo>
                    <a:pt x="18939" y="0"/>
                  </a:lnTo>
                </a:path>
              </a:pathLst>
            </a:custGeom>
            <a:noFill/>
            <a:ln w="7925"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24;p14">
              <a:extLst>
                <a:ext uri="{FF2B5EF4-FFF2-40B4-BE49-F238E27FC236}">
                  <a16:creationId xmlns:a16="http://schemas.microsoft.com/office/drawing/2014/main" id="{DAF3D049-A2CE-31F8-8549-F24E1508303F}"/>
                </a:ext>
              </a:extLst>
            </p:cNvPr>
            <p:cNvSpPr/>
            <p:nvPr/>
          </p:nvSpPr>
          <p:spPr>
            <a:xfrm>
              <a:off x="2820853" y="3985452"/>
              <a:ext cx="716162" cy="27"/>
            </a:xfrm>
            <a:custGeom>
              <a:avLst/>
              <a:gdLst/>
              <a:ahLst/>
              <a:cxnLst/>
              <a:rect l="l" t="t" r="r" b="b"/>
              <a:pathLst>
                <a:path w="26888" h="1" fill="none" extrusionOk="0">
                  <a:moveTo>
                    <a:pt x="1" y="1"/>
                  </a:moveTo>
                  <a:lnTo>
                    <a:pt x="26888" y="1"/>
                  </a:lnTo>
                </a:path>
              </a:pathLst>
            </a:custGeom>
            <a:noFill/>
            <a:ln w="7925"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25;p14">
              <a:extLst>
                <a:ext uri="{FF2B5EF4-FFF2-40B4-BE49-F238E27FC236}">
                  <a16:creationId xmlns:a16="http://schemas.microsoft.com/office/drawing/2014/main" id="{CD825ABA-20A9-6FCF-1612-AD4FD95B0CF1}"/>
                </a:ext>
              </a:extLst>
            </p:cNvPr>
            <p:cNvSpPr/>
            <p:nvPr/>
          </p:nvSpPr>
          <p:spPr>
            <a:xfrm>
              <a:off x="2820853" y="2828161"/>
              <a:ext cx="127395" cy="27"/>
            </a:xfrm>
            <a:custGeom>
              <a:avLst/>
              <a:gdLst/>
              <a:ahLst/>
              <a:cxnLst/>
              <a:rect l="l" t="t" r="r" b="b"/>
              <a:pathLst>
                <a:path w="4783" h="1" fill="none" extrusionOk="0">
                  <a:moveTo>
                    <a:pt x="1" y="1"/>
                  </a:moveTo>
                  <a:lnTo>
                    <a:pt x="4783" y="1"/>
                  </a:lnTo>
                </a:path>
              </a:pathLst>
            </a:custGeom>
            <a:noFill/>
            <a:ln w="7925"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26;p14">
              <a:extLst>
                <a:ext uri="{FF2B5EF4-FFF2-40B4-BE49-F238E27FC236}">
                  <a16:creationId xmlns:a16="http://schemas.microsoft.com/office/drawing/2014/main" id="{75C2BB4E-3ADF-1B0B-FFD4-908B65B8942E}"/>
                </a:ext>
              </a:extLst>
            </p:cNvPr>
            <p:cNvSpPr/>
            <p:nvPr/>
          </p:nvSpPr>
          <p:spPr>
            <a:xfrm>
              <a:off x="5818676" y="1675958"/>
              <a:ext cx="504440" cy="27"/>
            </a:xfrm>
            <a:custGeom>
              <a:avLst/>
              <a:gdLst/>
              <a:ahLst/>
              <a:cxnLst/>
              <a:rect l="l" t="t" r="r" b="b"/>
              <a:pathLst>
                <a:path w="18939" h="1" fill="none" extrusionOk="0">
                  <a:moveTo>
                    <a:pt x="18939" y="0"/>
                  </a:moveTo>
                  <a:lnTo>
                    <a:pt x="1" y="0"/>
                  </a:lnTo>
                </a:path>
              </a:pathLst>
            </a:custGeom>
            <a:noFill/>
            <a:ln w="7925"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27;p14">
              <a:extLst>
                <a:ext uri="{FF2B5EF4-FFF2-40B4-BE49-F238E27FC236}">
                  <a16:creationId xmlns:a16="http://schemas.microsoft.com/office/drawing/2014/main" id="{DF1EAE6F-D8BC-B58D-741D-9BB080891A5A}"/>
                </a:ext>
              </a:extLst>
            </p:cNvPr>
            <p:cNvSpPr/>
            <p:nvPr/>
          </p:nvSpPr>
          <p:spPr>
            <a:xfrm>
              <a:off x="5606954" y="3985452"/>
              <a:ext cx="716162" cy="27"/>
            </a:xfrm>
            <a:custGeom>
              <a:avLst/>
              <a:gdLst/>
              <a:ahLst/>
              <a:cxnLst/>
              <a:rect l="l" t="t" r="r" b="b"/>
              <a:pathLst>
                <a:path w="26888" h="1" fill="none" extrusionOk="0">
                  <a:moveTo>
                    <a:pt x="26888" y="1"/>
                  </a:moveTo>
                  <a:lnTo>
                    <a:pt x="1" y="1"/>
                  </a:lnTo>
                </a:path>
              </a:pathLst>
            </a:custGeom>
            <a:noFill/>
            <a:ln w="7925"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28;p14">
              <a:extLst>
                <a:ext uri="{FF2B5EF4-FFF2-40B4-BE49-F238E27FC236}">
                  <a16:creationId xmlns:a16="http://schemas.microsoft.com/office/drawing/2014/main" id="{BD5575FE-EA3C-5A78-6876-B661661356A3}"/>
                </a:ext>
              </a:extLst>
            </p:cNvPr>
            <p:cNvSpPr/>
            <p:nvPr/>
          </p:nvSpPr>
          <p:spPr>
            <a:xfrm>
              <a:off x="6195721" y="2828161"/>
              <a:ext cx="127395" cy="27"/>
            </a:xfrm>
            <a:custGeom>
              <a:avLst/>
              <a:gdLst/>
              <a:ahLst/>
              <a:cxnLst/>
              <a:rect l="l" t="t" r="r" b="b"/>
              <a:pathLst>
                <a:path w="4783" h="1" fill="none" extrusionOk="0">
                  <a:moveTo>
                    <a:pt x="4783" y="1"/>
                  </a:moveTo>
                  <a:lnTo>
                    <a:pt x="1" y="1"/>
                  </a:lnTo>
                </a:path>
              </a:pathLst>
            </a:custGeom>
            <a:noFill/>
            <a:ln w="7925"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29;p14">
              <a:extLst>
                <a:ext uri="{FF2B5EF4-FFF2-40B4-BE49-F238E27FC236}">
                  <a16:creationId xmlns:a16="http://schemas.microsoft.com/office/drawing/2014/main" id="{43AC3381-2BC8-5F30-9A8A-2FDCFFCBC225}"/>
                </a:ext>
              </a:extLst>
            </p:cNvPr>
            <p:cNvSpPr/>
            <p:nvPr/>
          </p:nvSpPr>
          <p:spPr>
            <a:xfrm>
              <a:off x="3623872" y="1880914"/>
              <a:ext cx="1896226" cy="1175030"/>
            </a:xfrm>
            <a:custGeom>
              <a:avLst/>
              <a:gdLst/>
              <a:ahLst/>
              <a:cxnLst/>
              <a:rect l="l" t="t" r="r" b="b"/>
              <a:pathLst>
                <a:path w="71193" h="44116" extrusionOk="0">
                  <a:moveTo>
                    <a:pt x="3421" y="1"/>
                  </a:moveTo>
                  <a:cubicBezTo>
                    <a:pt x="1553" y="1"/>
                    <a:pt x="1" y="1521"/>
                    <a:pt x="1" y="3421"/>
                  </a:cubicBezTo>
                  <a:lnTo>
                    <a:pt x="1" y="40695"/>
                  </a:lnTo>
                  <a:cubicBezTo>
                    <a:pt x="1" y="42595"/>
                    <a:pt x="1553" y="44116"/>
                    <a:pt x="3421" y="44116"/>
                  </a:cubicBezTo>
                  <a:lnTo>
                    <a:pt x="67773" y="44116"/>
                  </a:lnTo>
                  <a:cubicBezTo>
                    <a:pt x="69641" y="44116"/>
                    <a:pt x="71193" y="42595"/>
                    <a:pt x="71193" y="40695"/>
                  </a:cubicBezTo>
                  <a:lnTo>
                    <a:pt x="71193" y="3421"/>
                  </a:lnTo>
                  <a:cubicBezTo>
                    <a:pt x="71193" y="1521"/>
                    <a:pt x="69641" y="1"/>
                    <a:pt x="67773"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0;p14">
              <a:extLst>
                <a:ext uri="{FF2B5EF4-FFF2-40B4-BE49-F238E27FC236}">
                  <a16:creationId xmlns:a16="http://schemas.microsoft.com/office/drawing/2014/main" id="{B9B68BA0-0EB8-D11F-A188-5369B70CF853}"/>
                </a:ext>
              </a:extLst>
            </p:cNvPr>
            <p:cNvSpPr/>
            <p:nvPr/>
          </p:nvSpPr>
          <p:spPr>
            <a:xfrm>
              <a:off x="3331180" y="3017962"/>
              <a:ext cx="2481610" cy="455512"/>
            </a:xfrm>
            <a:custGeom>
              <a:avLst/>
              <a:gdLst/>
              <a:ahLst/>
              <a:cxnLst/>
              <a:rect l="l" t="t" r="r" b="b"/>
              <a:pathLst>
                <a:path w="93171" h="17102" extrusionOk="0">
                  <a:moveTo>
                    <a:pt x="14410" y="0"/>
                  </a:moveTo>
                  <a:cubicBezTo>
                    <a:pt x="12542" y="0"/>
                    <a:pt x="10610" y="634"/>
                    <a:pt x="10103" y="1394"/>
                  </a:cubicBezTo>
                  <a:lnTo>
                    <a:pt x="507" y="15740"/>
                  </a:lnTo>
                  <a:cubicBezTo>
                    <a:pt x="1" y="16468"/>
                    <a:pt x="1616" y="17102"/>
                    <a:pt x="4118" y="17102"/>
                  </a:cubicBezTo>
                  <a:lnTo>
                    <a:pt x="89086" y="17102"/>
                  </a:lnTo>
                  <a:cubicBezTo>
                    <a:pt x="91556" y="17102"/>
                    <a:pt x="93171" y="16468"/>
                    <a:pt x="92664" y="15740"/>
                  </a:cubicBezTo>
                  <a:lnTo>
                    <a:pt x="83069" y="1394"/>
                  </a:lnTo>
                  <a:cubicBezTo>
                    <a:pt x="82594" y="634"/>
                    <a:pt x="80630" y="0"/>
                    <a:pt x="78762" y="0"/>
                  </a:cubicBezTo>
                  <a:close/>
                </a:path>
              </a:pathLst>
            </a:custGeom>
            <a:solidFill>
              <a:srgbClr val="FFFFFF"/>
            </a:solidFill>
            <a:ln w="2375" cap="flat" cmpd="sng">
              <a:solidFill>
                <a:srgbClr val="CECECE"/>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1;p14">
              <a:extLst>
                <a:ext uri="{FF2B5EF4-FFF2-40B4-BE49-F238E27FC236}">
                  <a16:creationId xmlns:a16="http://schemas.microsoft.com/office/drawing/2014/main" id="{92347B30-8825-6759-F083-4B07479BB0A4}"/>
                </a:ext>
              </a:extLst>
            </p:cNvPr>
            <p:cNvSpPr/>
            <p:nvPr/>
          </p:nvSpPr>
          <p:spPr>
            <a:xfrm>
              <a:off x="3338771" y="3444761"/>
              <a:ext cx="2467280" cy="81849"/>
            </a:xfrm>
            <a:custGeom>
              <a:avLst/>
              <a:gdLst/>
              <a:ahLst/>
              <a:cxnLst/>
              <a:rect l="l" t="t" r="r" b="b"/>
              <a:pathLst>
                <a:path w="92633" h="3073" extrusionOk="0">
                  <a:moveTo>
                    <a:pt x="127" y="1"/>
                  </a:moveTo>
                  <a:lnTo>
                    <a:pt x="127" y="1"/>
                  </a:lnTo>
                  <a:cubicBezTo>
                    <a:pt x="1" y="1869"/>
                    <a:pt x="3358" y="3073"/>
                    <a:pt x="5543" y="3073"/>
                  </a:cubicBezTo>
                  <a:lnTo>
                    <a:pt x="87091" y="3073"/>
                  </a:lnTo>
                  <a:cubicBezTo>
                    <a:pt x="89276" y="3073"/>
                    <a:pt x="92633" y="1869"/>
                    <a:pt x="92474" y="1"/>
                  </a:cubicBezTo>
                  <a:lnTo>
                    <a:pt x="92474" y="1"/>
                  </a:lnTo>
                  <a:cubicBezTo>
                    <a:pt x="92443" y="603"/>
                    <a:pt x="90954" y="1078"/>
                    <a:pt x="88801" y="1078"/>
                  </a:cubicBezTo>
                  <a:lnTo>
                    <a:pt x="3833" y="1078"/>
                  </a:lnTo>
                  <a:cubicBezTo>
                    <a:pt x="1679" y="1078"/>
                    <a:pt x="191" y="603"/>
                    <a:pt x="127"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2;p14">
              <a:extLst>
                <a:ext uri="{FF2B5EF4-FFF2-40B4-BE49-F238E27FC236}">
                  <a16:creationId xmlns:a16="http://schemas.microsoft.com/office/drawing/2014/main" id="{19DFC27C-153E-3040-1738-B88293235170}"/>
                </a:ext>
              </a:extLst>
            </p:cNvPr>
            <p:cNvSpPr/>
            <p:nvPr/>
          </p:nvSpPr>
          <p:spPr>
            <a:xfrm>
              <a:off x="3747032" y="3062656"/>
              <a:ext cx="104622" cy="22800"/>
            </a:xfrm>
            <a:custGeom>
              <a:avLst/>
              <a:gdLst/>
              <a:ahLst/>
              <a:cxnLst/>
              <a:rect l="l" t="t" r="r" b="b"/>
              <a:pathLst>
                <a:path w="3928" h="856" extrusionOk="0">
                  <a:moveTo>
                    <a:pt x="1046" y="1"/>
                  </a:moveTo>
                  <a:cubicBezTo>
                    <a:pt x="697" y="1"/>
                    <a:pt x="380" y="96"/>
                    <a:pt x="317" y="223"/>
                  </a:cubicBezTo>
                  <a:cubicBezTo>
                    <a:pt x="222" y="381"/>
                    <a:pt x="190" y="476"/>
                    <a:pt x="95" y="634"/>
                  </a:cubicBezTo>
                  <a:cubicBezTo>
                    <a:pt x="0" y="761"/>
                    <a:pt x="222" y="856"/>
                    <a:pt x="571" y="856"/>
                  </a:cubicBezTo>
                  <a:lnTo>
                    <a:pt x="2946" y="856"/>
                  </a:lnTo>
                  <a:cubicBezTo>
                    <a:pt x="3262" y="856"/>
                    <a:pt x="3579" y="761"/>
                    <a:pt x="3642" y="634"/>
                  </a:cubicBezTo>
                  <a:cubicBezTo>
                    <a:pt x="3737" y="476"/>
                    <a:pt x="3769" y="381"/>
                    <a:pt x="3864" y="223"/>
                  </a:cubicBezTo>
                  <a:cubicBezTo>
                    <a:pt x="3927" y="96"/>
                    <a:pt x="3706" y="1"/>
                    <a:pt x="3389"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3;p14">
              <a:extLst>
                <a:ext uri="{FF2B5EF4-FFF2-40B4-BE49-F238E27FC236}">
                  <a16:creationId xmlns:a16="http://schemas.microsoft.com/office/drawing/2014/main" id="{410C03F6-5402-AAFE-3431-1EB7D6E04FA9}"/>
                </a:ext>
              </a:extLst>
            </p:cNvPr>
            <p:cNvSpPr/>
            <p:nvPr/>
          </p:nvSpPr>
          <p:spPr>
            <a:xfrm>
              <a:off x="3858366" y="3062656"/>
              <a:ext cx="102944" cy="22800"/>
            </a:xfrm>
            <a:custGeom>
              <a:avLst/>
              <a:gdLst/>
              <a:ahLst/>
              <a:cxnLst/>
              <a:rect l="l" t="t" r="r" b="b"/>
              <a:pathLst>
                <a:path w="3865" h="856" extrusionOk="0">
                  <a:moveTo>
                    <a:pt x="951" y="1"/>
                  </a:moveTo>
                  <a:cubicBezTo>
                    <a:pt x="634" y="1"/>
                    <a:pt x="317" y="96"/>
                    <a:pt x="286" y="223"/>
                  </a:cubicBezTo>
                  <a:cubicBezTo>
                    <a:pt x="191" y="381"/>
                    <a:pt x="127" y="476"/>
                    <a:pt x="64" y="634"/>
                  </a:cubicBezTo>
                  <a:cubicBezTo>
                    <a:pt x="1" y="761"/>
                    <a:pt x="222" y="856"/>
                    <a:pt x="539" y="856"/>
                  </a:cubicBezTo>
                  <a:lnTo>
                    <a:pt x="2946" y="856"/>
                  </a:lnTo>
                  <a:cubicBezTo>
                    <a:pt x="3263" y="856"/>
                    <a:pt x="3579" y="761"/>
                    <a:pt x="3611" y="634"/>
                  </a:cubicBezTo>
                  <a:cubicBezTo>
                    <a:pt x="3706" y="476"/>
                    <a:pt x="3738" y="381"/>
                    <a:pt x="3801" y="223"/>
                  </a:cubicBezTo>
                  <a:cubicBezTo>
                    <a:pt x="3864" y="96"/>
                    <a:pt x="3643" y="1"/>
                    <a:pt x="3326"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4;p14">
              <a:extLst>
                <a:ext uri="{FF2B5EF4-FFF2-40B4-BE49-F238E27FC236}">
                  <a16:creationId xmlns:a16="http://schemas.microsoft.com/office/drawing/2014/main" id="{8572253B-8A5B-289A-69C2-33301B352AE0}"/>
                </a:ext>
              </a:extLst>
            </p:cNvPr>
            <p:cNvSpPr/>
            <p:nvPr/>
          </p:nvSpPr>
          <p:spPr>
            <a:xfrm>
              <a:off x="3968875" y="3062656"/>
              <a:ext cx="102092" cy="22800"/>
            </a:xfrm>
            <a:custGeom>
              <a:avLst/>
              <a:gdLst/>
              <a:ahLst/>
              <a:cxnLst/>
              <a:rect l="l" t="t" r="r" b="b"/>
              <a:pathLst>
                <a:path w="3833" h="856" extrusionOk="0">
                  <a:moveTo>
                    <a:pt x="919" y="1"/>
                  </a:moveTo>
                  <a:cubicBezTo>
                    <a:pt x="602" y="1"/>
                    <a:pt x="285" y="96"/>
                    <a:pt x="254" y="223"/>
                  </a:cubicBezTo>
                  <a:cubicBezTo>
                    <a:pt x="190" y="381"/>
                    <a:pt x="127" y="476"/>
                    <a:pt x="64" y="634"/>
                  </a:cubicBezTo>
                  <a:cubicBezTo>
                    <a:pt x="0" y="761"/>
                    <a:pt x="254" y="856"/>
                    <a:pt x="570" y="856"/>
                  </a:cubicBezTo>
                  <a:lnTo>
                    <a:pt x="2946" y="856"/>
                  </a:lnTo>
                  <a:cubicBezTo>
                    <a:pt x="3294" y="856"/>
                    <a:pt x="3579" y="761"/>
                    <a:pt x="3642" y="634"/>
                  </a:cubicBezTo>
                  <a:cubicBezTo>
                    <a:pt x="3706" y="476"/>
                    <a:pt x="3737" y="381"/>
                    <a:pt x="3769" y="223"/>
                  </a:cubicBezTo>
                  <a:cubicBezTo>
                    <a:pt x="3832" y="96"/>
                    <a:pt x="3611" y="1"/>
                    <a:pt x="3262"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5;p14">
              <a:extLst>
                <a:ext uri="{FF2B5EF4-FFF2-40B4-BE49-F238E27FC236}">
                  <a16:creationId xmlns:a16="http://schemas.microsoft.com/office/drawing/2014/main" id="{9CA4CAF8-3312-5FCB-41A1-9A520C0A1834}"/>
                </a:ext>
              </a:extLst>
            </p:cNvPr>
            <p:cNvSpPr/>
            <p:nvPr/>
          </p:nvSpPr>
          <p:spPr>
            <a:xfrm>
              <a:off x="4080209" y="3062656"/>
              <a:ext cx="100414" cy="22800"/>
            </a:xfrm>
            <a:custGeom>
              <a:avLst/>
              <a:gdLst/>
              <a:ahLst/>
              <a:cxnLst/>
              <a:rect l="l" t="t" r="r" b="b"/>
              <a:pathLst>
                <a:path w="3770" h="856" extrusionOk="0">
                  <a:moveTo>
                    <a:pt x="856" y="1"/>
                  </a:moveTo>
                  <a:cubicBezTo>
                    <a:pt x="539" y="1"/>
                    <a:pt x="222" y="96"/>
                    <a:pt x="191" y="223"/>
                  </a:cubicBezTo>
                  <a:cubicBezTo>
                    <a:pt x="127" y="381"/>
                    <a:pt x="96" y="476"/>
                    <a:pt x="64" y="634"/>
                  </a:cubicBezTo>
                  <a:cubicBezTo>
                    <a:pt x="1" y="761"/>
                    <a:pt x="254" y="856"/>
                    <a:pt x="571" y="856"/>
                  </a:cubicBezTo>
                  <a:lnTo>
                    <a:pt x="2946" y="856"/>
                  </a:lnTo>
                  <a:cubicBezTo>
                    <a:pt x="3294" y="856"/>
                    <a:pt x="3579" y="761"/>
                    <a:pt x="3611" y="634"/>
                  </a:cubicBezTo>
                  <a:cubicBezTo>
                    <a:pt x="3674" y="476"/>
                    <a:pt x="3674" y="381"/>
                    <a:pt x="3738" y="223"/>
                  </a:cubicBezTo>
                  <a:cubicBezTo>
                    <a:pt x="3769" y="96"/>
                    <a:pt x="3516" y="1"/>
                    <a:pt x="3199"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6;p14">
              <a:extLst>
                <a:ext uri="{FF2B5EF4-FFF2-40B4-BE49-F238E27FC236}">
                  <a16:creationId xmlns:a16="http://schemas.microsoft.com/office/drawing/2014/main" id="{E1A7C4B3-A948-8897-96B8-7DFE5A092E66}"/>
                </a:ext>
              </a:extLst>
            </p:cNvPr>
            <p:cNvSpPr/>
            <p:nvPr/>
          </p:nvSpPr>
          <p:spPr>
            <a:xfrm>
              <a:off x="4191570" y="3062656"/>
              <a:ext cx="98709" cy="22800"/>
            </a:xfrm>
            <a:custGeom>
              <a:avLst/>
              <a:gdLst/>
              <a:ahLst/>
              <a:cxnLst/>
              <a:rect l="l" t="t" r="r" b="b"/>
              <a:pathLst>
                <a:path w="3706" h="856" extrusionOk="0">
                  <a:moveTo>
                    <a:pt x="792" y="1"/>
                  </a:moveTo>
                  <a:cubicBezTo>
                    <a:pt x="475" y="1"/>
                    <a:pt x="158" y="96"/>
                    <a:pt x="127" y="223"/>
                  </a:cubicBezTo>
                  <a:cubicBezTo>
                    <a:pt x="95" y="381"/>
                    <a:pt x="63" y="476"/>
                    <a:pt x="32" y="634"/>
                  </a:cubicBezTo>
                  <a:cubicBezTo>
                    <a:pt x="0" y="761"/>
                    <a:pt x="222" y="856"/>
                    <a:pt x="570" y="856"/>
                  </a:cubicBezTo>
                  <a:lnTo>
                    <a:pt x="2945" y="856"/>
                  </a:lnTo>
                  <a:cubicBezTo>
                    <a:pt x="3294" y="856"/>
                    <a:pt x="3579" y="761"/>
                    <a:pt x="3610" y="634"/>
                  </a:cubicBezTo>
                  <a:cubicBezTo>
                    <a:pt x="3642" y="476"/>
                    <a:pt x="3642" y="381"/>
                    <a:pt x="3674" y="223"/>
                  </a:cubicBezTo>
                  <a:cubicBezTo>
                    <a:pt x="3705" y="96"/>
                    <a:pt x="3452" y="1"/>
                    <a:pt x="3135"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7;p14">
              <a:extLst>
                <a:ext uri="{FF2B5EF4-FFF2-40B4-BE49-F238E27FC236}">
                  <a16:creationId xmlns:a16="http://schemas.microsoft.com/office/drawing/2014/main" id="{01AFEBAC-5D45-2C10-40C0-323FCCB15F4D}"/>
                </a:ext>
              </a:extLst>
            </p:cNvPr>
            <p:cNvSpPr/>
            <p:nvPr/>
          </p:nvSpPr>
          <p:spPr>
            <a:xfrm>
              <a:off x="4302052" y="3062656"/>
              <a:ext cx="97031" cy="22800"/>
            </a:xfrm>
            <a:custGeom>
              <a:avLst/>
              <a:gdLst/>
              <a:ahLst/>
              <a:cxnLst/>
              <a:rect l="l" t="t" r="r" b="b"/>
              <a:pathLst>
                <a:path w="3643" h="856" extrusionOk="0">
                  <a:moveTo>
                    <a:pt x="729" y="1"/>
                  </a:moveTo>
                  <a:cubicBezTo>
                    <a:pt x="412" y="1"/>
                    <a:pt x="127" y="96"/>
                    <a:pt x="96" y="223"/>
                  </a:cubicBezTo>
                  <a:cubicBezTo>
                    <a:pt x="96" y="381"/>
                    <a:pt x="64" y="476"/>
                    <a:pt x="32" y="634"/>
                  </a:cubicBezTo>
                  <a:cubicBezTo>
                    <a:pt x="1" y="761"/>
                    <a:pt x="254" y="856"/>
                    <a:pt x="602" y="856"/>
                  </a:cubicBezTo>
                  <a:lnTo>
                    <a:pt x="2978" y="856"/>
                  </a:lnTo>
                  <a:cubicBezTo>
                    <a:pt x="3294" y="856"/>
                    <a:pt x="3579" y="761"/>
                    <a:pt x="3579" y="634"/>
                  </a:cubicBezTo>
                  <a:cubicBezTo>
                    <a:pt x="3611" y="476"/>
                    <a:pt x="3611" y="381"/>
                    <a:pt x="3643" y="223"/>
                  </a:cubicBezTo>
                  <a:cubicBezTo>
                    <a:pt x="3643" y="96"/>
                    <a:pt x="3421" y="1"/>
                    <a:pt x="3073"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8;p14">
              <a:extLst>
                <a:ext uri="{FF2B5EF4-FFF2-40B4-BE49-F238E27FC236}">
                  <a16:creationId xmlns:a16="http://schemas.microsoft.com/office/drawing/2014/main" id="{9266DDE7-E25C-5079-5FDB-FE3B6647DF4C}"/>
                </a:ext>
              </a:extLst>
            </p:cNvPr>
            <p:cNvSpPr/>
            <p:nvPr/>
          </p:nvSpPr>
          <p:spPr>
            <a:xfrm>
              <a:off x="4413413" y="3062656"/>
              <a:ext cx="96179" cy="22800"/>
            </a:xfrm>
            <a:custGeom>
              <a:avLst/>
              <a:gdLst/>
              <a:ahLst/>
              <a:cxnLst/>
              <a:rect l="l" t="t" r="r" b="b"/>
              <a:pathLst>
                <a:path w="3611" h="856" extrusionOk="0">
                  <a:moveTo>
                    <a:pt x="665" y="1"/>
                  </a:moveTo>
                  <a:cubicBezTo>
                    <a:pt x="348" y="1"/>
                    <a:pt x="63" y="96"/>
                    <a:pt x="63" y="223"/>
                  </a:cubicBezTo>
                  <a:cubicBezTo>
                    <a:pt x="32" y="381"/>
                    <a:pt x="32" y="476"/>
                    <a:pt x="0" y="634"/>
                  </a:cubicBezTo>
                  <a:cubicBezTo>
                    <a:pt x="0" y="761"/>
                    <a:pt x="253" y="856"/>
                    <a:pt x="602" y="856"/>
                  </a:cubicBezTo>
                  <a:lnTo>
                    <a:pt x="2977" y="856"/>
                  </a:lnTo>
                  <a:cubicBezTo>
                    <a:pt x="3294" y="856"/>
                    <a:pt x="3579" y="761"/>
                    <a:pt x="3579" y="634"/>
                  </a:cubicBezTo>
                  <a:cubicBezTo>
                    <a:pt x="3579" y="476"/>
                    <a:pt x="3579" y="381"/>
                    <a:pt x="3610" y="223"/>
                  </a:cubicBezTo>
                  <a:cubicBezTo>
                    <a:pt x="3610" y="96"/>
                    <a:pt x="3357" y="1"/>
                    <a:pt x="3009"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9;p14">
              <a:extLst>
                <a:ext uri="{FF2B5EF4-FFF2-40B4-BE49-F238E27FC236}">
                  <a16:creationId xmlns:a16="http://schemas.microsoft.com/office/drawing/2014/main" id="{4DCD6E6B-49A0-5A65-EA29-4BF15886CF73}"/>
                </a:ext>
              </a:extLst>
            </p:cNvPr>
            <p:cNvSpPr/>
            <p:nvPr/>
          </p:nvSpPr>
          <p:spPr>
            <a:xfrm>
              <a:off x="4524747" y="3062656"/>
              <a:ext cx="95327" cy="22800"/>
            </a:xfrm>
            <a:custGeom>
              <a:avLst/>
              <a:gdLst/>
              <a:ahLst/>
              <a:cxnLst/>
              <a:rect l="l" t="t" r="r" b="b"/>
              <a:pathLst>
                <a:path w="3579" h="856" extrusionOk="0">
                  <a:moveTo>
                    <a:pt x="602" y="1"/>
                  </a:moveTo>
                  <a:cubicBezTo>
                    <a:pt x="285" y="1"/>
                    <a:pt x="0" y="96"/>
                    <a:pt x="0" y="223"/>
                  </a:cubicBezTo>
                  <a:cubicBezTo>
                    <a:pt x="0" y="381"/>
                    <a:pt x="0" y="476"/>
                    <a:pt x="0" y="634"/>
                  </a:cubicBezTo>
                  <a:cubicBezTo>
                    <a:pt x="0" y="761"/>
                    <a:pt x="254" y="856"/>
                    <a:pt x="570" y="856"/>
                  </a:cubicBezTo>
                  <a:lnTo>
                    <a:pt x="2977" y="856"/>
                  </a:lnTo>
                  <a:cubicBezTo>
                    <a:pt x="3294" y="856"/>
                    <a:pt x="3579" y="761"/>
                    <a:pt x="3547" y="634"/>
                  </a:cubicBezTo>
                  <a:cubicBezTo>
                    <a:pt x="3547" y="476"/>
                    <a:pt x="3547" y="381"/>
                    <a:pt x="3547" y="223"/>
                  </a:cubicBezTo>
                  <a:cubicBezTo>
                    <a:pt x="3547" y="96"/>
                    <a:pt x="3262" y="1"/>
                    <a:pt x="2946"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40;p14">
              <a:extLst>
                <a:ext uri="{FF2B5EF4-FFF2-40B4-BE49-F238E27FC236}">
                  <a16:creationId xmlns:a16="http://schemas.microsoft.com/office/drawing/2014/main" id="{AED04718-9C3E-F5D0-E1A8-7F5FD5A2EB4C}"/>
                </a:ext>
              </a:extLst>
            </p:cNvPr>
            <p:cNvSpPr/>
            <p:nvPr/>
          </p:nvSpPr>
          <p:spPr>
            <a:xfrm>
              <a:off x="4634404" y="3062656"/>
              <a:ext cx="96179" cy="22800"/>
            </a:xfrm>
            <a:custGeom>
              <a:avLst/>
              <a:gdLst/>
              <a:ahLst/>
              <a:cxnLst/>
              <a:rect l="l" t="t" r="r" b="b"/>
              <a:pathLst>
                <a:path w="3611" h="856" extrusionOk="0">
                  <a:moveTo>
                    <a:pt x="602" y="1"/>
                  </a:moveTo>
                  <a:cubicBezTo>
                    <a:pt x="254" y="1"/>
                    <a:pt x="0" y="96"/>
                    <a:pt x="0" y="223"/>
                  </a:cubicBezTo>
                  <a:cubicBezTo>
                    <a:pt x="32" y="381"/>
                    <a:pt x="32" y="476"/>
                    <a:pt x="32" y="634"/>
                  </a:cubicBezTo>
                  <a:cubicBezTo>
                    <a:pt x="32" y="761"/>
                    <a:pt x="317" y="856"/>
                    <a:pt x="634" y="856"/>
                  </a:cubicBezTo>
                  <a:lnTo>
                    <a:pt x="3009" y="856"/>
                  </a:lnTo>
                  <a:cubicBezTo>
                    <a:pt x="3357" y="856"/>
                    <a:pt x="3611" y="761"/>
                    <a:pt x="3611" y="634"/>
                  </a:cubicBezTo>
                  <a:cubicBezTo>
                    <a:pt x="3579" y="476"/>
                    <a:pt x="3579" y="381"/>
                    <a:pt x="3547" y="223"/>
                  </a:cubicBezTo>
                  <a:cubicBezTo>
                    <a:pt x="3547" y="96"/>
                    <a:pt x="3262" y="1"/>
                    <a:pt x="2946"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1;p14">
              <a:extLst>
                <a:ext uri="{FF2B5EF4-FFF2-40B4-BE49-F238E27FC236}">
                  <a16:creationId xmlns:a16="http://schemas.microsoft.com/office/drawing/2014/main" id="{A8F974AA-51EE-73A7-4385-F3462ECC9447}"/>
                </a:ext>
              </a:extLst>
            </p:cNvPr>
            <p:cNvSpPr/>
            <p:nvPr/>
          </p:nvSpPr>
          <p:spPr>
            <a:xfrm>
              <a:off x="4744060" y="3062656"/>
              <a:ext cx="97857" cy="22800"/>
            </a:xfrm>
            <a:custGeom>
              <a:avLst/>
              <a:gdLst/>
              <a:ahLst/>
              <a:cxnLst/>
              <a:rect l="l" t="t" r="r" b="b"/>
              <a:pathLst>
                <a:path w="3674" h="856" extrusionOk="0">
                  <a:moveTo>
                    <a:pt x="602" y="1"/>
                  </a:moveTo>
                  <a:cubicBezTo>
                    <a:pt x="254" y="1"/>
                    <a:pt x="0" y="96"/>
                    <a:pt x="32" y="223"/>
                  </a:cubicBezTo>
                  <a:cubicBezTo>
                    <a:pt x="32" y="381"/>
                    <a:pt x="64" y="476"/>
                    <a:pt x="64" y="634"/>
                  </a:cubicBezTo>
                  <a:cubicBezTo>
                    <a:pt x="95" y="761"/>
                    <a:pt x="380" y="856"/>
                    <a:pt x="697" y="856"/>
                  </a:cubicBezTo>
                  <a:lnTo>
                    <a:pt x="3072" y="856"/>
                  </a:lnTo>
                  <a:cubicBezTo>
                    <a:pt x="3421" y="856"/>
                    <a:pt x="3674" y="761"/>
                    <a:pt x="3642" y="634"/>
                  </a:cubicBezTo>
                  <a:cubicBezTo>
                    <a:pt x="3611" y="476"/>
                    <a:pt x="3579" y="381"/>
                    <a:pt x="3547" y="223"/>
                  </a:cubicBezTo>
                  <a:cubicBezTo>
                    <a:pt x="3547" y="96"/>
                    <a:pt x="3262" y="1"/>
                    <a:pt x="2946"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42;p14">
              <a:extLst>
                <a:ext uri="{FF2B5EF4-FFF2-40B4-BE49-F238E27FC236}">
                  <a16:creationId xmlns:a16="http://schemas.microsoft.com/office/drawing/2014/main" id="{22C92577-9930-C201-4800-28ECA5E7E3CC}"/>
                </a:ext>
              </a:extLst>
            </p:cNvPr>
            <p:cNvSpPr/>
            <p:nvPr/>
          </p:nvSpPr>
          <p:spPr>
            <a:xfrm>
              <a:off x="4853716" y="3062656"/>
              <a:ext cx="99562" cy="22800"/>
            </a:xfrm>
            <a:custGeom>
              <a:avLst/>
              <a:gdLst/>
              <a:ahLst/>
              <a:cxnLst/>
              <a:rect l="l" t="t" r="r" b="b"/>
              <a:pathLst>
                <a:path w="3738" h="856" extrusionOk="0">
                  <a:moveTo>
                    <a:pt x="570" y="1"/>
                  </a:moveTo>
                  <a:cubicBezTo>
                    <a:pt x="254" y="1"/>
                    <a:pt x="0" y="96"/>
                    <a:pt x="32" y="223"/>
                  </a:cubicBezTo>
                  <a:cubicBezTo>
                    <a:pt x="64" y="381"/>
                    <a:pt x="95" y="476"/>
                    <a:pt x="127" y="634"/>
                  </a:cubicBezTo>
                  <a:cubicBezTo>
                    <a:pt x="159" y="761"/>
                    <a:pt x="444" y="856"/>
                    <a:pt x="760" y="856"/>
                  </a:cubicBezTo>
                  <a:lnTo>
                    <a:pt x="3167" y="856"/>
                  </a:lnTo>
                  <a:cubicBezTo>
                    <a:pt x="3484" y="856"/>
                    <a:pt x="3737" y="761"/>
                    <a:pt x="3706" y="634"/>
                  </a:cubicBezTo>
                  <a:cubicBezTo>
                    <a:pt x="3642" y="476"/>
                    <a:pt x="3611" y="381"/>
                    <a:pt x="3579" y="223"/>
                  </a:cubicBezTo>
                  <a:cubicBezTo>
                    <a:pt x="3547" y="96"/>
                    <a:pt x="3262" y="1"/>
                    <a:pt x="2946"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43;p14">
              <a:extLst>
                <a:ext uri="{FF2B5EF4-FFF2-40B4-BE49-F238E27FC236}">
                  <a16:creationId xmlns:a16="http://schemas.microsoft.com/office/drawing/2014/main" id="{59C88EDB-206B-3257-DEDC-25DF0AF81968}"/>
                </a:ext>
              </a:extLst>
            </p:cNvPr>
            <p:cNvSpPr/>
            <p:nvPr/>
          </p:nvSpPr>
          <p:spPr>
            <a:xfrm>
              <a:off x="4963373" y="3062656"/>
              <a:ext cx="100387" cy="22800"/>
            </a:xfrm>
            <a:custGeom>
              <a:avLst/>
              <a:gdLst/>
              <a:ahLst/>
              <a:cxnLst/>
              <a:rect l="l" t="t" r="r" b="b"/>
              <a:pathLst>
                <a:path w="3769" h="856" extrusionOk="0">
                  <a:moveTo>
                    <a:pt x="570" y="1"/>
                  </a:moveTo>
                  <a:cubicBezTo>
                    <a:pt x="254" y="1"/>
                    <a:pt x="0" y="96"/>
                    <a:pt x="32" y="223"/>
                  </a:cubicBezTo>
                  <a:cubicBezTo>
                    <a:pt x="95" y="381"/>
                    <a:pt x="127" y="476"/>
                    <a:pt x="159" y="634"/>
                  </a:cubicBezTo>
                  <a:cubicBezTo>
                    <a:pt x="190" y="761"/>
                    <a:pt x="475" y="856"/>
                    <a:pt x="824" y="856"/>
                  </a:cubicBezTo>
                  <a:lnTo>
                    <a:pt x="3199" y="856"/>
                  </a:lnTo>
                  <a:cubicBezTo>
                    <a:pt x="3516" y="856"/>
                    <a:pt x="3769" y="761"/>
                    <a:pt x="3737" y="634"/>
                  </a:cubicBezTo>
                  <a:cubicBezTo>
                    <a:pt x="3674" y="476"/>
                    <a:pt x="3642" y="381"/>
                    <a:pt x="3579" y="223"/>
                  </a:cubicBezTo>
                  <a:cubicBezTo>
                    <a:pt x="3547" y="96"/>
                    <a:pt x="3231" y="1"/>
                    <a:pt x="2914"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44;p14">
              <a:extLst>
                <a:ext uri="{FF2B5EF4-FFF2-40B4-BE49-F238E27FC236}">
                  <a16:creationId xmlns:a16="http://schemas.microsoft.com/office/drawing/2014/main" id="{05CF81DE-98E4-4FAF-E0C9-6C95D46EAA88}"/>
                </a:ext>
              </a:extLst>
            </p:cNvPr>
            <p:cNvSpPr/>
            <p:nvPr/>
          </p:nvSpPr>
          <p:spPr>
            <a:xfrm>
              <a:off x="5073029" y="3062656"/>
              <a:ext cx="101240" cy="22800"/>
            </a:xfrm>
            <a:custGeom>
              <a:avLst/>
              <a:gdLst/>
              <a:ahLst/>
              <a:cxnLst/>
              <a:rect l="l" t="t" r="r" b="b"/>
              <a:pathLst>
                <a:path w="3801" h="856" extrusionOk="0">
                  <a:moveTo>
                    <a:pt x="570" y="1"/>
                  </a:moveTo>
                  <a:cubicBezTo>
                    <a:pt x="222" y="1"/>
                    <a:pt x="0" y="96"/>
                    <a:pt x="64" y="223"/>
                  </a:cubicBezTo>
                  <a:cubicBezTo>
                    <a:pt x="95" y="381"/>
                    <a:pt x="127" y="476"/>
                    <a:pt x="190" y="634"/>
                  </a:cubicBezTo>
                  <a:cubicBezTo>
                    <a:pt x="254" y="761"/>
                    <a:pt x="539" y="856"/>
                    <a:pt x="887" y="856"/>
                  </a:cubicBezTo>
                  <a:lnTo>
                    <a:pt x="3262" y="856"/>
                  </a:lnTo>
                  <a:cubicBezTo>
                    <a:pt x="3579" y="856"/>
                    <a:pt x="3801" y="761"/>
                    <a:pt x="3769" y="634"/>
                  </a:cubicBezTo>
                  <a:cubicBezTo>
                    <a:pt x="3706" y="476"/>
                    <a:pt x="3642" y="381"/>
                    <a:pt x="3579" y="223"/>
                  </a:cubicBezTo>
                  <a:cubicBezTo>
                    <a:pt x="3547" y="96"/>
                    <a:pt x="3230" y="1"/>
                    <a:pt x="2914"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45;p14">
              <a:extLst>
                <a:ext uri="{FF2B5EF4-FFF2-40B4-BE49-F238E27FC236}">
                  <a16:creationId xmlns:a16="http://schemas.microsoft.com/office/drawing/2014/main" id="{D49FF687-5866-04C3-84B8-159910A814CA}"/>
                </a:ext>
              </a:extLst>
            </p:cNvPr>
            <p:cNvSpPr/>
            <p:nvPr/>
          </p:nvSpPr>
          <p:spPr>
            <a:xfrm>
              <a:off x="5182685" y="3062656"/>
              <a:ext cx="102918" cy="22800"/>
            </a:xfrm>
            <a:custGeom>
              <a:avLst/>
              <a:gdLst/>
              <a:ahLst/>
              <a:cxnLst/>
              <a:rect l="l" t="t" r="r" b="b"/>
              <a:pathLst>
                <a:path w="3864" h="856" extrusionOk="0">
                  <a:moveTo>
                    <a:pt x="570" y="1"/>
                  </a:moveTo>
                  <a:cubicBezTo>
                    <a:pt x="222" y="1"/>
                    <a:pt x="0" y="96"/>
                    <a:pt x="64" y="223"/>
                  </a:cubicBezTo>
                  <a:cubicBezTo>
                    <a:pt x="127" y="381"/>
                    <a:pt x="159" y="476"/>
                    <a:pt x="254" y="634"/>
                  </a:cubicBezTo>
                  <a:cubicBezTo>
                    <a:pt x="285" y="761"/>
                    <a:pt x="602" y="856"/>
                    <a:pt x="919" y="856"/>
                  </a:cubicBezTo>
                  <a:lnTo>
                    <a:pt x="3325" y="856"/>
                  </a:lnTo>
                  <a:cubicBezTo>
                    <a:pt x="3642" y="856"/>
                    <a:pt x="3864" y="761"/>
                    <a:pt x="3801" y="634"/>
                  </a:cubicBezTo>
                  <a:cubicBezTo>
                    <a:pt x="3737" y="476"/>
                    <a:pt x="3674" y="381"/>
                    <a:pt x="3610" y="223"/>
                  </a:cubicBezTo>
                  <a:cubicBezTo>
                    <a:pt x="3547" y="96"/>
                    <a:pt x="3230" y="1"/>
                    <a:pt x="2914"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46;p14">
              <a:extLst>
                <a:ext uri="{FF2B5EF4-FFF2-40B4-BE49-F238E27FC236}">
                  <a16:creationId xmlns:a16="http://schemas.microsoft.com/office/drawing/2014/main" id="{0AB56DB9-2C3F-3F52-56F0-EBB864F1C53A}"/>
                </a:ext>
              </a:extLst>
            </p:cNvPr>
            <p:cNvSpPr/>
            <p:nvPr/>
          </p:nvSpPr>
          <p:spPr>
            <a:xfrm>
              <a:off x="5292341" y="3062656"/>
              <a:ext cx="104622" cy="22800"/>
            </a:xfrm>
            <a:custGeom>
              <a:avLst/>
              <a:gdLst/>
              <a:ahLst/>
              <a:cxnLst/>
              <a:rect l="l" t="t" r="r" b="b"/>
              <a:pathLst>
                <a:path w="3928" h="856" extrusionOk="0">
                  <a:moveTo>
                    <a:pt x="539" y="1"/>
                  </a:moveTo>
                  <a:cubicBezTo>
                    <a:pt x="222" y="1"/>
                    <a:pt x="0" y="96"/>
                    <a:pt x="64" y="223"/>
                  </a:cubicBezTo>
                  <a:cubicBezTo>
                    <a:pt x="159" y="381"/>
                    <a:pt x="190" y="476"/>
                    <a:pt x="285" y="634"/>
                  </a:cubicBezTo>
                  <a:cubicBezTo>
                    <a:pt x="349" y="761"/>
                    <a:pt x="665" y="856"/>
                    <a:pt x="982" y="856"/>
                  </a:cubicBezTo>
                  <a:lnTo>
                    <a:pt x="3389" y="856"/>
                  </a:lnTo>
                  <a:cubicBezTo>
                    <a:pt x="3705" y="856"/>
                    <a:pt x="3927" y="761"/>
                    <a:pt x="3864" y="634"/>
                  </a:cubicBezTo>
                  <a:cubicBezTo>
                    <a:pt x="3737" y="476"/>
                    <a:pt x="3705" y="381"/>
                    <a:pt x="3610" y="223"/>
                  </a:cubicBezTo>
                  <a:cubicBezTo>
                    <a:pt x="3547" y="96"/>
                    <a:pt x="3230" y="1"/>
                    <a:pt x="2882"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47;p14">
              <a:extLst>
                <a:ext uri="{FF2B5EF4-FFF2-40B4-BE49-F238E27FC236}">
                  <a16:creationId xmlns:a16="http://schemas.microsoft.com/office/drawing/2014/main" id="{5A72FFA9-FCBE-D93E-F69E-EDDFB12B9334}"/>
                </a:ext>
              </a:extLst>
            </p:cNvPr>
            <p:cNvSpPr/>
            <p:nvPr/>
          </p:nvSpPr>
          <p:spPr>
            <a:xfrm>
              <a:off x="3724259" y="3091342"/>
              <a:ext cx="80997" cy="35451"/>
            </a:xfrm>
            <a:custGeom>
              <a:avLst/>
              <a:gdLst/>
              <a:ahLst/>
              <a:cxnLst/>
              <a:rect l="l" t="t" r="r" b="b"/>
              <a:pathLst>
                <a:path w="3041" h="1331" extrusionOk="0">
                  <a:moveTo>
                    <a:pt x="1299" y="1"/>
                  </a:moveTo>
                  <a:cubicBezTo>
                    <a:pt x="950" y="1"/>
                    <a:pt x="634" y="96"/>
                    <a:pt x="570" y="222"/>
                  </a:cubicBezTo>
                  <a:cubicBezTo>
                    <a:pt x="380" y="571"/>
                    <a:pt x="285" y="761"/>
                    <a:pt x="64" y="1109"/>
                  </a:cubicBezTo>
                  <a:cubicBezTo>
                    <a:pt x="0" y="1236"/>
                    <a:pt x="222" y="1331"/>
                    <a:pt x="570" y="1331"/>
                  </a:cubicBezTo>
                  <a:lnTo>
                    <a:pt x="1806" y="1331"/>
                  </a:lnTo>
                  <a:cubicBezTo>
                    <a:pt x="2122" y="1331"/>
                    <a:pt x="2471" y="1236"/>
                    <a:pt x="2534" y="1109"/>
                  </a:cubicBezTo>
                  <a:cubicBezTo>
                    <a:pt x="2692" y="761"/>
                    <a:pt x="2787" y="571"/>
                    <a:pt x="2977" y="222"/>
                  </a:cubicBezTo>
                  <a:cubicBezTo>
                    <a:pt x="3041" y="96"/>
                    <a:pt x="2819" y="1"/>
                    <a:pt x="2471"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48;p14">
              <a:extLst>
                <a:ext uri="{FF2B5EF4-FFF2-40B4-BE49-F238E27FC236}">
                  <a16:creationId xmlns:a16="http://schemas.microsoft.com/office/drawing/2014/main" id="{672F756E-3FE4-95AD-F2F4-245123AB54D6}"/>
                </a:ext>
              </a:extLst>
            </p:cNvPr>
            <p:cNvSpPr/>
            <p:nvPr/>
          </p:nvSpPr>
          <p:spPr>
            <a:xfrm>
              <a:off x="3806082" y="3091342"/>
              <a:ext cx="110509" cy="35451"/>
            </a:xfrm>
            <a:custGeom>
              <a:avLst/>
              <a:gdLst/>
              <a:ahLst/>
              <a:cxnLst/>
              <a:rect l="l" t="t" r="r" b="b"/>
              <a:pathLst>
                <a:path w="4149" h="1331" extrusionOk="0">
                  <a:moveTo>
                    <a:pt x="1204" y="1"/>
                  </a:moveTo>
                  <a:cubicBezTo>
                    <a:pt x="887" y="1"/>
                    <a:pt x="570" y="96"/>
                    <a:pt x="507" y="222"/>
                  </a:cubicBezTo>
                  <a:cubicBezTo>
                    <a:pt x="317" y="571"/>
                    <a:pt x="222" y="761"/>
                    <a:pt x="64" y="1109"/>
                  </a:cubicBezTo>
                  <a:cubicBezTo>
                    <a:pt x="0" y="1236"/>
                    <a:pt x="222" y="1331"/>
                    <a:pt x="570" y="1331"/>
                  </a:cubicBezTo>
                  <a:lnTo>
                    <a:pt x="3009" y="1331"/>
                  </a:lnTo>
                  <a:cubicBezTo>
                    <a:pt x="3357" y="1331"/>
                    <a:pt x="3674" y="1236"/>
                    <a:pt x="3706" y="1109"/>
                  </a:cubicBezTo>
                  <a:cubicBezTo>
                    <a:pt x="3864" y="761"/>
                    <a:pt x="3959" y="571"/>
                    <a:pt x="4117" y="222"/>
                  </a:cubicBezTo>
                  <a:cubicBezTo>
                    <a:pt x="4149" y="96"/>
                    <a:pt x="3927" y="1"/>
                    <a:pt x="3611"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49;p14">
              <a:extLst>
                <a:ext uri="{FF2B5EF4-FFF2-40B4-BE49-F238E27FC236}">
                  <a16:creationId xmlns:a16="http://schemas.microsoft.com/office/drawing/2014/main" id="{9B088713-83B6-C7E6-7B20-B0672ADBA6E5}"/>
                </a:ext>
              </a:extLst>
            </p:cNvPr>
            <p:cNvSpPr/>
            <p:nvPr/>
          </p:nvSpPr>
          <p:spPr>
            <a:xfrm>
              <a:off x="3919946" y="3091342"/>
              <a:ext cx="108831" cy="35451"/>
            </a:xfrm>
            <a:custGeom>
              <a:avLst/>
              <a:gdLst/>
              <a:ahLst/>
              <a:cxnLst/>
              <a:rect l="l" t="t" r="r" b="b"/>
              <a:pathLst>
                <a:path w="4086" h="1331" extrusionOk="0">
                  <a:moveTo>
                    <a:pt x="1141" y="1"/>
                  </a:moveTo>
                  <a:cubicBezTo>
                    <a:pt x="792" y="1"/>
                    <a:pt x="476" y="96"/>
                    <a:pt x="444" y="222"/>
                  </a:cubicBezTo>
                  <a:cubicBezTo>
                    <a:pt x="286" y="571"/>
                    <a:pt x="222" y="761"/>
                    <a:pt x="64" y="1109"/>
                  </a:cubicBezTo>
                  <a:cubicBezTo>
                    <a:pt x="1" y="1236"/>
                    <a:pt x="254" y="1331"/>
                    <a:pt x="571" y="1331"/>
                  </a:cubicBezTo>
                  <a:lnTo>
                    <a:pt x="3041" y="1331"/>
                  </a:lnTo>
                  <a:cubicBezTo>
                    <a:pt x="3358" y="1331"/>
                    <a:pt x="3674" y="1236"/>
                    <a:pt x="3706" y="1109"/>
                  </a:cubicBezTo>
                  <a:cubicBezTo>
                    <a:pt x="3833" y="761"/>
                    <a:pt x="3928" y="571"/>
                    <a:pt x="4054" y="222"/>
                  </a:cubicBezTo>
                  <a:cubicBezTo>
                    <a:pt x="4086" y="96"/>
                    <a:pt x="3864" y="1"/>
                    <a:pt x="3516"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50;p14">
              <a:extLst>
                <a:ext uri="{FF2B5EF4-FFF2-40B4-BE49-F238E27FC236}">
                  <a16:creationId xmlns:a16="http://schemas.microsoft.com/office/drawing/2014/main" id="{4E181A69-6D21-FC8C-AAAA-EA5F7B08BFD9}"/>
                </a:ext>
              </a:extLst>
            </p:cNvPr>
            <p:cNvSpPr/>
            <p:nvPr/>
          </p:nvSpPr>
          <p:spPr>
            <a:xfrm>
              <a:off x="4033811" y="3091342"/>
              <a:ext cx="107153" cy="35451"/>
            </a:xfrm>
            <a:custGeom>
              <a:avLst/>
              <a:gdLst/>
              <a:ahLst/>
              <a:cxnLst/>
              <a:rect l="l" t="t" r="r" b="b"/>
              <a:pathLst>
                <a:path w="4023" h="1331" extrusionOk="0">
                  <a:moveTo>
                    <a:pt x="1046" y="1"/>
                  </a:moveTo>
                  <a:cubicBezTo>
                    <a:pt x="729" y="1"/>
                    <a:pt x="413" y="96"/>
                    <a:pt x="381" y="222"/>
                  </a:cubicBezTo>
                  <a:cubicBezTo>
                    <a:pt x="254" y="571"/>
                    <a:pt x="191" y="761"/>
                    <a:pt x="64" y="1109"/>
                  </a:cubicBezTo>
                  <a:cubicBezTo>
                    <a:pt x="1" y="1236"/>
                    <a:pt x="254" y="1331"/>
                    <a:pt x="603" y="1331"/>
                  </a:cubicBezTo>
                  <a:lnTo>
                    <a:pt x="3041" y="1331"/>
                  </a:lnTo>
                  <a:cubicBezTo>
                    <a:pt x="3390" y="1331"/>
                    <a:pt x="3675" y="1236"/>
                    <a:pt x="3738" y="1109"/>
                  </a:cubicBezTo>
                  <a:cubicBezTo>
                    <a:pt x="3833" y="761"/>
                    <a:pt x="3865" y="571"/>
                    <a:pt x="3991" y="222"/>
                  </a:cubicBezTo>
                  <a:cubicBezTo>
                    <a:pt x="4023" y="96"/>
                    <a:pt x="3770" y="1"/>
                    <a:pt x="3453"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51;p14">
              <a:extLst>
                <a:ext uri="{FF2B5EF4-FFF2-40B4-BE49-F238E27FC236}">
                  <a16:creationId xmlns:a16="http://schemas.microsoft.com/office/drawing/2014/main" id="{CF4D26FC-8C89-761F-E040-983792719457}"/>
                </a:ext>
              </a:extLst>
            </p:cNvPr>
            <p:cNvSpPr/>
            <p:nvPr/>
          </p:nvSpPr>
          <p:spPr>
            <a:xfrm>
              <a:off x="4148528" y="3091342"/>
              <a:ext cx="103797" cy="35451"/>
            </a:xfrm>
            <a:custGeom>
              <a:avLst/>
              <a:gdLst/>
              <a:ahLst/>
              <a:cxnLst/>
              <a:rect l="l" t="t" r="r" b="b"/>
              <a:pathLst>
                <a:path w="3897" h="1331" extrusionOk="0">
                  <a:moveTo>
                    <a:pt x="919" y="1"/>
                  </a:moveTo>
                  <a:cubicBezTo>
                    <a:pt x="603" y="1"/>
                    <a:pt x="318" y="96"/>
                    <a:pt x="286" y="222"/>
                  </a:cubicBezTo>
                  <a:cubicBezTo>
                    <a:pt x="159" y="571"/>
                    <a:pt x="128" y="761"/>
                    <a:pt x="33" y="1109"/>
                  </a:cubicBezTo>
                  <a:cubicBezTo>
                    <a:pt x="1" y="1236"/>
                    <a:pt x="254" y="1331"/>
                    <a:pt x="571" y="1331"/>
                  </a:cubicBezTo>
                  <a:lnTo>
                    <a:pt x="3041" y="1331"/>
                  </a:lnTo>
                  <a:cubicBezTo>
                    <a:pt x="3358" y="1331"/>
                    <a:pt x="3675" y="1236"/>
                    <a:pt x="3675" y="1109"/>
                  </a:cubicBezTo>
                  <a:cubicBezTo>
                    <a:pt x="3770" y="761"/>
                    <a:pt x="3801" y="571"/>
                    <a:pt x="3865" y="222"/>
                  </a:cubicBezTo>
                  <a:cubicBezTo>
                    <a:pt x="3896" y="96"/>
                    <a:pt x="3643" y="1"/>
                    <a:pt x="3326"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52;p14">
              <a:extLst>
                <a:ext uri="{FF2B5EF4-FFF2-40B4-BE49-F238E27FC236}">
                  <a16:creationId xmlns:a16="http://schemas.microsoft.com/office/drawing/2014/main" id="{12261224-8295-F9EC-0CF4-F0835B97F8DA}"/>
                </a:ext>
              </a:extLst>
            </p:cNvPr>
            <p:cNvSpPr/>
            <p:nvPr/>
          </p:nvSpPr>
          <p:spPr>
            <a:xfrm>
              <a:off x="4262419" y="3091342"/>
              <a:ext cx="102092" cy="35451"/>
            </a:xfrm>
            <a:custGeom>
              <a:avLst/>
              <a:gdLst/>
              <a:ahLst/>
              <a:cxnLst/>
              <a:rect l="l" t="t" r="r" b="b"/>
              <a:pathLst>
                <a:path w="3833" h="1331" extrusionOk="0">
                  <a:moveTo>
                    <a:pt x="855" y="1"/>
                  </a:moveTo>
                  <a:cubicBezTo>
                    <a:pt x="507" y="1"/>
                    <a:pt x="222" y="96"/>
                    <a:pt x="190" y="222"/>
                  </a:cubicBezTo>
                  <a:cubicBezTo>
                    <a:pt x="127" y="571"/>
                    <a:pt x="95" y="761"/>
                    <a:pt x="32" y="1109"/>
                  </a:cubicBezTo>
                  <a:cubicBezTo>
                    <a:pt x="0" y="1236"/>
                    <a:pt x="254" y="1331"/>
                    <a:pt x="602" y="1331"/>
                  </a:cubicBezTo>
                  <a:lnTo>
                    <a:pt x="3040" y="1331"/>
                  </a:lnTo>
                  <a:cubicBezTo>
                    <a:pt x="3389" y="1331"/>
                    <a:pt x="3674" y="1236"/>
                    <a:pt x="3674" y="1109"/>
                  </a:cubicBezTo>
                  <a:cubicBezTo>
                    <a:pt x="3737" y="761"/>
                    <a:pt x="3769" y="571"/>
                    <a:pt x="3801" y="222"/>
                  </a:cubicBezTo>
                  <a:cubicBezTo>
                    <a:pt x="3832" y="96"/>
                    <a:pt x="3579" y="1"/>
                    <a:pt x="3231"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53;p14">
              <a:extLst>
                <a:ext uri="{FF2B5EF4-FFF2-40B4-BE49-F238E27FC236}">
                  <a16:creationId xmlns:a16="http://schemas.microsoft.com/office/drawing/2014/main" id="{DCB2FAB5-64CF-2505-D9B9-5C5786C53F55}"/>
                </a:ext>
              </a:extLst>
            </p:cNvPr>
            <p:cNvSpPr/>
            <p:nvPr/>
          </p:nvSpPr>
          <p:spPr>
            <a:xfrm>
              <a:off x="4376284" y="3091342"/>
              <a:ext cx="99562" cy="35451"/>
            </a:xfrm>
            <a:custGeom>
              <a:avLst/>
              <a:gdLst/>
              <a:ahLst/>
              <a:cxnLst/>
              <a:rect l="l" t="t" r="r" b="b"/>
              <a:pathLst>
                <a:path w="3738" h="1331" extrusionOk="0">
                  <a:moveTo>
                    <a:pt x="761" y="1"/>
                  </a:moveTo>
                  <a:cubicBezTo>
                    <a:pt x="444" y="1"/>
                    <a:pt x="159" y="96"/>
                    <a:pt x="127" y="222"/>
                  </a:cubicBezTo>
                  <a:cubicBezTo>
                    <a:pt x="96" y="571"/>
                    <a:pt x="64" y="761"/>
                    <a:pt x="32" y="1109"/>
                  </a:cubicBezTo>
                  <a:cubicBezTo>
                    <a:pt x="1" y="1236"/>
                    <a:pt x="286" y="1331"/>
                    <a:pt x="602" y="1331"/>
                  </a:cubicBezTo>
                  <a:lnTo>
                    <a:pt x="3072" y="1331"/>
                  </a:lnTo>
                  <a:cubicBezTo>
                    <a:pt x="3389" y="1331"/>
                    <a:pt x="3674" y="1236"/>
                    <a:pt x="3674" y="1109"/>
                  </a:cubicBezTo>
                  <a:cubicBezTo>
                    <a:pt x="3706" y="761"/>
                    <a:pt x="3706" y="571"/>
                    <a:pt x="3738" y="222"/>
                  </a:cubicBezTo>
                  <a:cubicBezTo>
                    <a:pt x="3738" y="96"/>
                    <a:pt x="3484" y="1"/>
                    <a:pt x="3167"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54;p14">
              <a:extLst>
                <a:ext uri="{FF2B5EF4-FFF2-40B4-BE49-F238E27FC236}">
                  <a16:creationId xmlns:a16="http://schemas.microsoft.com/office/drawing/2014/main" id="{B9DF6C89-AD54-1F3B-8D5B-5B684454BA82}"/>
                </a:ext>
              </a:extLst>
            </p:cNvPr>
            <p:cNvSpPr/>
            <p:nvPr/>
          </p:nvSpPr>
          <p:spPr>
            <a:xfrm>
              <a:off x="4490148" y="3091342"/>
              <a:ext cx="97884" cy="35451"/>
            </a:xfrm>
            <a:custGeom>
              <a:avLst/>
              <a:gdLst/>
              <a:ahLst/>
              <a:cxnLst/>
              <a:rect l="l" t="t" r="r" b="b"/>
              <a:pathLst>
                <a:path w="3675" h="1331" extrusionOk="0">
                  <a:moveTo>
                    <a:pt x="666" y="1"/>
                  </a:moveTo>
                  <a:cubicBezTo>
                    <a:pt x="349" y="1"/>
                    <a:pt x="64" y="96"/>
                    <a:pt x="64" y="222"/>
                  </a:cubicBezTo>
                  <a:cubicBezTo>
                    <a:pt x="64" y="571"/>
                    <a:pt x="33" y="761"/>
                    <a:pt x="33" y="1109"/>
                  </a:cubicBezTo>
                  <a:cubicBezTo>
                    <a:pt x="1" y="1236"/>
                    <a:pt x="286" y="1331"/>
                    <a:pt x="634" y="1331"/>
                  </a:cubicBezTo>
                  <a:lnTo>
                    <a:pt x="3073" y="1331"/>
                  </a:lnTo>
                  <a:cubicBezTo>
                    <a:pt x="3421" y="1331"/>
                    <a:pt x="3675" y="1236"/>
                    <a:pt x="3675" y="1109"/>
                  </a:cubicBezTo>
                  <a:cubicBezTo>
                    <a:pt x="3675" y="761"/>
                    <a:pt x="3675" y="571"/>
                    <a:pt x="3675" y="222"/>
                  </a:cubicBezTo>
                  <a:cubicBezTo>
                    <a:pt x="3675" y="96"/>
                    <a:pt x="3390" y="1"/>
                    <a:pt x="3073"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55;p14">
              <a:extLst>
                <a:ext uri="{FF2B5EF4-FFF2-40B4-BE49-F238E27FC236}">
                  <a16:creationId xmlns:a16="http://schemas.microsoft.com/office/drawing/2014/main" id="{18B64E22-52C1-40B8-9DBF-DFCD67E86218}"/>
                </a:ext>
              </a:extLst>
            </p:cNvPr>
            <p:cNvSpPr/>
            <p:nvPr/>
          </p:nvSpPr>
          <p:spPr>
            <a:xfrm>
              <a:off x="4604040" y="3091342"/>
              <a:ext cx="98709" cy="35451"/>
            </a:xfrm>
            <a:custGeom>
              <a:avLst/>
              <a:gdLst/>
              <a:ahLst/>
              <a:cxnLst/>
              <a:rect l="l" t="t" r="r" b="b"/>
              <a:pathLst>
                <a:path w="3706" h="1331" extrusionOk="0">
                  <a:moveTo>
                    <a:pt x="602" y="1"/>
                  </a:moveTo>
                  <a:cubicBezTo>
                    <a:pt x="254" y="1"/>
                    <a:pt x="0" y="96"/>
                    <a:pt x="0" y="222"/>
                  </a:cubicBezTo>
                  <a:cubicBezTo>
                    <a:pt x="0" y="571"/>
                    <a:pt x="0" y="761"/>
                    <a:pt x="32" y="1109"/>
                  </a:cubicBezTo>
                  <a:cubicBezTo>
                    <a:pt x="32" y="1236"/>
                    <a:pt x="285" y="1331"/>
                    <a:pt x="634" y="1331"/>
                  </a:cubicBezTo>
                  <a:lnTo>
                    <a:pt x="3104" y="1331"/>
                  </a:lnTo>
                  <a:cubicBezTo>
                    <a:pt x="3420" y="1331"/>
                    <a:pt x="3706" y="1236"/>
                    <a:pt x="3674" y="1109"/>
                  </a:cubicBezTo>
                  <a:cubicBezTo>
                    <a:pt x="3642" y="761"/>
                    <a:pt x="3642" y="571"/>
                    <a:pt x="3611" y="222"/>
                  </a:cubicBezTo>
                  <a:cubicBezTo>
                    <a:pt x="3579" y="96"/>
                    <a:pt x="3325" y="1"/>
                    <a:pt x="2977"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56;p14">
              <a:extLst>
                <a:ext uri="{FF2B5EF4-FFF2-40B4-BE49-F238E27FC236}">
                  <a16:creationId xmlns:a16="http://schemas.microsoft.com/office/drawing/2014/main" id="{25CDBC8B-24AE-5439-864A-9E891627FFA6}"/>
                </a:ext>
              </a:extLst>
            </p:cNvPr>
            <p:cNvSpPr/>
            <p:nvPr/>
          </p:nvSpPr>
          <p:spPr>
            <a:xfrm>
              <a:off x="4716226" y="3091342"/>
              <a:ext cx="100387" cy="35451"/>
            </a:xfrm>
            <a:custGeom>
              <a:avLst/>
              <a:gdLst/>
              <a:ahLst/>
              <a:cxnLst/>
              <a:rect l="l" t="t" r="r" b="b"/>
              <a:pathLst>
                <a:path w="3769" h="1331" extrusionOk="0">
                  <a:moveTo>
                    <a:pt x="570" y="1"/>
                  </a:moveTo>
                  <a:cubicBezTo>
                    <a:pt x="254" y="1"/>
                    <a:pt x="0" y="96"/>
                    <a:pt x="0" y="222"/>
                  </a:cubicBezTo>
                  <a:cubicBezTo>
                    <a:pt x="32" y="571"/>
                    <a:pt x="32" y="761"/>
                    <a:pt x="95" y="1109"/>
                  </a:cubicBezTo>
                  <a:cubicBezTo>
                    <a:pt x="95" y="1236"/>
                    <a:pt x="380" y="1331"/>
                    <a:pt x="729" y="1331"/>
                  </a:cubicBezTo>
                  <a:lnTo>
                    <a:pt x="3167" y="1331"/>
                  </a:lnTo>
                  <a:cubicBezTo>
                    <a:pt x="3515" y="1331"/>
                    <a:pt x="3769" y="1236"/>
                    <a:pt x="3737" y="1109"/>
                  </a:cubicBezTo>
                  <a:cubicBezTo>
                    <a:pt x="3674" y="761"/>
                    <a:pt x="3674" y="571"/>
                    <a:pt x="3610" y="222"/>
                  </a:cubicBezTo>
                  <a:cubicBezTo>
                    <a:pt x="3579" y="96"/>
                    <a:pt x="3294" y="1"/>
                    <a:pt x="2977"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57;p14">
              <a:extLst>
                <a:ext uri="{FF2B5EF4-FFF2-40B4-BE49-F238E27FC236}">
                  <a16:creationId xmlns:a16="http://schemas.microsoft.com/office/drawing/2014/main" id="{6EDB24D5-45DD-B3B7-2C60-7935923D6999}"/>
                </a:ext>
              </a:extLst>
            </p:cNvPr>
            <p:cNvSpPr/>
            <p:nvPr/>
          </p:nvSpPr>
          <p:spPr>
            <a:xfrm>
              <a:off x="4827561" y="3091342"/>
              <a:ext cx="102944" cy="35451"/>
            </a:xfrm>
            <a:custGeom>
              <a:avLst/>
              <a:gdLst/>
              <a:ahLst/>
              <a:cxnLst/>
              <a:rect l="l" t="t" r="r" b="b"/>
              <a:pathLst>
                <a:path w="3865" h="1331" extrusionOk="0">
                  <a:moveTo>
                    <a:pt x="602" y="1"/>
                  </a:moveTo>
                  <a:cubicBezTo>
                    <a:pt x="254" y="1"/>
                    <a:pt x="1" y="96"/>
                    <a:pt x="32" y="222"/>
                  </a:cubicBezTo>
                  <a:cubicBezTo>
                    <a:pt x="96" y="571"/>
                    <a:pt x="127" y="761"/>
                    <a:pt x="191" y="1109"/>
                  </a:cubicBezTo>
                  <a:cubicBezTo>
                    <a:pt x="191" y="1236"/>
                    <a:pt x="476" y="1331"/>
                    <a:pt x="824" y="1331"/>
                  </a:cubicBezTo>
                  <a:lnTo>
                    <a:pt x="3262" y="1331"/>
                  </a:lnTo>
                  <a:cubicBezTo>
                    <a:pt x="3611" y="1331"/>
                    <a:pt x="3864" y="1236"/>
                    <a:pt x="3832" y="1109"/>
                  </a:cubicBezTo>
                  <a:cubicBezTo>
                    <a:pt x="3769" y="761"/>
                    <a:pt x="3706" y="571"/>
                    <a:pt x="3642" y="222"/>
                  </a:cubicBezTo>
                  <a:cubicBezTo>
                    <a:pt x="3611" y="96"/>
                    <a:pt x="3326" y="1"/>
                    <a:pt x="2977"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58;p14">
              <a:extLst>
                <a:ext uri="{FF2B5EF4-FFF2-40B4-BE49-F238E27FC236}">
                  <a16:creationId xmlns:a16="http://schemas.microsoft.com/office/drawing/2014/main" id="{E2B4C4ED-21BD-0813-6F63-DDCA62206863}"/>
                </a:ext>
              </a:extLst>
            </p:cNvPr>
            <p:cNvSpPr/>
            <p:nvPr/>
          </p:nvSpPr>
          <p:spPr>
            <a:xfrm>
              <a:off x="4939747" y="3091342"/>
              <a:ext cx="104622" cy="35451"/>
            </a:xfrm>
            <a:custGeom>
              <a:avLst/>
              <a:gdLst/>
              <a:ahLst/>
              <a:cxnLst/>
              <a:rect l="l" t="t" r="r" b="b"/>
              <a:pathLst>
                <a:path w="3928" h="1331" extrusionOk="0">
                  <a:moveTo>
                    <a:pt x="571" y="1"/>
                  </a:moveTo>
                  <a:cubicBezTo>
                    <a:pt x="222" y="1"/>
                    <a:pt x="1" y="96"/>
                    <a:pt x="32" y="222"/>
                  </a:cubicBezTo>
                  <a:cubicBezTo>
                    <a:pt x="96" y="571"/>
                    <a:pt x="159" y="761"/>
                    <a:pt x="222" y="1109"/>
                  </a:cubicBezTo>
                  <a:cubicBezTo>
                    <a:pt x="254" y="1236"/>
                    <a:pt x="571" y="1331"/>
                    <a:pt x="919" y="1331"/>
                  </a:cubicBezTo>
                  <a:lnTo>
                    <a:pt x="3357" y="1331"/>
                  </a:lnTo>
                  <a:cubicBezTo>
                    <a:pt x="3706" y="1331"/>
                    <a:pt x="3927" y="1236"/>
                    <a:pt x="3896" y="1109"/>
                  </a:cubicBezTo>
                  <a:cubicBezTo>
                    <a:pt x="3801" y="761"/>
                    <a:pt x="3737" y="571"/>
                    <a:pt x="3642" y="222"/>
                  </a:cubicBezTo>
                  <a:cubicBezTo>
                    <a:pt x="3579" y="96"/>
                    <a:pt x="3294" y="1"/>
                    <a:pt x="2946"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59;p14">
              <a:extLst>
                <a:ext uri="{FF2B5EF4-FFF2-40B4-BE49-F238E27FC236}">
                  <a16:creationId xmlns:a16="http://schemas.microsoft.com/office/drawing/2014/main" id="{A356921A-C653-6CBE-938A-86F728C7C129}"/>
                </a:ext>
              </a:extLst>
            </p:cNvPr>
            <p:cNvSpPr/>
            <p:nvPr/>
          </p:nvSpPr>
          <p:spPr>
            <a:xfrm>
              <a:off x="5051082" y="3091342"/>
              <a:ext cx="108005" cy="35451"/>
            </a:xfrm>
            <a:custGeom>
              <a:avLst/>
              <a:gdLst/>
              <a:ahLst/>
              <a:cxnLst/>
              <a:rect l="l" t="t" r="r" b="b"/>
              <a:pathLst>
                <a:path w="4055" h="1331" extrusionOk="0">
                  <a:moveTo>
                    <a:pt x="571" y="1"/>
                  </a:moveTo>
                  <a:cubicBezTo>
                    <a:pt x="254" y="1"/>
                    <a:pt x="1" y="96"/>
                    <a:pt x="64" y="222"/>
                  </a:cubicBezTo>
                  <a:cubicBezTo>
                    <a:pt x="159" y="571"/>
                    <a:pt x="223" y="761"/>
                    <a:pt x="318" y="1109"/>
                  </a:cubicBezTo>
                  <a:cubicBezTo>
                    <a:pt x="381" y="1236"/>
                    <a:pt x="666" y="1331"/>
                    <a:pt x="1014" y="1331"/>
                  </a:cubicBezTo>
                  <a:lnTo>
                    <a:pt x="3484" y="1331"/>
                  </a:lnTo>
                  <a:cubicBezTo>
                    <a:pt x="3801" y="1331"/>
                    <a:pt x="4054" y="1236"/>
                    <a:pt x="3991" y="1109"/>
                  </a:cubicBezTo>
                  <a:cubicBezTo>
                    <a:pt x="3864" y="761"/>
                    <a:pt x="3801" y="571"/>
                    <a:pt x="3643" y="222"/>
                  </a:cubicBezTo>
                  <a:cubicBezTo>
                    <a:pt x="3611" y="96"/>
                    <a:pt x="3294" y="1"/>
                    <a:pt x="2978"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60;p14">
              <a:extLst>
                <a:ext uri="{FF2B5EF4-FFF2-40B4-BE49-F238E27FC236}">
                  <a16:creationId xmlns:a16="http://schemas.microsoft.com/office/drawing/2014/main" id="{505F7DB0-2D52-DA21-13E4-2F6B694678BE}"/>
                </a:ext>
              </a:extLst>
            </p:cNvPr>
            <p:cNvSpPr/>
            <p:nvPr/>
          </p:nvSpPr>
          <p:spPr>
            <a:xfrm>
              <a:off x="5163268" y="3091342"/>
              <a:ext cx="256468" cy="35451"/>
            </a:xfrm>
            <a:custGeom>
              <a:avLst/>
              <a:gdLst/>
              <a:ahLst/>
              <a:cxnLst/>
              <a:rect l="l" t="t" r="r" b="b"/>
              <a:pathLst>
                <a:path w="9629" h="1331" extrusionOk="0">
                  <a:moveTo>
                    <a:pt x="571" y="1"/>
                  </a:moveTo>
                  <a:cubicBezTo>
                    <a:pt x="223" y="1"/>
                    <a:pt x="1" y="96"/>
                    <a:pt x="32" y="222"/>
                  </a:cubicBezTo>
                  <a:cubicBezTo>
                    <a:pt x="191" y="571"/>
                    <a:pt x="254" y="761"/>
                    <a:pt x="381" y="1109"/>
                  </a:cubicBezTo>
                  <a:cubicBezTo>
                    <a:pt x="444" y="1236"/>
                    <a:pt x="761" y="1331"/>
                    <a:pt x="1109" y="1331"/>
                  </a:cubicBezTo>
                  <a:lnTo>
                    <a:pt x="9058" y="1331"/>
                  </a:lnTo>
                  <a:cubicBezTo>
                    <a:pt x="9407" y="1331"/>
                    <a:pt x="9628" y="1236"/>
                    <a:pt x="9565" y="1109"/>
                  </a:cubicBezTo>
                  <a:cubicBezTo>
                    <a:pt x="9343" y="761"/>
                    <a:pt x="9248" y="571"/>
                    <a:pt x="9058" y="222"/>
                  </a:cubicBezTo>
                  <a:cubicBezTo>
                    <a:pt x="8995" y="96"/>
                    <a:pt x="8678" y="1"/>
                    <a:pt x="8330"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61;p14">
              <a:extLst>
                <a:ext uri="{FF2B5EF4-FFF2-40B4-BE49-F238E27FC236}">
                  <a16:creationId xmlns:a16="http://schemas.microsoft.com/office/drawing/2014/main" id="{D1EA0BA2-06FC-488A-A62D-B5EA658AF0E6}"/>
                </a:ext>
              </a:extLst>
            </p:cNvPr>
            <p:cNvSpPr/>
            <p:nvPr/>
          </p:nvSpPr>
          <p:spPr>
            <a:xfrm>
              <a:off x="3701486" y="3132679"/>
              <a:ext cx="148490" cy="35451"/>
            </a:xfrm>
            <a:custGeom>
              <a:avLst/>
              <a:gdLst/>
              <a:ahLst/>
              <a:cxnLst/>
              <a:rect l="l" t="t" r="r" b="b"/>
              <a:pathLst>
                <a:path w="5575" h="1331" extrusionOk="0">
                  <a:moveTo>
                    <a:pt x="1299" y="0"/>
                  </a:moveTo>
                  <a:cubicBezTo>
                    <a:pt x="982" y="0"/>
                    <a:pt x="634" y="95"/>
                    <a:pt x="570" y="222"/>
                  </a:cubicBezTo>
                  <a:cubicBezTo>
                    <a:pt x="380" y="571"/>
                    <a:pt x="285" y="761"/>
                    <a:pt x="64" y="1109"/>
                  </a:cubicBezTo>
                  <a:cubicBezTo>
                    <a:pt x="0" y="1236"/>
                    <a:pt x="222" y="1331"/>
                    <a:pt x="570" y="1331"/>
                  </a:cubicBezTo>
                  <a:lnTo>
                    <a:pt x="4371" y="1331"/>
                  </a:lnTo>
                  <a:cubicBezTo>
                    <a:pt x="4719" y="1331"/>
                    <a:pt x="5036" y="1236"/>
                    <a:pt x="5099" y="1109"/>
                  </a:cubicBezTo>
                  <a:cubicBezTo>
                    <a:pt x="5257" y="761"/>
                    <a:pt x="5352" y="571"/>
                    <a:pt x="5511" y="222"/>
                  </a:cubicBezTo>
                  <a:cubicBezTo>
                    <a:pt x="5574" y="95"/>
                    <a:pt x="5352" y="0"/>
                    <a:pt x="5004"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62;p14">
              <a:extLst>
                <a:ext uri="{FF2B5EF4-FFF2-40B4-BE49-F238E27FC236}">
                  <a16:creationId xmlns:a16="http://schemas.microsoft.com/office/drawing/2014/main" id="{A4C330C2-C9BF-5B1E-483F-B9D2E207D7CD}"/>
                </a:ext>
              </a:extLst>
            </p:cNvPr>
            <p:cNvSpPr/>
            <p:nvPr/>
          </p:nvSpPr>
          <p:spPr>
            <a:xfrm>
              <a:off x="3852480" y="3132679"/>
              <a:ext cx="112213" cy="35451"/>
            </a:xfrm>
            <a:custGeom>
              <a:avLst/>
              <a:gdLst/>
              <a:ahLst/>
              <a:cxnLst/>
              <a:rect l="l" t="t" r="r" b="b"/>
              <a:pathLst>
                <a:path w="4213" h="1331" extrusionOk="0">
                  <a:moveTo>
                    <a:pt x="1172" y="0"/>
                  </a:moveTo>
                  <a:cubicBezTo>
                    <a:pt x="823" y="0"/>
                    <a:pt x="507" y="95"/>
                    <a:pt x="443" y="222"/>
                  </a:cubicBezTo>
                  <a:cubicBezTo>
                    <a:pt x="285" y="571"/>
                    <a:pt x="222" y="761"/>
                    <a:pt x="63" y="1109"/>
                  </a:cubicBezTo>
                  <a:cubicBezTo>
                    <a:pt x="0" y="1236"/>
                    <a:pt x="222" y="1331"/>
                    <a:pt x="570" y="1331"/>
                  </a:cubicBezTo>
                  <a:lnTo>
                    <a:pt x="3104" y="1331"/>
                  </a:lnTo>
                  <a:cubicBezTo>
                    <a:pt x="3452" y="1331"/>
                    <a:pt x="3769" y="1236"/>
                    <a:pt x="3800" y="1109"/>
                  </a:cubicBezTo>
                  <a:cubicBezTo>
                    <a:pt x="3959" y="761"/>
                    <a:pt x="4022" y="571"/>
                    <a:pt x="4149" y="222"/>
                  </a:cubicBezTo>
                  <a:cubicBezTo>
                    <a:pt x="4212" y="95"/>
                    <a:pt x="3990" y="0"/>
                    <a:pt x="3642"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63;p14">
              <a:extLst>
                <a:ext uri="{FF2B5EF4-FFF2-40B4-BE49-F238E27FC236}">
                  <a16:creationId xmlns:a16="http://schemas.microsoft.com/office/drawing/2014/main" id="{027D6D36-78F1-CA43-FEDC-B3AFE2096200}"/>
                </a:ext>
              </a:extLst>
            </p:cNvPr>
            <p:cNvSpPr/>
            <p:nvPr/>
          </p:nvSpPr>
          <p:spPr>
            <a:xfrm>
              <a:off x="3969727" y="3132679"/>
              <a:ext cx="109683" cy="35451"/>
            </a:xfrm>
            <a:custGeom>
              <a:avLst/>
              <a:gdLst/>
              <a:ahLst/>
              <a:cxnLst/>
              <a:rect l="l" t="t" r="r" b="b"/>
              <a:pathLst>
                <a:path w="4118" h="1331" extrusionOk="0">
                  <a:moveTo>
                    <a:pt x="1077" y="0"/>
                  </a:moveTo>
                  <a:cubicBezTo>
                    <a:pt x="728" y="0"/>
                    <a:pt x="412" y="95"/>
                    <a:pt x="380" y="222"/>
                  </a:cubicBezTo>
                  <a:cubicBezTo>
                    <a:pt x="253" y="571"/>
                    <a:pt x="158" y="761"/>
                    <a:pt x="32" y="1109"/>
                  </a:cubicBezTo>
                  <a:cubicBezTo>
                    <a:pt x="0" y="1236"/>
                    <a:pt x="222" y="1331"/>
                    <a:pt x="570" y="1331"/>
                  </a:cubicBezTo>
                  <a:lnTo>
                    <a:pt x="3104" y="1331"/>
                  </a:lnTo>
                  <a:cubicBezTo>
                    <a:pt x="3452" y="1331"/>
                    <a:pt x="3769" y="1236"/>
                    <a:pt x="3800" y="1109"/>
                  </a:cubicBezTo>
                  <a:cubicBezTo>
                    <a:pt x="3927" y="761"/>
                    <a:pt x="3959" y="571"/>
                    <a:pt x="4085" y="222"/>
                  </a:cubicBezTo>
                  <a:cubicBezTo>
                    <a:pt x="4117" y="95"/>
                    <a:pt x="3895" y="0"/>
                    <a:pt x="3547"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64;p14">
              <a:extLst>
                <a:ext uri="{FF2B5EF4-FFF2-40B4-BE49-F238E27FC236}">
                  <a16:creationId xmlns:a16="http://schemas.microsoft.com/office/drawing/2014/main" id="{4FD0437F-AA27-92F4-C24D-95D65DC2D76A}"/>
                </a:ext>
              </a:extLst>
            </p:cNvPr>
            <p:cNvSpPr/>
            <p:nvPr/>
          </p:nvSpPr>
          <p:spPr>
            <a:xfrm>
              <a:off x="4086974" y="3132679"/>
              <a:ext cx="107153" cy="35451"/>
            </a:xfrm>
            <a:custGeom>
              <a:avLst/>
              <a:gdLst/>
              <a:ahLst/>
              <a:cxnLst/>
              <a:rect l="l" t="t" r="r" b="b"/>
              <a:pathLst>
                <a:path w="4023" h="1331" extrusionOk="0">
                  <a:moveTo>
                    <a:pt x="982" y="0"/>
                  </a:moveTo>
                  <a:cubicBezTo>
                    <a:pt x="633" y="0"/>
                    <a:pt x="348" y="95"/>
                    <a:pt x="285" y="222"/>
                  </a:cubicBezTo>
                  <a:cubicBezTo>
                    <a:pt x="190" y="571"/>
                    <a:pt x="127" y="761"/>
                    <a:pt x="32" y="1109"/>
                  </a:cubicBezTo>
                  <a:cubicBezTo>
                    <a:pt x="0" y="1236"/>
                    <a:pt x="253" y="1331"/>
                    <a:pt x="602" y="1331"/>
                  </a:cubicBezTo>
                  <a:lnTo>
                    <a:pt x="3104" y="1331"/>
                  </a:lnTo>
                  <a:cubicBezTo>
                    <a:pt x="3452" y="1331"/>
                    <a:pt x="3769" y="1236"/>
                    <a:pt x="3800" y="1109"/>
                  </a:cubicBezTo>
                  <a:cubicBezTo>
                    <a:pt x="3864" y="761"/>
                    <a:pt x="3927" y="571"/>
                    <a:pt x="4022" y="222"/>
                  </a:cubicBezTo>
                  <a:cubicBezTo>
                    <a:pt x="4022" y="95"/>
                    <a:pt x="3800" y="0"/>
                    <a:pt x="3452"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65;p14">
              <a:extLst>
                <a:ext uri="{FF2B5EF4-FFF2-40B4-BE49-F238E27FC236}">
                  <a16:creationId xmlns:a16="http://schemas.microsoft.com/office/drawing/2014/main" id="{459D0B3C-4835-69B4-85FD-67C5AD2E83E3}"/>
                </a:ext>
              </a:extLst>
            </p:cNvPr>
            <p:cNvSpPr/>
            <p:nvPr/>
          </p:nvSpPr>
          <p:spPr>
            <a:xfrm>
              <a:off x="4204222" y="3132679"/>
              <a:ext cx="105448" cy="35451"/>
            </a:xfrm>
            <a:custGeom>
              <a:avLst/>
              <a:gdLst/>
              <a:ahLst/>
              <a:cxnLst/>
              <a:rect l="l" t="t" r="r" b="b"/>
              <a:pathLst>
                <a:path w="3959" h="1331" extrusionOk="0">
                  <a:moveTo>
                    <a:pt x="887" y="0"/>
                  </a:moveTo>
                  <a:cubicBezTo>
                    <a:pt x="538" y="0"/>
                    <a:pt x="253" y="95"/>
                    <a:pt x="222" y="222"/>
                  </a:cubicBezTo>
                  <a:cubicBezTo>
                    <a:pt x="127" y="571"/>
                    <a:pt x="95" y="761"/>
                    <a:pt x="0" y="1109"/>
                  </a:cubicBezTo>
                  <a:cubicBezTo>
                    <a:pt x="0" y="1236"/>
                    <a:pt x="253" y="1331"/>
                    <a:pt x="602" y="1331"/>
                  </a:cubicBezTo>
                  <a:lnTo>
                    <a:pt x="3104" y="1331"/>
                  </a:lnTo>
                  <a:cubicBezTo>
                    <a:pt x="3452" y="1331"/>
                    <a:pt x="3769" y="1236"/>
                    <a:pt x="3769" y="1109"/>
                  </a:cubicBezTo>
                  <a:cubicBezTo>
                    <a:pt x="3832" y="761"/>
                    <a:pt x="3864" y="571"/>
                    <a:pt x="3927" y="222"/>
                  </a:cubicBezTo>
                  <a:cubicBezTo>
                    <a:pt x="3959" y="95"/>
                    <a:pt x="3705" y="0"/>
                    <a:pt x="3357"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66;p14">
              <a:extLst>
                <a:ext uri="{FF2B5EF4-FFF2-40B4-BE49-F238E27FC236}">
                  <a16:creationId xmlns:a16="http://schemas.microsoft.com/office/drawing/2014/main" id="{BE9B1836-F9D7-B25D-617C-AF163AFBA91F}"/>
                </a:ext>
              </a:extLst>
            </p:cNvPr>
            <p:cNvSpPr/>
            <p:nvPr/>
          </p:nvSpPr>
          <p:spPr>
            <a:xfrm>
              <a:off x="4320617" y="3132679"/>
              <a:ext cx="103770" cy="35451"/>
            </a:xfrm>
            <a:custGeom>
              <a:avLst/>
              <a:gdLst/>
              <a:ahLst/>
              <a:cxnLst/>
              <a:rect l="l" t="t" r="r" b="b"/>
              <a:pathLst>
                <a:path w="3896" h="1331" extrusionOk="0">
                  <a:moveTo>
                    <a:pt x="824" y="0"/>
                  </a:moveTo>
                  <a:cubicBezTo>
                    <a:pt x="475" y="0"/>
                    <a:pt x="190" y="95"/>
                    <a:pt x="190" y="222"/>
                  </a:cubicBezTo>
                  <a:cubicBezTo>
                    <a:pt x="127" y="571"/>
                    <a:pt x="95" y="761"/>
                    <a:pt x="32" y="1109"/>
                  </a:cubicBezTo>
                  <a:cubicBezTo>
                    <a:pt x="0" y="1236"/>
                    <a:pt x="285" y="1331"/>
                    <a:pt x="634" y="1331"/>
                  </a:cubicBezTo>
                  <a:lnTo>
                    <a:pt x="3136" y="1331"/>
                  </a:lnTo>
                  <a:cubicBezTo>
                    <a:pt x="3484" y="1331"/>
                    <a:pt x="3801" y="1236"/>
                    <a:pt x="3801" y="1109"/>
                  </a:cubicBezTo>
                  <a:cubicBezTo>
                    <a:pt x="3832" y="761"/>
                    <a:pt x="3832" y="571"/>
                    <a:pt x="3896" y="222"/>
                  </a:cubicBezTo>
                  <a:cubicBezTo>
                    <a:pt x="3896" y="95"/>
                    <a:pt x="3642" y="0"/>
                    <a:pt x="3294"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67;p14">
              <a:extLst>
                <a:ext uri="{FF2B5EF4-FFF2-40B4-BE49-F238E27FC236}">
                  <a16:creationId xmlns:a16="http://schemas.microsoft.com/office/drawing/2014/main" id="{A5FDF3AE-8835-C29B-1C00-036C676070D1}"/>
                </a:ext>
              </a:extLst>
            </p:cNvPr>
            <p:cNvSpPr/>
            <p:nvPr/>
          </p:nvSpPr>
          <p:spPr>
            <a:xfrm>
              <a:off x="4437864" y="3132679"/>
              <a:ext cx="101240" cy="35451"/>
            </a:xfrm>
            <a:custGeom>
              <a:avLst/>
              <a:gdLst/>
              <a:ahLst/>
              <a:cxnLst/>
              <a:rect l="l" t="t" r="r" b="b"/>
              <a:pathLst>
                <a:path w="3801" h="1331" extrusionOk="0">
                  <a:moveTo>
                    <a:pt x="729" y="0"/>
                  </a:moveTo>
                  <a:cubicBezTo>
                    <a:pt x="380" y="0"/>
                    <a:pt x="95" y="95"/>
                    <a:pt x="95" y="222"/>
                  </a:cubicBezTo>
                  <a:cubicBezTo>
                    <a:pt x="64" y="571"/>
                    <a:pt x="64" y="761"/>
                    <a:pt x="32" y="1109"/>
                  </a:cubicBezTo>
                  <a:cubicBezTo>
                    <a:pt x="0" y="1236"/>
                    <a:pt x="285" y="1331"/>
                    <a:pt x="634" y="1331"/>
                  </a:cubicBezTo>
                  <a:lnTo>
                    <a:pt x="3136" y="1331"/>
                  </a:lnTo>
                  <a:cubicBezTo>
                    <a:pt x="3484" y="1331"/>
                    <a:pt x="3769" y="1236"/>
                    <a:pt x="3769" y="1109"/>
                  </a:cubicBezTo>
                  <a:cubicBezTo>
                    <a:pt x="3801" y="761"/>
                    <a:pt x="3801" y="571"/>
                    <a:pt x="3801" y="222"/>
                  </a:cubicBezTo>
                  <a:cubicBezTo>
                    <a:pt x="3801" y="95"/>
                    <a:pt x="3547" y="0"/>
                    <a:pt x="3199"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68;p14">
              <a:extLst>
                <a:ext uri="{FF2B5EF4-FFF2-40B4-BE49-F238E27FC236}">
                  <a16:creationId xmlns:a16="http://schemas.microsoft.com/office/drawing/2014/main" id="{8027CCB6-12E2-8190-1E93-DA2D52183CE5}"/>
                </a:ext>
              </a:extLst>
            </p:cNvPr>
            <p:cNvSpPr/>
            <p:nvPr/>
          </p:nvSpPr>
          <p:spPr>
            <a:xfrm>
              <a:off x="4555111" y="3132679"/>
              <a:ext cx="100414" cy="35451"/>
            </a:xfrm>
            <a:custGeom>
              <a:avLst/>
              <a:gdLst/>
              <a:ahLst/>
              <a:cxnLst/>
              <a:rect l="l" t="t" r="r" b="b"/>
              <a:pathLst>
                <a:path w="3770" h="1331" extrusionOk="0">
                  <a:moveTo>
                    <a:pt x="634" y="0"/>
                  </a:moveTo>
                  <a:cubicBezTo>
                    <a:pt x="285" y="0"/>
                    <a:pt x="32" y="95"/>
                    <a:pt x="32" y="222"/>
                  </a:cubicBezTo>
                  <a:cubicBezTo>
                    <a:pt x="0" y="571"/>
                    <a:pt x="0" y="761"/>
                    <a:pt x="0" y="1109"/>
                  </a:cubicBezTo>
                  <a:cubicBezTo>
                    <a:pt x="0" y="1236"/>
                    <a:pt x="285" y="1331"/>
                    <a:pt x="634" y="1331"/>
                  </a:cubicBezTo>
                  <a:lnTo>
                    <a:pt x="3167" y="1331"/>
                  </a:lnTo>
                  <a:cubicBezTo>
                    <a:pt x="3516" y="1331"/>
                    <a:pt x="3769" y="1236"/>
                    <a:pt x="3769" y="1109"/>
                  </a:cubicBezTo>
                  <a:cubicBezTo>
                    <a:pt x="3737" y="761"/>
                    <a:pt x="3737" y="571"/>
                    <a:pt x="3737" y="222"/>
                  </a:cubicBezTo>
                  <a:cubicBezTo>
                    <a:pt x="3706" y="95"/>
                    <a:pt x="3452" y="0"/>
                    <a:pt x="3104"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69;p14">
              <a:extLst>
                <a:ext uri="{FF2B5EF4-FFF2-40B4-BE49-F238E27FC236}">
                  <a16:creationId xmlns:a16="http://schemas.microsoft.com/office/drawing/2014/main" id="{5F89B415-442C-CB46-1377-F675D6DEF8FE}"/>
                </a:ext>
              </a:extLst>
            </p:cNvPr>
            <p:cNvSpPr/>
            <p:nvPr/>
          </p:nvSpPr>
          <p:spPr>
            <a:xfrm>
              <a:off x="4670681" y="3132679"/>
              <a:ext cx="102092" cy="35451"/>
            </a:xfrm>
            <a:custGeom>
              <a:avLst/>
              <a:gdLst/>
              <a:ahLst/>
              <a:cxnLst/>
              <a:rect l="l" t="t" r="r" b="b"/>
              <a:pathLst>
                <a:path w="3833" h="1331" extrusionOk="0">
                  <a:moveTo>
                    <a:pt x="602" y="0"/>
                  </a:moveTo>
                  <a:cubicBezTo>
                    <a:pt x="253" y="0"/>
                    <a:pt x="0" y="95"/>
                    <a:pt x="0" y="222"/>
                  </a:cubicBezTo>
                  <a:cubicBezTo>
                    <a:pt x="32" y="571"/>
                    <a:pt x="32" y="761"/>
                    <a:pt x="63" y="1109"/>
                  </a:cubicBezTo>
                  <a:cubicBezTo>
                    <a:pt x="63" y="1236"/>
                    <a:pt x="348" y="1331"/>
                    <a:pt x="697" y="1331"/>
                  </a:cubicBezTo>
                  <a:lnTo>
                    <a:pt x="3230" y="1331"/>
                  </a:lnTo>
                  <a:cubicBezTo>
                    <a:pt x="3579" y="1331"/>
                    <a:pt x="3832" y="1236"/>
                    <a:pt x="3832" y="1109"/>
                  </a:cubicBezTo>
                  <a:cubicBezTo>
                    <a:pt x="3769" y="761"/>
                    <a:pt x="3769" y="571"/>
                    <a:pt x="3705" y="222"/>
                  </a:cubicBezTo>
                  <a:cubicBezTo>
                    <a:pt x="3705" y="95"/>
                    <a:pt x="3420" y="0"/>
                    <a:pt x="3072"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70;p14">
              <a:extLst>
                <a:ext uri="{FF2B5EF4-FFF2-40B4-BE49-F238E27FC236}">
                  <a16:creationId xmlns:a16="http://schemas.microsoft.com/office/drawing/2014/main" id="{94018463-DE1F-7171-986B-7C991D39A091}"/>
                </a:ext>
              </a:extLst>
            </p:cNvPr>
            <p:cNvSpPr/>
            <p:nvPr/>
          </p:nvSpPr>
          <p:spPr>
            <a:xfrm>
              <a:off x="4785397" y="3132679"/>
              <a:ext cx="104622" cy="35451"/>
            </a:xfrm>
            <a:custGeom>
              <a:avLst/>
              <a:gdLst/>
              <a:ahLst/>
              <a:cxnLst/>
              <a:rect l="l" t="t" r="r" b="b"/>
              <a:pathLst>
                <a:path w="3928" h="1331" extrusionOk="0">
                  <a:moveTo>
                    <a:pt x="602" y="0"/>
                  </a:moveTo>
                  <a:cubicBezTo>
                    <a:pt x="253" y="0"/>
                    <a:pt x="0" y="95"/>
                    <a:pt x="32" y="222"/>
                  </a:cubicBezTo>
                  <a:cubicBezTo>
                    <a:pt x="63" y="571"/>
                    <a:pt x="95" y="761"/>
                    <a:pt x="127" y="1109"/>
                  </a:cubicBezTo>
                  <a:cubicBezTo>
                    <a:pt x="158" y="1236"/>
                    <a:pt x="443" y="1331"/>
                    <a:pt x="792" y="1331"/>
                  </a:cubicBezTo>
                  <a:lnTo>
                    <a:pt x="3325" y="1331"/>
                  </a:lnTo>
                  <a:cubicBezTo>
                    <a:pt x="3674" y="1331"/>
                    <a:pt x="3927" y="1236"/>
                    <a:pt x="3895" y="1109"/>
                  </a:cubicBezTo>
                  <a:cubicBezTo>
                    <a:pt x="3832" y="761"/>
                    <a:pt x="3800" y="571"/>
                    <a:pt x="3737" y="222"/>
                  </a:cubicBezTo>
                  <a:cubicBezTo>
                    <a:pt x="3705" y="95"/>
                    <a:pt x="3420" y="0"/>
                    <a:pt x="3072"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71;p14">
              <a:extLst>
                <a:ext uri="{FF2B5EF4-FFF2-40B4-BE49-F238E27FC236}">
                  <a16:creationId xmlns:a16="http://schemas.microsoft.com/office/drawing/2014/main" id="{CFF10FA4-4F65-70DD-F1CB-C58217871EB6}"/>
                </a:ext>
              </a:extLst>
            </p:cNvPr>
            <p:cNvSpPr/>
            <p:nvPr/>
          </p:nvSpPr>
          <p:spPr>
            <a:xfrm>
              <a:off x="4900114" y="3132679"/>
              <a:ext cx="107153" cy="35451"/>
            </a:xfrm>
            <a:custGeom>
              <a:avLst/>
              <a:gdLst/>
              <a:ahLst/>
              <a:cxnLst/>
              <a:rect l="l" t="t" r="r" b="b"/>
              <a:pathLst>
                <a:path w="4023" h="1331" extrusionOk="0">
                  <a:moveTo>
                    <a:pt x="602" y="0"/>
                  </a:moveTo>
                  <a:cubicBezTo>
                    <a:pt x="253" y="0"/>
                    <a:pt x="0" y="95"/>
                    <a:pt x="32" y="222"/>
                  </a:cubicBezTo>
                  <a:cubicBezTo>
                    <a:pt x="95" y="571"/>
                    <a:pt x="158" y="761"/>
                    <a:pt x="222" y="1109"/>
                  </a:cubicBezTo>
                  <a:cubicBezTo>
                    <a:pt x="253" y="1236"/>
                    <a:pt x="538" y="1331"/>
                    <a:pt x="887" y="1331"/>
                  </a:cubicBezTo>
                  <a:lnTo>
                    <a:pt x="3420" y="1331"/>
                  </a:lnTo>
                  <a:cubicBezTo>
                    <a:pt x="3769" y="1331"/>
                    <a:pt x="4022" y="1236"/>
                    <a:pt x="3990" y="1109"/>
                  </a:cubicBezTo>
                  <a:cubicBezTo>
                    <a:pt x="3895" y="761"/>
                    <a:pt x="3832" y="571"/>
                    <a:pt x="3737" y="222"/>
                  </a:cubicBezTo>
                  <a:cubicBezTo>
                    <a:pt x="3705" y="95"/>
                    <a:pt x="3420" y="0"/>
                    <a:pt x="3072"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72;p14">
              <a:extLst>
                <a:ext uri="{FF2B5EF4-FFF2-40B4-BE49-F238E27FC236}">
                  <a16:creationId xmlns:a16="http://schemas.microsoft.com/office/drawing/2014/main" id="{E0DD806F-1AB7-E6C0-6BD8-786980BBE5E3}"/>
                </a:ext>
              </a:extLst>
            </p:cNvPr>
            <p:cNvSpPr/>
            <p:nvPr/>
          </p:nvSpPr>
          <p:spPr>
            <a:xfrm>
              <a:off x="5015657" y="3132679"/>
              <a:ext cx="108857" cy="35451"/>
            </a:xfrm>
            <a:custGeom>
              <a:avLst/>
              <a:gdLst/>
              <a:ahLst/>
              <a:cxnLst/>
              <a:rect l="l" t="t" r="r" b="b"/>
              <a:pathLst>
                <a:path w="4087" h="1331" extrusionOk="0">
                  <a:moveTo>
                    <a:pt x="571" y="0"/>
                  </a:moveTo>
                  <a:cubicBezTo>
                    <a:pt x="222" y="0"/>
                    <a:pt x="1" y="95"/>
                    <a:pt x="32" y="222"/>
                  </a:cubicBezTo>
                  <a:cubicBezTo>
                    <a:pt x="127" y="571"/>
                    <a:pt x="159" y="761"/>
                    <a:pt x="286" y="1109"/>
                  </a:cubicBezTo>
                  <a:cubicBezTo>
                    <a:pt x="317" y="1236"/>
                    <a:pt x="634" y="1331"/>
                    <a:pt x="982" y="1331"/>
                  </a:cubicBezTo>
                  <a:lnTo>
                    <a:pt x="3484" y="1331"/>
                  </a:lnTo>
                  <a:cubicBezTo>
                    <a:pt x="3833" y="1331"/>
                    <a:pt x="4086" y="1236"/>
                    <a:pt x="4054" y="1109"/>
                  </a:cubicBezTo>
                  <a:cubicBezTo>
                    <a:pt x="3928" y="761"/>
                    <a:pt x="3864" y="571"/>
                    <a:pt x="3738" y="222"/>
                  </a:cubicBezTo>
                  <a:cubicBezTo>
                    <a:pt x="3674" y="95"/>
                    <a:pt x="3389" y="0"/>
                    <a:pt x="3041"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73;p14">
              <a:extLst>
                <a:ext uri="{FF2B5EF4-FFF2-40B4-BE49-F238E27FC236}">
                  <a16:creationId xmlns:a16="http://schemas.microsoft.com/office/drawing/2014/main" id="{7234CBD3-9032-2A23-A613-A1F6939C16D5}"/>
                </a:ext>
              </a:extLst>
            </p:cNvPr>
            <p:cNvSpPr/>
            <p:nvPr/>
          </p:nvSpPr>
          <p:spPr>
            <a:xfrm>
              <a:off x="5130374" y="3132679"/>
              <a:ext cx="111388" cy="35451"/>
            </a:xfrm>
            <a:custGeom>
              <a:avLst/>
              <a:gdLst/>
              <a:ahLst/>
              <a:cxnLst/>
              <a:rect l="l" t="t" r="r" b="b"/>
              <a:pathLst>
                <a:path w="4182" h="1331" extrusionOk="0">
                  <a:moveTo>
                    <a:pt x="571" y="0"/>
                  </a:moveTo>
                  <a:cubicBezTo>
                    <a:pt x="222" y="0"/>
                    <a:pt x="1" y="95"/>
                    <a:pt x="32" y="222"/>
                  </a:cubicBezTo>
                  <a:cubicBezTo>
                    <a:pt x="159" y="571"/>
                    <a:pt x="222" y="761"/>
                    <a:pt x="349" y="1109"/>
                  </a:cubicBezTo>
                  <a:cubicBezTo>
                    <a:pt x="412" y="1236"/>
                    <a:pt x="729" y="1331"/>
                    <a:pt x="1077" y="1331"/>
                  </a:cubicBezTo>
                  <a:lnTo>
                    <a:pt x="3579" y="1331"/>
                  </a:lnTo>
                  <a:cubicBezTo>
                    <a:pt x="3928" y="1331"/>
                    <a:pt x="4181" y="1236"/>
                    <a:pt x="4118" y="1109"/>
                  </a:cubicBezTo>
                  <a:cubicBezTo>
                    <a:pt x="3959" y="761"/>
                    <a:pt x="3896" y="571"/>
                    <a:pt x="3738" y="222"/>
                  </a:cubicBezTo>
                  <a:cubicBezTo>
                    <a:pt x="3706" y="95"/>
                    <a:pt x="3389" y="0"/>
                    <a:pt x="3041"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74;p14">
              <a:extLst>
                <a:ext uri="{FF2B5EF4-FFF2-40B4-BE49-F238E27FC236}">
                  <a16:creationId xmlns:a16="http://schemas.microsoft.com/office/drawing/2014/main" id="{EC04B10A-13ED-9242-D991-2B0518845FAF}"/>
                </a:ext>
              </a:extLst>
            </p:cNvPr>
            <p:cNvSpPr/>
            <p:nvPr/>
          </p:nvSpPr>
          <p:spPr>
            <a:xfrm>
              <a:off x="5245091" y="3132679"/>
              <a:ext cx="197419" cy="35451"/>
            </a:xfrm>
            <a:custGeom>
              <a:avLst/>
              <a:gdLst/>
              <a:ahLst/>
              <a:cxnLst/>
              <a:rect l="l" t="t" r="r" b="b"/>
              <a:pathLst>
                <a:path w="7412" h="1331" extrusionOk="0">
                  <a:moveTo>
                    <a:pt x="571" y="0"/>
                  </a:moveTo>
                  <a:cubicBezTo>
                    <a:pt x="222" y="0"/>
                    <a:pt x="1" y="95"/>
                    <a:pt x="64" y="222"/>
                  </a:cubicBezTo>
                  <a:cubicBezTo>
                    <a:pt x="222" y="571"/>
                    <a:pt x="286" y="761"/>
                    <a:pt x="444" y="1109"/>
                  </a:cubicBezTo>
                  <a:cubicBezTo>
                    <a:pt x="507" y="1236"/>
                    <a:pt x="824" y="1331"/>
                    <a:pt x="1172" y="1331"/>
                  </a:cubicBezTo>
                  <a:lnTo>
                    <a:pt x="6841" y="1331"/>
                  </a:lnTo>
                  <a:cubicBezTo>
                    <a:pt x="7190" y="1331"/>
                    <a:pt x="7411" y="1236"/>
                    <a:pt x="7348" y="1109"/>
                  </a:cubicBezTo>
                  <a:cubicBezTo>
                    <a:pt x="7126" y="761"/>
                    <a:pt x="7031" y="571"/>
                    <a:pt x="6841" y="222"/>
                  </a:cubicBezTo>
                  <a:cubicBezTo>
                    <a:pt x="6778" y="95"/>
                    <a:pt x="6461" y="0"/>
                    <a:pt x="6113"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75;p14">
              <a:extLst>
                <a:ext uri="{FF2B5EF4-FFF2-40B4-BE49-F238E27FC236}">
                  <a16:creationId xmlns:a16="http://schemas.microsoft.com/office/drawing/2014/main" id="{0BA3A4BA-0772-4FE2-A212-9786468866A3}"/>
                </a:ext>
              </a:extLst>
            </p:cNvPr>
            <p:cNvSpPr/>
            <p:nvPr/>
          </p:nvSpPr>
          <p:spPr>
            <a:xfrm>
              <a:off x="3678713" y="3174017"/>
              <a:ext cx="185593" cy="35451"/>
            </a:xfrm>
            <a:custGeom>
              <a:avLst/>
              <a:gdLst/>
              <a:ahLst/>
              <a:cxnLst/>
              <a:rect l="l" t="t" r="r" b="b"/>
              <a:pathLst>
                <a:path w="6968" h="1331" extrusionOk="0">
                  <a:moveTo>
                    <a:pt x="1330" y="0"/>
                  </a:moveTo>
                  <a:cubicBezTo>
                    <a:pt x="982" y="0"/>
                    <a:pt x="634" y="95"/>
                    <a:pt x="570" y="222"/>
                  </a:cubicBezTo>
                  <a:cubicBezTo>
                    <a:pt x="380" y="570"/>
                    <a:pt x="254" y="729"/>
                    <a:pt x="64" y="1109"/>
                  </a:cubicBezTo>
                  <a:cubicBezTo>
                    <a:pt x="0" y="1204"/>
                    <a:pt x="254" y="1330"/>
                    <a:pt x="602" y="1330"/>
                  </a:cubicBezTo>
                  <a:lnTo>
                    <a:pt x="5764" y="1330"/>
                  </a:lnTo>
                  <a:cubicBezTo>
                    <a:pt x="6112" y="1330"/>
                    <a:pt x="6461" y="1204"/>
                    <a:pt x="6524" y="1109"/>
                  </a:cubicBezTo>
                  <a:cubicBezTo>
                    <a:pt x="6682" y="729"/>
                    <a:pt x="6746" y="570"/>
                    <a:pt x="6904" y="222"/>
                  </a:cubicBezTo>
                  <a:cubicBezTo>
                    <a:pt x="6967" y="95"/>
                    <a:pt x="6714" y="0"/>
                    <a:pt x="6366"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76;p14">
              <a:extLst>
                <a:ext uri="{FF2B5EF4-FFF2-40B4-BE49-F238E27FC236}">
                  <a16:creationId xmlns:a16="http://schemas.microsoft.com/office/drawing/2014/main" id="{7A360BFD-4D40-A7A7-F594-422802229793}"/>
                </a:ext>
              </a:extLst>
            </p:cNvPr>
            <p:cNvSpPr/>
            <p:nvPr/>
          </p:nvSpPr>
          <p:spPr>
            <a:xfrm>
              <a:off x="3867662" y="3174017"/>
              <a:ext cx="114744" cy="35451"/>
            </a:xfrm>
            <a:custGeom>
              <a:avLst/>
              <a:gdLst/>
              <a:ahLst/>
              <a:cxnLst/>
              <a:rect l="l" t="t" r="r" b="b"/>
              <a:pathLst>
                <a:path w="4308" h="1331" extrusionOk="0">
                  <a:moveTo>
                    <a:pt x="1172" y="0"/>
                  </a:moveTo>
                  <a:cubicBezTo>
                    <a:pt x="824" y="0"/>
                    <a:pt x="507" y="95"/>
                    <a:pt x="444" y="222"/>
                  </a:cubicBezTo>
                  <a:cubicBezTo>
                    <a:pt x="285" y="570"/>
                    <a:pt x="222" y="729"/>
                    <a:pt x="63" y="1109"/>
                  </a:cubicBezTo>
                  <a:cubicBezTo>
                    <a:pt x="0" y="1204"/>
                    <a:pt x="253" y="1330"/>
                    <a:pt x="602" y="1330"/>
                  </a:cubicBezTo>
                  <a:lnTo>
                    <a:pt x="3199" y="1330"/>
                  </a:lnTo>
                  <a:cubicBezTo>
                    <a:pt x="3547" y="1330"/>
                    <a:pt x="3864" y="1204"/>
                    <a:pt x="3927" y="1109"/>
                  </a:cubicBezTo>
                  <a:cubicBezTo>
                    <a:pt x="4054" y="729"/>
                    <a:pt x="4117" y="570"/>
                    <a:pt x="4244" y="222"/>
                  </a:cubicBezTo>
                  <a:cubicBezTo>
                    <a:pt x="4307" y="95"/>
                    <a:pt x="4054" y="0"/>
                    <a:pt x="3705"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77;p14">
              <a:extLst>
                <a:ext uri="{FF2B5EF4-FFF2-40B4-BE49-F238E27FC236}">
                  <a16:creationId xmlns:a16="http://schemas.microsoft.com/office/drawing/2014/main" id="{E2401C81-09C9-4373-EE20-C4A7D2CD10B6}"/>
                </a:ext>
              </a:extLst>
            </p:cNvPr>
            <p:cNvSpPr/>
            <p:nvPr/>
          </p:nvSpPr>
          <p:spPr>
            <a:xfrm>
              <a:off x="3988265" y="3174017"/>
              <a:ext cx="111388" cy="35451"/>
            </a:xfrm>
            <a:custGeom>
              <a:avLst/>
              <a:gdLst/>
              <a:ahLst/>
              <a:cxnLst/>
              <a:rect l="l" t="t" r="r" b="b"/>
              <a:pathLst>
                <a:path w="4182" h="1331" extrusionOk="0">
                  <a:moveTo>
                    <a:pt x="1078" y="0"/>
                  </a:moveTo>
                  <a:cubicBezTo>
                    <a:pt x="729" y="0"/>
                    <a:pt x="413" y="95"/>
                    <a:pt x="349" y="222"/>
                  </a:cubicBezTo>
                  <a:cubicBezTo>
                    <a:pt x="222" y="570"/>
                    <a:pt x="159" y="729"/>
                    <a:pt x="32" y="1109"/>
                  </a:cubicBezTo>
                  <a:cubicBezTo>
                    <a:pt x="1" y="1204"/>
                    <a:pt x="254" y="1330"/>
                    <a:pt x="603" y="1330"/>
                  </a:cubicBezTo>
                  <a:lnTo>
                    <a:pt x="3168" y="1330"/>
                  </a:lnTo>
                  <a:cubicBezTo>
                    <a:pt x="3548" y="1330"/>
                    <a:pt x="3864" y="1204"/>
                    <a:pt x="3896" y="1109"/>
                  </a:cubicBezTo>
                  <a:cubicBezTo>
                    <a:pt x="3991" y="729"/>
                    <a:pt x="4054" y="570"/>
                    <a:pt x="4149" y="222"/>
                  </a:cubicBezTo>
                  <a:cubicBezTo>
                    <a:pt x="4181" y="95"/>
                    <a:pt x="3928" y="0"/>
                    <a:pt x="3579"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78;p14">
              <a:extLst>
                <a:ext uri="{FF2B5EF4-FFF2-40B4-BE49-F238E27FC236}">
                  <a16:creationId xmlns:a16="http://schemas.microsoft.com/office/drawing/2014/main" id="{8F603F3D-A820-45CC-F2DA-3CCC7EF31394}"/>
                </a:ext>
              </a:extLst>
            </p:cNvPr>
            <p:cNvSpPr/>
            <p:nvPr/>
          </p:nvSpPr>
          <p:spPr>
            <a:xfrm>
              <a:off x="4108043" y="3174017"/>
              <a:ext cx="109683" cy="35451"/>
            </a:xfrm>
            <a:custGeom>
              <a:avLst/>
              <a:gdLst/>
              <a:ahLst/>
              <a:cxnLst/>
              <a:rect l="l" t="t" r="r" b="b"/>
              <a:pathLst>
                <a:path w="4118" h="1331" extrusionOk="0">
                  <a:moveTo>
                    <a:pt x="983" y="0"/>
                  </a:moveTo>
                  <a:cubicBezTo>
                    <a:pt x="634" y="0"/>
                    <a:pt x="318" y="95"/>
                    <a:pt x="286" y="222"/>
                  </a:cubicBezTo>
                  <a:cubicBezTo>
                    <a:pt x="191" y="570"/>
                    <a:pt x="128" y="729"/>
                    <a:pt x="32" y="1109"/>
                  </a:cubicBezTo>
                  <a:cubicBezTo>
                    <a:pt x="1" y="1204"/>
                    <a:pt x="254" y="1330"/>
                    <a:pt x="634" y="1330"/>
                  </a:cubicBezTo>
                  <a:lnTo>
                    <a:pt x="3199" y="1330"/>
                  </a:lnTo>
                  <a:cubicBezTo>
                    <a:pt x="3548" y="1330"/>
                    <a:pt x="3864" y="1204"/>
                    <a:pt x="3896" y="1109"/>
                  </a:cubicBezTo>
                  <a:cubicBezTo>
                    <a:pt x="3991" y="729"/>
                    <a:pt x="4023" y="570"/>
                    <a:pt x="4086" y="222"/>
                  </a:cubicBezTo>
                  <a:cubicBezTo>
                    <a:pt x="4118" y="95"/>
                    <a:pt x="3864" y="0"/>
                    <a:pt x="3516"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79;p14">
              <a:extLst>
                <a:ext uri="{FF2B5EF4-FFF2-40B4-BE49-F238E27FC236}">
                  <a16:creationId xmlns:a16="http://schemas.microsoft.com/office/drawing/2014/main" id="{A918854B-EA5E-D7F9-D65D-D98F968A2508}"/>
                </a:ext>
              </a:extLst>
            </p:cNvPr>
            <p:cNvSpPr/>
            <p:nvPr/>
          </p:nvSpPr>
          <p:spPr>
            <a:xfrm>
              <a:off x="4228673" y="3174017"/>
              <a:ext cx="107153" cy="35451"/>
            </a:xfrm>
            <a:custGeom>
              <a:avLst/>
              <a:gdLst/>
              <a:ahLst/>
              <a:cxnLst/>
              <a:rect l="l" t="t" r="r" b="b"/>
              <a:pathLst>
                <a:path w="4023" h="1331" extrusionOk="0">
                  <a:moveTo>
                    <a:pt x="887" y="0"/>
                  </a:moveTo>
                  <a:cubicBezTo>
                    <a:pt x="539" y="0"/>
                    <a:pt x="254" y="95"/>
                    <a:pt x="222" y="222"/>
                  </a:cubicBezTo>
                  <a:cubicBezTo>
                    <a:pt x="127" y="570"/>
                    <a:pt x="96" y="729"/>
                    <a:pt x="32" y="1109"/>
                  </a:cubicBezTo>
                  <a:cubicBezTo>
                    <a:pt x="1" y="1204"/>
                    <a:pt x="254" y="1330"/>
                    <a:pt x="634" y="1330"/>
                  </a:cubicBezTo>
                  <a:lnTo>
                    <a:pt x="3199" y="1330"/>
                  </a:lnTo>
                  <a:cubicBezTo>
                    <a:pt x="3547" y="1330"/>
                    <a:pt x="3864" y="1204"/>
                    <a:pt x="3896" y="1109"/>
                  </a:cubicBezTo>
                  <a:cubicBezTo>
                    <a:pt x="3927" y="729"/>
                    <a:pt x="3959" y="570"/>
                    <a:pt x="4022" y="222"/>
                  </a:cubicBezTo>
                  <a:cubicBezTo>
                    <a:pt x="4022" y="95"/>
                    <a:pt x="3769" y="0"/>
                    <a:pt x="3421"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280;p14">
              <a:extLst>
                <a:ext uri="{FF2B5EF4-FFF2-40B4-BE49-F238E27FC236}">
                  <a16:creationId xmlns:a16="http://schemas.microsoft.com/office/drawing/2014/main" id="{6F7A12E7-B149-55DD-D779-3E1BB470467B}"/>
                </a:ext>
              </a:extLst>
            </p:cNvPr>
            <p:cNvSpPr/>
            <p:nvPr/>
          </p:nvSpPr>
          <p:spPr>
            <a:xfrm>
              <a:off x="4348450" y="3174017"/>
              <a:ext cx="105475" cy="35451"/>
            </a:xfrm>
            <a:custGeom>
              <a:avLst/>
              <a:gdLst/>
              <a:ahLst/>
              <a:cxnLst/>
              <a:rect l="l" t="t" r="r" b="b"/>
              <a:pathLst>
                <a:path w="3960" h="1331" extrusionOk="0">
                  <a:moveTo>
                    <a:pt x="824" y="0"/>
                  </a:moveTo>
                  <a:cubicBezTo>
                    <a:pt x="476" y="0"/>
                    <a:pt x="159" y="95"/>
                    <a:pt x="159" y="222"/>
                  </a:cubicBezTo>
                  <a:cubicBezTo>
                    <a:pt x="96" y="570"/>
                    <a:pt x="64" y="729"/>
                    <a:pt x="32" y="1109"/>
                  </a:cubicBezTo>
                  <a:cubicBezTo>
                    <a:pt x="1" y="1204"/>
                    <a:pt x="286" y="1330"/>
                    <a:pt x="634" y="1330"/>
                  </a:cubicBezTo>
                  <a:lnTo>
                    <a:pt x="3231" y="1330"/>
                  </a:lnTo>
                  <a:cubicBezTo>
                    <a:pt x="3579" y="1330"/>
                    <a:pt x="3864" y="1204"/>
                    <a:pt x="3896" y="1109"/>
                  </a:cubicBezTo>
                  <a:cubicBezTo>
                    <a:pt x="3927" y="729"/>
                    <a:pt x="3927" y="570"/>
                    <a:pt x="3959" y="222"/>
                  </a:cubicBezTo>
                  <a:cubicBezTo>
                    <a:pt x="3959" y="95"/>
                    <a:pt x="3674" y="0"/>
                    <a:pt x="3326"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281;p14">
              <a:extLst>
                <a:ext uri="{FF2B5EF4-FFF2-40B4-BE49-F238E27FC236}">
                  <a16:creationId xmlns:a16="http://schemas.microsoft.com/office/drawing/2014/main" id="{FC423F54-76BD-9CD5-147A-D8BD5B42AC22}"/>
                </a:ext>
              </a:extLst>
            </p:cNvPr>
            <p:cNvSpPr/>
            <p:nvPr/>
          </p:nvSpPr>
          <p:spPr>
            <a:xfrm>
              <a:off x="4469080" y="3174017"/>
              <a:ext cx="102918" cy="35451"/>
            </a:xfrm>
            <a:custGeom>
              <a:avLst/>
              <a:gdLst/>
              <a:ahLst/>
              <a:cxnLst/>
              <a:rect l="l" t="t" r="r" b="b"/>
              <a:pathLst>
                <a:path w="3864" h="1331" extrusionOk="0">
                  <a:moveTo>
                    <a:pt x="697" y="0"/>
                  </a:moveTo>
                  <a:cubicBezTo>
                    <a:pt x="349" y="0"/>
                    <a:pt x="64" y="95"/>
                    <a:pt x="64" y="222"/>
                  </a:cubicBezTo>
                  <a:cubicBezTo>
                    <a:pt x="32" y="570"/>
                    <a:pt x="32" y="729"/>
                    <a:pt x="0" y="1109"/>
                  </a:cubicBezTo>
                  <a:cubicBezTo>
                    <a:pt x="0" y="1204"/>
                    <a:pt x="285" y="1330"/>
                    <a:pt x="634" y="1330"/>
                  </a:cubicBezTo>
                  <a:lnTo>
                    <a:pt x="3199" y="1330"/>
                  </a:lnTo>
                  <a:cubicBezTo>
                    <a:pt x="3579" y="1330"/>
                    <a:pt x="3864" y="1204"/>
                    <a:pt x="3864" y="1109"/>
                  </a:cubicBezTo>
                  <a:lnTo>
                    <a:pt x="3864" y="222"/>
                  </a:lnTo>
                  <a:cubicBezTo>
                    <a:pt x="3864" y="95"/>
                    <a:pt x="3579" y="0"/>
                    <a:pt x="3230"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282;p14">
              <a:extLst>
                <a:ext uri="{FF2B5EF4-FFF2-40B4-BE49-F238E27FC236}">
                  <a16:creationId xmlns:a16="http://schemas.microsoft.com/office/drawing/2014/main" id="{BE69478E-BF8C-B6B3-18D8-FF3BBF233940}"/>
                </a:ext>
              </a:extLst>
            </p:cNvPr>
            <p:cNvSpPr/>
            <p:nvPr/>
          </p:nvSpPr>
          <p:spPr>
            <a:xfrm>
              <a:off x="4588858" y="3174017"/>
              <a:ext cx="103770" cy="35451"/>
            </a:xfrm>
            <a:custGeom>
              <a:avLst/>
              <a:gdLst/>
              <a:ahLst/>
              <a:cxnLst/>
              <a:rect l="l" t="t" r="r" b="b"/>
              <a:pathLst>
                <a:path w="3896" h="1331" extrusionOk="0">
                  <a:moveTo>
                    <a:pt x="634" y="0"/>
                  </a:moveTo>
                  <a:cubicBezTo>
                    <a:pt x="285" y="0"/>
                    <a:pt x="0" y="95"/>
                    <a:pt x="0" y="222"/>
                  </a:cubicBezTo>
                  <a:cubicBezTo>
                    <a:pt x="0" y="570"/>
                    <a:pt x="0" y="729"/>
                    <a:pt x="0" y="1109"/>
                  </a:cubicBezTo>
                  <a:cubicBezTo>
                    <a:pt x="0" y="1204"/>
                    <a:pt x="317" y="1330"/>
                    <a:pt x="665" y="1330"/>
                  </a:cubicBezTo>
                  <a:lnTo>
                    <a:pt x="3230" y="1330"/>
                  </a:lnTo>
                  <a:cubicBezTo>
                    <a:pt x="3610" y="1330"/>
                    <a:pt x="3895" y="1204"/>
                    <a:pt x="3864" y="1109"/>
                  </a:cubicBezTo>
                  <a:cubicBezTo>
                    <a:pt x="3832" y="729"/>
                    <a:pt x="3832" y="570"/>
                    <a:pt x="3800" y="222"/>
                  </a:cubicBezTo>
                  <a:cubicBezTo>
                    <a:pt x="3800" y="95"/>
                    <a:pt x="3515" y="0"/>
                    <a:pt x="3167"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283;p14">
              <a:extLst>
                <a:ext uri="{FF2B5EF4-FFF2-40B4-BE49-F238E27FC236}">
                  <a16:creationId xmlns:a16="http://schemas.microsoft.com/office/drawing/2014/main" id="{2FD98CC5-3353-FBF9-012A-E66057A7104C}"/>
                </a:ext>
              </a:extLst>
            </p:cNvPr>
            <p:cNvSpPr/>
            <p:nvPr/>
          </p:nvSpPr>
          <p:spPr>
            <a:xfrm>
              <a:off x="4706931" y="3174017"/>
              <a:ext cx="105475" cy="35451"/>
            </a:xfrm>
            <a:custGeom>
              <a:avLst/>
              <a:gdLst/>
              <a:ahLst/>
              <a:cxnLst/>
              <a:rect l="l" t="t" r="r" b="b"/>
              <a:pathLst>
                <a:path w="3960" h="1331" extrusionOk="0">
                  <a:moveTo>
                    <a:pt x="634" y="0"/>
                  </a:moveTo>
                  <a:cubicBezTo>
                    <a:pt x="286" y="0"/>
                    <a:pt x="1" y="95"/>
                    <a:pt x="1" y="222"/>
                  </a:cubicBezTo>
                  <a:cubicBezTo>
                    <a:pt x="33" y="570"/>
                    <a:pt x="64" y="729"/>
                    <a:pt x="96" y="1109"/>
                  </a:cubicBezTo>
                  <a:cubicBezTo>
                    <a:pt x="96" y="1204"/>
                    <a:pt x="381" y="1330"/>
                    <a:pt x="761" y="1330"/>
                  </a:cubicBezTo>
                  <a:lnTo>
                    <a:pt x="3326" y="1330"/>
                  </a:lnTo>
                  <a:cubicBezTo>
                    <a:pt x="3674" y="1330"/>
                    <a:pt x="3959" y="1204"/>
                    <a:pt x="3959" y="1109"/>
                  </a:cubicBezTo>
                  <a:cubicBezTo>
                    <a:pt x="3896" y="729"/>
                    <a:pt x="3864" y="570"/>
                    <a:pt x="3801" y="222"/>
                  </a:cubicBezTo>
                  <a:cubicBezTo>
                    <a:pt x="3801" y="95"/>
                    <a:pt x="3484" y="0"/>
                    <a:pt x="3136"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284;p14">
              <a:extLst>
                <a:ext uri="{FF2B5EF4-FFF2-40B4-BE49-F238E27FC236}">
                  <a16:creationId xmlns:a16="http://schemas.microsoft.com/office/drawing/2014/main" id="{4B533581-CAD6-AEEB-DF56-E326222092AD}"/>
                </a:ext>
              </a:extLst>
            </p:cNvPr>
            <p:cNvSpPr/>
            <p:nvPr/>
          </p:nvSpPr>
          <p:spPr>
            <a:xfrm>
              <a:off x="4825030" y="3174017"/>
              <a:ext cx="108005" cy="35451"/>
            </a:xfrm>
            <a:custGeom>
              <a:avLst/>
              <a:gdLst/>
              <a:ahLst/>
              <a:cxnLst/>
              <a:rect l="l" t="t" r="r" b="b"/>
              <a:pathLst>
                <a:path w="4055" h="1331" extrusionOk="0">
                  <a:moveTo>
                    <a:pt x="602" y="0"/>
                  </a:moveTo>
                  <a:cubicBezTo>
                    <a:pt x="254" y="0"/>
                    <a:pt x="1" y="95"/>
                    <a:pt x="1" y="222"/>
                  </a:cubicBezTo>
                  <a:cubicBezTo>
                    <a:pt x="64" y="570"/>
                    <a:pt x="96" y="729"/>
                    <a:pt x="159" y="1109"/>
                  </a:cubicBezTo>
                  <a:cubicBezTo>
                    <a:pt x="191" y="1204"/>
                    <a:pt x="476" y="1330"/>
                    <a:pt x="824" y="1330"/>
                  </a:cubicBezTo>
                  <a:lnTo>
                    <a:pt x="3421" y="1330"/>
                  </a:lnTo>
                  <a:cubicBezTo>
                    <a:pt x="3769" y="1330"/>
                    <a:pt x="4054" y="1204"/>
                    <a:pt x="4023" y="1109"/>
                  </a:cubicBezTo>
                  <a:cubicBezTo>
                    <a:pt x="3927" y="729"/>
                    <a:pt x="3896" y="570"/>
                    <a:pt x="3832" y="222"/>
                  </a:cubicBezTo>
                  <a:cubicBezTo>
                    <a:pt x="3801" y="95"/>
                    <a:pt x="3484" y="0"/>
                    <a:pt x="3136"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285;p14">
              <a:extLst>
                <a:ext uri="{FF2B5EF4-FFF2-40B4-BE49-F238E27FC236}">
                  <a16:creationId xmlns:a16="http://schemas.microsoft.com/office/drawing/2014/main" id="{A9EFE714-D7B1-0521-CE35-8C4241BA1A07}"/>
                </a:ext>
              </a:extLst>
            </p:cNvPr>
            <p:cNvSpPr/>
            <p:nvPr/>
          </p:nvSpPr>
          <p:spPr>
            <a:xfrm>
              <a:off x="4943130" y="3174017"/>
              <a:ext cx="109683" cy="35451"/>
            </a:xfrm>
            <a:custGeom>
              <a:avLst/>
              <a:gdLst/>
              <a:ahLst/>
              <a:cxnLst/>
              <a:rect l="l" t="t" r="r" b="b"/>
              <a:pathLst>
                <a:path w="4118" h="1331" extrusionOk="0">
                  <a:moveTo>
                    <a:pt x="602" y="0"/>
                  </a:moveTo>
                  <a:cubicBezTo>
                    <a:pt x="254" y="0"/>
                    <a:pt x="0" y="95"/>
                    <a:pt x="32" y="222"/>
                  </a:cubicBezTo>
                  <a:cubicBezTo>
                    <a:pt x="95" y="570"/>
                    <a:pt x="159" y="729"/>
                    <a:pt x="222" y="1109"/>
                  </a:cubicBezTo>
                  <a:cubicBezTo>
                    <a:pt x="254" y="1204"/>
                    <a:pt x="570" y="1330"/>
                    <a:pt x="919" y="1330"/>
                  </a:cubicBezTo>
                  <a:lnTo>
                    <a:pt x="3515" y="1330"/>
                  </a:lnTo>
                  <a:cubicBezTo>
                    <a:pt x="3864" y="1330"/>
                    <a:pt x="4117" y="1204"/>
                    <a:pt x="4086" y="1109"/>
                  </a:cubicBezTo>
                  <a:cubicBezTo>
                    <a:pt x="3991" y="729"/>
                    <a:pt x="3927" y="570"/>
                    <a:pt x="3832" y="222"/>
                  </a:cubicBezTo>
                  <a:cubicBezTo>
                    <a:pt x="3800" y="95"/>
                    <a:pt x="3484" y="0"/>
                    <a:pt x="3135"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286;p14">
              <a:extLst>
                <a:ext uri="{FF2B5EF4-FFF2-40B4-BE49-F238E27FC236}">
                  <a16:creationId xmlns:a16="http://schemas.microsoft.com/office/drawing/2014/main" id="{BD761DEE-AFB1-9942-C1ED-9C31E6FC87FF}"/>
                </a:ext>
              </a:extLst>
            </p:cNvPr>
            <p:cNvSpPr/>
            <p:nvPr/>
          </p:nvSpPr>
          <p:spPr>
            <a:xfrm>
              <a:off x="5060377" y="3174017"/>
              <a:ext cx="113039" cy="35451"/>
            </a:xfrm>
            <a:custGeom>
              <a:avLst/>
              <a:gdLst/>
              <a:ahLst/>
              <a:cxnLst/>
              <a:rect l="l" t="t" r="r" b="b"/>
              <a:pathLst>
                <a:path w="4244" h="1331" extrusionOk="0">
                  <a:moveTo>
                    <a:pt x="634" y="0"/>
                  </a:moveTo>
                  <a:cubicBezTo>
                    <a:pt x="285" y="0"/>
                    <a:pt x="0" y="95"/>
                    <a:pt x="64" y="222"/>
                  </a:cubicBezTo>
                  <a:cubicBezTo>
                    <a:pt x="159" y="570"/>
                    <a:pt x="222" y="729"/>
                    <a:pt x="317" y="1109"/>
                  </a:cubicBezTo>
                  <a:cubicBezTo>
                    <a:pt x="380" y="1204"/>
                    <a:pt x="697" y="1330"/>
                    <a:pt x="1045" y="1330"/>
                  </a:cubicBezTo>
                  <a:lnTo>
                    <a:pt x="3610" y="1330"/>
                  </a:lnTo>
                  <a:cubicBezTo>
                    <a:pt x="3991" y="1330"/>
                    <a:pt x="4244" y="1204"/>
                    <a:pt x="4181" y="1109"/>
                  </a:cubicBezTo>
                  <a:cubicBezTo>
                    <a:pt x="4054" y="729"/>
                    <a:pt x="3991" y="570"/>
                    <a:pt x="3864" y="222"/>
                  </a:cubicBezTo>
                  <a:cubicBezTo>
                    <a:pt x="3800" y="95"/>
                    <a:pt x="3484" y="0"/>
                    <a:pt x="3135"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287;p14">
              <a:extLst>
                <a:ext uri="{FF2B5EF4-FFF2-40B4-BE49-F238E27FC236}">
                  <a16:creationId xmlns:a16="http://schemas.microsoft.com/office/drawing/2014/main" id="{55AC52C6-8F91-BC14-6086-8141E838CE77}"/>
                </a:ext>
              </a:extLst>
            </p:cNvPr>
            <p:cNvSpPr/>
            <p:nvPr/>
          </p:nvSpPr>
          <p:spPr>
            <a:xfrm>
              <a:off x="5178450" y="3174017"/>
              <a:ext cx="286832" cy="35451"/>
            </a:xfrm>
            <a:custGeom>
              <a:avLst/>
              <a:gdLst/>
              <a:ahLst/>
              <a:cxnLst/>
              <a:rect l="l" t="t" r="r" b="b"/>
              <a:pathLst>
                <a:path w="10769" h="1331" extrusionOk="0">
                  <a:moveTo>
                    <a:pt x="603" y="0"/>
                  </a:moveTo>
                  <a:cubicBezTo>
                    <a:pt x="254" y="0"/>
                    <a:pt x="1" y="95"/>
                    <a:pt x="64" y="222"/>
                  </a:cubicBezTo>
                  <a:cubicBezTo>
                    <a:pt x="191" y="570"/>
                    <a:pt x="254" y="729"/>
                    <a:pt x="413" y="1109"/>
                  </a:cubicBezTo>
                  <a:cubicBezTo>
                    <a:pt x="444" y="1204"/>
                    <a:pt x="761" y="1330"/>
                    <a:pt x="1141" y="1330"/>
                  </a:cubicBezTo>
                  <a:lnTo>
                    <a:pt x="10167" y="1330"/>
                  </a:lnTo>
                  <a:cubicBezTo>
                    <a:pt x="10515" y="1330"/>
                    <a:pt x="10768" y="1204"/>
                    <a:pt x="10705" y="1109"/>
                  </a:cubicBezTo>
                  <a:cubicBezTo>
                    <a:pt x="10483" y="729"/>
                    <a:pt x="10388" y="570"/>
                    <a:pt x="10198" y="222"/>
                  </a:cubicBezTo>
                  <a:cubicBezTo>
                    <a:pt x="10135" y="95"/>
                    <a:pt x="9787" y="0"/>
                    <a:pt x="9438"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288;p14">
              <a:extLst>
                <a:ext uri="{FF2B5EF4-FFF2-40B4-BE49-F238E27FC236}">
                  <a16:creationId xmlns:a16="http://schemas.microsoft.com/office/drawing/2014/main" id="{C2DA776C-7150-585D-BBB3-3274BBFD3C4A}"/>
                </a:ext>
              </a:extLst>
            </p:cNvPr>
            <p:cNvSpPr/>
            <p:nvPr/>
          </p:nvSpPr>
          <p:spPr>
            <a:xfrm>
              <a:off x="3655940" y="3214502"/>
              <a:ext cx="293571" cy="35451"/>
            </a:xfrm>
            <a:custGeom>
              <a:avLst/>
              <a:gdLst/>
              <a:ahLst/>
              <a:cxnLst/>
              <a:rect l="l" t="t" r="r" b="b"/>
              <a:pathLst>
                <a:path w="11022" h="1331" extrusionOk="0">
                  <a:moveTo>
                    <a:pt x="1330" y="0"/>
                  </a:moveTo>
                  <a:cubicBezTo>
                    <a:pt x="982" y="0"/>
                    <a:pt x="634" y="95"/>
                    <a:pt x="570" y="222"/>
                  </a:cubicBezTo>
                  <a:cubicBezTo>
                    <a:pt x="380" y="570"/>
                    <a:pt x="285" y="760"/>
                    <a:pt x="64" y="1109"/>
                  </a:cubicBezTo>
                  <a:cubicBezTo>
                    <a:pt x="0" y="1235"/>
                    <a:pt x="254" y="1330"/>
                    <a:pt x="602" y="1330"/>
                  </a:cubicBezTo>
                  <a:lnTo>
                    <a:pt x="9881" y="1330"/>
                  </a:lnTo>
                  <a:cubicBezTo>
                    <a:pt x="10261" y="1330"/>
                    <a:pt x="10578" y="1235"/>
                    <a:pt x="10641" y="1109"/>
                  </a:cubicBezTo>
                  <a:cubicBezTo>
                    <a:pt x="10768" y="760"/>
                    <a:pt x="10831" y="570"/>
                    <a:pt x="10989" y="222"/>
                  </a:cubicBezTo>
                  <a:cubicBezTo>
                    <a:pt x="11021" y="95"/>
                    <a:pt x="10768" y="0"/>
                    <a:pt x="10419"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289;p14">
              <a:extLst>
                <a:ext uri="{FF2B5EF4-FFF2-40B4-BE49-F238E27FC236}">
                  <a16:creationId xmlns:a16="http://schemas.microsoft.com/office/drawing/2014/main" id="{9CA8D624-0E9D-CB01-AE47-97DA9AEB3752}"/>
                </a:ext>
              </a:extLst>
            </p:cNvPr>
            <p:cNvSpPr/>
            <p:nvPr/>
          </p:nvSpPr>
          <p:spPr>
            <a:xfrm>
              <a:off x="3955371" y="3214502"/>
              <a:ext cx="114744" cy="35451"/>
            </a:xfrm>
            <a:custGeom>
              <a:avLst/>
              <a:gdLst/>
              <a:ahLst/>
              <a:cxnLst/>
              <a:rect l="l" t="t" r="r" b="b"/>
              <a:pathLst>
                <a:path w="4308" h="1331" extrusionOk="0">
                  <a:moveTo>
                    <a:pt x="1109" y="0"/>
                  </a:moveTo>
                  <a:cubicBezTo>
                    <a:pt x="729" y="0"/>
                    <a:pt x="412" y="95"/>
                    <a:pt x="381" y="222"/>
                  </a:cubicBezTo>
                  <a:cubicBezTo>
                    <a:pt x="254" y="570"/>
                    <a:pt x="159" y="760"/>
                    <a:pt x="32" y="1109"/>
                  </a:cubicBezTo>
                  <a:cubicBezTo>
                    <a:pt x="1" y="1235"/>
                    <a:pt x="254" y="1330"/>
                    <a:pt x="634" y="1330"/>
                  </a:cubicBezTo>
                  <a:lnTo>
                    <a:pt x="3263" y="1330"/>
                  </a:lnTo>
                  <a:cubicBezTo>
                    <a:pt x="3643" y="1330"/>
                    <a:pt x="3959" y="1235"/>
                    <a:pt x="3991" y="1109"/>
                  </a:cubicBezTo>
                  <a:cubicBezTo>
                    <a:pt x="4118" y="760"/>
                    <a:pt x="4181" y="570"/>
                    <a:pt x="4276" y="222"/>
                  </a:cubicBezTo>
                  <a:cubicBezTo>
                    <a:pt x="4308" y="95"/>
                    <a:pt x="4054" y="0"/>
                    <a:pt x="3706"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290;p14">
              <a:extLst>
                <a:ext uri="{FF2B5EF4-FFF2-40B4-BE49-F238E27FC236}">
                  <a16:creationId xmlns:a16="http://schemas.microsoft.com/office/drawing/2014/main" id="{6E230280-9FAA-2236-4836-330C4823194A}"/>
                </a:ext>
              </a:extLst>
            </p:cNvPr>
            <p:cNvSpPr/>
            <p:nvPr/>
          </p:nvSpPr>
          <p:spPr>
            <a:xfrm>
              <a:off x="4078531" y="3214502"/>
              <a:ext cx="113066" cy="35451"/>
            </a:xfrm>
            <a:custGeom>
              <a:avLst/>
              <a:gdLst/>
              <a:ahLst/>
              <a:cxnLst/>
              <a:rect l="l" t="t" r="r" b="b"/>
              <a:pathLst>
                <a:path w="4245" h="1331" extrusionOk="0">
                  <a:moveTo>
                    <a:pt x="1014" y="0"/>
                  </a:moveTo>
                  <a:cubicBezTo>
                    <a:pt x="665" y="0"/>
                    <a:pt x="349" y="95"/>
                    <a:pt x="317" y="222"/>
                  </a:cubicBezTo>
                  <a:cubicBezTo>
                    <a:pt x="190" y="570"/>
                    <a:pt x="159" y="760"/>
                    <a:pt x="32" y="1109"/>
                  </a:cubicBezTo>
                  <a:cubicBezTo>
                    <a:pt x="0" y="1235"/>
                    <a:pt x="285" y="1330"/>
                    <a:pt x="634" y="1330"/>
                  </a:cubicBezTo>
                  <a:lnTo>
                    <a:pt x="3294" y="1330"/>
                  </a:lnTo>
                  <a:cubicBezTo>
                    <a:pt x="3674" y="1330"/>
                    <a:pt x="3991" y="1235"/>
                    <a:pt x="4022" y="1109"/>
                  </a:cubicBezTo>
                  <a:cubicBezTo>
                    <a:pt x="4086" y="760"/>
                    <a:pt x="4117" y="570"/>
                    <a:pt x="4212" y="222"/>
                  </a:cubicBezTo>
                  <a:cubicBezTo>
                    <a:pt x="4244" y="95"/>
                    <a:pt x="3959" y="0"/>
                    <a:pt x="3611"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291;p14">
              <a:extLst>
                <a:ext uri="{FF2B5EF4-FFF2-40B4-BE49-F238E27FC236}">
                  <a16:creationId xmlns:a16="http://schemas.microsoft.com/office/drawing/2014/main" id="{991E23B5-E72E-BDD0-4A1D-21FE949D0DE9}"/>
                </a:ext>
              </a:extLst>
            </p:cNvPr>
            <p:cNvSpPr/>
            <p:nvPr/>
          </p:nvSpPr>
          <p:spPr>
            <a:xfrm>
              <a:off x="4201691" y="3214502"/>
              <a:ext cx="110509" cy="35451"/>
            </a:xfrm>
            <a:custGeom>
              <a:avLst/>
              <a:gdLst/>
              <a:ahLst/>
              <a:cxnLst/>
              <a:rect l="l" t="t" r="r" b="b"/>
              <a:pathLst>
                <a:path w="4149" h="1331" extrusionOk="0">
                  <a:moveTo>
                    <a:pt x="918" y="0"/>
                  </a:moveTo>
                  <a:cubicBezTo>
                    <a:pt x="570" y="0"/>
                    <a:pt x="253" y="95"/>
                    <a:pt x="222" y="222"/>
                  </a:cubicBezTo>
                  <a:cubicBezTo>
                    <a:pt x="158" y="570"/>
                    <a:pt x="127" y="760"/>
                    <a:pt x="32" y="1109"/>
                  </a:cubicBezTo>
                  <a:cubicBezTo>
                    <a:pt x="0" y="1235"/>
                    <a:pt x="285" y="1330"/>
                    <a:pt x="665" y="1330"/>
                  </a:cubicBezTo>
                  <a:lnTo>
                    <a:pt x="3294" y="1330"/>
                  </a:lnTo>
                  <a:cubicBezTo>
                    <a:pt x="3674" y="1330"/>
                    <a:pt x="3990" y="1235"/>
                    <a:pt x="3990" y="1109"/>
                  </a:cubicBezTo>
                  <a:cubicBezTo>
                    <a:pt x="4054" y="760"/>
                    <a:pt x="4085" y="570"/>
                    <a:pt x="4149" y="222"/>
                  </a:cubicBezTo>
                  <a:cubicBezTo>
                    <a:pt x="4149" y="95"/>
                    <a:pt x="3895" y="0"/>
                    <a:pt x="3515"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292;p14">
              <a:extLst>
                <a:ext uri="{FF2B5EF4-FFF2-40B4-BE49-F238E27FC236}">
                  <a16:creationId xmlns:a16="http://schemas.microsoft.com/office/drawing/2014/main" id="{A99C6489-7B5B-6281-8C65-0CEB361A63E0}"/>
                </a:ext>
              </a:extLst>
            </p:cNvPr>
            <p:cNvSpPr/>
            <p:nvPr/>
          </p:nvSpPr>
          <p:spPr>
            <a:xfrm>
              <a:off x="4325677" y="3214502"/>
              <a:ext cx="108005" cy="35451"/>
            </a:xfrm>
            <a:custGeom>
              <a:avLst/>
              <a:gdLst/>
              <a:ahLst/>
              <a:cxnLst/>
              <a:rect l="l" t="t" r="r" b="b"/>
              <a:pathLst>
                <a:path w="4055" h="1331" extrusionOk="0">
                  <a:moveTo>
                    <a:pt x="824" y="0"/>
                  </a:moveTo>
                  <a:cubicBezTo>
                    <a:pt x="475" y="0"/>
                    <a:pt x="159" y="95"/>
                    <a:pt x="127" y="222"/>
                  </a:cubicBezTo>
                  <a:cubicBezTo>
                    <a:pt x="95" y="570"/>
                    <a:pt x="64" y="760"/>
                    <a:pt x="0" y="1109"/>
                  </a:cubicBezTo>
                  <a:cubicBezTo>
                    <a:pt x="0" y="1235"/>
                    <a:pt x="285" y="1330"/>
                    <a:pt x="634" y="1330"/>
                  </a:cubicBezTo>
                  <a:lnTo>
                    <a:pt x="3294" y="1330"/>
                  </a:lnTo>
                  <a:cubicBezTo>
                    <a:pt x="3642" y="1330"/>
                    <a:pt x="3959" y="1235"/>
                    <a:pt x="3959" y="1109"/>
                  </a:cubicBezTo>
                  <a:cubicBezTo>
                    <a:pt x="3991" y="760"/>
                    <a:pt x="4022" y="570"/>
                    <a:pt x="4054" y="222"/>
                  </a:cubicBezTo>
                  <a:cubicBezTo>
                    <a:pt x="4054" y="95"/>
                    <a:pt x="3769" y="0"/>
                    <a:pt x="3421"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293;p14">
              <a:extLst>
                <a:ext uri="{FF2B5EF4-FFF2-40B4-BE49-F238E27FC236}">
                  <a16:creationId xmlns:a16="http://schemas.microsoft.com/office/drawing/2014/main" id="{B9FD0737-C675-165E-071C-6CECB79BB656}"/>
                </a:ext>
              </a:extLst>
            </p:cNvPr>
            <p:cNvSpPr/>
            <p:nvPr/>
          </p:nvSpPr>
          <p:spPr>
            <a:xfrm>
              <a:off x="4448838" y="3214502"/>
              <a:ext cx="106300" cy="35451"/>
            </a:xfrm>
            <a:custGeom>
              <a:avLst/>
              <a:gdLst/>
              <a:ahLst/>
              <a:cxnLst/>
              <a:rect l="l" t="t" r="r" b="b"/>
              <a:pathLst>
                <a:path w="3991" h="1331" extrusionOk="0">
                  <a:moveTo>
                    <a:pt x="729" y="0"/>
                  </a:moveTo>
                  <a:cubicBezTo>
                    <a:pt x="380" y="0"/>
                    <a:pt x="95" y="95"/>
                    <a:pt x="63" y="222"/>
                  </a:cubicBezTo>
                  <a:cubicBezTo>
                    <a:pt x="32" y="570"/>
                    <a:pt x="32" y="760"/>
                    <a:pt x="0" y="1109"/>
                  </a:cubicBezTo>
                  <a:cubicBezTo>
                    <a:pt x="0" y="1235"/>
                    <a:pt x="285" y="1330"/>
                    <a:pt x="665" y="1330"/>
                  </a:cubicBezTo>
                  <a:lnTo>
                    <a:pt x="3294" y="1330"/>
                  </a:lnTo>
                  <a:cubicBezTo>
                    <a:pt x="3674" y="1330"/>
                    <a:pt x="3959" y="1235"/>
                    <a:pt x="3959" y="1109"/>
                  </a:cubicBezTo>
                  <a:cubicBezTo>
                    <a:pt x="3959" y="760"/>
                    <a:pt x="3959" y="570"/>
                    <a:pt x="3990" y="222"/>
                  </a:cubicBezTo>
                  <a:cubicBezTo>
                    <a:pt x="3990" y="95"/>
                    <a:pt x="3674" y="0"/>
                    <a:pt x="3325"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294;p14">
              <a:extLst>
                <a:ext uri="{FF2B5EF4-FFF2-40B4-BE49-F238E27FC236}">
                  <a16:creationId xmlns:a16="http://schemas.microsoft.com/office/drawing/2014/main" id="{B66B2D85-EB75-BE6B-3401-375C5BA3932B}"/>
                </a:ext>
              </a:extLst>
            </p:cNvPr>
            <p:cNvSpPr/>
            <p:nvPr/>
          </p:nvSpPr>
          <p:spPr>
            <a:xfrm>
              <a:off x="4571971" y="3214502"/>
              <a:ext cx="105475" cy="35451"/>
            </a:xfrm>
            <a:custGeom>
              <a:avLst/>
              <a:gdLst/>
              <a:ahLst/>
              <a:cxnLst/>
              <a:rect l="l" t="t" r="r" b="b"/>
              <a:pathLst>
                <a:path w="3960" h="1331" extrusionOk="0">
                  <a:moveTo>
                    <a:pt x="666" y="0"/>
                  </a:moveTo>
                  <a:cubicBezTo>
                    <a:pt x="286" y="0"/>
                    <a:pt x="1" y="95"/>
                    <a:pt x="1" y="222"/>
                  </a:cubicBezTo>
                  <a:lnTo>
                    <a:pt x="1" y="1109"/>
                  </a:lnTo>
                  <a:cubicBezTo>
                    <a:pt x="1" y="1235"/>
                    <a:pt x="286" y="1330"/>
                    <a:pt x="666" y="1330"/>
                  </a:cubicBezTo>
                  <a:lnTo>
                    <a:pt x="3326" y="1330"/>
                  </a:lnTo>
                  <a:cubicBezTo>
                    <a:pt x="3674" y="1330"/>
                    <a:pt x="3959" y="1235"/>
                    <a:pt x="3959" y="1109"/>
                  </a:cubicBezTo>
                  <a:cubicBezTo>
                    <a:pt x="3928" y="760"/>
                    <a:pt x="3928" y="570"/>
                    <a:pt x="3896" y="222"/>
                  </a:cubicBezTo>
                  <a:cubicBezTo>
                    <a:pt x="3896" y="95"/>
                    <a:pt x="3611" y="0"/>
                    <a:pt x="3231"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295;p14">
              <a:extLst>
                <a:ext uri="{FF2B5EF4-FFF2-40B4-BE49-F238E27FC236}">
                  <a16:creationId xmlns:a16="http://schemas.microsoft.com/office/drawing/2014/main" id="{7EC1389C-8A13-D87B-C519-7EF7FB70F729}"/>
                </a:ext>
              </a:extLst>
            </p:cNvPr>
            <p:cNvSpPr/>
            <p:nvPr/>
          </p:nvSpPr>
          <p:spPr>
            <a:xfrm>
              <a:off x="4692601" y="3214502"/>
              <a:ext cx="108831" cy="35451"/>
            </a:xfrm>
            <a:custGeom>
              <a:avLst/>
              <a:gdLst/>
              <a:ahLst/>
              <a:cxnLst/>
              <a:rect l="l" t="t" r="r" b="b"/>
              <a:pathLst>
                <a:path w="4086" h="1331" extrusionOk="0">
                  <a:moveTo>
                    <a:pt x="666" y="0"/>
                  </a:moveTo>
                  <a:cubicBezTo>
                    <a:pt x="286" y="0"/>
                    <a:pt x="0" y="95"/>
                    <a:pt x="32" y="222"/>
                  </a:cubicBezTo>
                  <a:cubicBezTo>
                    <a:pt x="64" y="570"/>
                    <a:pt x="64" y="760"/>
                    <a:pt x="95" y="1109"/>
                  </a:cubicBezTo>
                  <a:cubicBezTo>
                    <a:pt x="95" y="1235"/>
                    <a:pt x="412" y="1330"/>
                    <a:pt x="761" y="1330"/>
                  </a:cubicBezTo>
                  <a:lnTo>
                    <a:pt x="3421" y="1330"/>
                  </a:lnTo>
                  <a:cubicBezTo>
                    <a:pt x="3801" y="1330"/>
                    <a:pt x="4086" y="1235"/>
                    <a:pt x="4054" y="1109"/>
                  </a:cubicBezTo>
                  <a:cubicBezTo>
                    <a:pt x="4022" y="760"/>
                    <a:pt x="3991" y="570"/>
                    <a:pt x="3927" y="222"/>
                  </a:cubicBezTo>
                  <a:cubicBezTo>
                    <a:pt x="3927" y="95"/>
                    <a:pt x="3611" y="0"/>
                    <a:pt x="3262"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296;p14">
              <a:extLst>
                <a:ext uri="{FF2B5EF4-FFF2-40B4-BE49-F238E27FC236}">
                  <a16:creationId xmlns:a16="http://schemas.microsoft.com/office/drawing/2014/main" id="{691984F0-FF9F-3E64-436C-AF06599CD38F}"/>
                </a:ext>
              </a:extLst>
            </p:cNvPr>
            <p:cNvSpPr/>
            <p:nvPr/>
          </p:nvSpPr>
          <p:spPr>
            <a:xfrm>
              <a:off x="4814057" y="3214502"/>
              <a:ext cx="110535" cy="35451"/>
            </a:xfrm>
            <a:custGeom>
              <a:avLst/>
              <a:gdLst/>
              <a:ahLst/>
              <a:cxnLst/>
              <a:rect l="l" t="t" r="r" b="b"/>
              <a:pathLst>
                <a:path w="4150" h="1331" extrusionOk="0">
                  <a:moveTo>
                    <a:pt x="634" y="0"/>
                  </a:moveTo>
                  <a:cubicBezTo>
                    <a:pt x="286" y="0"/>
                    <a:pt x="1" y="95"/>
                    <a:pt x="33" y="222"/>
                  </a:cubicBezTo>
                  <a:cubicBezTo>
                    <a:pt x="64" y="570"/>
                    <a:pt x="96" y="760"/>
                    <a:pt x="159" y="1109"/>
                  </a:cubicBezTo>
                  <a:cubicBezTo>
                    <a:pt x="159" y="1235"/>
                    <a:pt x="476" y="1330"/>
                    <a:pt x="856" y="1330"/>
                  </a:cubicBezTo>
                  <a:lnTo>
                    <a:pt x="3516" y="1330"/>
                  </a:lnTo>
                  <a:cubicBezTo>
                    <a:pt x="3864" y="1330"/>
                    <a:pt x="4149" y="1235"/>
                    <a:pt x="4118" y="1109"/>
                  </a:cubicBezTo>
                  <a:cubicBezTo>
                    <a:pt x="4054" y="760"/>
                    <a:pt x="3991" y="570"/>
                    <a:pt x="3928" y="222"/>
                  </a:cubicBezTo>
                  <a:cubicBezTo>
                    <a:pt x="3896" y="95"/>
                    <a:pt x="3579" y="0"/>
                    <a:pt x="3231"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297;p14">
              <a:extLst>
                <a:ext uri="{FF2B5EF4-FFF2-40B4-BE49-F238E27FC236}">
                  <a16:creationId xmlns:a16="http://schemas.microsoft.com/office/drawing/2014/main" id="{8D162708-1AC9-A40F-8D53-1F01DE137922}"/>
                </a:ext>
              </a:extLst>
            </p:cNvPr>
            <p:cNvSpPr/>
            <p:nvPr/>
          </p:nvSpPr>
          <p:spPr>
            <a:xfrm>
              <a:off x="4935539" y="3214502"/>
              <a:ext cx="112213" cy="35451"/>
            </a:xfrm>
            <a:custGeom>
              <a:avLst/>
              <a:gdLst/>
              <a:ahLst/>
              <a:cxnLst/>
              <a:rect l="l" t="t" r="r" b="b"/>
              <a:pathLst>
                <a:path w="4213" h="1331" extrusionOk="0">
                  <a:moveTo>
                    <a:pt x="602" y="0"/>
                  </a:moveTo>
                  <a:cubicBezTo>
                    <a:pt x="254" y="0"/>
                    <a:pt x="0" y="95"/>
                    <a:pt x="32" y="222"/>
                  </a:cubicBezTo>
                  <a:cubicBezTo>
                    <a:pt x="95" y="570"/>
                    <a:pt x="127" y="760"/>
                    <a:pt x="222" y="1109"/>
                  </a:cubicBezTo>
                  <a:cubicBezTo>
                    <a:pt x="254" y="1235"/>
                    <a:pt x="570" y="1330"/>
                    <a:pt x="919" y="1330"/>
                  </a:cubicBezTo>
                  <a:lnTo>
                    <a:pt x="3579" y="1330"/>
                  </a:lnTo>
                  <a:cubicBezTo>
                    <a:pt x="3927" y="1330"/>
                    <a:pt x="4212" y="1235"/>
                    <a:pt x="4180" y="1109"/>
                  </a:cubicBezTo>
                  <a:cubicBezTo>
                    <a:pt x="4085" y="760"/>
                    <a:pt x="4022" y="570"/>
                    <a:pt x="3927" y="222"/>
                  </a:cubicBezTo>
                  <a:cubicBezTo>
                    <a:pt x="3895" y="95"/>
                    <a:pt x="3547" y="0"/>
                    <a:pt x="3199"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298;p14">
              <a:extLst>
                <a:ext uri="{FF2B5EF4-FFF2-40B4-BE49-F238E27FC236}">
                  <a16:creationId xmlns:a16="http://schemas.microsoft.com/office/drawing/2014/main" id="{AC473FAD-580C-D399-C8E5-76834C8455A2}"/>
                </a:ext>
              </a:extLst>
            </p:cNvPr>
            <p:cNvSpPr/>
            <p:nvPr/>
          </p:nvSpPr>
          <p:spPr>
            <a:xfrm>
              <a:off x="5056142" y="3214502"/>
              <a:ext cx="114744" cy="35451"/>
            </a:xfrm>
            <a:custGeom>
              <a:avLst/>
              <a:gdLst/>
              <a:ahLst/>
              <a:cxnLst/>
              <a:rect l="l" t="t" r="r" b="b"/>
              <a:pathLst>
                <a:path w="4308" h="1331" extrusionOk="0">
                  <a:moveTo>
                    <a:pt x="634" y="0"/>
                  </a:moveTo>
                  <a:cubicBezTo>
                    <a:pt x="254" y="0"/>
                    <a:pt x="1" y="95"/>
                    <a:pt x="33" y="222"/>
                  </a:cubicBezTo>
                  <a:cubicBezTo>
                    <a:pt x="159" y="570"/>
                    <a:pt x="191" y="760"/>
                    <a:pt x="318" y="1109"/>
                  </a:cubicBezTo>
                  <a:cubicBezTo>
                    <a:pt x="349" y="1235"/>
                    <a:pt x="666" y="1330"/>
                    <a:pt x="1046" y="1330"/>
                  </a:cubicBezTo>
                  <a:lnTo>
                    <a:pt x="3674" y="1330"/>
                  </a:lnTo>
                  <a:cubicBezTo>
                    <a:pt x="4054" y="1330"/>
                    <a:pt x="4308" y="1235"/>
                    <a:pt x="4276" y="1109"/>
                  </a:cubicBezTo>
                  <a:cubicBezTo>
                    <a:pt x="4150" y="760"/>
                    <a:pt x="4086" y="570"/>
                    <a:pt x="3959" y="222"/>
                  </a:cubicBezTo>
                  <a:cubicBezTo>
                    <a:pt x="3896" y="95"/>
                    <a:pt x="3579" y="0"/>
                    <a:pt x="3231"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299;p14">
              <a:extLst>
                <a:ext uri="{FF2B5EF4-FFF2-40B4-BE49-F238E27FC236}">
                  <a16:creationId xmlns:a16="http://schemas.microsoft.com/office/drawing/2014/main" id="{31387DA0-2333-802B-F51F-ECF3129EDDFE}"/>
                </a:ext>
              </a:extLst>
            </p:cNvPr>
            <p:cNvSpPr/>
            <p:nvPr/>
          </p:nvSpPr>
          <p:spPr>
            <a:xfrm>
              <a:off x="5177624" y="3214502"/>
              <a:ext cx="310431" cy="35451"/>
            </a:xfrm>
            <a:custGeom>
              <a:avLst/>
              <a:gdLst/>
              <a:ahLst/>
              <a:cxnLst/>
              <a:rect l="l" t="t" r="r" b="b"/>
              <a:pathLst>
                <a:path w="11655" h="1331" extrusionOk="0">
                  <a:moveTo>
                    <a:pt x="602" y="0"/>
                  </a:moveTo>
                  <a:cubicBezTo>
                    <a:pt x="254" y="0"/>
                    <a:pt x="0" y="95"/>
                    <a:pt x="32" y="222"/>
                  </a:cubicBezTo>
                  <a:cubicBezTo>
                    <a:pt x="159" y="570"/>
                    <a:pt x="222" y="760"/>
                    <a:pt x="380" y="1109"/>
                  </a:cubicBezTo>
                  <a:cubicBezTo>
                    <a:pt x="412" y="1235"/>
                    <a:pt x="760" y="1330"/>
                    <a:pt x="1109" y="1330"/>
                  </a:cubicBezTo>
                  <a:lnTo>
                    <a:pt x="11053" y="1330"/>
                  </a:lnTo>
                  <a:cubicBezTo>
                    <a:pt x="11401" y="1330"/>
                    <a:pt x="11654" y="1235"/>
                    <a:pt x="11591" y="1109"/>
                  </a:cubicBezTo>
                  <a:cubicBezTo>
                    <a:pt x="11401" y="760"/>
                    <a:pt x="11306" y="570"/>
                    <a:pt x="11084" y="222"/>
                  </a:cubicBezTo>
                  <a:cubicBezTo>
                    <a:pt x="11021" y="95"/>
                    <a:pt x="10673" y="0"/>
                    <a:pt x="10324"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300;p14">
              <a:extLst>
                <a:ext uri="{FF2B5EF4-FFF2-40B4-BE49-F238E27FC236}">
                  <a16:creationId xmlns:a16="http://schemas.microsoft.com/office/drawing/2014/main" id="{E8F8EBD7-65D4-EC9D-1A29-E336DDB75021}"/>
                </a:ext>
              </a:extLst>
            </p:cNvPr>
            <p:cNvSpPr/>
            <p:nvPr/>
          </p:nvSpPr>
          <p:spPr>
            <a:xfrm>
              <a:off x="3633167" y="3255839"/>
              <a:ext cx="123160" cy="35451"/>
            </a:xfrm>
            <a:custGeom>
              <a:avLst/>
              <a:gdLst/>
              <a:ahLst/>
              <a:cxnLst/>
              <a:rect l="l" t="t" r="r" b="b"/>
              <a:pathLst>
                <a:path w="4624" h="1331" extrusionOk="0">
                  <a:moveTo>
                    <a:pt x="1330" y="0"/>
                  </a:moveTo>
                  <a:cubicBezTo>
                    <a:pt x="982" y="0"/>
                    <a:pt x="634" y="95"/>
                    <a:pt x="539" y="222"/>
                  </a:cubicBezTo>
                  <a:cubicBezTo>
                    <a:pt x="348" y="570"/>
                    <a:pt x="253" y="760"/>
                    <a:pt x="63" y="1109"/>
                  </a:cubicBezTo>
                  <a:cubicBezTo>
                    <a:pt x="0" y="1235"/>
                    <a:pt x="253" y="1330"/>
                    <a:pt x="634" y="1330"/>
                  </a:cubicBezTo>
                  <a:lnTo>
                    <a:pt x="3325" y="1330"/>
                  </a:lnTo>
                  <a:cubicBezTo>
                    <a:pt x="3705" y="1330"/>
                    <a:pt x="4054" y="1235"/>
                    <a:pt x="4117" y="1109"/>
                  </a:cubicBezTo>
                  <a:cubicBezTo>
                    <a:pt x="4307" y="760"/>
                    <a:pt x="4402" y="570"/>
                    <a:pt x="4560" y="222"/>
                  </a:cubicBezTo>
                  <a:cubicBezTo>
                    <a:pt x="4624" y="95"/>
                    <a:pt x="4370" y="0"/>
                    <a:pt x="3990"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301;p14">
              <a:extLst>
                <a:ext uri="{FF2B5EF4-FFF2-40B4-BE49-F238E27FC236}">
                  <a16:creationId xmlns:a16="http://schemas.microsoft.com/office/drawing/2014/main" id="{721A9C1E-2CF9-7F64-B3E8-5E0150FA7C40}"/>
                </a:ext>
              </a:extLst>
            </p:cNvPr>
            <p:cNvSpPr/>
            <p:nvPr/>
          </p:nvSpPr>
          <p:spPr>
            <a:xfrm>
              <a:off x="3759684" y="3255839"/>
              <a:ext cx="120657" cy="35451"/>
            </a:xfrm>
            <a:custGeom>
              <a:avLst/>
              <a:gdLst/>
              <a:ahLst/>
              <a:cxnLst/>
              <a:rect l="l" t="t" r="r" b="b"/>
              <a:pathLst>
                <a:path w="4530" h="1331" extrusionOk="0">
                  <a:moveTo>
                    <a:pt x="1236" y="0"/>
                  </a:moveTo>
                  <a:cubicBezTo>
                    <a:pt x="887" y="0"/>
                    <a:pt x="539" y="95"/>
                    <a:pt x="476" y="222"/>
                  </a:cubicBezTo>
                  <a:cubicBezTo>
                    <a:pt x="317" y="570"/>
                    <a:pt x="222" y="760"/>
                    <a:pt x="64" y="1109"/>
                  </a:cubicBezTo>
                  <a:cubicBezTo>
                    <a:pt x="0" y="1235"/>
                    <a:pt x="254" y="1330"/>
                    <a:pt x="634" y="1330"/>
                  </a:cubicBezTo>
                  <a:lnTo>
                    <a:pt x="3357" y="1330"/>
                  </a:lnTo>
                  <a:cubicBezTo>
                    <a:pt x="3706" y="1330"/>
                    <a:pt x="4054" y="1235"/>
                    <a:pt x="4117" y="1109"/>
                  </a:cubicBezTo>
                  <a:cubicBezTo>
                    <a:pt x="4276" y="760"/>
                    <a:pt x="4339" y="570"/>
                    <a:pt x="4498" y="222"/>
                  </a:cubicBezTo>
                  <a:cubicBezTo>
                    <a:pt x="4529" y="95"/>
                    <a:pt x="4276" y="0"/>
                    <a:pt x="3896"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302;p14">
              <a:extLst>
                <a:ext uri="{FF2B5EF4-FFF2-40B4-BE49-F238E27FC236}">
                  <a16:creationId xmlns:a16="http://schemas.microsoft.com/office/drawing/2014/main" id="{E1BD0FF2-5622-4227-1648-99B83EAC3EC2}"/>
                </a:ext>
              </a:extLst>
            </p:cNvPr>
            <p:cNvSpPr/>
            <p:nvPr/>
          </p:nvSpPr>
          <p:spPr>
            <a:xfrm>
              <a:off x="3886200" y="3255839"/>
              <a:ext cx="118126" cy="35451"/>
            </a:xfrm>
            <a:custGeom>
              <a:avLst/>
              <a:gdLst/>
              <a:ahLst/>
              <a:cxnLst/>
              <a:rect l="l" t="t" r="r" b="b"/>
              <a:pathLst>
                <a:path w="4435" h="1331" extrusionOk="0">
                  <a:moveTo>
                    <a:pt x="1141" y="0"/>
                  </a:moveTo>
                  <a:cubicBezTo>
                    <a:pt x="793" y="0"/>
                    <a:pt x="444" y="95"/>
                    <a:pt x="381" y="222"/>
                  </a:cubicBezTo>
                  <a:cubicBezTo>
                    <a:pt x="254" y="570"/>
                    <a:pt x="191" y="760"/>
                    <a:pt x="33" y="1109"/>
                  </a:cubicBezTo>
                  <a:cubicBezTo>
                    <a:pt x="1" y="1235"/>
                    <a:pt x="254" y="1330"/>
                    <a:pt x="634" y="1330"/>
                  </a:cubicBezTo>
                  <a:lnTo>
                    <a:pt x="3358" y="1330"/>
                  </a:lnTo>
                  <a:cubicBezTo>
                    <a:pt x="3706" y="1330"/>
                    <a:pt x="4054" y="1235"/>
                    <a:pt x="4086" y="1109"/>
                  </a:cubicBezTo>
                  <a:cubicBezTo>
                    <a:pt x="4213" y="760"/>
                    <a:pt x="4276" y="570"/>
                    <a:pt x="4403" y="222"/>
                  </a:cubicBezTo>
                  <a:cubicBezTo>
                    <a:pt x="4435" y="95"/>
                    <a:pt x="4181" y="0"/>
                    <a:pt x="3801"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303;p14">
              <a:extLst>
                <a:ext uri="{FF2B5EF4-FFF2-40B4-BE49-F238E27FC236}">
                  <a16:creationId xmlns:a16="http://schemas.microsoft.com/office/drawing/2014/main" id="{480083F5-2369-29FE-9396-60BEA7D8F5CE}"/>
                </a:ext>
              </a:extLst>
            </p:cNvPr>
            <p:cNvSpPr/>
            <p:nvPr/>
          </p:nvSpPr>
          <p:spPr>
            <a:xfrm>
              <a:off x="4012743" y="3255839"/>
              <a:ext cx="186445" cy="35451"/>
            </a:xfrm>
            <a:custGeom>
              <a:avLst/>
              <a:gdLst/>
              <a:ahLst/>
              <a:cxnLst/>
              <a:rect l="l" t="t" r="r" b="b"/>
              <a:pathLst>
                <a:path w="7000" h="1331" extrusionOk="0">
                  <a:moveTo>
                    <a:pt x="1045" y="0"/>
                  </a:moveTo>
                  <a:cubicBezTo>
                    <a:pt x="697" y="0"/>
                    <a:pt x="349" y="95"/>
                    <a:pt x="317" y="222"/>
                  </a:cubicBezTo>
                  <a:cubicBezTo>
                    <a:pt x="190" y="570"/>
                    <a:pt x="159" y="760"/>
                    <a:pt x="32" y="1109"/>
                  </a:cubicBezTo>
                  <a:cubicBezTo>
                    <a:pt x="0" y="1235"/>
                    <a:pt x="254" y="1330"/>
                    <a:pt x="634" y="1330"/>
                  </a:cubicBezTo>
                  <a:lnTo>
                    <a:pt x="6049" y="1330"/>
                  </a:lnTo>
                  <a:cubicBezTo>
                    <a:pt x="6429" y="1330"/>
                    <a:pt x="6746" y="1235"/>
                    <a:pt x="6777" y="1109"/>
                  </a:cubicBezTo>
                  <a:cubicBezTo>
                    <a:pt x="6872" y="760"/>
                    <a:pt x="6904" y="570"/>
                    <a:pt x="6999" y="222"/>
                  </a:cubicBezTo>
                  <a:cubicBezTo>
                    <a:pt x="6999" y="95"/>
                    <a:pt x="6746" y="0"/>
                    <a:pt x="6366"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304;p14">
              <a:extLst>
                <a:ext uri="{FF2B5EF4-FFF2-40B4-BE49-F238E27FC236}">
                  <a16:creationId xmlns:a16="http://schemas.microsoft.com/office/drawing/2014/main" id="{65341DD5-D632-CAB8-9147-7C5FCC6E3AD6}"/>
                </a:ext>
              </a:extLst>
            </p:cNvPr>
            <p:cNvSpPr/>
            <p:nvPr/>
          </p:nvSpPr>
          <p:spPr>
            <a:xfrm>
              <a:off x="4210960" y="3255839"/>
              <a:ext cx="722075" cy="35451"/>
            </a:xfrm>
            <a:custGeom>
              <a:avLst/>
              <a:gdLst/>
              <a:ahLst/>
              <a:cxnLst/>
              <a:rect l="l" t="t" r="r" b="b"/>
              <a:pathLst>
                <a:path w="27110" h="1331" extrusionOk="0">
                  <a:moveTo>
                    <a:pt x="919" y="0"/>
                  </a:moveTo>
                  <a:cubicBezTo>
                    <a:pt x="570" y="0"/>
                    <a:pt x="254" y="95"/>
                    <a:pt x="222" y="222"/>
                  </a:cubicBezTo>
                  <a:cubicBezTo>
                    <a:pt x="127" y="570"/>
                    <a:pt x="95" y="760"/>
                    <a:pt x="32" y="1109"/>
                  </a:cubicBezTo>
                  <a:cubicBezTo>
                    <a:pt x="0" y="1235"/>
                    <a:pt x="285" y="1330"/>
                    <a:pt x="666" y="1330"/>
                  </a:cubicBezTo>
                  <a:lnTo>
                    <a:pt x="26444" y="1330"/>
                  </a:lnTo>
                  <a:cubicBezTo>
                    <a:pt x="26824" y="1330"/>
                    <a:pt x="27109" y="1235"/>
                    <a:pt x="27078" y="1109"/>
                  </a:cubicBezTo>
                  <a:cubicBezTo>
                    <a:pt x="27014" y="760"/>
                    <a:pt x="26982" y="570"/>
                    <a:pt x="26887" y="222"/>
                  </a:cubicBezTo>
                  <a:cubicBezTo>
                    <a:pt x="26887" y="95"/>
                    <a:pt x="26571" y="0"/>
                    <a:pt x="26191"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305;p14">
              <a:extLst>
                <a:ext uri="{FF2B5EF4-FFF2-40B4-BE49-F238E27FC236}">
                  <a16:creationId xmlns:a16="http://schemas.microsoft.com/office/drawing/2014/main" id="{1A42FFD9-64A0-40E3-D9B1-5C08A4B00389}"/>
                </a:ext>
              </a:extLst>
            </p:cNvPr>
            <p:cNvSpPr/>
            <p:nvPr/>
          </p:nvSpPr>
          <p:spPr>
            <a:xfrm>
              <a:off x="4944808" y="3255839"/>
              <a:ext cx="114744" cy="35451"/>
            </a:xfrm>
            <a:custGeom>
              <a:avLst/>
              <a:gdLst/>
              <a:ahLst/>
              <a:cxnLst/>
              <a:rect l="l" t="t" r="r" b="b"/>
              <a:pathLst>
                <a:path w="4308" h="1331" extrusionOk="0">
                  <a:moveTo>
                    <a:pt x="634" y="0"/>
                  </a:moveTo>
                  <a:cubicBezTo>
                    <a:pt x="254" y="0"/>
                    <a:pt x="1" y="95"/>
                    <a:pt x="1" y="222"/>
                  </a:cubicBezTo>
                  <a:cubicBezTo>
                    <a:pt x="96" y="570"/>
                    <a:pt x="127" y="760"/>
                    <a:pt x="222" y="1109"/>
                  </a:cubicBezTo>
                  <a:cubicBezTo>
                    <a:pt x="254" y="1235"/>
                    <a:pt x="571" y="1330"/>
                    <a:pt x="951" y="1330"/>
                  </a:cubicBezTo>
                  <a:lnTo>
                    <a:pt x="3642" y="1330"/>
                  </a:lnTo>
                  <a:cubicBezTo>
                    <a:pt x="4023" y="1330"/>
                    <a:pt x="4308" y="1235"/>
                    <a:pt x="4276" y="1109"/>
                  </a:cubicBezTo>
                  <a:cubicBezTo>
                    <a:pt x="4181" y="760"/>
                    <a:pt x="4118" y="570"/>
                    <a:pt x="4023" y="222"/>
                  </a:cubicBezTo>
                  <a:cubicBezTo>
                    <a:pt x="3991" y="95"/>
                    <a:pt x="3642" y="0"/>
                    <a:pt x="3294"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306;p14">
              <a:extLst>
                <a:ext uri="{FF2B5EF4-FFF2-40B4-BE49-F238E27FC236}">
                  <a16:creationId xmlns:a16="http://schemas.microsoft.com/office/drawing/2014/main" id="{DC04A805-1BF4-6FFC-F4FA-6B41F86F7BA9}"/>
                </a:ext>
              </a:extLst>
            </p:cNvPr>
            <p:cNvSpPr/>
            <p:nvPr/>
          </p:nvSpPr>
          <p:spPr>
            <a:xfrm>
              <a:off x="5068794" y="3255839"/>
              <a:ext cx="117274" cy="35451"/>
            </a:xfrm>
            <a:custGeom>
              <a:avLst/>
              <a:gdLst/>
              <a:ahLst/>
              <a:cxnLst/>
              <a:rect l="l" t="t" r="r" b="b"/>
              <a:pathLst>
                <a:path w="4403" h="1331" extrusionOk="0">
                  <a:moveTo>
                    <a:pt x="634" y="0"/>
                  </a:moveTo>
                  <a:cubicBezTo>
                    <a:pt x="254" y="0"/>
                    <a:pt x="1" y="95"/>
                    <a:pt x="33" y="222"/>
                  </a:cubicBezTo>
                  <a:cubicBezTo>
                    <a:pt x="128" y="570"/>
                    <a:pt x="191" y="760"/>
                    <a:pt x="286" y="1109"/>
                  </a:cubicBezTo>
                  <a:cubicBezTo>
                    <a:pt x="318" y="1235"/>
                    <a:pt x="666" y="1330"/>
                    <a:pt x="1046" y="1330"/>
                  </a:cubicBezTo>
                  <a:lnTo>
                    <a:pt x="3770" y="1330"/>
                  </a:lnTo>
                  <a:cubicBezTo>
                    <a:pt x="4118" y="1330"/>
                    <a:pt x="4403" y="1235"/>
                    <a:pt x="4340" y="1109"/>
                  </a:cubicBezTo>
                  <a:cubicBezTo>
                    <a:pt x="4213" y="760"/>
                    <a:pt x="4150" y="570"/>
                    <a:pt x="4023" y="222"/>
                  </a:cubicBezTo>
                  <a:cubicBezTo>
                    <a:pt x="3991" y="95"/>
                    <a:pt x="3643" y="0"/>
                    <a:pt x="3294"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307;p14">
              <a:extLst>
                <a:ext uri="{FF2B5EF4-FFF2-40B4-BE49-F238E27FC236}">
                  <a16:creationId xmlns:a16="http://schemas.microsoft.com/office/drawing/2014/main" id="{978B4AC4-05CA-BB5E-A4B9-FBC845F35F48}"/>
                </a:ext>
              </a:extLst>
            </p:cNvPr>
            <p:cNvSpPr/>
            <p:nvPr/>
          </p:nvSpPr>
          <p:spPr>
            <a:xfrm>
              <a:off x="5192806" y="3255839"/>
              <a:ext cx="101240" cy="35451"/>
            </a:xfrm>
            <a:custGeom>
              <a:avLst/>
              <a:gdLst/>
              <a:ahLst/>
              <a:cxnLst/>
              <a:rect l="l" t="t" r="r" b="b"/>
              <a:pathLst>
                <a:path w="3801" h="1331" extrusionOk="0">
                  <a:moveTo>
                    <a:pt x="634" y="0"/>
                  </a:moveTo>
                  <a:cubicBezTo>
                    <a:pt x="254" y="0"/>
                    <a:pt x="0" y="95"/>
                    <a:pt x="32" y="222"/>
                  </a:cubicBezTo>
                  <a:cubicBezTo>
                    <a:pt x="190" y="570"/>
                    <a:pt x="254" y="760"/>
                    <a:pt x="380" y="1109"/>
                  </a:cubicBezTo>
                  <a:cubicBezTo>
                    <a:pt x="412" y="1235"/>
                    <a:pt x="760" y="1330"/>
                    <a:pt x="1140" y="1330"/>
                  </a:cubicBezTo>
                  <a:lnTo>
                    <a:pt x="3167" y="1330"/>
                  </a:lnTo>
                  <a:cubicBezTo>
                    <a:pt x="3547" y="1330"/>
                    <a:pt x="3801" y="1235"/>
                    <a:pt x="3769" y="1109"/>
                  </a:cubicBezTo>
                  <a:cubicBezTo>
                    <a:pt x="3611" y="760"/>
                    <a:pt x="3547" y="570"/>
                    <a:pt x="3389" y="222"/>
                  </a:cubicBezTo>
                  <a:cubicBezTo>
                    <a:pt x="3325" y="95"/>
                    <a:pt x="2977" y="0"/>
                    <a:pt x="2629"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308;p14">
              <a:extLst>
                <a:ext uri="{FF2B5EF4-FFF2-40B4-BE49-F238E27FC236}">
                  <a16:creationId xmlns:a16="http://schemas.microsoft.com/office/drawing/2014/main" id="{F46588CD-8EB2-2937-0D68-2E03C578DA34}"/>
                </a:ext>
              </a:extLst>
            </p:cNvPr>
            <p:cNvSpPr/>
            <p:nvPr/>
          </p:nvSpPr>
          <p:spPr>
            <a:xfrm>
              <a:off x="5405354" y="3255839"/>
              <a:ext cx="105475" cy="35451"/>
            </a:xfrm>
            <a:custGeom>
              <a:avLst/>
              <a:gdLst/>
              <a:ahLst/>
              <a:cxnLst/>
              <a:rect l="l" t="t" r="r" b="b"/>
              <a:pathLst>
                <a:path w="3960" h="1331" extrusionOk="0">
                  <a:moveTo>
                    <a:pt x="634" y="0"/>
                  </a:moveTo>
                  <a:cubicBezTo>
                    <a:pt x="254" y="0"/>
                    <a:pt x="1" y="95"/>
                    <a:pt x="64" y="222"/>
                  </a:cubicBezTo>
                  <a:cubicBezTo>
                    <a:pt x="254" y="570"/>
                    <a:pt x="349" y="760"/>
                    <a:pt x="508" y="1109"/>
                  </a:cubicBezTo>
                  <a:cubicBezTo>
                    <a:pt x="571" y="1235"/>
                    <a:pt x="919" y="1330"/>
                    <a:pt x="1299" y="1330"/>
                  </a:cubicBezTo>
                  <a:lnTo>
                    <a:pt x="3326" y="1330"/>
                  </a:lnTo>
                  <a:cubicBezTo>
                    <a:pt x="3706" y="1330"/>
                    <a:pt x="3959" y="1235"/>
                    <a:pt x="3896" y="1109"/>
                  </a:cubicBezTo>
                  <a:cubicBezTo>
                    <a:pt x="3706" y="760"/>
                    <a:pt x="3611" y="570"/>
                    <a:pt x="3421" y="222"/>
                  </a:cubicBezTo>
                  <a:cubicBezTo>
                    <a:pt x="3326" y="95"/>
                    <a:pt x="2978" y="0"/>
                    <a:pt x="2629"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309;p14">
              <a:extLst>
                <a:ext uri="{FF2B5EF4-FFF2-40B4-BE49-F238E27FC236}">
                  <a16:creationId xmlns:a16="http://schemas.microsoft.com/office/drawing/2014/main" id="{BAB463E8-206C-D719-3639-EF26DD757DE8}"/>
                </a:ext>
              </a:extLst>
            </p:cNvPr>
            <p:cNvSpPr/>
            <p:nvPr/>
          </p:nvSpPr>
          <p:spPr>
            <a:xfrm>
              <a:off x="5299080" y="3255839"/>
              <a:ext cx="93649" cy="15209"/>
            </a:xfrm>
            <a:custGeom>
              <a:avLst/>
              <a:gdLst/>
              <a:ahLst/>
              <a:cxnLst/>
              <a:rect l="l" t="t" r="r" b="b"/>
              <a:pathLst>
                <a:path w="3516" h="571" extrusionOk="0">
                  <a:moveTo>
                    <a:pt x="634" y="0"/>
                  </a:moveTo>
                  <a:cubicBezTo>
                    <a:pt x="254" y="0"/>
                    <a:pt x="1" y="95"/>
                    <a:pt x="64" y="222"/>
                  </a:cubicBezTo>
                  <a:cubicBezTo>
                    <a:pt x="64" y="253"/>
                    <a:pt x="96" y="285"/>
                    <a:pt x="96" y="348"/>
                  </a:cubicBezTo>
                  <a:cubicBezTo>
                    <a:pt x="159" y="443"/>
                    <a:pt x="507" y="570"/>
                    <a:pt x="887" y="570"/>
                  </a:cubicBezTo>
                  <a:lnTo>
                    <a:pt x="2882" y="570"/>
                  </a:lnTo>
                  <a:cubicBezTo>
                    <a:pt x="3262" y="570"/>
                    <a:pt x="3516" y="443"/>
                    <a:pt x="3452" y="348"/>
                  </a:cubicBezTo>
                  <a:cubicBezTo>
                    <a:pt x="3421" y="285"/>
                    <a:pt x="3421" y="253"/>
                    <a:pt x="3389" y="222"/>
                  </a:cubicBezTo>
                  <a:cubicBezTo>
                    <a:pt x="3326" y="95"/>
                    <a:pt x="2977" y="0"/>
                    <a:pt x="2629"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310;p14">
              <a:extLst>
                <a:ext uri="{FF2B5EF4-FFF2-40B4-BE49-F238E27FC236}">
                  <a16:creationId xmlns:a16="http://schemas.microsoft.com/office/drawing/2014/main" id="{AA15228C-B25F-858E-4B11-1E6CCFBD18D4}"/>
                </a:ext>
              </a:extLst>
            </p:cNvPr>
            <p:cNvSpPr/>
            <p:nvPr/>
          </p:nvSpPr>
          <p:spPr>
            <a:xfrm>
              <a:off x="5308349" y="3276082"/>
              <a:ext cx="94501" cy="15209"/>
            </a:xfrm>
            <a:custGeom>
              <a:avLst/>
              <a:gdLst/>
              <a:ahLst/>
              <a:cxnLst/>
              <a:rect l="l" t="t" r="r" b="b"/>
              <a:pathLst>
                <a:path w="3548" h="571" extrusionOk="0">
                  <a:moveTo>
                    <a:pt x="634" y="0"/>
                  </a:moveTo>
                  <a:cubicBezTo>
                    <a:pt x="254" y="0"/>
                    <a:pt x="1" y="127"/>
                    <a:pt x="33" y="222"/>
                  </a:cubicBezTo>
                  <a:cubicBezTo>
                    <a:pt x="64" y="285"/>
                    <a:pt x="64" y="285"/>
                    <a:pt x="96" y="349"/>
                  </a:cubicBezTo>
                  <a:cubicBezTo>
                    <a:pt x="159" y="475"/>
                    <a:pt x="508" y="570"/>
                    <a:pt x="856" y="570"/>
                  </a:cubicBezTo>
                  <a:lnTo>
                    <a:pt x="2914" y="570"/>
                  </a:lnTo>
                  <a:cubicBezTo>
                    <a:pt x="3294" y="570"/>
                    <a:pt x="3548" y="475"/>
                    <a:pt x="3485" y="349"/>
                  </a:cubicBezTo>
                  <a:cubicBezTo>
                    <a:pt x="3453" y="285"/>
                    <a:pt x="3453" y="285"/>
                    <a:pt x="3421" y="222"/>
                  </a:cubicBezTo>
                  <a:cubicBezTo>
                    <a:pt x="3358" y="127"/>
                    <a:pt x="3009" y="0"/>
                    <a:pt x="2629"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311;p14">
              <a:extLst>
                <a:ext uri="{FF2B5EF4-FFF2-40B4-BE49-F238E27FC236}">
                  <a16:creationId xmlns:a16="http://schemas.microsoft.com/office/drawing/2014/main" id="{125AE2E7-E2DE-4C10-9CBF-FCF20DA7E4FE}"/>
                </a:ext>
              </a:extLst>
            </p:cNvPr>
            <p:cNvSpPr/>
            <p:nvPr/>
          </p:nvSpPr>
          <p:spPr>
            <a:xfrm>
              <a:off x="4178066" y="3308976"/>
              <a:ext cx="787863" cy="134986"/>
            </a:xfrm>
            <a:custGeom>
              <a:avLst/>
              <a:gdLst/>
              <a:ahLst/>
              <a:cxnLst/>
              <a:rect l="l" t="t" r="r" b="b"/>
              <a:pathLst>
                <a:path w="29580" h="5068" extrusionOk="0">
                  <a:moveTo>
                    <a:pt x="1425" y="0"/>
                  </a:moveTo>
                  <a:cubicBezTo>
                    <a:pt x="1235" y="0"/>
                    <a:pt x="1045" y="32"/>
                    <a:pt x="1045" y="95"/>
                  </a:cubicBezTo>
                  <a:cubicBezTo>
                    <a:pt x="634" y="2059"/>
                    <a:pt x="412" y="3009"/>
                    <a:pt x="0" y="4941"/>
                  </a:cubicBezTo>
                  <a:cubicBezTo>
                    <a:pt x="0" y="5004"/>
                    <a:pt x="159" y="5067"/>
                    <a:pt x="349" y="5067"/>
                  </a:cubicBezTo>
                  <a:lnTo>
                    <a:pt x="29231" y="5067"/>
                  </a:lnTo>
                  <a:cubicBezTo>
                    <a:pt x="29421" y="5067"/>
                    <a:pt x="29579" y="5004"/>
                    <a:pt x="29579" y="4941"/>
                  </a:cubicBezTo>
                  <a:cubicBezTo>
                    <a:pt x="29168" y="3009"/>
                    <a:pt x="28946" y="2059"/>
                    <a:pt x="28534" y="95"/>
                  </a:cubicBezTo>
                  <a:cubicBezTo>
                    <a:pt x="28534" y="32"/>
                    <a:pt x="28376" y="0"/>
                    <a:pt x="28154"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312;p14">
              <a:extLst>
                <a:ext uri="{FF2B5EF4-FFF2-40B4-BE49-F238E27FC236}">
                  <a16:creationId xmlns:a16="http://schemas.microsoft.com/office/drawing/2014/main" id="{07771271-28A8-509F-CFF5-A0916E7D99CE}"/>
                </a:ext>
              </a:extLst>
            </p:cNvPr>
            <p:cNvSpPr/>
            <p:nvPr/>
          </p:nvSpPr>
          <p:spPr>
            <a:xfrm>
              <a:off x="3669418" y="1926460"/>
              <a:ext cx="1805134" cy="1008028"/>
            </a:xfrm>
            <a:custGeom>
              <a:avLst/>
              <a:gdLst/>
              <a:ahLst/>
              <a:cxnLst/>
              <a:rect l="l" t="t" r="r" b="b"/>
              <a:pathLst>
                <a:path w="67773" h="37846" extrusionOk="0">
                  <a:moveTo>
                    <a:pt x="1711" y="1"/>
                  </a:moveTo>
                  <a:cubicBezTo>
                    <a:pt x="793" y="1"/>
                    <a:pt x="1" y="761"/>
                    <a:pt x="1" y="1711"/>
                  </a:cubicBezTo>
                  <a:lnTo>
                    <a:pt x="1" y="36167"/>
                  </a:lnTo>
                  <a:cubicBezTo>
                    <a:pt x="1" y="37085"/>
                    <a:pt x="793" y="37845"/>
                    <a:pt x="1711" y="37845"/>
                  </a:cubicBezTo>
                  <a:lnTo>
                    <a:pt x="66063" y="37845"/>
                  </a:lnTo>
                  <a:cubicBezTo>
                    <a:pt x="66981" y="37845"/>
                    <a:pt x="67773" y="37085"/>
                    <a:pt x="67773" y="36167"/>
                  </a:cubicBezTo>
                  <a:lnTo>
                    <a:pt x="67773" y="1711"/>
                  </a:lnTo>
                  <a:cubicBezTo>
                    <a:pt x="67773" y="761"/>
                    <a:pt x="67013" y="1"/>
                    <a:pt x="660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8" name="TextBox 1697">
            <a:extLst>
              <a:ext uri="{FF2B5EF4-FFF2-40B4-BE49-F238E27FC236}">
                <a16:creationId xmlns:a16="http://schemas.microsoft.com/office/drawing/2014/main" id="{F23D4DB5-6D7F-0822-14DA-7BD97C35DF7A}"/>
              </a:ext>
            </a:extLst>
          </p:cNvPr>
          <p:cNvSpPr txBox="1"/>
          <p:nvPr/>
        </p:nvSpPr>
        <p:spPr>
          <a:xfrm>
            <a:off x="6324476" y="1039887"/>
            <a:ext cx="247176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200">
                <a:latin typeface="Fira Sans"/>
                <a:ea typeface="+mn-lt"/>
                <a:cs typeface="Arial"/>
              </a:rPr>
              <a:t>Price is not a strong predictor of review ratings</a:t>
            </a:r>
          </a:p>
          <a:p>
            <a:pPr marL="171450" indent="-171450">
              <a:buFont typeface="Arial"/>
              <a:buChar char="•"/>
            </a:pPr>
            <a:r>
              <a:rPr lang="en-US" sz="1200">
                <a:latin typeface="Fira Sans"/>
                <a:ea typeface="+mn-lt"/>
                <a:cs typeface="Arial"/>
              </a:rPr>
              <a:t>Popular products tend to receive slightly lower ratings</a:t>
            </a:r>
          </a:p>
          <a:p>
            <a:pPr marL="171450" indent="-171450">
              <a:buFont typeface="Arial"/>
              <a:buChar char="•"/>
            </a:pPr>
            <a:r>
              <a:rPr lang="en-US" sz="1200">
                <a:latin typeface="Fira Sans"/>
                <a:ea typeface="+mn-lt"/>
                <a:cs typeface="Arial"/>
              </a:rPr>
              <a:t>Customer engagement (answered questions) does not significantly influence ratings</a:t>
            </a:r>
          </a:p>
          <a:p>
            <a:pPr marL="171450" indent="-171450">
              <a:buFont typeface="Arial"/>
              <a:buChar char="•"/>
            </a:pPr>
            <a:r>
              <a:rPr lang="en-US" sz="1200">
                <a:latin typeface="Fira Sans"/>
                <a:ea typeface="+mn-lt"/>
                <a:cs typeface="Arial"/>
              </a:rPr>
              <a:t>A simple linear model is insufficient to predict review ratings</a:t>
            </a:r>
          </a:p>
          <a:p>
            <a:pPr marL="171450" indent="-171450">
              <a:buFont typeface="Arial"/>
              <a:buChar char="•"/>
            </a:pPr>
            <a:r>
              <a:rPr lang="en-US" sz="1200">
                <a:latin typeface="Fira Sans"/>
                <a:ea typeface="+mn-lt"/>
                <a:cs typeface="Arial"/>
              </a:rPr>
              <a:t>Mid-range review volumes are harder to classify </a:t>
            </a:r>
          </a:p>
          <a:p>
            <a:pPr marL="285750" indent="-285750">
              <a:buFont typeface="Arial"/>
              <a:buChar char="•"/>
            </a:pPr>
            <a:endParaRPr lang="en-US" sz="1200">
              <a:latin typeface="Fira Sans"/>
            </a:endParaRPr>
          </a:p>
          <a:p>
            <a:pPr>
              <a:buFont typeface="Arial"/>
              <a:buChar char="•"/>
            </a:pPr>
            <a:endParaRPr lang="en-US" sz="1200">
              <a:latin typeface="Fira Sans"/>
            </a:endParaRPr>
          </a:p>
        </p:txBody>
      </p:sp>
      <p:sp>
        <p:nvSpPr>
          <p:cNvPr id="1701" name="TextBox 1700">
            <a:extLst>
              <a:ext uri="{FF2B5EF4-FFF2-40B4-BE49-F238E27FC236}">
                <a16:creationId xmlns:a16="http://schemas.microsoft.com/office/drawing/2014/main" id="{907B941E-0FDD-C78E-6CFE-1B0F1E68B039}"/>
              </a:ext>
            </a:extLst>
          </p:cNvPr>
          <p:cNvSpPr txBox="1"/>
          <p:nvPr/>
        </p:nvSpPr>
        <p:spPr>
          <a:xfrm>
            <a:off x="2972572" y="3903190"/>
            <a:ext cx="582466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Sans-Serif"/>
              <a:buChar char="•"/>
            </a:pPr>
            <a:r>
              <a:rPr lang="en-US" sz="1200">
                <a:latin typeface="Fira Sans"/>
                <a:cs typeface="Arial"/>
              </a:rPr>
              <a:t>Overall, these findings indicate that while </a:t>
            </a:r>
            <a:r>
              <a:rPr lang="en-US" sz="1200" b="1">
                <a:latin typeface="Fira Sans"/>
                <a:cs typeface="Arial"/>
              </a:rPr>
              <a:t>price, review volume, and customer engagement play some role in product perception, but they are not the main drivers of review ratings</a:t>
            </a:r>
            <a:r>
              <a:rPr lang="en-US" sz="1200">
                <a:latin typeface="Fira Sans"/>
                <a:cs typeface="Arial"/>
              </a:rPr>
              <a:t>. </a:t>
            </a:r>
          </a:p>
        </p:txBody>
      </p:sp>
    </p:spTree>
    <p:extLst>
      <p:ext uri="{BB962C8B-B14F-4D97-AF65-F5344CB8AC3E}">
        <p14:creationId xmlns:p14="http://schemas.microsoft.com/office/powerpoint/2010/main" val="2268719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grpSp>
        <p:nvGrpSpPr>
          <p:cNvPr id="317" name="Google Shape;317;p15"/>
          <p:cNvGrpSpPr/>
          <p:nvPr/>
        </p:nvGrpSpPr>
        <p:grpSpPr>
          <a:xfrm>
            <a:off x="1599227" y="1185560"/>
            <a:ext cx="7092027" cy="3553375"/>
            <a:chOff x="1595125" y="1508875"/>
            <a:chExt cx="5455825" cy="2733575"/>
          </a:xfrm>
        </p:grpSpPr>
        <p:sp>
          <p:nvSpPr>
            <p:cNvPr id="318" name="Google Shape;318;p15"/>
            <p:cNvSpPr/>
            <p:nvPr/>
          </p:nvSpPr>
          <p:spPr>
            <a:xfrm>
              <a:off x="4369350" y="2513175"/>
              <a:ext cx="2681600" cy="724925"/>
            </a:xfrm>
            <a:custGeom>
              <a:avLst/>
              <a:gdLst/>
              <a:ahLst/>
              <a:cxnLst/>
              <a:rect l="l" t="t" r="r" b="b"/>
              <a:pathLst>
                <a:path w="107264" h="28997" extrusionOk="0">
                  <a:moveTo>
                    <a:pt x="52173" y="0"/>
                  </a:moveTo>
                  <a:cubicBezTo>
                    <a:pt x="28601" y="0"/>
                    <a:pt x="4999" y="635"/>
                    <a:pt x="3325" y="2293"/>
                  </a:cubicBezTo>
                  <a:cubicBezTo>
                    <a:pt x="0" y="5618"/>
                    <a:pt x="5162" y="27374"/>
                    <a:pt x="6936" y="27913"/>
                  </a:cubicBezTo>
                  <a:cubicBezTo>
                    <a:pt x="9502" y="28707"/>
                    <a:pt x="23688" y="28997"/>
                    <a:pt x="40484" y="28997"/>
                  </a:cubicBezTo>
                  <a:cubicBezTo>
                    <a:pt x="67222" y="28997"/>
                    <a:pt x="100574" y="28262"/>
                    <a:pt x="104191" y="27659"/>
                  </a:cubicBezTo>
                  <a:cubicBezTo>
                    <a:pt x="107263" y="27153"/>
                    <a:pt x="103431" y="3338"/>
                    <a:pt x="100866" y="1532"/>
                  </a:cubicBezTo>
                  <a:cubicBezTo>
                    <a:pt x="99580" y="643"/>
                    <a:pt x="75891" y="0"/>
                    <a:pt x="52173"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5"/>
            <p:cNvSpPr/>
            <p:nvPr/>
          </p:nvSpPr>
          <p:spPr>
            <a:xfrm>
              <a:off x="6560850" y="2534850"/>
              <a:ext cx="490100" cy="688025"/>
            </a:xfrm>
            <a:custGeom>
              <a:avLst/>
              <a:gdLst/>
              <a:ahLst/>
              <a:cxnLst/>
              <a:rect l="l" t="t" r="r" b="b"/>
              <a:pathLst>
                <a:path w="19604" h="27521" extrusionOk="0">
                  <a:moveTo>
                    <a:pt x="8392" y="0"/>
                  </a:moveTo>
                  <a:cubicBezTo>
                    <a:pt x="6682" y="6113"/>
                    <a:pt x="4371" y="22137"/>
                    <a:pt x="0" y="27521"/>
                  </a:cubicBezTo>
                  <a:cubicBezTo>
                    <a:pt x="8551" y="27299"/>
                    <a:pt x="14916" y="26982"/>
                    <a:pt x="16531" y="26729"/>
                  </a:cubicBezTo>
                  <a:cubicBezTo>
                    <a:pt x="19603" y="26222"/>
                    <a:pt x="15771" y="2439"/>
                    <a:pt x="13206" y="665"/>
                  </a:cubicBezTo>
                  <a:cubicBezTo>
                    <a:pt x="12858" y="412"/>
                    <a:pt x="11116" y="190"/>
                    <a:pt x="8392"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5"/>
            <p:cNvSpPr/>
            <p:nvPr/>
          </p:nvSpPr>
          <p:spPr>
            <a:xfrm>
              <a:off x="4177750" y="1508875"/>
              <a:ext cx="2681600" cy="724925"/>
            </a:xfrm>
            <a:custGeom>
              <a:avLst/>
              <a:gdLst/>
              <a:ahLst/>
              <a:cxnLst/>
              <a:rect l="l" t="t" r="r" b="b"/>
              <a:pathLst>
                <a:path w="107264" h="28997" extrusionOk="0">
                  <a:moveTo>
                    <a:pt x="52586" y="0"/>
                  </a:moveTo>
                  <a:cubicBezTo>
                    <a:pt x="28872" y="0"/>
                    <a:pt x="4993" y="641"/>
                    <a:pt x="3326" y="2308"/>
                  </a:cubicBezTo>
                  <a:cubicBezTo>
                    <a:pt x="0" y="5634"/>
                    <a:pt x="5131" y="27358"/>
                    <a:pt x="6936" y="27929"/>
                  </a:cubicBezTo>
                  <a:cubicBezTo>
                    <a:pt x="9499" y="28710"/>
                    <a:pt x="23652" y="28997"/>
                    <a:pt x="40420" y="28997"/>
                  </a:cubicBezTo>
                  <a:cubicBezTo>
                    <a:pt x="67160" y="28997"/>
                    <a:pt x="100552" y="28266"/>
                    <a:pt x="104192" y="27643"/>
                  </a:cubicBezTo>
                  <a:cubicBezTo>
                    <a:pt x="107263" y="27137"/>
                    <a:pt x="103400" y="3322"/>
                    <a:pt x="100835" y="1517"/>
                  </a:cubicBezTo>
                  <a:cubicBezTo>
                    <a:pt x="99556" y="633"/>
                    <a:pt x="76152" y="0"/>
                    <a:pt x="52586"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5"/>
            <p:cNvSpPr/>
            <p:nvPr/>
          </p:nvSpPr>
          <p:spPr>
            <a:xfrm>
              <a:off x="4245825" y="3517575"/>
              <a:ext cx="2681600" cy="724875"/>
            </a:xfrm>
            <a:custGeom>
              <a:avLst/>
              <a:gdLst/>
              <a:ahLst/>
              <a:cxnLst/>
              <a:rect l="l" t="t" r="r" b="b"/>
              <a:pathLst>
                <a:path w="107264" h="28995" extrusionOk="0">
                  <a:moveTo>
                    <a:pt x="52393" y="0"/>
                  </a:moveTo>
                  <a:cubicBezTo>
                    <a:pt x="28748" y="0"/>
                    <a:pt x="5005" y="642"/>
                    <a:pt x="3326" y="2304"/>
                  </a:cubicBezTo>
                  <a:cubicBezTo>
                    <a:pt x="1" y="5630"/>
                    <a:pt x="5163" y="27354"/>
                    <a:pt x="6936" y="27924"/>
                  </a:cubicBezTo>
                  <a:cubicBezTo>
                    <a:pt x="9508" y="28708"/>
                    <a:pt x="23747" y="28995"/>
                    <a:pt x="40589" y="28995"/>
                  </a:cubicBezTo>
                  <a:cubicBezTo>
                    <a:pt x="67309" y="28995"/>
                    <a:pt x="100579" y="28273"/>
                    <a:pt x="104192" y="27671"/>
                  </a:cubicBezTo>
                  <a:cubicBezTo>
                    <a:pt x="107264" y="27133"/>
                    <a:pt x="103432" y="3318"/>
                    <a:pt x="100867" y="1544"/>
                  </a:cubicBezTo>
                  <a:cubicBezTo>
                    <a:pt x="99584" y="642"/>
                    <a:pt x="76038" y="0"/>
                    <a:pt x="52393"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5"/>
            <p:cNvSpPr/>
            <p:nvPr/>
          </p:nvSpPr>
          <p:spPr>
            <a:xfrm>
              <a:off x="6437325" y="3538750"/>
              <a:ext cx="490100" cy="688825"/>
            </a:xfrm>
            <a:custGeom>
              <a:avLst/>
              <a:gdLst/>
              <a:ahLst/>
              <a:cxnLst/>
              <a:rect l="l" t="t" r="r" b="b"/>
              <a:pathLst>
                <a:path w="19604" h="27553" extrusionOk="0">
                  <a:moveTo>
                    <a:pt x="8393" y="1"/>
                  </a:moveTo>
                  <a:cubicBezTo>
                    <a:pt x="6683" y="6113"/>
                    <a:pt x="4371" y="22137"/>
                    <a:pt x="1" y="27553"/>
                  </a:cubicBezTo>
                  <a:cubicBezTo>
                    <a:pt x="8551" y="27299"/>
                    <a:pt x="14917" y="27014"/>
                    <a:pt x="16532" y="26729"/>
                  </a:cubicBezTo>
                  <a:cubicBezTo>
                    <a:pt x="19604" y="26222"/>
                    <a:pt x="15772" y="2471"/>
                    <a:pt x="13207" y="697"/>
                  </a:cubicBezTo>
                  <a:cubicBezTo>
                    <a:pt x="12858" y="444"/>
                    <a:pt x="11117" y="222"/>
                    <a:pt x="8393"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5"/>
            <p:cNvSpPr/>
            <p:nvPr/>
          </p:nvSpPr>
          <p:spPr>
            <a:xfrm>
              <a:off x="3887175" y="1628325"/>
              <a:ext cx="486150" cy="486150"/>
            </a:xfrm>
            <a:custGeom>
              <a:avLst/>
              <a:gdLst/>
              <a:ahLst/>
              <a:cxnLst/>
              <a:rect l="l" t="t" r="r" b="b"/>
              <a:pathLst>
                <a:path w="19446" h="19446" extrusionOk="0">
                  <a:moveTo>
                    <a:pt x="9723" y="1"/>
                  </a:moveTo>
                  <a:cubicBezTo>
                    <a:pt x="4371" y="1"/>
                    <a:pt x="1" y="4371"/>
                    <a:pt x="1" y="9723"/>
                  </a:cubicBezTo>
                  <a:cubicBezTo>
                    <a:pt x="1" y="15075"/>
                    <a:pt x="4371" y="19445"/>
                    <a:pt x="9723" y="19445"/>
                  </a:cubicBezTo>
                  <a:cubicBezTo>
                    <a:pt x="15075" y="19445"/>
                    <a:pt x="19446" y="15075"/>
                    <a:pt x="19446" y="9723"/>
                  </a:cubicBezTo>
                  <a:cubicBezTo>
                    <a:pt x="19446" y="4371"/>
                    <a:pt x="15075" y="1"/>
                    <a:pt x="9723" y="1"/>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5"/>
            <p:cNvSpPr/>
            <p:nvPr/>
          </p:nvSpPr>
          <p:spPr>
            <a:xfrm>
              <a:off x="3950525" y="1768050"/>
              <a:ext cx="225650" cy="193625"/>
            </a:xfrm>
            <a:custGeom>
              <a:avLst/>
              <a:gdLst/>
              <a:ahLst/>
              <a:cxnLst/>
              <a:rect l="l" t="t" r="r" b="b"/>
              <a:pathLst>
                <a:path w="9026" h="7745" extrusionOk="0">
                  <a:moveTo>
                    <a:pt x="4845" y="0"/>
                  </a:moveTo>
                  <a:cubicBezTo>
                    <a:pt x="4606" y="0"/>
                    <a:pt x="4363" y="16"/>
                    <a:pt x="4117" y="49"/>
                  </a:cubicBezTo>
                  <a:cubicBezTo>
                    <a:pt x="1774" y="365"/>
                    <a:pt x="0" y="2075"/>
                    <a:pt x="222" y="3912"/>
                  </a:cubicBezTo>
                  <a:cubicBezTo>
                    <a:pt x="317" y="4704"/>
                    <a:pt x="760" y="5401"/>
                    <a:pt x="1457" y="5907"/>
                  </a:cubicBezTo>
                  <a:lnTo>
                    <a:pt x="1014" y="7744"/>
                  </a:lnTo>
                  <a:lnTo>
                    <a:pt x="2819" y="6541"/>
                  </a:lnTo>
                  <a:cubicBezTo>
                    <a:pt x="3225" y="6663"/>
                    <a:pt x="3657" y="6719"/>
                    <a:pt x="4115" y="6719"/>
                  </a:cubicBezTo>
                  <a:cubicBezTo>
                    <a:pt x="4372" y="6719"/>
                    <a:pt x="4636" y="6702"/>
                    <a:pt x="4909" y="6667"/>
                  </a:cubicBezTo>
                  <a:cubicBezTo>
                    <a:pt x="7284" y="6382"/>
                    <a:pt x="9026" y="4641"/>
                    <a:pt x="8804" y="2804"/>
                  </a:cubicBezTo>
                  <a:cubicBezTo>
                    <a:pt x="8634" y="1186"/>
                    <a:pt x="6911" y="0"/>
                    <a:pt x="4845"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5"/>
            <p:cNvSpPr/>
            <p:nvPr/>
          </p:nvSpPr>
          <p:spPr>
            <a:xfrm>
              <a:off x="4083525" y="1732100"/>
              <a:ext cx="226475" cy="200275"/>
            </a:xfrm>
            <a:custGeom>
              <a:avLst/>
              <a:gdLst/>
              <a:ahLst/>
              <a:cxnLst/>
              <a:rect l="l" t="t" r="r" b="b"/>
              <a:pathLst>
                <a:path w="9059" h="8011" extrusionOk="0">
                  <a:moveTo>
                    <a:pt x="4151" y="0"/>
                  </a:moveTo>
                  <a:cubicBezTo>
                    <a:pt x="2152" y="0"/>
                    <a:pt x="477" y="1103"/>
                    <a:pt x="254" y="2722"/>
                  </a:cubicBezTo>
                  <a:cubicBezTo>
                    <a:pt x="1" y="4558"/>
                    <a:pt x="1711" y="6300"/>
                    <a:pt x="4054" y="6680"/>
                  </a:cubicBezTo>
                  <a:cubicBezTo>
                    <a:pt x="4339" y="6716"/>
                    <a:pt x="4615" y="6734"/>
                    <a:pt x="4884" y="6734"/>
                  </a:cubicBezTo>
                  <a:cubicBezTo>
                    <a:pt x="5332" y="6734"/>
                    <a:pt x="5760" y="6684"/>
                    <a:pt x="6176" y="6585"/>
                  </a:cubicBezTo>
                  <a:lnTo>
                    <a:pt x="8108" y="8010"/>
                  </a:lnTo>
                  <a:lnTo>
                    <a:pt x="7538" y="5952"/>
                  </a:lnTo>
                  <a:cubicBezTo>
                    <a:pt x="8235" y="5477"/>
                    <a:pt x="8678" y="4812"/>
                    <a:pt x="8805" y="4020"/>
                  </a:cubicBezTo>
                  <a:cubicBezTo>
                    <a:pt x="9058" y="2183"/>
                    <a:pt x="7348" y="410"/>
                    <a:pt x="4973" y="62"/>
                  </a:cubicBezTo>
                  <a:cubicBezTo>
                    <a:pt x="4695" y="20"/>
                    <a:pt x="4420" y="0"/>
                    <a:pt x="41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5"/>
            <p:cNvSpPr/>
            <p:nvPr/>
          </p:nvSpPr>
          <p:spPr>
            <a:xfrm>
              <a:off x="4084325" y="1771625"/>
              <a:ext cx="88700" cy="119575"/>
            </a:xfrm>
            <a:custGeom>
              <a:avLst/>
              <a:gdLst/>
              <a:ahLst/>
              <a:cxnLst/>
              <a:rect l="l" t="t" r="r" b="b"/>
              <a:pathLst>
                <a:path w="3548" h="4783" extrusionOk="0">
                  <a:moveTo>
                    <a:pt x="665" y="1"/>
                  </a:moveTo>
                  <a:cubicBezTo>
                    <a:pt x="412" y="381"/>
                    <a:pt x="222" y="792"/>
                    <a:pt x="190" y="1267"/>
                  </a:cubicBezTo>
                  <a:cubicBezTo>
                    <a:pt x="0" y="2724"/>
                    <a:pt x="1140" y="4149"/>
                    <a:pt x="2819" y="4783"/>
                  </a:cubicBezTo>
                  <a:cubicBezTo>
                    <a:pt x="3294" y="4149"/>
                    <a:pt x="3547" y="3421"/>
                    <a:pt x="3452" y="2661"/>
                  </a:cubicBezTo>
                  <a:cubicBezTo>
                    <a:pt x="3294" y="1362"/>
                    <a:pt x="2186" y="349"/>
                    <a:pt x="665"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5"/>
            <p:cNvSpPr/>
            <p:nvPr/>
          </p:nvSpPr>
          <p:spPr>
            <a:xfrm>
              <a:off x="3953675" y="3636925"/>
              <a:ext cx="485375" cy="486150"/>
            </a:xfrm>
            <a:custGeom>
              <a:avLst/>
              <a:gdLst/>
              <a:ahLst/>
              <a:cxnLst/>
              <a:rect l="l" t="t" r="r" b="b"/>
              <a:pathLst>
                <a:path w="19415" h="19446" extrusionOk="0">
                  <a:moveTo>
                    <a:pt x="9723" y="1"/>
                  </a:moveTo>
                  <a:cubicBezTo>
                    <a:pt x="4340" y="1"/>
                    <a:pt x="1" y="4371"/>
                    <a:pt x="1" y="9723"/>
                  </a:cubicBezTo>
                  <a:cubicBezTo>
                    <a:pt x="1" y="15075"/>
                    <a:pt x="4340" y="19445"/>
                    <a:pt x="9723" y="19445"/>
                  </a:cubicBezTo>
                  <a:cubicBezTo>
                    <a:pt x="15075" y="19445"/>
                    <a:pt x="19414" y="15075"/>
                    <a:pt x="19414" y="9723"/>
                  </a:cubicBezTo>
                  <a:cubicBezTo>
                    <a:pt x="19414" y="4371"/>
                    <a:pt x="15075" y="1"/>
                    <a:pt x="9723" y="1"/>
                  </a:cubicBezTo>
                  <a:close/>
                </a:path>
              </a:pathLst>
            </a:custGeom>
            <a:solidFill>
              <a:srgbClr val="2228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5"/>
            <p:cNvSpPr/>
            <p:nvPr/>
          </p:nvSpPr>
          <p:spPr>
            <a:xfrm>
              <a:off x="4063725" y="3741900"/>
              <a:ext cx="232000" cy="296800"/>
            </a:xfrm>
            <a:custGeom>
              <a:avLst/>
              <a:gdLst/>
              <a:ahLst/>
              <a:cxnLst/>
              <a:rect l="l" t="t" r="r" b="b"/>
              <a:pathLst>
                <a:path w="9280" h="11872" extrusionOk="0">
                  <a:moveTo>
                    <a:pt x="5062" y="1"/>
                  </a:moveTo>
                  <a:cubicBezTo>
                    <a:pt x="4809" y="1"/>
                    <a:pt x="4565" y="17"/>
                    <a:pt x="4340" y="45"/>
                  </a:cubicBezTo>
                  <a:cubicBezTo>
                    <a:pt x="2534" y="235"/>
                    <a:pt x="1521" y="1470"/>
                    <a:pt x="1331" y="2547"/>
                  </a:cubicBezTo>
                  <a:cubicBezTo>
                    <a:pt x="1331" y="2547"/>
                    <a:pt x="1331" y="4510"/>
                    <a:pt x="1046" y="4922"/>
                  </a:cubicBezTo>
                  <a:cubicBezTo>
                    <a:pt x="793" y="5334"/>
                    <a:pt x="1" y="6506"/>
                    <a:pt x="349" y="6696"/>
                  </a:cubicBezTo>
                  <a:cubicBezTo>
                    <a:pt x="465" y="6763"/>
                    <a:pt x="630" y="6787"/>
                    <a:pt x="805" y="6787"/>
                  </a:cubicBezTo>
                  <a:cubicBezTo>
                    <a:pt x="1203" y="6787"/>
                    <a:pt x="1648" y="6664"/>
                    <a:pt x="1648" y="6664"/>
                  </a:cubicBezTo>
                  <a:lnTo>
                    <a:pt x="1648" y="6664"/>
                  </a:lnTo>
                  <a:cubicBezTo>
                    <a:pt x="1648" y="6664"/>
                    <a:pt x="1426" y="8437"/>
                    <a:pt x="2313" y="8659"/>
                  </a:cubicBezTo>
                  <a:cubicBezTo>
                    <a:pt x="3231" y="8849"/>
                    <a:pt x="3801" y="8912"/>
                    <a:pt x="3801" y="8912"/>
                  </a:cubicBezTo>
                  <a:lnTo>
                    <a:pt x="3801" y="11509"/>
                  </a:lnTo>
                  <a:cubicBezTo>
                    <a:pt x="3801" y="11509"/>
                    <a:pt x="4579" y="11871"/>
                    <a:pt x="5584" y="11871"/>
                  </a:cubicBezTo>
                  <a:cubicBezTo>
                    <a:pt x="6124" y="11871"/>
                    <a:pt x="6730" y="11767"/>
                    <a:pt x="7316" y="11446"/>
                  </a:cubicBezTo>
                  <a:lnTo>
                    <a:pt x="7221" y="8659"/>
                  </a:lnTo>
                  <a:cubicBezTo>
                    <a:pt x="7221" y="8659"/>
                    <a:pt x="9280" y="8026"/>
                    <a:pt x="9185" y="4510"/>
                  </a:cubicBezTo>
                  <a:cubicBezTo>
                    <a:pt x="9102" y="825"/>
                    <a:pt x="6837" y="1"/>
                    <a:pt x="50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5"/>
            <p:cNvSpPr/>
            <p:nvPr/>
          </p:nvSpPr>
          <p:spPr>
            <a:xfrm>
              <a:off x="4109650" y="3765975"/>
              <a:ext cx="146500" cy="84750"/>
            </a:xfrm>
            <a:custGeom>
              <a:avLst/>
              <a:gdLst/>
              <a:ahLst/>
              <a:cxnLst/>
              <a:rect l="l" t="t" r="r" b="b"/>
              <a:pathLst>
                <a:path w="5860" h="3390" extrusionOk="0">
                  <a:moveTo>
                    <a:pt x="2845" y="0"/>
                  </a:moveTo>
                  <a:cubicBezTo>
                    <a:pt x="2561" y="0"/>
                    <a:pt x="731" y="54"/>
                    <a:pt x="381" y="1426"/>
                  </a:cubicBezTo>
                  <a:cubicBezTo>
                    <a:pt x="1" y="2882"/>
                    <a:pt x="1394" y="3389"/>
                    <a:pt x="2883" y="3389"/>
                  </a:cubicBezTo>
                  <a:cubicBezTo>
                    <a:pt x="4529" y="3389"/>
                    <a:pt x="5860" y="3041"/>
                    <a:pt x="5860" y="2186"/>
                  </a:cubicBezTo>
                  <a:cubicBezTo>
                    <a:pt x="5860" y="1046"/>
                    <a:pt x="5575" y="32"/>
                    <a:pt x="2883" y="1"/>
                  </a:cubicBezTo>
                  <a:cubicBezTo>
                    <a:pt x="2883" y="1"/>
                    <a:pt x="2870" y="0"/>
                    <a:pt x="2845"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5"/>
            <p:cNvSpPr/>
            <p:nvPr/>
          </p:nvSpPr>
          <p:spPr>
            <a:xfrm>
              <a:off x="4185650" y="2633025"/>
              <a:ext cx="485375" cy="485350"/>
            </a:xfrm>
            <a:custGeom>
              <a:avLst/>
              <a:gdLst/>
              <a:ahLst/>
              <a:cxnLst/>
              <a:rect l="l" t="t" r="r" b="b"/>
              <a:pathLst>
                <a:path w="19415" h="19414" extrusionOk="0">
                  <a:moveTo>
                    <a:pt x="9723" y="0"/>
                  </a:moveTo>
                  <a:cubicBezTo>
                    <a:pt x="4340" y="0"/>
                    <a:pt x="1" y="4339"/>
                    <a:pt x="1" y="9691"/>
                  </a:cubicBezTo>
                  <a:cubicBezTo>
                    <a:pt x="1" y="15075"/>
                    <a:pt x="4340" y="19413"/>
                    <a:pt x="9723" y="19413"/>
                  </a:cubicBezTo>
                  <a:cubicBezTo>
                    <a:pt x="15075" y="19413"/>
                    <a:pt x="19414" y="15075"/>
                    <a:pt x="19414" y="9691"/>
                  </a:cubicBezTo>
                  <a:cubicBezTo>
                    <a:pt x="19414" y="4339"/>
                    <a:pt x="15075" y="0"/>
                    <a:pt x="9723"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5"/>
            <p:cNvSpPr/>
            <p:nvPr/>
          </p:nvSpPr>
          <p:spPr>
            <a:xfrm>
              <a:off x="4257700" y="2823825"/>
              <a:ext cx="200350" cy="200325"/>
            </a:xfrm>
            <a:custGeom>
              <a:avLst/>
              <a:gdLst/>
              <a:ahLst/>
              <a:cxnLst/>
              <a:rect l="l" t="t" r="r" b="b"/>
              <a:pathLst>
                <a:path w="8014" h="8013" extrusionOk="0">
                  <a:moveTo>
                    <a:pt x="3991" y="2312"/>
                  </a:moveTo>
                  <a:cubicBezTo>
                    <a:pt x="4941" y="2312"/>
                    <a:pt x="5670" y="3072"/>
                    <a:pt x="5670" y="3991"/>
                  </a:cubicBezTo>
                  <a:cubicBezTo>
                    <a:pt x="5670" y="4941"/>
                    <a:pt x="4941" y="5669"/>
                    <a:pt x="3991" y="5669"/>
                  </a:cubicBezTo>
                  <a:cubicBezTo>
                    <a:pt x="3073" y="5669"/>
                    <a:pt x="2313" y="4909"/>
                    <a:pt x="2313" y="3991"/>
                  </a:cubicBezTo>
                  <a:cubicBezTo>
                    <a:pt x="2313" y="3072"/>
                    <a:pt x="3073" y="2312"/>
                    <a:pt x="3991" y="2312"/>
                  </a:cubicBezTo>
                  <a:close/>
                  <a:moveTo>
                    <a:pt x="3769" y="1"/>
                  </a:moveTo>
                  <a:cubicBezTo>
                    <a:pt x="3579" y="1"/>
                    <a:pt x="3453" y="127"/>
                    <a:pt x="3453" y="317"/>
                  </a:cubicBezTo>
                  <a:lnTo>
                    <a:pt x="3453" y="1489"/>
                  </a:lnTo>
                  <a:cubicBezTo>
                    <a:pt x="3136" y="1584"/>
                    <a:pt x="2883" y="1679"/>
                    <a:pt x="2629" y="1837"/>
                  </a:cubicBezTo>
                  <a:lnTo>
                    <a:pt x="1806" y="1014"/>
                  </a:lnTo>
                  <a:cubicBezTo>
                    <a:pt x="1743" y="951"/>
                    <a:pt x="1656" y="919"/>
                    <a:pt x="1568" y="919"/>
                  </a:cubicBezTo>
                  <a:cubicBezTo>
                    <a:pt x="1481" y="919"/>
                    <a:pt x="1394" y="951"/>
                    <a:pt x="1331" y="1014"/>
                  </a:cubicBezTo>
                  <a:lnTo>
                    <a:pt x="1014" y="1331"/>
                  </a:lnTo>
                  <a:cubicBezTo>
                    <a:pt x="888" y="1457"/>
                    <a:pt x="888" y="1679"/>
                    <a:pt x="1014" y="1806"/>
                  </a:cubicBezTo>
                  <a:lnTo>
                    <a:pt x="1838" y="2629"/>
                  </a:lnTo>
                  <a:cubicBezTo>
                    <a:pt x="1679" y="2882"/>
                    <a:pt x="1584" y="3136"/>
                    <a:pt x="1489" y="3452"/>
                  </a:cubicBezTo>
                  <a:lnTo>
                    <a:pt x="318" y="3452"/>
                  </a:lnTo>
                  <a:cubicBezTo>
                    <a:pt x="128" y="3452"/>
                    <a:pt x="1" y="3579"/>
                    <a:pt x="1" y="3769"/>
                  </a:cubicBezTo>
                  <a:lnTo>
                    <a:pt x="1" y="4244"/>
                  </a:lnTo>
                  <a:cubicBezTo>
                    <a:pt x="1" y="4403"/>
                    <a:pt x="128" y="4561"/>
                    <a:pt x="318" y="4561"/>
                  </a:cubicBezTo>
                  <a:lnTo>
                    <a:pt x="1489" y="4561"/>
                  </a:lnTo>
                  <a:cubicBezTo>
                    <a:pt x="1553" y="4846"/>
                    <a:pt x="1679" y="5131"/>
                    <a:pt x="1838" y="5353"/>
                  </a:cubicBezTo>
                  <a:lnTo>
                    <a:pt x="1014" y="6208"/>
                  </a:lnTo>
                  <a:cubicBezTo>
                    <a:pt x="888" y="6334"/>
                    <a:pt x="888" y="6524"/>
                    <a:pt x="1014" y="6651"/>
                  </a:cubicBezTo>
                  <a:lnTo>
                    <a:pt x="1331" y="6999"/>
                  </a:lnTo>
                  <a:cubicBezTo>
                    <a:pt x="1394" y="7063"/>
                    <a:pt x="1481" y="7094"/>
                    <a:pt x="1568" y="7094"/>
                  </a:cubicBezTo>
                  <a:cubicBezTo>
                    <a:pt x="1656" y="7094"/>
                    <a:pt x="1743" y="7063"/>
                    <a:pt x="1806" y="6999"/>
                  </a:cubicBezTo>
                  <a:lnTo>
                    <a:pt x="2629" y="6144"/>
                  </a:lnTo>
                  <a:cubicBezTo>
                    <a:pt x="2883" y="6303"/>
                    <a:pt x="3136" y="6429"/>
                    <a:pt x="3453" y="6493"/>
                  </a:cubicBezTo>
                  <a:lnTo>
                    <a:pt x="3453" y="7664"/>
                  </a:lnTo>
                  <a:cubicBezTo>
                    <a:pt x="3453" y="7854"/>
                    <a:pt x="3579" y="8013"/>
                    <a:pt x="3769" y="8013"/>
                  </a:cubicBezTo>
                  <a:lnTo>
                    <a:pt x="4245" y="8013"/>
                  </a:lnTo>
                  <a:cubicBezTo>
                    <a:pt x="4403" y="8013"/>
                    <a:pt x="4561" y="7854"/>
                    <a:pt x="4561" y="7664"/>
                  </a:cubicBezTo>
                  <a:lnTo>
                    <a:pt x="4561" y="6493"/>
                  </a:lnTo>
                  <a:cubicBezTo>
                    <a:pt x="4846" y="6429"/>
                    <a:pt x="5131" y="6303"/>
                    <a:pt x="5385" y="6144"/>
                  </a:cubicBezTo>
                  <a:lnTo>
                    <a:pt x="6208" y="6999"/>
                  </a:lnTo>
                  <a:cubicBezTo>
                    <a:pt x="6271" y="7063"/>
                    <a:pt x="6351" y="7094"/>
                    <a:pt x="6430" y="7094"/>
                  </a:cubicBezTo>
                  <a:cubicBezTo>
                    <a:pt x="6509" y="7094"/>
                    <a:pt x="6588" y="7063"/>
                    <a:pt x="6651" y="6999"/>
                  </a:cubicBezTo>
                  <a:lnTo>
                    <a:pt x="7000" y="6651"/>
                  </a:lnTo>
                  <a:cubicBezTo>
                    <a:pt x="7126" y="6524"/>
                    <a:pt x="7126" y="6334"/>
                    <a:pt x="7000" y="6208"/>
                  </a:cubicBezTo>
                  <a:lnTo>
                    <a:pt x="6176" y="5353"/>
                  </a:lnTo>
                  <a:cubicBezTo>
                    <a:pt x="6303" y="5131"/>
                    <a:pt x="6430" y="4846"/>
                    <a:pt x="6493" y="4561"/>
                  </a:cubicBezTo>
                  <a:lnTo>
                    <a:pt x="7696" y="4561"/>
                  </a:lnTo>
                  <a:cubicBezTo>
                    <a:pt x="7855" y="4561"/>
                    <a:pt x="8013" y="4403"/>
                    <a:pt x="8013" y="4244"/>
                  </a:cubicBezTo>
                  <a:lnTo>
                    <a:pt x="8013" y="3769"/>
                  </a:lnTo>
                  <a:cubicBezTo>
                    <a:pt x="8013" y="3579"/>
                    <a:pt x="7855" y="3452"/>
                    <a:pt x="7696" y="3452"/>
                  </a:cubicBezTo>
                  <a:lnTo>
                    <a:pt x="6493" y="3452"/>
                  </a:lnTo>
                  <a:cubicBezTo>
                    <a:pt x="6430" y="3136"/>
                    <a:pt x="6335" y="2882"/>
                    <a:pt x="6176" y="2629"/>
                  </a:cubicBezTo>
                  <a:lnTo>
                    <a:pt x="7000" y="1806"/>
                  </a:lnTo>
                  <a:cubicBezTo>
                    <a:pt x="7126" y="1679"/>
                    <a:pt x="7126" y="1457"/>
                    <a:pt x="7000" y="1331"/>
                  </a:cubicBezTo>
                  <a:lnTo>
                    <a:pt x="6651" y="1014"/>
                  </a:lnTo>
                  <a:cubicBezTo>
                    <a:pt x="6588" y="951"/>
                    <a:pt x="6509" y="919"/>
                    <a:pt x="6430" y="919"/>
                  </a:cubicBezTo>
                  <a:cubicBezTo>
                    <a:pt x="6351" y="919"/>
                    <a:pt x="6271" y="951"/>
                    <a:pt x="6208" y="1014"/>
                  </a:cubicBezTo>
                  <a:lnTo>
                    <a:pt x="5385" y="1837"/>
                  </a:lnTo>
                  <a:cubicBezTo>
                    <a:pt x="5131" y="1679"/>
                    <a:pt x="4846" y="1584"/>
                    <a:pt x="4561" y="1489"/>
                  </a:cubicBezTo>
                  <a:lnTo>
                    <a:pt x="4561" y="317"/>
                  </a:lnTo>
                  <a:cubicBezTo>
                    <a:pt x="4561" y="127"/>
                    <a:pt x="4403" y="1"/>
                    <a:pt x="4245"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5"/>
            <p:cNvSpPr/>
            <p:nvPr/>
          </p:nvSpPr>
          <p:spPr>
            <a:xfrm>
              <a:off x="4331350" y="2897450"/>
              <a:ext cx="52275" cy="52275"/>
            </a:xfrm>
            <a:custGeom>
              <a:avLst/>
              <a:gdLst/>
              <a:ahLst/>
              <a:cxnLst/>
              <a:rect l="l" t="t" r="r" b="b"/>
              <a:pathLst>
                <a:path w="2091" h="2091" extrusionOk="0">
                  <a:moveTo>
                    <a:pt x="1045" y="1"/>
                  </a:moveTo>
                  <a:cubicBezTo>
                    <a:pt x="475" y="1"/>
                    <a:pt x="0" y="476"/>
                    <a:pt x="0" y="1046"/>
                  </a:cubicBezTo>
                  <a:cubicBezTo>
                    <a:pt x="0" y="1648"/>
                    <a:pt x="475" y="2091"/>
                    <a:pt x="1045" y="2091"/>
                  </a:cubicBezTo>
                  <a:cubicBezTo>
                    <a:pt x="1647" y="2091"/>
                    <a:pt x="2090" y="1648"/>
                    <a:pt x="2090" y="1046"/>
                  </a:cubicBezTo>
                  <a:cubicBezTo>
                    <a:pt x="2090" y="476"/>
                    <a:pt x="1647" y="1"/>
                    <a:pt x="1045" y="1"/>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5"/>
            <p:cNvSpPr/>
            <p:nvPr/>
          </p:nvSpPr>
          <p:spPr>
            <a:xfrm>
              <a:off x="4424775" y="2740700"/>
              <a:ext cx="166275" cy="166275"/>
            </a:xfrm>
            <a:custGeom>
              <a:avLst/>
              <a:gdLst/>
              <a:ahLst/>
              <a:cxnLst/>
              <a:rect l="l" t="t" r="r" b="b"/>
              <a:pathLst>
                <a:path w="6651" h="6651" extrusionOk="0">
                  <a:moveTo>
                    <a:pt x="3325" y="1932"/>
                  </a:moveTo>
                  <a:cubicBezTo>
                    <a:pt x="4085" y="1932"/>
                    <a:pt x="4719" y="2566"/>
                    <a:pt x="4719" y="3326"/>
                  </a:cubicBezTo>
                  <a:cubicBezTo>
                    <a:pt x="4719" y="4117"/>
                    <a:pt x="4085" y="4719"/>
                    <a:pt x="3325" y="4719"/>
                  </a:cubicBezTo>
                  <a:cubicBezTo>
                    <a:pt x="2534" y="4719"/>
                    <a:pt x="1932" y="4117"/>
                    <a:pt x="1932" y="3326"/>
                  </a:cubicBezTo>
                  <a:cubicBezTo>
                    <a:pt x="1932" y="2566"/>
                    <a:pt x="2534" y="1932"/>
                    <a:pt x="3325" y="1932"/>
                  </a:cubicBezTo>
                  <a:close/>
                  <a:moveTo>
                    <a:pt x="3104" y="0"/>
                  </a:moveTo>
                  <a:cubicBezTo>
                    <a:pt x="2977" y="0"/>
                    <a:pt x="2850" y="127"/>
                    <a:pt x="2850" y="254"/>
                  </a:cubicBezTo>
                  <a:lnTo>
                    <a:pt x="2850" y="1267"/>
                  </a:lnTo>
                  <a:cubicBezTo>
                    <a:pt x="2597" y="1299"/>
                    <a:pt x="2375" y="1394"/>
                    <a:pt x="2185" y="1520"/>
                  </a:cubicBezTo>
                  <a:lnTo>
                    <a:pt x="1488" y="824"/>
                  </a:lnTo>
                  <a:cubicBezTo>
                    <a:pt x="1441" y="776"/>
                    <a:pt x="1370" y="752"/>
                    <a:pt x="1298" y="752"/>
                  </a:cubicBezTo>
                  <a:cubicBezTo>
                    <a:pt x="1227" y="752"/>
                    <a:pt x="1156" y="776"/>
                    <a:pt x="1108" y="824"/>
                  </a:cubicBezTo>
                  <a:lnTo>
                    <a:pt x="823" y="1109"/>
                  </a:lnTo>
                  <a:cubicBezTo>
                    <a:pt x="728" y="1235"/>
                    <a:pt x="728" y="1394"/>
                    <a:pt x="823" y="1489"/>
                  </a:cubicBezTo>
                  <a:lnTo>
                    <a:pt x="1520" y="2185"/>
                  </a:lnTo>
                  <a:cubicBezTo>
                    <a:pt x="1393" y="2407"/>
                    <a:pt x="1298" y="2629"/>
                    <a:pt x="1235" y="2851"/>
                  </a:cubicBezTo>
                  <a:lnTo>
                    <a:pt x="253" y="2851"/>
                  </a:lnTo>
                  <a:cubicBezTo>
                    <a:pt x="95" y="2851"/>
                    <a:pt x="0" y="2977"/>
                    <a:pt x="0" y="3136"/>
                  </a:cubicBezTo>
                  <a:lnTo>
                    <a:pt x="0" y="3516"/>
                  </a:lnTo>
                  <a:cubicBezTo>
                    <a:pt x="0" y="3674"/>
                    <a:pt x="95" y="3801"/>
                    <a:pt x="253" y="3801"/>
                  </a:cubicBezTo>
                  <a:lnTo>
                    <a:pt x="1235" y="3801"/>
                  </a:lnTo>
                  <a:cubicBezTo>
                    <a:pt x="1298" y="4022"/>
                    <a:pt x="1393" y="4244"/>
                    <a:pt x="1520" y="4466"/>
                  </a:cubicBezTo>
                  <a:lnTo>
                    <a:pt x="823" y="5162"/>
                  </a:lnTo>
                  <a:cubicBezTo>
                    <a:pt x="728" y="5257"/>
                    <a:pt x="728" y="5447"/>
                    <a:pt x="823" y="5542"/>
                  </a:cubicBezTo>
                  <a:lnTo>
                    <a:pt x="1108" y="5827"/>
                  </a:lnTo>
                  <a:cubicBezTo>
                    <a:pt x="1156" y="5875"/>
                    <a:pt x="1227" y="5899"/>
                    <a:pt x="1298" y="5899"/>
                  </a:cubicBezTo>
                  <a:cubicBezTo>
                    <a:pt x="1370" y="5899"/>
                    <a:pt x="1441" y="5875"/>
                    <a:pt x="1488" y="5827"/>
                  </a:cubicBezTo>
                  <a:lnTo>
                    <a:pt x="2185" y="5131"/>
                  </a:lnTo>
                  <a:cubicBezTo>
                    <a:pt x="2375" y="5257"/>
                    <a:pt x="2597" y="5352"/>
                    <a:pt x="2850" y="5416"/>
                  </a:cubicBezTo>
                  <a:lnTo>
                    <a:pt x="2850" y="6397"/>
                  </a:lnTo>
                  <a:cubicBezTo>
                    <a:pt x="2850" y="6524"/>
                    <a:pt x="2977" y="6651"/>
                    <a:pt x="3104" y="6651"/>
                  </a:cubicBezTo>
                  <a:lnTo>
                    <a:pt x="3515" y="6651"/>
                  </a:lnTo>
                  <a:cubicBezTo>
                    <a:pt x="3674" y="6651"/>
                    <a:pt x="3769" y="6524"/>
                    <a:pt x="3769" y="6397"/>
                  </a:cubicBezTo>
                  <a:lnTo>
                    <a:pt x="3769" y="5416"/>
                  </a:lnTo>
                  <a:cubicBezTo>
                    <a:pt x="4022" y="5352"/>
                    <a:pt x="4244" y="5257"/>
                    <a:pt x="4465" y="5131"/>
                  </a:cubicBezTo>
                  <a:lnTo>
                    <a:pt x="5162" y="5827"/>
                  </a:lnTo>
                  <a:cubicBezTo>
                    <a:pt x="5210" y="5875"/>
                    <a:pt x="5273" y="5899"/>
                    <a:pt x="5340" y="5899"/>
                  </a:cubicBezTo>
                  <a:cubicBezTo>
                    <a:pt x="5408" y="5899"/>
                    <a:pt x="5479" y="5875"/>
                    <a:pt x="5542" y="5827"/>
                  </a:cubicBezTo>
                  <a:lnTo>
                    <a:pt x="5795" y="5542"/>
                  </a:lnTo>
                  <a:cubicBezTo>
                    <a:pt x="5922" y="5447"/>
                    <a:pt x="5922" y="5257"/>
                    <a:pt x="5795" y="5162"/>
                  </a:cubicBezTo>
                  <a:lnTo>
                    <a:pt x="5099" y="4466"/>
                  </a:lnTo>
                  <a:cubicBezTo>
                    <a:pt x="5257" y="4244"/>
                    <a:pt x="5352" y="4022"/>
                    <a:pt x="5384" y="3801"/>
                  </a:cubicBezTo>
                  <a:lnTo>
                    <a:pt x="6366" y="3801"/>
                  </a:lnTo>
                  <a:cubicBezTo>
                    <a:pt x="6524" y="3801"/>
                    <a:pt x="6651" y="3674"/>
                    <a:pt x="6651" y="3516"/>
                  </a:cubicBezTo>
                  <a:lnTo>
                    <a:pt x="6651" y="3136"/>
                  </a:lnTo>
                  <a:cubicBezTo>
                    <a:pt x="6651" y="2977"/>
                    <a:pt x="6524" y="2851"/>
                    <a:pt x="6366" y="2851"/>
                  </a:cubicBezTo>
                  <a:lnTo>
                    <a:pt x="5384" y="2851"/>
                  </a:lnTo>
                  <a:cubicBezTo>
                    <a:pt x="5352" y="2629"/>
                    <a:pt x="5257" y="2407"/>
                    <a:pt x="5099" y="2185"/>
                  </a:cubicBezTo>
                  <a:lnTo>
                    <a:pt x="5795" y="1489"/>
                  </a:lnTo>
                  <a:cubicBezTo>
                    <a:pt x="5922" y="1394"/>
                    <a:pt x="5922" y="1235"/>
                    <a:pt x="5795" y="1109"/>
                  </a:cubicBezTo>
                  <a:lnTo>
                    <a:pt x="5542" y="824"/>
                  </a:lnTo>
                  <a:cubicBezTo>
                    <a:pt x="5479" y="776"/>
                    <a:pt x="5408" y="752"/>
                    <a:pt x="5340" y="752"/>
                  </a:cubicBezTo>
                  <a:cubicBezTo>
                    <a:pt x="5273" y="752"/>
                    <a:pt x="5210" y="776"/>
                    <a:pt x="5162" y="824"/>
                  </a:cubicBezTo>
                  <a:lnTo>
                    <a:pt x="4465" y="1520"/>
                  </a:lnTo>
                  <a:cubicBezTo>
                    <a:pt x="4244" y="1394"/>
                    <a:pt x="4022" y="1299"/>
                    <a:pt x="3769" y="1267"/>
                  </a:cubicBezTo>
                  <a:lnTo>
                    <a:pt x="3769" y="254"/>
                  </a:lnTo>
                  <a:cubicBezTo>
                    <a:pt x="3769" y="127"/>
                    <a:pt x="3674" y="0"/>
                    <a:pt x="35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5"/>
            <p:cNvSpPr/>
            <p:nvPr/>
          </p:nvSpPr>
          <p:spPr>
            <a:xfrm>
              <a:off x="4488900" y="2804825"/>
              <a:ext cx="38025" cy="38025"/>
            </a:xfrm>
            <a:custGeom>
              <a:avLst/>
              <a:gdLst/>
              <a:ahLst/>
              <a:cxnLst/>
              <a:rect l="l" t="t" r="r" b="b"/>
              <a:pathLst>
                <a:path w="1521" h="1521" extrusionOk="0">
                  <a:moveTo>
                    <a:pt x="760" y="1"/>
                  </a:moveTo>
                  <a:cubicBezTo>
                    <a:pt x="317" y="1"/>
                    <a:pt x="0" y="349"/>
                    <a:pt x="0" y="761"/>
                  </a:cubicBezTo>
                  <a:cubicBezTo>
                    <a:pt x="0" y="1204"/>
                    <a:pt x="317" y="1521"/>
                    <a:pt x="760" y="1521"/>
                  </a:cubicBezTo>
                  <a:cubicBezTo>
                    <a:pt x="1172" y="1521"/>
                    <a:pt x="1520" y="1172"/>
                    <a:pt x="1520" y="761"/>
                  </a:cubicBezTo>
                  <a:cubicBezTo>
                    <a:pt x="1520" y="349"/>
                    <a:pt x="1172" y="1"/>
                    <a:pt x="7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5"/>
            <p:cNvSpPr/>
            <p:nvPr/>
          </p:nvSpPr>
          <p:spPr>
            <a:xfrm>
              <a:off x="1617300" y="2344750"/>
              <a:ext cx="330975" cy="184575"/>
            </a:xfrm>
            <a:custGeom>
              <a:avLst/>
              <a:gdLst/>
              <a:ahLst/>
              <a:cxnLst/>
              <a:rect l="l" t="t" r="r" b="b"/>
              <a:pathLst>
                <a:path w="13239" h="7383" extrusionOk="0">
                  <a:moveTo>
                    <a:pt x="9101" y="0"/>
                  </a:moveTo>
                  <a:cubicBezTo>
                    <a:pt x="6855" y="0"/>
                    <a:pt x="2510" y="1713"/>
                    <a:pt x="1362" y="2727"/>
                  </a:cubicBezTo>
                  <a:cubicBezTo>
                    <a:pt x="1" y="3899"/>
                    <a:pt x="317" y="7383"/>
                    <a:pt x="317" y="7383"/>
                  </a:cubicBezTo>
                  <a:lnTo>
                    <a:pt x="13238" y="3361"/>
                  </a:lnTo>
                  <a:cubicBezTo>
                    <a:pt x="13238" y="3361"/>
                    <a:pt x="11623" y="1017"/>
                    <a:pt x="10103" y="194"/>
                  </a:cubicBezTo>
                  <a:cubicBezTo>
                    <a:pt x="9864" y="60"/>
                    <a:pt x="9519" y="0"/>
                    <a:pt x="9101"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5"/>
            <p:cNvSpPr/>
            <p:nvPr/>
          </p:nvSpPr>
          <p:spPr>
            <a:xfrm>
              <a:off x="1813650" y="2344625"/>
              <a:ext cx="134625" cy="105525"/>
            </a:xfrm>
            <a:custGeom>
              <a:avLst/>
              <a:gdLst/>
              <a:ahLst/>
              <a:cxnLst/>
              <a:rect l="l" t="t" r="r" b="b"/>
              <a:pathLst>
                <a:path w="5385" h="4221" extrusionOk="0">
                  <a:moveTo>
                    <a:pt x="1243" y="0"/>
                  </a:moveTo>
                  <a:cubicBezTo>
                    <a:pt x="878" y="0"/>
                    <a:pt x="456" y="47"/>
                    <a:pt x="0" y="136"/>
                  </a:cubicBezTo>
                  <a:cubicBezTo>
                    <a:pt x="1204" y="1339"/>
                    <a:pt x="2059" y="2891"/>
                    <a:pt x="2661" y="4221"/>
                  </a:cubicBezTo>
                  <a:lnTo>
                    <a:pt x="5384" y="3366"/>
                  </a:lnTo>
                  <a:cubicBezTo>
                    <a:pt x="5384" y="3366"/>
                    <a:pt x="3769" y="1022"/>
                    <a:pt x="2249" y="199"/>
                  </a:cubicBezTo>
                  <a:cubicBezTo>
                    <a:pt x="2011" y="63"/>
                    <a:pt x="1665" y="0"/>
                    <a:pt x="1243"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5"/>
            <p:cNvSpPr/>
            <p:nvPr/>
          </p:nvSpPr>
          <p:spPr>
            <a:xfrm>
              <a:off x="1595125" y="2366825"/>
              <a:ext cx="360275" cy="178350"/>
            </a:xfrm>
            <a:custGeom>
              <a:avLst/>
              <a:gdLst/>
              <a:ahLst/>
              <a:cxnLst/>
              <a:rect l="l" t="t" r="r" b="b"/>
              <a:pathLst>
                <a:path w="14411" h="7134" extrusionOk="0">
                  <a:moveTo>
                    <a:pt x="12428" y="1"/>
                  </a:moveTo>
                  <a:cubicBezTo>
                    <a:pt x="12311" y="1"/>
                    <a:pt x="12190" y="13"/>
                    <a:pt x="12067" y="39"/>
                  </a:cubicBezTo>
                  <a:cubicBezTo>
                    <a:pt x="10578" y="388"/>
                    <a:pt x="2946" y="2985"/>
                    <a:pt x="1078" y="4600"/>
                  </a:cubicBezTo>
                  <a:cubicBezTo>
                    <a:pt x="191" y="5391"/>
                    <a:pt x="1" y="7133"/>
                    <a:pt x="1" y="7133"/>
                  </a:cubicBezTo>
                  <a:lnTo>
                    <a:pt x="14410" y="1148"/>
                  </a:lnTo>
                  <a:cubicBezTo>
                    <a:pt x="14410" y="1148"/>
                    <a:pt x="13576" y="1"/>
                    <a:pt x="12428" y="1"/>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5"/>
            <p:cNvSpPr/>
            <p:nvPr/>
          </p:nvSpPr>
          <p:spPr>
            <a:xfrm>
              <a:off x="1595125" y="2366825"/>
              <a:ext cx="360275" cy="178350"/>
            </a:xfrm>
            <a:custGeom>
              <a:avLst/>
              <a:gdLst/>
              <a:ahLst/>
              <a:cxnLst/>
              <a:rect l="l" t="t" r="r" b="b"/>
              <a:pathLst>
                <a:path w="14411" h="7134" extrusionOk="0">
                  <a:moveTo>
                    <a:pt x="12428" y="1"/>
                  </a:moveTo>
                  <a:cubicBezTo>
                    <a:pt x="12311" y="1"/>
                    <a:pt x="12190" y="13"/>
                    <a:pt x="12067" y="39"/>
                  </a:cubicBezTo>
                  <a:cubicBezTo>
                    <a:pt x="10578" y="388"/>
                    <a:pt x="2946" y="2985"/>
                    <a:pt x="1078" y="4600"/>
                  </a:cubicBezTo>
                  <a:cubicBezTo>
                    <a:pt x="191" y="5391"/>
                    <a:pt x="1" y="7133"/>
                    <a:pt x="1" y="7133"/>
                  </a:cubicBezTo>
                  <a:lnTo>
                    <a:pt x="14410" y="1148"/>
                  </a:lnTo>
                  <a:cubicBezTo>
                    <a:pt x="14410" y="1148"/>
                    <a:pt x="13576" y="1"/>
                    <a:pt x="12428" y="1"/>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5"/>
            <p:cNvSpPr/>
            <p:nvPr/>
          </p:nvSpPr>
          <p:spPr>
            <a:xfrm>
              <a:off x="2700375" y="2150200"/>
              <a:ext cx="338100" cy="133700"/>
            </a:xfrm>
            <a:custGeom>
              <a:avLst/>
              <a:gdLst/>
              <a:ahLst/>
              <a:cxnLst/>
              <a:rect l="l" t="t" r="r" b="b"/>
              <a:pathLst>
                <a:path w="13524" h="5348" extrusionOk="0">
                  <a:moveTo>
                    <a:pt x="7572" y="1"/>
                  </a:moveTo>
                  <a:cubicBezTo>
                    <a:pt x="5207" y="1"/>
                    <a:pt x="2445" y="368"/>
                    <a:pt x="1743" y="1230"/>
                  </a:cubicBezTo>
                  <a:cubicBezTo>
                    <a:pt x="634" y="2561"/>
                    <a:pt x="1" y="5347"/>
                    <a:pt x="1" y="5347"/>
                  </a:cubicBezTo>
                  <a:lnTo>
                    <a:pt x="13523" y="4271"/>
                  </a:lnTo>
                  <a:cubicBezTo>
                    <a:pt x="13523" y="4271"/>
                    <a:pt x="12478" y="914"/>
                    <a:pt x="10800" y="344"/>
                  </a:cubicBezTo>
                  <a:cubicBezTo>
                    <a:pt x="10173" y="123"/>
                    <a:pt x="8939" y="1"/>
                    <a:pt x="7572"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5"/>
            <p:cNvSpPr/>
            <p:nvPr/>
          </p:nvSpPr>
          <p:spPr>
            <a:xfrm>
              <a:off x="2700375" y="2158775"/>
              <a:ext cx="95050" cy="125125"/>
            </a:xfrm>
            <a:custGeom>
              <a:avLst/>
              <a:gdLst/>
              <a:ahLst/>
              <a:cxnLst/>
              <a:rect l="l" t="t" r="r" b="b"/>
              <a:pathLst>
                <a:path w="3802" h="5005" extrusionOk="0">
                  <a:moveTo>
                    <a:pt x="3801" y="1"/>
                  </a:moveTo>
                  <a:lnTo>
                    <a:pt x="3801" y="1"/>
                  </a:lnTo>
                  <a:cubicBezTo>
                    <a:pt x="2819" y="191"/>
                    <a:pt x="2059" y="476"/>
                    <a:pt x="1743" y="887"/>
                  </a:cubicBezTo>
                  <a:cubicBezTo>
                    <a:pt x="634" y="2218"/>
                    <a:pt x="1" y="5004"/>
                    <a:pt x="1" y="5004"/>
                  </a:cubicBezTo>
                  <a:lnTo>
                    <a:pt x="2851" y="4783"/>
                  </a:lnTo>
                  <a:cubicBezTo>
                    <a:pt x="2914" y="3326"/>
                    <a:pt x="3136" y="1552"/>
                    <a:pt x="3801"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5"/>
            <p:cNvSpPr/>
            <p:nvPr/>
          </p:nvSpPr>
          <p:spPr>
            <a:xfrm>
              <a:off x="2682175" y="2199625"/>
              <a:ext cx="389550" cy="60525"/>
            </a:xfrm>
            <a:custGeom>
              <a:avLst/>
              <a:gdLst/>
              <a:ahLst/>
              <a:cxnLst/>
              <a:rect l="l" t="t" r="r" b="b"/>
              <a:pathLst>
                <a:path w="15582" h="2421" extrusionOk="0">
                  <a:moveTo>
                    <a:pt x="8200" y="0"/>
                  </a:moveTo>
                  <a:cubicBezTo>
                    <a:pt x="5423" y="0"/>
                    <a:pt x="2568" y="190"/>
                    <a:pt x="1742" y="330"/>
                  </a:cubicBezTo>
                  <a:cubicBezTo>
                    <a:pt x="380" y="552"/>
                    <a:pt x="0" y="2230"/>
                    <a:pt x="0" y="2230"/>
                  </a:cubicBezTo>
                  <a:lnTo>
                    <a:pt x="15582" y="2420"/>
                  </a:lnTo>
                  <a:cubicBezTo>
                    <a:pt x="15582" y="2420"/>
                    <a:pt x="14758" y="869"/>
                    <a:pt x="13650" y="489"/>
                  </a:cubicBezTo>
                  <a:cubicBezTo>
                    <a:pt x="12607" y="122"/>
                    <a:pt x="10428" y="0"/>
                    <a:pt x="8200" y="0"/>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5"/>
            <p:cNvSpPr/>
            <p:nvPr/>
          </p:nvSpPr>
          <p:spPr>
            <a:xfrm>
              <a:off x="2682175" y="2199625"/>
              <a:ext cx="389550" cy="60525"/>
            </a:xfrm>
            <a:custGeom>
              <a:avLst/>
              <a:gdLst/>
              <a:ahLst/>
              <a:cxnLst/>
              <a:rect l="l" t="t" r="r" b="b"/>
              <a:pathLst>
                <a:path w="15582" h="2421" extrusionOk="0">
                  <a:moveTo>
                    <a:pt x="8200" y="0"/>
                  </a:moveTo>
                  <a:cubicBezTo>
                    <a:pt x="5423" y="0"/>
                    <a:pt x="2568" y="190"/>
                    <a:pt x="1742" y="330"/>
                  </a:cubicBezTo>
                  <a:cubicBezTo>
                    <a:pt x="380" y="552"/>
                    <a:pt x="0" y="2230"/>
                    <a:pt x="0" y="2230"/>
                  </a:cubicBezTo>
                  <a:lnTo>
                    <a:pt x="15582" y="2420"/>
                  </a:lnTo>
                  <a:cubicBezTo>
                    <a:pt x="15582" y="2420"/>
                    <a:pt x="14758" y="869"/>
                    <a:pt x="13650" y="489"/>
                  </a:cubicBezTo>
                  <a:cubicBezTo>
                    <a:pt x="12607" y="122"/>
                    <a:pt x="10428" y="0"/>
                    <a:pt x="8200"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5"/>
            <p:cNvSpPr/>
            <p:nvPr/>
          </p:nvSpPr>
          <p:spPr>
            <a:xfrm>
              <a:off x="2203975" y="2226400"/>
              <a:ext cx="212200" cy="240625"/>
            </a:xfrm>
            <a:custGeom>
              <a:avLst/>
              <a:gdLst/>
              <a:ahLst/>
              <a:cxnLst/>
              <a:rect l="l" t="t" r="r" b="b"/>
              <a:pathLst>
                <a:path w="8488" h="9625" extrusionOk="0">
                  <a:moveTo>
                    <a:pt x="5598" y="1"/>
                  </a:moveTo>
                  <a:cubicBezTo>
                    <a:pt x="5548" y="1"/>
                    <a:pt x="5497" y="7"/>
                    <a:pt x="5447" y="19"/>
                  </a:cubicBezTo>
                  <a:lnTo>
                    <a:pt x="665" y="938"/>
                  </a:lnTo>
                  <a:cubicBezTo>
                    <a:pt x="254" y="1001"/>
                    <a:pt x="0" y="1413"/>
                    <a:pt x="64" y="1793"/>
                  </a:cubicBezTo>
                  <a:lnTo>
                    <a:pt x="697" y="9013"/>
                  </a:lnTo>
                  <a:cubicBezTo>
                    <a:pt x="754" y="9383"/>
                    <a:pt x="1091" y="9625"/>
                    <a:pt x="1457" y="9625"/>
                  </a:cubicBezTo>
                  <a:cubicBezTo>
                    <a:pt x="1499" y="9625"/>
                    <a:pt x="1541" y="9621"/>
                    <a:pt x="1584" y="9615"/>
                  </a:cubicBezTo>
                  <a:lnTo>
                    <a:pt x="7823" y="8411"/>
                  </a:lnTo>
                  <a:cubicBezTo>
                    <a:pt x="8234" y="8348"/>
                    <a:pt x="8488" y="7936"/>
                    <a:pt x="8424" y="7525"/>
                  </a:cubicBezTo>
                  <a:lnTo>
                    <a:pt x="6302" y="589"/>
                  </a:lnTo>
                  <a:cubicBezTo>
                    <a:pt x="6247" y="259"/>
                    <a:pt x="5930" y="1"/>
                    <a:pt x="5598"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5"/>
            <p:cNvSpPr/>
            <p:nvPr/>
          </p:nvSpPr>
          <p:spPr>
            <a:xfrm>
              <a:off x="2544400" y="2825675"/>
              <a:ext cx="345225" cy="317775"/>
            </a:xfrm>
            <a:custGeom>
              <a:avLst/>
              <a:gdLst/>
              <a:ahLst/>
              <a:cxnLst/>
              <a:rect l="l" t="t" r="r" b="b"/>
              <a:pathLst>
                <a:path w="13809" h="12711" extrusionOk="0">
                  <a:moveTo>
                    <a:pt x="6916" y="0"/>
                  </a:moveTo>
                  <a:cubicBezTo>
                    <a:pt x="6516" y="0"/>
                    <a:pt x="6110" y="38"/>
                    <a:pt x="5701" y="117"/>
                  </a:cubicBezTo>
                  <a:cubicBezTo>
                    <a:pt x="2250" y="782"/>
                    <a:pt x="1" y="4107"/>
                    <a:pt x="666" y="7559"/>
                  </a:cubicBezTo>
                  <a:cubicBezTo>
                    <a:pt x="1252" y="10603"/>
                    <a:pt x="3907" y="12711"/>
                    <a:pt x="6893" y="12711"/>
                  </a:cubicBezTo>
                  <a:cubicBezTo>
                    <a:pt x="7294" y="12711"/>
                    <a:pt x="7700" y="12673"/>
                    <a:pt x="8108" y="12594"/>
                  </a:cubicBezTo>
                  <a:cubicBezTo>
                    <a:pt x="11560" y="11929"/>
                    <a:pt x="13809" y="8604"/>
                    <a:pt x="13144" y="5152"/>
                  </a:cubicBezTo>
                  <a:cubicBezTo>
                    <a:pt x="12557" y="2108"/>
                    <a:pt x="9902" y="0"/>
                    <a:pt x="6916" y="0"/>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5"/>
            <p:cNvSpPr/>
            <p:nvPr/>
          </p:nvSpPr>
          <p:spPr>
            <a:xfrm>
              <a:off x="2544400" y="2825675"/>
              <a:ext cx="345225" cy="317775"/>
            </a:xfrm>
            <a:custGeom>
              <a:avLst/>
              <a:gdLst/>
              <a:ahLst/>
              <a:cxnLst/>
              <a:rect l="l" t="t" r="r" b="b"/>
              <a:pathLst>
                <a:path w="13809" h="12711" extrusionOk="0">
                  <a:moveTo>
                    <a:pt x="6916" y="0"/>
                  </a:moveTo>
                  <a:cubicBezTo>
                    <a:pt x="6516" y="0"/>
                    <a:pt x="6110" y="38"/>
                    <a:pt x="5701" y="117"/>
                  </a:cubicBezTo>
                  <a:cubicBezTo>
                    <a:pt x="2250" y="782"/>
                    <a:pt x="1" y="4107"/>
                    <a:pt x="666" y="7559"/>
                  </a:cubicBezTo>
                  <a:cubicBezTo>
                    <a:pt x="1252" y="10603"/>
                    <a:pt x="3907" y="12711"/>
                    <a:pt x="6893" y="12711"/>
                  </a:cubicBezTo>
                  <a:cubicBezTo>
                    <a:pt x="7294" y="12711"/>
                    <a:pt x="7700" y="12673"/>
                    <a:pt x="8108" y="12594"/>
                  </a:cubicBezTo>
                  <a:cubicBezTo>
                    <a:pt x="11560" y="11929"/>
                    <a:pt x="13809" y="8604"/>
                    <a:pt x="13144" y="5152"/>
                  </a:cubicBezTo>
                  <a:cubicBezTo>
                    <a:pt x="12557" y="2108"/>
                    <a:pt x="9902" y="0"/>
                    <a:pt x="6916"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5"/>
            <p:cNvSpPr/>
            <p:nvPr/>
          </p:nvSpPr>
          <p:spPr>
            <a:xfrm>
              <a:off x="2580825" y="2860225"/>
              <a:ext cx="270800" cy="249475"/>
            </a:xfrm>
            <a:custGeom>
              <a:avLst/>
              <a:gdLst/>
              <a:ahLst/>
              <a:cxnLst/>
              <a:rect l="l" t="t" r="r" b="b"/>
              <a:pathLst>
                <a:path w="10832" h="9979" extrusionOk="0">
                  <a:moveTo>
                    <a:pt x="5465" y="0"/>
                  </a:moveTo>
                  <a:cubicBezTo>
                    <a:pt x="5146" y="0"/>
                    <a:pt x="4823" y="31"/>
                    <a:pt x="4498" y="96"/>
                  </a:cubicBezTo>
                  <a:cubicBezTo>
                    <a:pt x="1774" y="603"/>
                    <a:pt x="1" y="3232"/>
                    <a:pt x="539" y="5923"/>
                  </a:cubicBezTo>
                  <a:cubicBezTo>
                    <a:pt x="985" y="8318"/>
                    <a:pt x="3071" y="9978"/>
                    <a:pt x="5398" y="9978"/>
                  </a:cubicBezTo>
                  <a:cubicBezTo>
                    <a:pt x="5717" y="9978"/>
                    <a:pt x="6041" y="9947"/>
                    <a:pt x="6366" y="9882"/>
                  </a:cubicBezTo>
                  <a:cubicBezTo>
                    <a:pt x="9090" y="9375"/>
                    <a:pt x="10832" y="6747"/>
                    <a:pt x="10325" y="4055"/>
                  </a:cubicBezTo>
                  <a:cubicBezTo>
                    <a:pt x="9852" y="1660"/>
                    <a:pt x="7787" y="0"/>
                    <a:pt x="5465"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5"/>
            <p:cNvSpPr/>
            <p:nvPr/>
          </p:nvSpPr>
          <p:spPr>
            <a:xfrm>
              <a:off x="2612500" y="2889550"/>
              <a:ext cx="239125" cy="220175"/>
            </a:xfrm>
            <a:custGeom>
              <a:avLst/>
              <a:gdLst/>
              <a:ahLst/>
              <a:cxnLst/>
              <a:rect l="l" t="t" r="r" b="b"/>
              <a:pathLst>
                <a:path w="9565" h="8807" extrusionOk="0">
                  <a:moveTo>
                    <a:pt x="7348" y="0"/>
                  </a:moveTo>
                  <a:lnTo>
                    <a:pt x="7348" y="0"/>
                  </a:lnTo>
                  <a:cubicBezTo>
                    <a:pt x="7696" y="507"/>
                    <a:pt x="7949" y="1140"/>
                    <a:pt x="8076" y="1805"/>
                  </a:cubicBezTo>
                  <a:cubicBezTo>
                    <a:pt x="8615" y="4497"/>
                    <a:pt x="6841" y="7126"/>
                    <a:pt x="4149" y="7632"/>
                  </a:cubicBezTo>
                  <a:cubicBezTo>
                    <a:pt x="3834" y="7690"/>
                    <a:pt x="3522" y="7718"/>
                    <a:pt x="3216" y="7718"/>
                  </a:cubicBezTo>
                  <a:cubicBezTo>
                    <a:pt x="2009" y="7718"/>
                    <a:pt x="884" y="7288"/>
                    <a:pt x="1" y="6556"/>
                  </a:cubicBezTo>
                  <a:lnTo>
                    <a:pt x="1" y="6556"/>
                  </a:lnTo>
                  <a:cubicBezTo>
                    <a:pt x="904" y="7938"/>
                    <a:pt x="2455" y="8807"/>
                    <a:pt x="4129" y="8807"/>
                  </a:cubicBezTo>
                  <a:cubicBezTo>
                    <a:pt x="4449" y="8807"/>
                    <a:pt x="4774" y="8775"/>
                    <a:pt x="5099" y="8709"/>
                  </a:cubicBezTo>
                  <a:cubicBezTo>
                    <a:pt x="7823" y="8202"/>
                    <a:pt x="9565" y="5574"/>
                    <a:pt x="9058" y="2882"/>
                  </a:cubicBezTo>
                  <a:cubicBezTo>
                    <a:pt x="8836" y="1710"/>
                    <a:pt x="8203" y="697"/>
                    <a:pt x="7348"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5"/>
            <p:cNvSpPr/>
            <p:nvPr/>
          </p:nvSpPr>
          <p:spPr>
            <a:xfrm>
              <a:off x="1692525" y="2768400"/>
              <a:ext cx="147275" cy="80375"/>
            </a:xfrm>
            <a:custGeom>
              <a:avLst/>
              <a:gdLst/>
              <a:ahLst/>
              <a:cxnLst/>
              <a:rect l="l" t="t" r="r" b="b"/>
              <a:pathLst>
                <a:path w="5891" h="3215" extrusionOk="0">
                  <a:moveTo>
                    <a:pt x="0" y="1616"/>
                  </a:moveTo>
                  <a:cubicBezTo>
                    <a:pt x="3" y="1628"/>
                    <a:pt x="5" y="1640"/>
                    <a:pt x="8" y="1652"/>
                  </a:cubicBezTo>
                  <a:lnTo>
                    <a:pt x="8" y="1652"/>
                  </a:lnTo>
                  <a:lnTo>
                    <a:pt x="0" y="1616"/>
                  </a:lnTo>
                  <a:close/>
                  <a:moveTo>
                    <a:pt x="5352" y="1"/>
                  </a:moveTo>
                  <a:lnTo>
                    <a:pt x="4085" y="1743"/>
                  </a:lnTo>
                  <a:lnTo>
                    <a:pt x="1077" y="2313"/>
                  </a:lnTo>
                  <a:cubicBezTo>
                    <a:pt x="1016" y="2324"/>
                    <a:pt x="956" y="2329"/>
                    <a:pt x="897" y="2329"/>
                  </a:cubicBezTo>
                  <a:cubicBezTo>
                    <a:pt x="474" y="2329"/>
                    <a:pt x="106" y="2051"/>
                    <a:pt x="8" y="1652"/>
                  </a:cubicBezTo>
                  <a:lnTo>
                    <a:pt x="8" y="1652"/>
                  </a:lnTo>
                  <a:lnTo>
                    <a:pt x="190" y="2471"/>
                  </a:lnTo>
                  <a:cubicBezTo>
                    <a:pt x="275" y="2893"/>
                    <a:pt x="659" y="3215"/>
                    <a:pt x="1077" y="3215"/>
                  </a:cubicBezTo>
                  <a:cubicBezTo>
                    <a:pt x="1129" y="3215"/>
                    <a:pt x="1182" y="3210"/>
                    <a:pt x="1235" y="3199"/>
                  </a:cubicBezTo>
                  <a:lnTo>
                    <a:pt x="4275" y="2598"/>
                  </a:lnTo>
                  <a:lnTo>
                    <a:pt x="5891" y="317"/>
                  </a:lnTo>
                  <a:lnTo>
                    <a:pt x="5352" y="1"/>
                  </a:ln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5"/>
            <p:cNvSpPr/>
            <p:nvPr/>
          </p:nvSpPr>
          <p:spPr>
            <a:xfrm>
              <a:off x="1867475" y="2746250"/>
              <a:ext cx="155225" cy="62550"/>
            </a:xfrm>
            <a:custGeom>
              <a:avLst/>
              <a:gdLst/>
              <a:ahLst/>
              <a:cxnLst/>
              <a:rect l="l" t="t" r="r" b="b"/>
              <a:pathLst>
                <a:path w="6209" h="2502" extrusionOk="0">
                  <a:moveTo>
                    <a:pt x="5955" y="0"/>
                  </a:moveTo>
                  <a:lnTo>
                    <a:pt x="5959" y="24"/>
                  </a:lnTo>
                  <a:lnTo>
                    <a:pt x="5959" y="24"/>
                  </a:lnTo>
                  <a:cubicBezTo>
                    <a:pt x="5958" y="16"/>
                    <a:pt x="5956" y="8"/>
                    <a:pt x="5955" y="0"/>
                  </a:cubicBezTo>
                  <a:close/>
                  <a:moveTo>
                    <a:pt x="5959" y="24"/>
                  </a:moveTo>
                  <a:cubicBezTo>
                    <a:pt x="6039" y="492"/>
                    <a:pt x="5724" y="983"/>
                    <a:pt x="5226" y="1077"/>
                  </a:cubicBezTo>
                  <a:lnTo>
                    <a:pt x="2218" y="1647"/>
                  </a:lnTo>
                  <a:lnTo>
                    <a:pt x="381" y="475"/>
                  </a:lnTo>
                  <a:lnTo>
                    <a:pt x="1" y="982"/>
                  </a:lnTo>
                  <a:lnTo>
                    <a:pt x="2376" y="2502"/>
                  </a:lnTo>
                  <a:lnTo>
                    <a:pt x="5385" y="1932"/>
                  </a:lnTo>
                  <a:cubicBezTo>
                    <a:pt x="5891" y="1837"/>
                    <a:pt x="6208" y="1362"/>
                    <a:pt x="6113" y="855"/>
                  </a:cubicBezTo>
                  <a:lnTo>
                    <a:pt x="5959" y="24"/>
                  </a:ln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5"/>
            <p:cNvSpPr/>
            <p:nvPr/>
          </p:nvSpPr>
          <p:spPr>
            <a:xfrm>
              <a:off x="1828700" y="2607275"/>
              <a:ext cx="60200" cy="152450"/>
            </a:xfrm>
            <a:custGeom>
              <a:avLst/>
              <a:gdLst/>
              <a:ahLst/>
              <a:cxnLst/>
              <a:rect l="l" t="t" r="r" b="b"/>
              <a:pathLst>
                <a:path w="2408" h="6098" extrusionOk="0">
                  <a:moveTo>
                    <a:pt x="40" y="137"/>
                  </a:moveTo>
                  <a:cubicBezTo>
                    <a:pt x="27" y="139"/>
                    <a:pt x="13" y="141"/>
                    <a:pt x="0" y="144"/>
                  </a:cubicBezTo>
                  <a:lnTo>
                    <a:pt x="40" y="137"/>
                  </a:lnTo>
                  <a:close/>
                  <a:moveTo>
                    <a:pt x="929" y="0"/>
                  </a:moveTo>
                  <a:cubicBezTo>
                    <a:pt x="873" y="0"/>
                    <a:pt x="817" y="6"/>
                    <a:pt x="760" y="17"/>
                  </a:cubicBezTo>
                  <a:lnTo>
                    <a:pt x="40" y="137"/>
                  </a:lnTo>
                  <a:lnTo>
                    <a:pt x="40" y="137"/>
                  </a:lnTo>
                  <a:cubicBezTo>
                    <a:pt x="87" y="130"/>
                    <a:pt x="133" y="127"/>
                    <a:pt x="179" y="127"/>
                  </a:cubicBezTo>
                  <a:cubicBezTo>
                    <a:pt x="615" y="127"/>
                    <a:pt x="993" y="426"/>
                    <a:pt x="1077" y="872"/>
                  </a:cubicBezTo>
                  <a:lnTo>
                    <a:pt x="1647" y="3881"/>
                  </a:lnTo>
                  <a:lnTo>
                    <a:pt x="475" y="5781"/>
                  </a:lnTo>
                  <a:lnTo>
                    <a:pt x="919" y="6097"/>
                  </a:lnTo>
                  <a:lnTo>
                    <a:pt x="2407" y="3754"/>
                  </a:lnTo>
                  <a:lnTo>
                    <a:pt x="1805" y="745"/>
                  </a:lnTo>
                  <a:cubicBezTo>
                    <a:pt x="1722" y="299"/>
                    <a:pt x="1343" y="0"/>
                    <a:pt x="929"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5"/>
            <p:cNvSpPr/>
            <p:nvPr/>
          </p:nvSpPr>
          <p:spPr>
            <a:xfrm>
              <a:off x="2865050" y="2783450"/>
              <a:ext cx="274775" cy="467150"/>
            </a:xfrm>
            <a:custGeom>
              <a:avLst/>
              <a:gdLst/>
              <a:ahLst/>
              <a:cxnLst/>
              <a:rect l="l" t="t" r="r" b="b"/>
              <a:pathLst>
                <a:path w="10991" h="18686" extrusionOk="0">
                  <a:moveTo>
                    <a:pt x="10705" y="0"/>
                  </a:moveTo>
                  <a:lnTo>
                    <a:pt x="10705" y="0"/>
                  </a:lnTo>
                  <a:cubicBezTo>
                    <a:pt x="8773" y="3674"/>
                    <a:pt x="5385" y="7189"/>
                    <a:pt x="1" y="10135"/>
                  </a:cubicBezTo>
                  <a:cubicBezTo>
                    <a:pt x="919" y="11148"/>
                    <a:pt x="3263" y="14695"/>
                    <a:pt x="6240" y="18685"/>
                  </a:cubicBezTo>
                  <a:cubicBezTo>
                    <a:pt x="10990" y="12858"/>
                    <a:pt x="10768" y="1742"/>
                    <a:pt x="10705"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5"/>
            <p:cNvSpPr/>
            <p:nvPr/>
          </p:nvSpPr>
          <p:spPr>
            <a:xfrm>
              <a:off x="2255425" y="2559425"/>
              <a:ext cx="198750" cy="116300"/>
            </a:xfrm>
            <a:custGeom>
              <a:avLst/>
              <a:gdLst/>
              <a:ahLst/>
              <a:cxnLst/>
              <a:rect l="l" t="t" r="r" b="b"/>
              <a:pathLst>
                <a:path w="7950" h="4652" extrusionOk="0">
                  <a:moveTo>
                    <a:pt x="6197" y="0"/>
                  </a:moveTo>
                  <a:cubicBezTo>
                    <a:pt x="6096" y="0"/>
                    <a:pt x="5994" y="10"/>
                    <a:pt x="5891" y="31"/>
                  </a:cubicBezTo>
                  <a:lnTo>
                    <a:pt x="1363" y="886"/>
                  </a:lnTo>
                  <a:cubicBezTo>
                    <a:pt x="539" y="1044"/>
                    <a:pt x="1" y="1804"/>
                    <a:pt x="159" y="2564"/>
                  </a:cubicBezTo>
                  <a:lnTo>
                    <a:pt x="349" y="3514"/>
                  </a:lnTo>
                  <a:cubicBezTo>
                    <a:pt x="460" y="4180"/>
                    <a:pt x="1082" y="4652"/>
                    <a:pt x="1788" y="4652"/>
                  </a:cubicBezTo>
                  <a:cubicBezTo>
                    <a:pt x="1888" y="4652"/>
                    <a:pt x="1989" y="4642"/>
                    <a:pt x="2091" y="4623"/>
                  </a:cubicBezTo>
                  <a:lnTo>
                    <a:pt x="6620" y="3768"/>
                  </a:lnTo>
                  <a:cubicBezTo>
                    <a:pt x="7411" y="3609"/>
                    <a:pt x="7950" y="2849"/>
                    <a:pt x="7791" y="2058"/>
                  </a:cubicBezTo>
                  <a:lnTo>
                    <a:pt x="7633" y="1139"/>
                  </a:lnTo>
                  <a:cubicBezTo>
                    <a:pt x="7495" y="450"/>
                    <a:pt x="6877" y="0"/>
                    <a:pt x="6197" y="0"/>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5"/>
            <p:cNvSpPr/>
            <p:nvPr/>
          </p:nvSpPr>
          <p:spPr>
            <a:xfrm>
              <a:off x="2282350" y="2699800"/>
              <a:ext cx="198750" cy="116850"/>
            </a:xfrm>
            <a:custGeom>
              <a:avLst/>
              <a:gdLst/>
              <a:ahLst/>
              <a:cxnLst/>
              <a:rect l="l" t="t" r="r" b="b"/>
              <a:pathLst>
                <a:path w="7950" h="4674" extrusionOk="0">
                  <a:moveTo>
                    <a:pt x="6155" y="1"/>
                  </a:moveTo>
                  <a:cubicBezTo>
                    <a:pt x="6068" y="1"/>
                    <a:pt x="5980" y="8"/>
                    <a:pt x="5891" y="21"/>
                  </a:cubicBezTo>
                  <a:lnTo>
                    <a:pt x="1362" y="908"/>
                  </a:lnTo>
                  <a:cubicBezTo>
                    <a:pt x="539" y="1066"/>
                    <a:pt x="1" y="1826"/>
                    <a:pt x="159" y="2586"/>
                  </a:cubicBezTo>
                  <a:lnTo>
                    <a:pt x="349" y="3536"/>
                  </a:lnTo>
                  <a:cubicBezTo>
                    <a:pt x="488" y="4202"/>
                    <a:pt x="1088" y="4674"/>
                    <a:pt x="1789" y="4674"/>
                  </a:cubicBezTo>
                  <a:cubicBezTo>
                    <a:pt x="1888" y="4674"/>
                    <a:pt x="1989" y="4664"/>
                    <a:pt x="2091" y="4645"/>
                  </a:cubicBezTo>
                  <a:lnTo>
                    <a:pt x="6619" y="3758"/>
                  </a:lnTo>
                  <a:cubicBezTo>
                    <a:pt x="7411" y="3600"/>
                    <a:pt x="7949" y="2871"/>
                    <a:pt x="7823" y="2080"/>
                  </a:cubicBezTo>
                  <a:lnTo>
                    <a:pt x="7633" y="1161"/>
                  </a:lnTo>
                  <a:cubicBezTo>
                    <a:pt x="7492" y="455"/>
                    <a:pt x="6872" y="1"/>
                    <a:pt x="6155" y="1"/>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5"/>
            <p:cNvSpPr/>
            <p:nvPr/>
          </p:nvSpPr>
          <p:spPr>
            <a:xfrm>
              <a:off x="2255425" y="2559425"/>
              <a:ext cx="198750" cy="116300"/>
            </a:xfrm>
            <a:custGeom>
              <a:avLst/>
              <a:gdLst/>
              <a:ahLst/>
              <a:cxnLst/>
              <a:rect l="l" t="t" r="r" b="b"/>
              <a:pathLst>
                <a:path w="7950" h="4652" extrusionOk="0">
                  <a:moveTo>
                    <a:pt x="6197" y="0"/>
                  </a:moveTo>
                  <a:cubicBezTo>
                    <a:pt x="6096" y="0"/>
                    <a:pt x="5994" y="10"/>
                    <a:pt x="5891" y="31"/>
                  </a:cubicBezTo>
                  <a:lnTo>
                    <a:pt x="1363" y="886"/>
                  </a:lnTo>
                  <a:cubicBezTo>
                    <a:pt x="539" y="1044"/>
                    <a:pt x="1" y="1804"/>
                    <a:pt x="159" y="2564"/>
                  </a:cubicBezTo>
                  <a:lnTo>
                    <a:pt x="349" y="3514"/>
                  </a:lnTo>
                  <a:cubicBezTo>
                    <a:pt x="460" y="4180"/>
                    <a:pt x="1082" y="4652"/>
                    <a:pt x="1788" y="4652"/>
                  </a:cubicBezTo>
                  <a:cubicBezTo>
                    <a:pt x="1888" y="4652"/>
                    <a:pt x="1989" y="4642"/>
                    <a:pt x="2091" y="4623"/>
                  </a:cubicBezTo>
                  <a:lnTo>
                    <a:pt x="6620" y="3768"/>
                  </a:lnTo>
                  <a:cubicBezTo>
                    <a:pt x="7411" y="3609"/>
                    <a:pt x="7950" y="2849"/>
                    <a:pt x="7791" y="2058"/>
                  </a:cubicBezTo>
                  <a:lnTo>
                    <a:pt x="7633" y="1139"/>
                  </a:lnTo>
                  <a:cubicBezTo>
                    <a:pt x="7495" y="450"/>
                    <a:pt x="6877" y="0"/>
                    <a:pt x="6197"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5"/>
            <p:cNvSpPr/>
            <p:nvPr/>
          </p:nvSpPr>
          <p:spPr>
            <a:xfrm>
              <a:off x="2282350" y="2699800"/>
              <a:ext cx="198750" cy="116850"/>
            </a:xfrm>
            <a:custGeom>
              <a:avLst/>
              <a:gdLst/>
              <a:ahLst/>
              <a:cxnLst/>
              <a:rect l="l" t="t" r="r" b="b"/>
              <a:pathLst>
                <a:path w="7950" h="4674" extrusionOk="0">
                  <a:moveTo>
                    <a:pt x="6155" y="1"/>
                  </a:moveTo>
                  <a:cubicBezTo>
                    <a:pt x="6068" y="1"/>
                    <a:pt x="5980" y="8"/>
                    <a:pt x="5891" y="21"/>
                  </a:cubicBezTo>
                  <a:lnTo>
                    <a:pt x="1362" y="908"/>
                  </a:lnTo>
                  <a:cubicBezTo>
                    <a:pt x="539" y="1066"/>
                    <a:pt x="1" y="1826"/>
                    <a:pt x="159" y="2586"/>
                  </a:cubicBezTo>
                  <a:lnTo>
                    <a:pt x="349" y="3536"/>
                  </a:lnTo>
                  <a:cubicBezTo>
                    <a:pt x="488" y="4202"/>
                    <a:pt x="1088" y="4674"/>
                    <a:pt x="1789" y="4674"/>
                  </a:cubicBezTo>
                  <a:cubicBezTo>
                    <a:pt x="1888" y="4674"/>
                    <a:pt x="1989" y="4664"/>
                    <a:pt x="2091" y="4645"/>
                  </a:cubicBezTo>
                  <a:lnTo>
                    <a:pt x="6619" y="3758"/>
                  </a:lnTo>
                  <a:cubicBezTo>
                    <a:pt x="7411" y="3600"/>
                    <a:pt x="7949" y="2871"/>
                    <a:pt x="7823" y="2080"/>
                  </a:cubicBezTo>
                  <a:lnTo>
                    <a:pt x="7633" y="1161"/>
                  </a:lnTo>
                  <a:cubicBezTo>
                    <a:pt x="7492" y="455"/>
                    <a:pt x="6872" y="1"/>
                    <a:pt x="6155" y="1"/>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5"/>
            <p:cNvSpPr/>
            <p:nvPr/>
          </p:nvSpPr>
          <p:spPr>
            <a:xfrm>
              <a:off x="2276025" y="2577900"/>
              <a:ext cx="157575" cy="79175"/>
            </a:xfrm>
            <a:custGeom>
              <a:avLst/>
              <a:gdLst/>
              <a:ahLst/>
              <a:cxnLst/>
              <a:rect l="l" t="t" r="r" b="b"/>
              <a:pathLst>
                <a:path w="6303" h="3167" extrusionOk="0">
                  <a:moveTo>
                    <a:pt x="5369" y="0"/>
                  </a:moveTo>
                  <a:cubicBezTo>
                    <a:pt x="5312" y="0"/>
                    <a:pt x="5253" y="7"/>
                    <a:pt x="5194" y="20"/>
                  </a:cubicBezTo>
                  <a:lnTo>
                    <a:pt x="665" y="875"/>
                  </a:lnTo>
                  <a:cubicBezTo>
                    <a:pt x="254" y="970"/>
                    <a:pt x="0" y="1319"/>
                    <a:pt x="64" y="1699"/>
                  </a:cubicBezTo>
                  <a:lnTo>
                    <a:pt x="254" y="2617"/>
                  </a:lnTo>
                  <a:cubicBezTo>
                    <a:pt x="310" y="2954"/>
                    <a:pt x="614" y="3166"/>
                    <a:pt x="969" y="3166"/>
                  </a:cubicBezTo>
                  <a:cubicBezTo>
                    <a:pt x="1015" y="3166"/>
                    <a:pt x="1062" y="3163"/>
                    <a:pt x="1109" y="3155"/>
                  </a:cubicBezTo>
                  <a:lnTo>
                    <a:pt x="5637" y="2269"/>
                  </a:lnTo>
                  <a:cubicBezTo>
                    <a:pt x="6049" y="2205"/>
                    <a:pt x="6302" y="1857"/>
                    <a:pt x="6239" y="1477"/>
                  </a:cubicBezTo>
                  <a:lnTo>
                    <a:pt x="6049" y="527"/>
                  </a:lnTo>
                  <a:cubicBezTo>
                    <a:pt x="5995" y="229"/>
                    <a:pt x="5708" y="0"/>
                    <a:pt x="5369"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5"/>
            <p:cNvSpPr/>
            <p:nvPr/>
          </p:nvSpPr>
          <p:spPr>
            <a:xfrm>
              <a:off x="2302925" y="2718775"/>
              <a:ext cx="158375" cy="79225"/>
            </a:xfrm>
            <a:custGeom>
              <a:avLst/>
              <a:gdLst/>
              <a:ahLst/>
              <a:cxnLst/>
              <a:rect l="l" t="t" r="r" b="b"/>
              <a:pathLst>
                <a:path w="6335" h="3169" extrusionOk="0">
                  <a:moveTo>
                    <a:pt x="5384" y="0"/>
                  </a:moveTo>
                  <a:cubicBezTo>
                    <a:pt x="5322" y="0"/>
                    <a:pt x="5259" y="7"/>
                    <a:pt x="5195" y="22"/>
                  </a:cubicBezTo>
                  <a:lnTo>
                    <a:pt x="666" y="877"/>
                  </a:lnTo>
                  <a:cubicBezTo>
                    <a:pt x="286" y="972"/>
                    <a:pt x="1" y="1321"/>
                    <a:pt x="64" y="1701"/>
                  </a:cubicBezTo>
                  <a:lnTo>
                    <a:pt x="254" y="2619"/>
                  </a:lnTo>
                  <a:cubicBezTo>
                    <a:pt x="310" y="2956"/>
                    <a:pt x="640" y="3168"/>
                    <a:pt x="979" y="3168"/>
                  </a:cubicBezTo>
                  <a:cubicBezTo>
                    <a:pt x="1022" y="3168"/>
                    <a:pt x="1066" y="3165"/>
                    <a:pt x="1109" y="3158"/>
                  </a:cubicBezTo>
                  <a:lnTo>
                    <a:pt x="5638" y="2271"/>
                  </a:lnTo>
                  <a:cubicBezTo>
                    <a:pt x="6050" y="2207"/>
                    <a:pt x="6335" y="1827"/>
                    <a:pt x="6240" y="1479"/>
                  </a:cubicBezTo>
                  <a:lnTo>
                    <a:pt x="6081" y="529"/>
                  </a:lnTo>
                  <a:cubicBezTo>
                    <a:pt x="6001" y="208"/>
                    <a:pt x="5718" y="0"/>
                    <a:pt x="5384" y="0"/>
                  </a:cubicBezTo>
                  <a:close/>
                </a:path>
              </a:pathLst>
            </a:custGeom>
            <a:solidFill>
              <a:srgbClr val="F2A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5"/>
            <p:cNvSpPr/>
            <p:nvPr/>
          </p:nvSpPr>
          <p:spPr>
            <a:xfrm>
              <a:off x="2279175" y="2598975"/>
              <a:ext cx="154425" cy="58100"/>
            </a:xfrm>
            <a:custGeom>
              <a:avLst/>
              <a:gdLst/>
              <a:ahLst/>
              <a:cxnLst/>
              <a:rect l="l" t="t" r="r" b="b"/>
              <a:pathLst>
                <a:path w="6177" h="2324" extrusionOk="0">
                  <a:moveTo>
                    <a:pt x="1" y="1141"/>
                  </a:moveTo>
                  <a:cubicBezTo>
                    <a:pt x="3" y="1155"/>
                    <a:pt x="6" y="1168"/>
                    <a:pt x="9" y="1182"/>
                  </a:cubicBezTo>
                  <a:lnTo>
                    <a:pt x="9" y="1182"/>
                  </a:lnTo>
                  <a:lnTo>
                    <a:pt x="1" y="1141"/>
                  </a:lnTo>
                  <a:close/>
                  <a:moveTo>
                    <a:pt x="5986" y="1"/>
                  </a:moveTo>
                  <a:cubicBezTo>
                    <a:pt x="6050" y="349"/>
                    <a:pt x="5796" y="729"/>
                    <a:pt x="5385" y="792"/>
                  </a:cubicBezTo>
                  <a:lnTo>
                    <a:pt x="856" y="1679"/>
                  </a:lnTo>
                  <a:cubicBezTo>
                    <a:pt x="809" y="1686"/>
                    <a:pt x="762" y="1690"/>
                    <a:pt x="717" y="1690"/>
                  </a:cubicBezTo>
                  <a:cubicBezTo>
                    <a:pt x="376" y="1690"/>
                    <a:pt x="82" y="1495"/>
                    <a:pt x="9" y="1182"/>
                  </a:cubicBezTo>
                  <a:lnTo>
                    <a:pt x="9" y="1182"/>
                  </a:lnTo>
                  <a:lnTo>
                    <a:pt x="128" y="1774"/>
                  </a:lnTo>
                  <a:cubicBezTo>
                    <a:pt x="184" y="2111"/>
                    <a:pt x="488" y="2323"/>
                    <a:pt x="843" y="2323"/>
                  </a:cubicBezTo>
                  <a:cubicBezTo>
                    <a:pt x="889" y="2323"/>
                    <a:pt x="936" y="2320"/>
                    <a:pt x="983" y="2312"/>
                  </a:cubicBezTo>
                  <a:lnTo>
                    <a:pt x="5511" y="1426"/>
                  </a:lnTo>
                  <a:cubicBezTo>
                    <a:pt x="5923" y="1362"/>
                    <a:pt x="6176" y="982"/>
                    <a:pt x="6113" y="634"/>
                  </a:cubicBezTo>
                  <a:lnTo>
                    <a:pt x="5986" y="1"/>
                  </a:lnTo>
                  <a:close/>
                </a:path>
              </a:pathLst>
            </a:custGeom>
            <a:solidFill>
              <a:srgbClr val="DD91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5"/>
            <p:cNvSpPr/>
            <p:nvPr/>
          </p:nvSpPr>
          <p:spPr>
            <a:xfrm>
              <a:off x="2306100" y="2739125"/>
              <a:ext cx="155200" cy="58875"/>
            </a:xfrm>
            <a:custGeom>
              <a:avLst/>
              <a:gdLst/>
              <a:ahLst/>
              <a:cxnLst/>
              <a:rect l="l" t="t" r="r" b="b"/>
              <a:pathLst>
                <a:path w="6208" h="2355" extrusionOk="0">
                  <a:moveTo>
                    <a:pt x="6018" y="0"/>
                  </a:moveTo>
                  <a:lnTo>
                    <a:pt x="6022" y="30"/>
                  </a:lnTo>
                  <a:lnTo>
                    <a:pt x="6022" y="30"/>
                  </a:lnTo>
                  <a:cubicBezTo>
                    <a:pt x="6021" y="20"/>
                    <a:pt x="6019" y="10"/>
                    <a:pt x="6018" y="0"/>
                  </a:cubicBezTo>
                  <a:close/>
                  <a:moveTo>
                    <a:pt x="1" y="1172"/>
                  </a:moveTo>
                  <a:cubicBezTo>
                    <a:pt x="3" y="1185"/>
                    <a:pt x="5" y="1197"/>
                    <a:pt x="8" y="1210"/>
                  </a:cubicBezTo>
                  <a:lnTo>
                    <a:pt x="8" y="1210"/>
                  </a:lnTo>
                  <a:lnTo>
                    <a:pt x="1" y="1172"/>
                  </a:lnTo>
                  <a:close/>
                  <a:moveTo>
                    <a:pt x="6022" y="30"/>
                  </a:moveTo>
                  <a:lnTo>
                    <a:pt x="6022" y="30"/>
                  </a:lnTo>
                  <a:cubicBezTo>
                    <a:pt x="6066" y="398"/>
                    <a:pt x="5785" y="731"/>
                    <a:pt x="5384" y="823"/>
                  </a:cubicBezTo>
                  <a:lnTo>
                    <a:pt x="856" y="1678"/>
                  </a:lnTo>
                  <a:cubicBezTo>
                    <a:pt x="796" y="1693"/>
                    <a:pt x="736" y="1700"/>
                    <a:pt x="677" y="1700"/>
                  </a:cubicBezTo>
                  <a:cubicBezTo>
                    <a:pt x="368" y="1700"/>
                    <a:pt x="78" y="1509"/>
                    <a:pt x="8" y="1210"/>
                  </a:cubicBezTo>
                  <a:lnTo>
                    <a:pt x="8" y="1210"/>
                  </a:lnTo>
                  <a:lnTo>
                    <a:pt x="127" y="1805"/>
                  </a:lnTo>
                  <a:cubicBezTo>
                    <a:pt x="183" y="2142"/>
                    <a:pt x="488" y="2354"/>
                    <a:pt x="843" y="2354"/>
                  </a:cubicBezTo>
                  <a:cubicBezTo>
                    <a:pt x="889" y="2354"/>
                    <a:pt x="935" y="2351"/>
                    <a:pt x="982" y="2344"/>
                  </a:cubicBezTo>
                  <a:lnTo>
                    <a:pt x="5511" y="1457"/>
                  </a:lnTo>
                  <a:cubicBezTo>
                    <a:pt x="5923" y="1393"/>
                    <a:pt x="6208" y="1013"/>
                    <a:pt x="6113" y="665"/>
                  </a:cubicBezTo>
                  <a:lnTo>
                    <a:pt x="6022" y="30"/>
                  </a:lnTo>
                  <a:close/>
                </a:path>
              </a:pathLst>
            </a:custGeom>
            <a:solidFill>
              <a:srgbClr val="DD91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5"/>
            <p:cNvSpPr/>
            <p:nvPr/>
          </p:nvSpPr>
          <p:spPr>
            <a:xfrm>
              <a:off x="2747100" y="2315225"/>
              <a:ext cx="239900" cy="221525"/>
            </a:xfrm>
            <a:custGeom>
              <a:avLst/>
              <a:gdLst/>
              <a:ahLst/>
              <a:cxnLst/>
              <a:rect l="l" t="t" r="r" b="b"/>
              <a:pathLst>
                <a:path w="9596" h="8861" extrusionOk="0">
                  <a:moveTo>
                    <a:pt x="4782" y="1"/>
                  </a:moveTo>
                  <a:cubicBezTo>
                    <a:pt x="4511" y="1"/>
                    <a:pt x="4235" y="26"/>
                    <a:pt x="3959" y="76"/>
                  </a:cubicBezTo>
                  <a:cubicBezTo>
                    <a:pt x="1552" y="552"/>
                    <a:pt x="0" y="2863"/>
                    <a:pt x="444" y="5270"/>
                  </a:cubicBezTo>
                  <a:cubicBezTo>
                    <a:pt x="864" y="7401"/>
                    <a:pt x="2724" y="8861"/>
                    <a:pt x="4814" y="8861"/>
                  </a:cubicBezTo>
                  <a:cubicBezTo>
                    <a:pt x="5086" y="8861"/>
                    <a:pt x="5361" y="8836"/>
                    <a:pt x="5637" y="8785"/>
                  </a:cubicBezTo>
                  <a:cubicBezTo>
                    <a:pt x="8044" y="8310"/>
                    <a:pt x="9596" y="5999"/>
                    <a:pt x="9153" y="3592"/>
                  </a:cubicBezTo>
                  <a:cubicBezTo>
                    <a:pt x="8732" y="1461"/>
                    <a:pt x="6873" y="1"/>
                    <a:pt x="4782" y="1"/>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5"/>
            <p:cNvSpPr/>
            <p:nvPr/>
          </p:nvSpPr>
          <p:spPr>
            <a:xfrm>
              <a:off x="2747100" y="2315225"/>
              <a:ext cx="239900" cy="221525"/>
            </a:xfrm>
            <a:custGeom>
              <a:avLst/>
              <a:gdLst/>
              <a:ahLst/>
              <a:cxnLst/>
              <a:rect l="l" t="t" r="r" b="b"/>
              <a:pathLst>
                <a:path w="9596" h="8861" extrusionOk="0">
                  <a:moveTo>
                    <a:pt x="4782" y="1"/>
                  </a:moveTo>
                  <a:cubicBezTo>
                    <a:pt x="4511" y="1"/>
                    <a:pt x="4235" y="26"/>
                    <a:pt x="3959" y="76"/>
                  </a:cubicBezTo>
                  <a:cubicBezTo>
                    <a:pt x="1552" y="552"/>
                    <a:pt x="0" y="2863"/>
                    <a:pt x="444" y="5270"/>
                  </a:cubicBezTo>
                  <a:cubicBezTo>
                    <a:pt x="864" y="7401"/>
                    <a:pt x="2724" y="8861"/>
                    <a:pt x="4814" y="8861"/>
                  </a:cubicBezTo>
                  <a:cubicBezTo>
                    <a:pt x="5086" y="8861"/>
                    <a:pt x="5361" y="8836"/>
                    <a:pt x="5637" y="8785"/>
                  </a:cubicBezTo>
                  <a:cubicBezTo>
                    <a:pt x="8044" y="8310"/>
                    <a:pt x="9596" y="5999"/>
                    <a:pt x="9153" y="3592"/>
                  </a:cubicBezTo>
                  <a:cubicBezTo>
                    <a:pt x="8732" y="1461"/>
                    <a:pt x="6873" y="1"/>
                    <a:pt x="4782" y="1"/>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5"/>
            <p:cNvSpPr/>
            <p:nvPr/>
          </p:nvSpPr>
          <p:spPr>
            <a:xfrm>
              <a:off x="2777175" y="2342750"/>
              <a:ext cx="180550" cy="165950"/>
            </a:xfrm>
            <a:custGeom>
              <a:avLst/>
              <a:gdLst/>
              <a:ahLst/>
              <a:cxnLst/>
              <a:rect l="l" t="t" r="r" b="b"/>
              <a:pathLst>
                <a:path w="7222" h="6638" extrusionOk="0">
                  <a:moveTo>
                    <a:pt x="3568" y="1"/>
                  </a:moveTo>
                  <a:cubicBezTo>
                    <a:pt x="3373" y="1"/>
                    <a:pt x="3176" y="17"/>
                    <a:pt x="2978" y="52"/>
                  </a:cubicBezTo>
                  <a:cubicBezTo>
                    <a:pt x="1172" y="401"/>
                    <a:pt x="1" y="2142"/>
                    <a:pt x="349" y="3948"/>
                  </a:cubicBezTo>
                  <a:cubicBezTo>
                    <a:pt x="656" y="5538"/>
                    <a:pt x="2045" y="6637"/>
                    <a:pt x="3585" y="6637"/>
                  </a:cubicBezTo>
                  <a:cubicBezTo>
                    <a:pt x="3792" y="6637"/>
                    <a:pt x="4002" y="6617"/>
                    <a:pt x="4213" y="6576"/>
                  </a:cubicBezTo>
                  <a:cubicBezTo>
                    <a:pt x="6018" y="6228"/>
                    <a:pt x="7221" y="4486"/>
                    <a:pt x="6873" y="2712"/>
                  </a:cubicBezTo>
                  <a:cubicBezTo>
                    <a:pt x="6563" y="1106"/>
                    <a:pt x="5149" y="1"/>
                    <a:pt x="3568"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5"/>
            <p:cNvSpPr/>
            <p:nvPr/>
          </p:nvSpPr>
          <p:spPr>
            <a:xfrm>
              <a:off x="2796175" y="2363825"/>
              <a:ext cx="160750" cy="145525"/>
            </a:xfrm>
            <a:custGeom>
              <a:avLst/>
              <a:gdLst/>
              <a:ahLst/>
              <a:cxnLst/>
              <a:rect l="l" t="t" r="r" b="b"/>
              <a:pathLst>
                <a:path w="6430" h="5821" extrusionOk="0">
                  <a:moveTo>
                    <a:pt x="5036" y="1"/>
                  </a:moveTo>
                  <a:lnTo>
                    <a:pt x="5036" y="1"/>
                  </a:lnTo>
                  <a:cubicBezTo>
                    <a:pt x="5226" y="318"/>
                    <a:pt x="5385" y="698"/>
                    <a:pt x="5480" y="1109"/>
                  </a:cubicBezTo>
                  <a:cubicBezTo>
                    <a:pt x="5828" y="2914"/>
                    <a:pt x="4624" y="4656"/>
                    <a:pt x="2819" y="5005"/>
                  </a:cubicBezTo>
                  <a:cubicBezTo>
                    <a:pt x="2616" y="5042"/>
                    <a:pt x="2414" y="5059"/>
                    <a:pt x="2214" y="5059"/>
                  </a:cubicBezTo>
                  <a:cubicBezTo>
                    <a:pt x="1389" y="5059"/>
                    <a:pt x="613" y="4755"/>
                    <a:pt x="1" y="4245"/>
                  </a:cubicBezTo>
                  <a:lnTo>
                    <a:pt x="1" y="4245"/>
                  </a:lnTo>
                  <a:cubicBezTo>
                    <a:pt x="622" y="5216"/>
                    <a:pt x="1680" y="5820"/>
                    <a:pt x="2842" y="5820"/>
                  </a:cubicBezTo>
                  <a:cubicBezTo>
                    <a:pt x="3043" y="5820"/>
                    <a:pt x="3247" y="5802"/>
                    <a:pt x="3453" y="5765"/>
                  </a:cubicBezTo>
                  <a:cubicBezTo>
                    <a:pt x="5258" y="5416"/>
                    <a:pt x="6430" y="3675"/>
                    <a:pt x="6081" y="1869"/>
                  </a:cubicBezTo>
                  <a:cubicBezTo>
                    <a:pt x="5955" y="1109"/>
                    <a:pt x="5575" y="476"/>
                    <a:pt x="5036" y="1"/>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5"/>
            <p:cNvSpPr/>
            <p:nvPr/>
          </p:nvSpPr>
          <p:spPr>
            <a:xfrm>
              <a:off x="2804900" y="2615875"/>
              <a:ext cx="240700" cy="221175"/>
            </a:xfrm>
            <a:custGeom>
              <a:avLst/>
              <a:gdLst/>
              <a:ahLst/>
              <a:cxnLst/>
              <a:rect l="l" t="t" r="r" b="b"/>
              <a:pathLst>
                <a:path w="9628" h="8847" extrusionOk="0">
                  <a:moveTo>
                    <a:pt x="4816" y="0"/>
                  </a:moveTo>
                  <a:cubicBezTo>
                    <a:pt x="4534" y="0"/>
                    <a:pt x="4247" y="28"/>
                    <a:pt x="3959" y="85"/>
                  </a:cubicBezTo>
                  <a:cubicBezTo>
                    <a:pt x="1584" y="528"/>
                    <a:pt x="0" y="2872"/>
                    <a:pt x="475" y="5247"/>
                  </a:cubicBezTo>
                  <a:cubicBezTo>
                    <a:pt x="865" y="7365"/>
                    <a:pt x="2704" y="8846"/>
                    <a:pt x="4780" y="8846"/>
                  </a:cubicBezTo>
                  <a:cubicBezTo>
                    <a:pt x="5062" y="8846"/>
                    <a:pt x="5349" y="8819"/>
                    <a:pt x="5637" y="8762"/>
                  </a:cubicBezTo>
                  <a:cubicBezTo>
                    <a:pt x="8044" y="8319"/>
                    <a:pt x="9628" y="5975"/>
                    <a:pt x="9152" y="3600"/>
                  </a:cubicBezTo>
                  <a:cubicBezTo>
                    <a:pt x="8734" y="1481"/>
                    <a:pt x="6893" y="0"/>
                    <a:pt x="4816" y="0"/>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5"/>
            <p:cNvSpPr/>
            <p:nvPr/>
          </p:nvSpPr>
          <p:spPr>
            <a:xfrm>
              <a:off x="2804900" y="2615875"/>
              <a:ext cx="240700" cy="221175"/>
            </a:xfrm>
            <a:custGeom>
              <a:avLst/>
              <a:gdLst/>
              <a:ahLst/>
              <a:cxnLst/>
              <a:rect l="l" t="t" r="r" b="b"/>
              <a:pathLst>
                <a:path w="9628" h="8847" extrusionOk="0">
                  <a:moveTo>
                    <a:pt x="4816" y="0"/>
                  </a:moveTo>
                  <a:cubicBezTo>
                    <a:pt x="4534" y="0"/>
                    <a:pt x="4247" y="28"/>
                    <a:pt x="3959" y="85"/>
                  </a:cubicBezTo>
                  <a:cubicBezTo>
                    <a:pt x="1584" y="528"/>
                    <a:pt x="0" y="2872"/>
                    <a:pt x="475" y="5247"/>
                  </a:cubicBezTo>
                  <a:cubicBezTo>
                    <a:pt x="865" y="7365"/>
                    <a:pt x="2704" y="8846"/>
                    <a:pt x="4780" y="8846"/>
                  </a:cubicBezTo>
                  <a:cubicBezTo>
                    <a:pt x="5062" y="8846"/>
                    <a:pt x="5349" y="8819"/>
                    <a:pt x="5637" y="8762"/>
                  </a:cubicBezTo>
                  <a:cubicBezTo>
                    <a:pt x="8044" y="8319"/>
                    <a:pt x="9628" y="5975"/>
                    <a:pt x="9152" y="3600"/>
                  </a:cubicBezTo>
                  <a:cubicBezTo>
                    <a:pt x="8734" y="1481"/>
                    <a:pt x="6893" y="0"/>
                    <a:pt x="4816"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5"/>
            <p:cNvSpPr/>
            <p:nvPr/>
          </p:nvSpPr>
          <p:spPr>
            <a:xfrm>
              <a:off x="2834975" y="2643375"/>
              <a:ext cx="180550" cy="166175"/>
            </a:xfrm>
            <a:custGeom>
              <a:avLst/>
              <a:gdLst/>
              <a:ahLst/>
              <a:cxnLst/>
              <a:rect l="l" t="t" r="r" b="b"/>
              <a:pathLst>
                <a:path w="7222" h="6647" extrusionOk="0">
                  <a:moveTo>
                    <a:pt x="3615" y="0"/>
                  </a:moveTo>
                  <a:cubicBezTo>
                    <a:pt x="3405" y="0"/>
                    <a:pt x="3192" y="20"/>
                    <a:pt x="2977" y="61"/>
                  </a:cubicBezTo>
                  <a:cubicBezTo>
                    <a:pt x="1172" y="410"/>
                    <a:pt x="1" y="2152"/>
                    <a:pt x="349" y="3957"/>
                  </a:cubicBezTo>
                  <a:cubicBezTo>
                    <a:pt x="656" y="5548"/>
                    <a:pt x="2045" y="6646"/>
                    <a:pt x="3606" y="6646"/>
                  </a:cubicBezTo>
                  <a:cubicBezTo>
                    <a:pt x="3817" y="6646"/>
                    <a:pt x="4030" y="6627"/>
                    <a:pt x="4244" y="6585"/>
                  </a:cubicBezTo>
                  <a:cubicBezTo>
                    <a:pt x="6018" y="6237"/>
                    <a:pt x="7221" y="4495"/>
                    <a:pt x="6873" y="2690"/>
                  </a:cubicBezTo>
                  <a:cubicBezTo>
                    <a:pt x="6566" y="1099"/>
                    <a:pt x="5176" y="0"/>
                    <a:pt x="3615" y="0"/>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5"/>
            <p:cNvSpPr/>
            <p:nvPr/>
          </p:nvSpPr>
          <p:spPr>
            <a:xfrm>
              <a:off x="2854775" y="2663900"/>
              <a:ext cx="159950" cy="145775"/>
            </a:xfrm>
            <a:custGeom>
              <a:avLst/>
              <a:gdLst/>
              <a:ahLst/>
              <a:cxnLst/>
              <a:rect l="l" t="t" r="r" b="b"/>
              <a:pathLst>
                <a:path w="6398" h="5831" extrusionOk="0">
                  <a:moveTo>
                    <a:pt x="5004" y="0"/>
                  </a:moveTo>
                  <a:lnTo>
                    <a:pt x="5004" y="0"/>
                  </a:lnTo>
                  <a:cubicBezTo>
                    <a:pt x="5194" y="349"/>
                    <a:pt x="5352" y="729"/>
                    <a:pt x="5447" y="1141"/>
                  </a:cubicBezTo>
                  <a:cubicBezTo>
                    <a:pt x="5796" y="2946"/>
                    <a:pt x="4592" y="4687"/>
                    <a:pt x="2819" y="5036"/>
                  </a:cubicBezTo>
                  <a:cubicBezTo>
                    <a:pt x="2617" y="5073"/>
                    <a:pt x="2415" y="5090"/>
                    <a:pt x="2215" y="5090"/>
                  </a:cubicBezTo>
                  <a:cubicBezTo>
                    <a:pt x="1381" y="5090"/>
                    <a:pt x="588" y="4781"/>
                    <a:pt x="0" y="4244"/>
                  </a:cubicBezTo>
                  <a:lnTo>
                    <a:pt x="0" y="4244"/>
                  </a:lnTo>
                  <a:cubicBezTo>
                    <a:pt x="588" y="5206"/>
                    <a:pt x="1650" y="5830"/>
                    <a:pt x="2804" y="5830"/>
                  </a:cubicBezTo>
                  <a:cubicBezTo>
                    <a:pt x="3018" y="5830"/>
                    <a:pt x="3235" y="5809"/>
                    <a:pt x="3452" y="5764"/>
                  </a:cubicBezTo>
                  <a:cubicBezTo>
                    <a:pt x="5226" y="5416"/>
                    <a:pt x="6397" y="3674"/>
                    <a:pt x="6081" y="1869"/>
                  </a:cubicBezTo>
                  <a:cubicBezTo>
                    <a:pt x="5922" y="1109"/>
                    <a:pt x="5542" y="475"/>
                    <a:pt x="5004"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5"/>
            <p:cNvSpPr/>
            <p:nvPr/>
          </p:nvSpPr>
          <p:spPr>
            <a:xfrm>
              <a:off x="2614075" y="2496550"/>
              <a:ext cx="240725" cy="221525"/>
            </a:xfrm>
            <a:custGeom>
              <a:avLst/>
              <a:gdLst/>
              <a:ahLst/>
              <a:cxnLst/>
              <a:rect l="l" t="t" r="r" b="b"/>
              <a:pathLst>
                <a:path w="9629" h="8861" extrusionOk="0">
                  <a:moveTo>
                    <a:pt x="4806" y="0"/>
                  </a:moveTo>
                  <a:cubicBezTo>
                    <a:pt x="4536" y="0"/>
                    <a:pt x="4264" y="25"/>
                    <a:pt x="3991" y="76"/>
                  </a:cubicBezTo>
                  <a:cubicBezTo>
                    <a:pt x="1584" y="551"/>
                    <a:pt x="1" y="2863"/>
                    <a:pt x="476" y="5269"/>
                  </a:cubicBezTo>
                  <a:cubicBezTo>
                    <a:pt x="896" y="7400"/>
                    <a:pt x="2756" y="8860"/>
                    <a:pt x="4847" y="8860"/>
                  </a:cubicBezTo>
                  <a:cubicBezTo>
                    <a:pt x="5118" y="8860"/>
                    <a:pt x="5393" y="8836"/>
                    <a:pt x="5670" y="8785"/>
                  </a:cubicBezTo>
                  <a:cubicBezTo>
                    <a:pt x="8045" y="8310"/>
                    <a:pt x="9628" y="5998"/>
                    <a:pt x="9153" y="3591"/>
                  </a:cubicBezTo>
                  <a:cubicBezTo>
                    <a:pt x="8761" y="1461"/>
                    <a:pt x="6880" y="0"/>
                    <a:pt x="4806" y="0"/>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5"/>
            <p:cNvSpPr/>
            <p:nvPr/>
          </p:nvSpPr>
          <p:spPr>
            <a:xfrm>
              <a:off x="2614075" y="2496550"/>
              <a:ext cx="240725" cy="221525"/>
            </a:xfrm>
            <a:custGeom>
              <a:avLst/>
              <a:gdLst/>
              <a:ahLst/>
              <a:cxnLst/>
              <a:rect l="l" t="t" r="r" b="b"/>
              <a:pathLst>
                <a:path w="9629" h="8861" extrusionOk="0">
                  <a:moveTo>
                    <a:pt x="4806" y="0"/>
                  </a:moveTo>
                  <a:cubicBezTo>
                    <a:pt x="4536" y="0"/>
                    <a:pt x="4264" y="25"/>
                    <a:pt x="3991" y="76"/>
                  </a:cubicBezTo>
                  <a:cubicBezTo>
                    <a:pt x="1584" y="551"/>
                    <a:pt x="1" y="2863"/>
                    <a:pt x="476" y="5269"/>
                  </a:cubicBezTo>
                  <a:cubicBezTo>
                    <a:pt x="896" y="7400"/>
                    <a:pt x="2756" y="8860"/>
                    <a:pt x="4847" y="8860"/>
                  </a:cubicBezTo>
                  <a:cubicBezTo>
                    <a:pt x="5118" y="8860"/>
                    <a:pt x="5393" y="8836"/>
                    <a:pt x="5670" y="8785"/>
                  </a:cubicBezTo>
                  <a:cubicBezTo>
                    <a:pt x="8045" y="8310"/>
                    <a:pt x="9628" y="5998"/>
                    <a:pt x="9153" y="3591"/>
                  </a:cubicBezTo>
                  <a:cubicBezTo>
                    <a:pt x="8761" y="1461"/>
                    <a:pt x="6880" y="0"/>
                    <a:pt x="4806"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5"/>
            <p:cNvSpPr/>
            <p:nvPr/>
          </p:nvSpPr>
          <p:spPr>
            <a:xfrm>
              <a:off x="2644175" y="2524600"/>
              <a:ext cx="180525" cy="166150"/>
            </a:xfrm>
            <a:custGeom>
              <a:avLst/>
              <a:gdLst/>
              <a:ahLst/>
              <a:cxnLst/>
              <a:rect l="l" t="t" r="r" b="b"/>
              <a:pathLst>
                <a:path w="7221" h="6646" extrusionOk="0">
                  <a:moveTo>
                    <a:pt x="3615" y="1"/>
                  </a:moveTo>
                  <a:cubicBezTo>
                    <a:pt x="3405" y="1"/>
                    <a:pt x="3191" y="21"/>
                    <a:pt x="2977" y="62"/>
                  </a:cubicBezTo>
                  <a:cubicBezTo>
                    <a:pt x="1172" y="410"/>
                    <a:pt x="0" y="2152"/>
                    <a:pt x="349" y="3926"/>
                  </a:cubicBezTo>
                  <a:cubicBezTo>
                    <a:pt x="656" y="5521"/>
                    <a:pt x="2052" y="6646"/>
                    <a:pt x="3618" y="6646"/>
                  </a:cubicBezTo>
                  <a:cubicBezTo>
                    <a:pt x="3825" y="6646"/>
                    <a:pt x="4034" y="6626"/>
                    <a:pt x="4244" y="6586"/>
                  </a:cubicBezTo>
                  <a:cubicBezTo>
                    <a:pt x="6049" y="6206"/>
                    <a:pt x="7221" y="4496"/>
                    <a:pt x="6872" y="2691"/>
                  </a:cubicBezTo>
                  <a:cubicBezTo>
                    <a:pt x="6565" y="1100"/>
                    <a:pt x="5176" y="1"/>
                    <a:pt x="3615"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5"/>
            <p:cNvSpPr/>
            <p:nvPr/>
          </p:nvSpPr>
          <p:spPr>
            <a:xfrm>
              <a:off x="2663975" y="2545150"/>
              <a:ext cx="160725" cy="145500"/>
            </a:xfrm>
            <a:custGeom>
              <a:avLst/>
              <a:gdLst/>
              <a:ahLst/>
              <a:cxnLst/>
              <a:rect l="l" t="t" r="r" b="b"/>
              <a:pathLst>
                <a:path w="6429" h="5820" extrusionOk="0">
                  <a:moveTo>
                    <a:pt x="5004" y="0"/>
                  </a:moveTo>
                  <a:lnTo>
                    <a:pt x="5004" y="0"/>
                  </a:lnTo>
                  <a:cubicBezTo>
                    <a:pt x="5225" y="317"/>
                    <a:pt x="5384" y="697"/>
                    <a:pt x="5447" y="1109"/>
                  </a:cubicBezTo>
                  <a:cubicBezTo>
                    <a:pt x="5795" y="2914"/>
                    <a:pt x="4624" y="4655"/>
                    <a:pt x="2819" y="5004"/>
                  </a:cubicBezTo>
                  <a:cubicBezTo>
                    <a:pt x="2615" y="5041"/>
                    <a:pt x="2413" y="5059"/>
                    <a:pt x="2214" y="5059"/>
                  </a:cubicBezTo>
                  <a:cubicBezTo>
                    <a:pt x="1389" y="5059"/>
                    <a:pt x="612" y="4754"/>
                    <a:pt x="0" y="4244"/>
                  </a:cubicBezTo>
                  <a:lnTo>
                    <a:pt x="0" y="4244"/>
                  </a:lnTo>
                  <a:cubicBezTo>
                    <a:pt x="594" y="5216"/>
                    <a:pt x="1671" y="5819"/>
                    <a:pt x="2839" y="5819"/>
                  </a:cubicBezTo>
                  <a:cubicBezTo>
                    <a:pt x="3042" y="5819"/>
                    <a:pt x="3246" y="5801"/>
                    <a:pt x="3452" y="5764"/>
                  </a:cubicBezTo>
                  <a:cubicBezTo>
                    <a:pt x="5257" y="5416"/>
                    <a:pt x="6429" y="3674"/>
                    <a:pt x="6080" y="1869"/>
                  </a:cubicBezTo>
                  <a:cubicBezTo>
                    <a:pt x="5954" y="1109"/>
                    <a:pt x="5542" y="475"/>
                    <a:pt x="5004"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5"/>
            <p:cNvSpPr/>
            <p:nvPr/>
          </p:nvSpPr>
          <p:spPr>
            <a:xfrm>
              <a:off x="2937100" y="2434575"/>
              <a:ext cx="240725" cy="221150"/>
            </a:xfrm>
            <a:custGeom>
              <a:avLst/>
              <a:gdLst/>
              <a:ahLst/>
              <a:cxnLst/>
              <a:rect l="l" t="t" r="r" b="b"/>
              <a:pathLst>
                <a:path w="9629" h="8846" extrusionOk="0">
                  <a:moveTo>
                    <a:pt x="4840" y="0"/>
                  </a:moveTo>
                  <a:cubicBezTo>
                    <a:pt x="4560" y="0"/>
                    <a:pt x="4276" y="28"/>
                    <a:pt x="3991" y="84"/>
                  </a:cubicBezTo>
                  <a:cubicBezTo>
                    <a:pt x="1584" y="528"/>
                    <a:pt x="1" y="2871"/>
                    <a:pt x="476" y="5247"/>
                  </a:cubicBezTo>
                  <a:cubicBezTo>
                    <a:pt x="894" y="7365"/>
                    <a:pt x="2736" y="8846"/>
                    <a:pt x="4813" y="8846"/>
                  </a:cubicBezTo>
                  <a:cubicBezTo>
                    <a:pt x="5095" y="8846"/>
                    <a:pt x="5382" y="8819"/>
                    <a:pt x="5670" y="8762"/>
                  </a:cubicBezTo>
                  <a:cubicBezTo>
                    <a:pt x="8045" y="8287"/>
                    <a:pt x="9628" y="5975"/>
                    <a:pt x="9153" y="3568"/>
                  </a:cubicBezTo>
                  <a:cubicBezTo>
                    <a:pt x="8763" y="1477"/>
                    <a:pt x="6901" y="0"/>
                    <a:pt x="4840" y="0"/>
                  </a:cubicBezTo>
                  <a:close/>
                </a:path>
              </a:pathLst>
            </a:custGeom>
            <a:solidFill>
              <a:srgbClr val="262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5"/>
            <p:cNvSpPr/>
            <p:nvPr/>
          </p:nvSpPr>
          <p:spPr>
            <a:xfrm>
              <a:off x="2937100" y="2434575"/>
              <a:ext cx="240725" cy="221150"/>
            </a:xfrm>
            <a:custGeom>
              <a:avLst/>
              <a:gdLst/>
              <a:ahLst/>
              <a:cxnLst/>
              <a:rect l="l" t="t" r="r" b="b"/>
              <a:pathLst>
                <a:path w="9629" h="8846" extrusionOk="0">
                  <a:moveTo>
                    <a:pt x="4840" y="0"/>
                  </a:moveTo>
                  <a:cubicBezTo>
                    <a:pt x="4560" y="0"/>
                    <a:pt x="4276" y="28"/>
                    <a:pt x="3991" y="84"/>
                  </a:cubicBezTo>
                  <a:cubicBezTo>
                    <a:pt x="1584" y="528"/>
                    <a:pt x="1" y="2871"/>
                    <a:pt x="476" y="5247"/>
                  </a:cubicBezTo>
                  <a:cubicBezTo>
                    <a:pt x="894" y="7365"/>
                    <a:pt x="2736" y="8846"/>
                    <a:pt x="4813" y="8846"/>
                  </a:cubicBezTo>
                  <a:cubicBezTo>
                    <a:pt x="5095" y="8846"/>
                    <a:pt x="5382" y="8819"/>
                    <a:pt x="5670" y="8762"/>
                  </a:cubicBezTo>
                  <a:cubicBezTo>
                    <a:pt x="8045" y="8287"/>
                    <a:pt x="9628" y="5975"/>
                    <a:pt x="9153" y="3568"/>
                  </a:cubicBezTo>
                  <a:cubicBezTo>
                    <a:pt x="8763" y="1477"/>
                    <a:pt x="6901" y="0"/>
                    <a:pt x="4840"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5"/>
            <p:cNvSpPr/>
            <p:nvPr/>
          </p:nvSpPr>
          <p:spPr>
            <a:xfrm>
              <a:off x="2967200" y="2462050"/>
              <a:ext cx="180525" cy="166200"/>
            </a:xfrm>
            <a:custGeom>
              <a:avLst/>
              <a:gdLst/>
              <a:ahLst/>
              <a:cxnLst/>
              <a:rect l="l" t="t" r="r" b="b"/>
              <a:pathLst>
                <a:path w="7221" h="6648" extrusionOk="0">
                  <a:moveTo>
                    <a:pt x="3615" y="1"/>
                  </a:moveTo>
                  <a:cubicBezTo>
                    <a:pt x="3405" y="1"/>
                    <a:pt x="3191" y="21"/>
                    <a:pt x="2977" y="62"/>
                  </a:cubicBezTo>
                  <a:cubicBezTo>
                    <a:pt x="1172" y="411"/>
                    <a:pt x="0" y="2152"/>
                    <a:pt x="349" y="3958"/>
                  </a:cubicBezTo>
                  <a:cubicBezTo>
                    <a:pt x="656" y="5548"/>
                    <a:pt x="2045" y="6647"/>
                    <a:pt x="3606" y="6647"/>
                  </a:cubicBezTo>
                  <a:cubicBezTo>
                    <a:pt x="3816" y="6647"/>
                    <a:pt x="4030" y="6627"/>
                    <a:pt x="4244" y="6586"/>
                  </a:cubicBezTo>
                  <a:cubicBezTo>
                    <a:pt x="6049" y="6238"/>
                    <a:pt x="7221" y="4496"/>
                    <a:pt x="6872" y="2691"/>
                  </a:cubicBezTo>
                  <a:cubicBezTo>
                    <a:pt x="6565" y="1100"/>
                    <a:pt x="5176" y="1"/>
                    <a:pt x="3615"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5"/>
            <p:cNvSpPr/>
            <p:nvPr/>
          </p:nvSpPr>
          <p:spPr>
            <a:xfrm>
              <a:off x="2987000" y="2482600"/>
              <a:ext cx="160725" cy="145500"/>
            </a:xfrm>
            <a:custGeom>
              <a:avLst/>
              <a:gdLst/>
              <a:ahLst/>
              <a:cxnLst/>
              <a:rect l="l" t="t" r="r" b="b"/>
              <a:pathLst>
                <a:path w="6429" h="5820" extrusionOk="0">
                  <a:moveTo>
                    <a:pt x="5004" y="0"/>
                  </a:moveTo>
                  <a:cubicBezTo>
                    <a:pt x="5225" y="349"/>
                    <a:pt x="5384" y="697"/>
                    <a:pt x="5447" y="1140"/>
                  </a:cubicBezTo>
                  <a:cubicBezTo>
                    <a:pt x="5795" y="2914"/>
                    <a:pt x="4624" y="4656"/>
                    <a:pt x="2819" y="5004"/>
                  </a:cubicBezTo>
                  <a:cubicBezTo>
                    <a:pt x="2595" y="5051"/>
                    <a:pt x="2373" y="5074"/>
                    <a:pt x="2154" y="5074"/>
                  </a:cubicBezTo>
                  <a:cubicBezTo>
                    <a:pt x="1351" y="5074"/>
                    <a:pt x="597" y="4767"/>
                    <a:pt x="0" y="4244"/>
                  </a:cubicBezTo>
                  <a:lnTo>
                    <a:pt x="0" y="4244"/>
                  </a:lnTo>
                  <a:cubicBezTo>
                    <a:pt x="594" y="5216"/>
                    <a:pt x="1671" y="5819"/>
                    <a:pt x="2839" y="5819"/>
                  </a:cubicBezTo>
                  <a:cubicBezTo>
                    <a:pt x="3042" y="5819"/>
                    <a:pt x="3246" y="5801"/>
                    <a:pt x="3452" y="5764"/>
                  </a:cubicBezTo>
                  <a:cubicBezTo>
                    <a:pt x="5257" y="5416"/>
                    <a:pt x="6429" y="3674"/>
                    <a:pt x="6080" y="1869"/>
                  </a:cubicBezTo>
                  <a:cubicBezTo>
                    <a:pt x="5954" y="1109"/>
                    <a:pt x="5542" y="475"/>
                    <a:pt x="5004" y="0"/>
                  </a:cubicBez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5"/>
            <p:cNvSpPr/>
            <p:nvPr/>
          </p:nvSpPr>
          <p:spPr>
            <a:xfrm>
              <a:off x="3025775" y="2511075"/>
              <a:ext cx="76825" cy="80000"/>
            </a:xfrm>
            <a:custGeom>
              <a:avLst/>
              <a:gdLst/>
              <a:ahLst/>
              <a:cxnLst/>
              <a:rect l="l" t="t" r="r" b="b"/>
              <a:pathLst>
                <a:path w="3073" h="3200" extrusionOk="0">
                  <a:moveTo>
                    <a:pt x="824" y="920"/>
                  </a:moveTo>
                  <a:lnTo>
                    <a:pt x="2028" y="1331"/>
                  </a:lnTo>
                  <a:lnTo>
                    <a:pt x="1046" y="2155"/>
                  </a:lnTo>
                  <a:lnTo>
                    <a:pt x="824" y="920"/>
                  </a:lnTo>
                  <a:close/>
                  <a:moveTo>
                    <a:pt x="343" y="0"/>
                  </a:moveTo>
                  <a:cubicBezTo>
                    <a:pt x="263" y="0"/>
                    <a:pt x="189" y="35"/>
                    <a:pt x="127" y="96"/>
                  </a:cubicBezTo>
                  <a:cubicBezTo>
                    <a:pt x="32" y="160"/>
                    <a:pt x="1" y="255"/>
                    <a:pt x="1" y="350"/>
                  </a:cubicBezTo>
                  <a:cubicBezTo>
                    <a:pt x="1" y="381"/>
                    <a:pt x="1" y="413"/>
                    <a:pt x="1" y="445"/>
                  </a:cubicBezTo>
                  <a:lnTo>
                    <a:pt x="476" y="2915"/>
                  </a:lnTo>
                  <a:cubicBezTo>
                    <a:pt x="507" y="3042"/>
                    <a:pt x="603" y="3137"/>
                    <a:pt x="698" y="3168"/>
                  </a:cubicBezTo>
                  <a:cubicBezTo>
                    <a:pt x="761" y="3200"/>
                    <a:pt x="793" y="3200"/>
                    <a:pt x="824" y="3200"/>
                  </a:cubicBezTo>
                  <a:cubicBezTo>
                    <a:pt x="919" y="3200"/>
                    <a:pt x="983" y="3168"/>
                    <a:pt x="1046" y="3105"/>
                  </a:cubicBezTo>
                  <a:lnTo>
                    <a:pt x="2946" y="1458"/>
                  </a:lnTo>
                  <a:cubicBezTo>
                    <a:pt x="3041" y="1395"/>
                    <a:pt x="3073" y="1300"/>
                    <a:pt x="3073" y="1205"/>
                  </a:cubicBezTo>
                  <a:cubicBezTo>
                    <a:pt x="3073" y="1173"/>
                    <a:pt x="3073" y="1141"/>
                    <a:pt x="3073" y="1110"/>
                  </a:cubicBezTo>
                  <a:cubicBezTo>
                    <a:pt x="3041" y="983"/>
                    <a:pt x="2978" y="888"/>
                    <a:pt x="2851" y="856"/>
                  </a:cubicBezTo>
                  <a:lnTo>
                    <a:pt x="476" y="33"/>
                  </a:lnTo>
                  <a:cubicBezTo>
                    <a:pt x="431" y="11"/>
                    <a:pt x="386" y="0"/>
                    <a:pt x="343"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5"/>
            <p:cNvSpPr/>
            <p:nvPr/>
          </p:nvSpPr>
          <p:spPr>
            <a:xfrm>
              <a:off x="2851600" y="2381925"/>
              <a:ext cx="32500" cy="84850"/>
            </a:xfrm>
            <a:custGeom>
              <a:avLst/>
              <a:gdLst/>
              <a:ahLst/>
              <a:cxnLst/>
              <a:rect l="l" t="t" r="r" b="b"/>
              <a:pathLst>
                <a:path w="1300" h="3394" extrusionOk="0">
                  <a:moveTo>
                    <a:pt x="376" y="0"/>
                  </a:moveTo>
                  <a:cubicBezTo>
                    <a:pt x="357" y="0"/>
                    <a:pt x="337" y="2"/>
                    <a:pt x="317" y="5"/>
                  </a:cubicBezTo>
                  <a:cubicBezTo>
                    <a:pt x="127" y="69"/>
                    <a:pt x="1" y="227"/>
                    <a:pt x="32" y="449"/>
                  </a:cubicBezTo>
                  <a:lnTo>
                    <a:pt x="571" y="3109"/>
                  </a:lnTo>
                  <a:cubicBezTo>
                    <a:pt x="602" y="3267"/>
                    <a:pt x="729" y="3394"/>
                    <a:pt x="919" y="3394"/>
                  </a:cubicBezTo>
                  <a:cubicBezTo>
                    <a:pt x="919" y="3394"/>
                    <a:pt x="951" y="3394"/>
                    <a:pt x="982" y="3362"/>
                  </a:cubicBezTo>
                  <a:cubicBezTo>
                    <a:pt x="1172" y="3331"/>
                    <a:pt x="1299" y="3141"/>
                    <a:pt x="1267" y="2951"/>
                  </a:cubicBezTo>
                  <a:lnTo>
                    <a:pt x="729" y="290"/>
                  </a:lnTo>
                  <a:cubicBezTo>
                    <a:pt x="701" y="120"/>
                    <a:pt x="545" y="0"/>
                    <a:pt x="376"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5"/>
            <p:cNvSpPr/>
            <p:nvPr/>
          </p:nvSpPr>
          <p:spPr>
            <a:xfrm>
              <a:off x="2824675" y="2408850"/>
              <a:ext cx="86325" cy="31025"/>
            </a:xfrm>
            <a:custGeom>
              <a:avLst/>
              <a:gdLst/>
              <a:ahLst/>
              <a:cxnLst/>
              <a:rect l="l" t="t" r="r" b="b"/>
              <a:pathLst>
                <a:path w="3453" h="1241" extrusionOk="0">
                  <a:moveTo>
                    <a:pt x="3068" y="0"/>
                  </a:moveTo>
                  <a:cubicBezTo>
                    <a:pt x="3049" y="0"/>
                    <a:pt x="3029" y="2"/>
                    <a:pt x="3009" y="5"/>
                  </a:cubicBezTo>
                  <a:lnTo>
                    <a:pt x="318" y="512"/>
                  </a:lnTo>
                  <a:cubicBezTo>
                    <a:pt x="128" y="575"/>
                    <a:pt x="1" y="733"/>
                    <a:pt x="64" y="955"/>
                  </a:cubicBezTo>
                  <a:cubicBezTo>
                    <a:pt x="96" y="1113"/>
                    <a:pt x="223" y="1240"/>
                    <a:pt x="413" y="1240"/>
                  </a:cubicBezTo>
                  <a:cubicBezTo>
                    <a:pt x="413" y="1240"/>
                    <a:pt x="444" y="1240"/>
                    <a:pt x="476" y="1208"/>
                  </a:cubicBezTo>
                  <a:lnTo>
                    <a:pt x="3136" y="702"/>
                  </a:lnTo>
                  <a:cubicBezTo>
                    <a:pt x="3326" y="670"/>
                    <a:pt x="3453" y="480"/>
                    <a:pt x="3421" y="290"/>
                  </a:cubicBezTo>
                  <a:cubicBezTo>
                    <a:pt x="3393" y="120"/>
                    <a:pt x="3237" y="0"/>
                    <a:pt x="3068"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5"/>
            <p:cNvSpPr/>
            <p:nvPr/>
          </p:nvSpPr>
          <p:spPr>
            <a:xfrm>
              <a:off x="2694050" y="2566650"/>
              <a:ext cx="82375" cy="79850"/>
            </a:xfrm>
            <a:custGeom>
              <a:avLst/>
              <a:gdLst/>
              <a:ahLst/>
              <a:cxnLst/>
              <a:rect l="l" t="t" r="r" b="b"/>
              <a:pathLst>
                <a:path w="3295" h="3194" extrusionOk="0">
                  <a:moveTo>
                    <a:pt x="1647" y="724"/>
                  </a:moveTo>
                  <a:cubicBezTo>
                    <a:pt x="2059" y="724"/>
                    <a:pt x="2439" y="1009"/>
                    <a:pt x="2534" y="1420"/>
                  </a:cubicBezTo>
                  <a:cubicBezTo>
                    <a:pt x="2566" y="1674"/>
                    <a:pt x="2534" y="1895"/>
                    <a:pt x="2376" y="2117"/>
                  </a:cubicBezTo>
                  <a:cubicBezTo>
                    <a:pt x="2249" y="2307"/>
                    <a:pt x="2059" y="2434"/>
                    <a:pt x="1806" y="2465"/>
                  </a:cubicBezTo>
                  <a:cubicBezTo>
                    <a:pt x="1746" y="2482"/>
                    <a:pt x="1685" y="2490"/>
                    <a:pt x="1622" y="2490"/>
                  </a:cubicBezTo>
                  <a:cubicBezTo>
                    <a:pt x="1453" y="2490"/>
                    <a:pt x="1280" y="2431"/>
                    <a:pt x="1141" y="2339"/>
                  </a:cubicBezTo>
                  <a:cubicBezTo>
                    <a:pt x="951" y="2212"/>
                    <a:pt x="824" y="1990"/>
                    <a:pt x="761" y="1769"/>
                  </a:cubicBezTo>
                  <a:cubicBezTo>
                    <a:pt x="729" y="1547"/>
                    <a:pt x="761" y="1294"/>
                    <a:pt x="919" y="1104"/>
                  </a:cubicBezTo>
                  <a:cubicBezTo>
                    <a:pt x="1046" y="914"/>
                    <a:pt x="1236" y="787"/>
                    <a:pt x="1489" y="724"/>
                  </a:cubicBezTo>
                  <a:close/>
                  <a:moveTo>
                    <a:pt x="1650" y="0"/>
                  </a:moveTo>
                  <a:cubicBezTo>
                    <a:pt x="1555" y="0"/>
                    <a:pt x="1458" y="9"/>
                    <a:pt x="1362" y="27"/>
                  </a:cubicBezTo>
                  <a:cubicBezTo>
                    <a:pt x="919" y="122"/>
                    <a:pt x="570" y="344"/>
                    <a:pt x="317" y="692"/>
                  </a:cubicBezTo>
                  <a:cubicBezTo>
                    <a:pt x="95" y="1072"/>
                    <a:pt x="0" y="1484"/>
                    <a:pt x="64" y="1895"/>
                  </a:cubicBezTo>
                  <a:cubicBezTo>
                    <a:pt x="159" y="2339"/>
                    <a:pt x="412" y="2687"/>
                    <a:pt x="761" y="2940"/>
                  </a:cubicBezTo>
                  <a:cubicBezTo>
                    <a:pt x="1014" y="3099"/>
                    <a:pt x="1331" y="3194"/>
                    <a:pt x="1647" y="3194"/>
                  </a:cubicBezTo>
                  <a:cubicBezTo>
                    <a:pt x="1742" y="3194"/>
                    <a:pt x="1837" y="3194"/>
                    <a:pt x="1964" y="3162"/>
                  </a:cubicBezTo>
                  <a:cubicBezTo>
                    <a:pt x="2376" y="3099"/>
                    <a:pt x="2724" y="2845"/>
                    <a:pt x="2977" y="2497"/>
                  </a:cubicBezTo>
                  <a:cubicBezTo>
                    <a:pt x="3231" y="2149"/>
                    <a:pt x="3294" y="1705"/>
                    <a:pt x="3231" y="1294"/>
                  </a:cubicBezTo>
                  <a:cubicBezTo>
                    <a:pt x="3090" y="535"/>
                    <a:pt x="2401" y="0"/>
                    <a:pt x="1650" y="0"/>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5"/>
            <p:cNvSpPr/>
            <p:nvPr/>
          </p:nvSpPr>
          <p:spPr>
            <a:xfrm>
              <a:off x="2879325" y="2688900"/>
              <a:ext cx="91050" cy="71625"/>
            </a:xfrm>
            <a:custGeom>
              <a:avLst/>
              <a:gdLst/>
              <a:ahLst/>
              <a:cxnLst/>
              <a:rect l="l" t="t" r="r" b="b"/>
              <a:pathLst>
                <a:path w="3642" h="2865" extrusionOk="0">
                  <a:moveTo>
                    <a:pt x="2660" y="774"/>
                  </a:moveTo>
                  <a:lnTo>
                    <a:pt x="2850" y="1724"/>
                  </a:lnTo>
                  <a:lnTo>
                    <a:pt x="982" y="2072"/>
                  </a:lnTo>
                  <a:lnTo>
                    <a:pt x="792" y="1122"/>
                  </a:lnTo>
                  <a:lnTo>
                    <a:pt x="2660" y="774"/>
                  </a:lnTo>
                  <a:close/>
                  <a:moveTo>
                    <a:pt x="2965" y="1"/>
                  </a:moveTo>
                  <a:cubicBezTo>
                    <a:pt x="2938" y="1"/>
                    <a:pt x="2910" y="5"/>
                    <a:pt x="2882" y="14"/>
                  </a:cubicBezTo>
                  <a:lnTo>
                    <a:pt x="317" y="489"/>
                  </a:lnTo>
                  <a:cubicBezTo>
                    <a:pt x="127" y="521"/>
                    <a:pt x="0" y="711"/>
                    <a:pt x="32" y="901"/>
                  </a:cubicBezTo>
                  <a:lnTo>
                    <a:pt x="348" y="2579"/>
                  </a:lnTo>
                  <a:cubicBezTo>
                    <a:pt x="348" y="2674"/>
                    <a:pt x="412" y="2737"/>
                    <a:pt x="507" y="2801"/>
                  </a:cubicBezTo>
                  <a:cubicBezTo>
                    <a:pt x="538" y="2832"/>
                    <a:pt x="633" y="2864"/>
                    <a:pt x="697" y="2864"/>
                  </a:cubicBezTo>
                  <a:cubicBezTo>
                    <a:pt x="697" y="2864"/>
                    <a:pt x="728" y="2864"/>
                    <a:pt x="760" y="2832"/>
                  </a:cubicBezTo>
                  <a:lnTo>
                    <a:pt x="3325" y="2357"/>
                  </a:lnTo>
                  <a:cubicBezTo>
                    <a:pt x="3515" y="2326"/>
                    <a:pt x="3642" y="2136"/>
                    <a:pt x="3610" y="1946"/>
                  </a:cubicBezTo>
                  <a:lnTo>
                    <a:pt x="3294" y="267"/>
                  </a:lnTo>
                  <a:cubicBezTo>
                    <a:pt x="3262" y="204"/>
                    <a:pt x="3230" y="109"/>
                    <a:pt x="3135" y="46"/>
                  </a:cubicBezTo>
                  <a:cubicBezTo>
                    <a:pt x="3090" y="23"/>
                    <a:pt x="3030" y="1"/>
                    <a:pt x="2965" y="1"/>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5"/>
            <p:cNvSpPr/>
            <p:nvPr/>
          </p:nvSpPr>
          <p:spPr>
            <a:xfrm>
              <a:off x="6368450" y="1530150"/>
              <a:ext cx="490100" cy="688825"/>
            </a:xfrm>
            <a:custGeom>
              <a:avLst/>
              <a:gdLst/>
              <a:ahLst/>
              <a:cxnLst/>
              <a:rect l="l" t="t" r="r" b="b"/>
              <a:pathLst>
                <a:path w="19604" h="27553" extrusionOk="0">
                  <a:moveTo>
                    <a:pt x="8393" y="1"/>
                  </a:moveTo>
                  <a:cubicBezTo>
                    <a:pt x="6683" y="6113"/>
                    <a:pt x="4371" y="22137"/>
                    <a:pt x="1" y="27553"/>
                  </a:cubicBezTo>
                  <a:cubicBezTo>
                    <a:pt x="8551" y="27299"/>
                    <a:pt x="14948" y="27014"/>
                    <a:pt x="16564" y="26729"/>
                  </a:cubicBezTo>
                  <a:cubicBezTo>
                    <a:pt x="19604" y="26222"/>
                    <a:pt x="15772" y="2471"/>
                    <a:pt x="13238" y="697"/>
                  </a:cubicBezTo>
                  <a:cubicBezTo>
                    <a:pt x="12890" y="444"/>
                    <a:pt x="11148" y="222"/>
                    <a:pt x="8393" y="1"/>
                  </a:cubicBezTo>
                  <a:close/>
                </a:path>
              </a:pathLst>
            </a:custGeom>
            <a:solidFill>
              <a:srgbClr val="CE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 name="Google Shape;418;p15"/>
          <p:cNvSpPr txBox="1"/>
          <p:nvPr/>
        </p:nvSpPr>
        <p:spPr>
          <a:xfrm>
            <a:off x="542925" y="406900"/>
            <a:ext cx="7890825" cy="481200"/>
          </a:xfrm>
          <a:prstGeom prst="rect">
            <a:avLst/>
          </a:prstGeom>
          <a:noFill/>
          <a:ln>
            <a:noFill/>
          </a:ln>
        </p:spPr>
        <p:txBody>
          <a:bodyPr spcFirstLastPara="1" wrap="square" lIns="91425" tIns="91425" rIns="91425" bIns="91425" anchor="ctr" anchorCtr="0">
            <a:noAutofit/>
          </a:bodyPr>
          <a:lstStyle/>
          <a:p>
            <a:pPr algn="ctr"/>
            <a:r>
              <a:rPr lang="en-US" altLang="zh-CN" sz="2400">
                <a:latin typeface="Fira Sans Medium"/>
                <a:ea typeface="等线"/>
              </a:rPr>
              <a:t>Random Forest Model</a:t>
            </a:r>
            <a:endParaRPr lang="en-US"/>
          </a:p>
        </p:txBody>
      </p:sp>
      <p:sp>
        <p:nvSpPr>
          <p:cNvPr id="419" name="Google Shape;419;p15"/>
          <p:cNvSpPr txBox="1"/>
          <p:nvPr/>
        </p:nvSpPr>
        <p:spPr>
          <a:xfrm>
            <a:off x="5337079" y="1193150"/>
            <a:ext cx="2827500" cy="42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700">
                <a:latin typeface="Fira Sans Medium"/>
                <a:ea typeface="Fira Sans Medium"/>
                <a:cs typeface="Fira Sans Medium"/>
                <a:sym typeface="Fira Sans Medium"/>
              </a:rPr>
              <a:t>Data Process</a:t>
            </a:r>
            <a:endParaRPr sz="1700">
              <a:latin typeface="Fira Sans Medium"/>
              <a:ea typeface="Fira Sans Medium"/>
              <a:cs typeface="Fira Sans Medium"/>
              <a:sym typeface="Fira Sans Medium"/>
            </a:endParaRPr>
          </a:p>
        </p:txBody>
      </p:sp>
      <p:sp>
        <p:nvSpPr>
          <p:cNvPr id="420" name="Google Shape;420;p15"/>
          <p:cNvSpPr txBox="1"/>
          <p:nvPr/>
        </p:nvSpPr>
        <p:spPr>
          <a:xfrm>
            <a:off x="5337075" y="1540000"/>
            <a:ext cx="2827500" cy="5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a:t>Loading the data and handling missing values</a:t>
            </a:r>
            <a:endParaRPr sz="1200">
              <a:latin typeface="Fira Sans"/>
              <a:ea typeface="Fira Sans"/>
              <a:cs typeface="Fira Sans"/>
              <a:sym typeface="Fira Sans"/>
            </a:endParaRPr>
          </a:p>
        </p:txBody>
      </p:sp>
      <p:sp>
        <p:nvSpPr>
          <p:cNvPr id="421" name="Google Shape;421;p15"/>
          <p:cNvSpPr txBox="1"/>
          <p:nvPr/>
        </p:nvSpPr>
        <p:spPr>
          <a:xfrm>
            <a:off x="5712050" y="2525050"/>
            <a:ext cx="2827500" cy="42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700">
                <a:latin typeface="Fira Sans Medium"/>
                <a:ea typeface="Fira Sans Medium"/>
                <a:cs typeface="Fira Sans Medium"/>
                <a:sym typeface="Fira Sans Medium"/>
              </a:rPr>
              <a:t>Process Imbalance Data</a:t>
            </a:r>
            <a:endParaRPr sz="1700">
              <a:latin typeface="Fira Sans Medium"/>
              <a:ea typeface="Fira Sans Medium"/>
              <a:cs typeface="Fira Sans Medium"/>
              <a:sym typeface="Fira Sans Medium"/>
            </a:endParaRPr>
          </a:p>
        </p:txBody>
      </p:sp>
      <p:sp>
        <p:nvSpPr>
          <p:cNvPr id="422" name="Google Shape;422;p15"/>
          <p:cNvSpPr txBox="1"/>
          <p:nvPr/>
        </p:nvSpPr>
        <p:spPr>
          <a:xfrm>
            <a:off x="5712050" y="2871900"/>
            <a:ext cx="2573100" cy="5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a:t>Use SMOTE to balance the dataset </a:t>
            </a:r>
            <a:endParaRPr sz="1200">
              <a:sym typeface="Fira Sans"/>
            </a:endParaRPr>
          </a:p>
        </p:txBody>
      </p:sp>
      <p:sp>
        <p:nvSpPr>
          <p:cNvPr id="423" name="Google Shape;423;p15"/>
          <p:cNvSpPr txBox="1"/>
          <p:nvPr/>
        </p:nvSpPr>
        <p:spPr>
          <a:xfrm>
            <a:off x="5235307" y="3851575"/>
            <a:ext cx="3430321" cy="42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700">
                <a:latin typeface="Fira Sans Medium"/>
                <a:ea typeface="Fira Sans Medium"/>
                <a:cs typeface="Fira Sans Medium"/>
                <a:sym typeface="Fira Sans Medium"/>
              </a:rPr>
              <a:t>Model training &amp;</a:t>
            </a:r>
            <a:r>
              <a:rPr lang="en-US" altLang="zh-CN" sz="1700">
                <a:latin typeface="Fira Sans Medium"/>
              </a:rPr>
              <a:t>Cross Validation</a:t>
            </a:r>
            <a:endParaRPr sz="1700">
              <a:latin typeface="Fira Sans Medium"/>
              <a:sym typeface="Fira Sans Medium"/>
            </a:endParaRPr>
          </a:p>
        </p:txBody>
      </p:sp>
      <p:sp>
        <p:nvSpPr>
          <p:cNvPr id="424" name="Google Shape;424;p15"/>
          <p:cNvSpPr txBox="1"/>
          <p:nvPr/>
        </p:nvSpPr>
        <p:spPr>
          <a:xfrm>
            <a:off x="5337075" y="4203800"/>
            <a:ext cx="2827500" cy="5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a:t>Split the dataset and use 5-folds</a:t>
            </a:r>
            <a:endParaRPr sz="1200">
              <a:latin typeface="Fira Sans"/>
              <a:ea typeface="Fira Sans"/>
              <a:cs typeface="Fira Sans"/>
              <a:sym typeface="Fira Sans"/>
            </a:endParaRPr>
          </a:p>
        </p:txBody>
      </p:sp>
      <p:pic>
        <p:nvPicPr>
          <p:cNvPr id="6" name="Picture 5" descr="A person with a question mark on their head&#10;&#10;AI-generated content may be incorrect.">
            <a:extLst>
              <a:ext uri="{FF2B5EF4-FFF2-40B4-BE49-F238E27FC236}">
                <a16:creationId xmlns:a16="http://schemas.microsoft.com/office/drawing/2014/main" id="{83365734-45A0-D4DD-9504-4C157B4A4EA6}"/>
              </a:ext>
            </a:extLst>
          </p:cNvPr>
          <p:cNvPicPr>
            <a:picLocks noChangeAspect="1"/>
          </p:cNvPicPr>
          <p:nvPr/>
        </p:nvPicPr>
        <p:blipFill>
          <a:blip r:embed="rId3"/>
          <a:stretch>
            <a:fillRect/>
          </a:stretch>
        </p:blipFill>
        <p:spPr>
          <a:xfrm>
            <a:off x="325453" y="1711111"/>
            <a:ext cx="3712843" cy="21658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C09A48-78D5-992D-BD7C-DA51E52B0138}"/>
              </a:ext>
            </a:extLst>
          </p:cNvPr>
          <p:cNvPicPr>
            <a:picLocks noChangeAspect="1"/>
          </p:cNvPicPr>
          <p:nvPr/>
        </p:nvPicPr>
        <p:blipFill>
          <a:blip r:embed="rId3"/>
          <a:stretch>
            <a:fillRect/>
          </a:stretch>
        </p:blipFill>
        <p:spPr>
          <a:xfrm>
            <a:off x="1078355" y="0"/>
            <a:ext cx="6530090" cy="5143500"/>
          </a:xfrm>
          <a:prstGeom prst="rect">
            <a:avLst/>
          </a:prstGeom>
        </p:spPr>
      </p:pic>
    </p:spTree>
    <p:extLst>
      <p:ext uri="{BB962C8B-B14F-4D97-AF65-F5344CB8AC3E}">
        <p14:creationId xmlns:p14="http://schemas.microsoft.com/office/powerpoint/2010/main" val="2559004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4428E-C714-6DDC-67BA-677C6BA64C89}"/>
            </a:ext>
          </a:extLst>
        </p:cNvPr>
        <p:cNvGrpSpPr/>
        <p:nvPr/>
      </p:nvGrpSpPr>
      <p:grpSpPr>
        <a:xfrm>
          <a:off x="0" y="0"/>
          <a:ext cx="0" cy="0"/>
          <a:chOff x="0" y="0"/>
          <a:chExt cx="0" cy="0"/>
        </a:xfrm>
      </p:grpSpPr>
      <p:sp>
        <p:nvSpPr>
          <p:cNvPr id="2" name="Google Shape;418;p15">
            <a:extLst>
              <a:ext uri="{FF2B5EF4-FFF2-40B4-BE49-F238E27FC236}">
                <a16:creationId xmlns:a16="http://schemas.microsoft.com/office/drawing/2014/main" id="{D88925F1-B4BD-0273-C655-A2064B17CF90}"/>
              </a:ext>
            </a:extLst>
          </p:cNvPr>
          <p:cNvSpPr txBox="1"/>
          <p:nvPr/>
        </p:nvSpPr>
        <p:spPr>
          <a:xfrm>
            <a:off x="523875" y="406900"/>
            <a:ext cx="4270375" cy="481200"/>
          </a:xfrm>
          <a:prstGeom prst="rect">
            <a:avLst/>
          </a:prstGeom>
          <a:noFill/>
          <a:ln>
            <a:noFill/>
          </a:ln>
        </p:spPr>
        <p:txBody>
          <a:bodyPr spcFirstLastPara="1" wrap="square" lIns="91425" tIns="91425" rIns="91425" bIns="91425" anchor="ctr" anchorCtr="0">
            <a:noAutofit/>
          </a:bodyPr>
          <a:lstStyle/>
          <a:p>
            <a:r>
              <a:rPr lang="en-US" altLang="zh-CN" sz="2400">
                <a:latin typeface="Fira Sans Medium"/>
                <a:ea typeface="等线"/>
              </a:rPr>
              <a:t>Random Forest Model</a:t>
            </a:r>
          </a:p>
        </p:txBody>
      </p:sp>
      <p:sp>
        <p:nvSpPr>
          <p:cNvPr id="9" name="TextBox 8">
            <a:extLst>
              <a:ext uri="{FF2B5EF4-FFF2-40B4-BE49-F238E27FC236}">
                <a16:creationId xmlns:a16="http://schemas.microsoft.com/office/drawing/2014/main" id="{E060E55B-4AFE-7EC5-B227-EA0024EC4047}"/>
              </a:ext>
            </a:extLst>
          </p:cNvPr>
          <p:cNvSpPr txBox="1"/>
          <p:nvPr/>
        </p:nvSpPr>
        <p:spPr>
          <a:xfrm>
            <a:off x="359243" y="1087433"/>
            <a:ext cx="3854450" cy="3754874"/>
          </a:xfrm>
          <a:prstGeom prst="rect">
            <a:avLst/>
          </a:prstGeom>
          <a:noFill/>
        </p:spPr>
        <p:txBody>
          <a:bodyPr wrap="square" lIns="91440" tIns="45720" rIns="91440" bIns="45720" rtlCol="0" anchor="t">
            <a:spAutoFit/>
          </a:bodyPr>
          <a:lstStyle/>
          <a:p>
            <a:r>
              <a:rPr lang="en-US" sz="1400" b="1">
                <a:latin typeface="Fira Sans"/>
                <a:ea typeface="+mn-lt"/>
                <a:cs typeface="+mn-lt"/>
              </a:rPr>
              <a:t>Objective</a:t>
            </a:r>
            <a:r>
              <a:rPr lang="en-US" sz="1400">
                <a:latin typeface="Fira Sans"/>
                <a:ea typeface="+mn-lt"/>
                <a:cs typeface="+mn-lt"/>
              </a:rPr>
              <a:t>: Improve price category (</a:t>
            </a:r>
            <a:r>
              <a:rPr lang="en-US" sz="1400" b="1">
                <a:latin typeface="Fira Sans"/>
                <a:ea typeface="+mn-lt"/>
                <a:cs typeface="+mn-lt"/>
              </a:rPr>
              <a:t>Low, Medium, High</a:t>
            </a:r>
            <a:r>
              <a:rPr lang="en-US" sz="1400">
                <a:latin typeface="Fira Sans"/>
                <a:ea typeface="+mn-lt"/>
                <a:cs typeface="+mn-lt"/>
              </a:rPr>
              <a:t>) classification using </a:t>
            </a:r>
            <a:r>
              <a:rPr lang="en-US" sz="1400" b="1">
                <a:latin typeface="Fira Sans"/>
                <a:ea typeface="+mn-lt"/>
                <a:cs typeface="+mn-lt"/>
              </a:rPr>
              <a:t>Random Forest</a:t>
            </a:r>
            <a:r>
              <a:rPr lang="en-US" sz="1400">
                <a:latin typeface="Fira Sans"/>
                <a:ea typeface="+mn-lt"/>
                <a:cs typeface="+mn-lt"/>
              </a:rPr>
              <a:t> with advanced feature engineering.</a:t>
            </a:r>
            <a:endParaRPr lang="en-US" sz="1400">
              <a:latin typeface="Fira Sans"/>
            </a:endParaRPr>
          </a:p>
          <a:p>
            <a:r>
              <a:rPr lang="en-US" sz="1400" b="1">
                <a:latin typeface="Fira Sans"/>
                <a:ea typeface="+mn-lt"/>
                <a:cs typeface="+mn-lt"/>
              </a:rPr>
              <a:t>Methodology</a:t>
            </a:r>
            <a:r>
              <a:rPr lang="en-US" sz="1400">
                <a:latin typeface="Fira Sans"/>
                <a:ea typeface="+mn-lt"/>
                <a:cs typeface="+mn-lt"/>
              </a:rPr>
              <a:t>:</a:t>
            </a:r>
            <a:endParaRPr lang="en-US" sz="1400">
              <a:latin typeface="Fira Sans"/>
            </a:endParaRPr>
          </a:p>
          <a:p>
            <a:pPr marL="285750" indent="-285750">
              <a:buFont typeface="Arial"/>
              <a:buChar char="•"/>
            </a:pPr>
            <a:r>
              <a:rPr lang="en-US" sz="1400" b="1">
                <a:latin typeface="Fira Sans"/>
                <a:ea typeface="+mn-lt"/>
                <a:cs typeface="+mn-lt"/>
              </a:rPr>
              <a:t>Feature Engineering</a:t>
            </a:r>
            <a:r>
              <a:rPr lang="en-US" sz="1400">
                <a:latin typeface="Fira Sans"/>
                <a:ea typeface="+mn-lt"/>
                <a:cs typeface="+mn-lt"/>
              </a:rPr>
              <a:t>:</a:t>
            </a:r>
            <a:br>
              <a:rPr lang="en-US" sz="1400">
                <a:latin typeface="Fira Sans"/>
                <a:ea typeface="+mn-lt"/>
                <a:cs typeface="+mn-lt"/>
              </a:rPr>
            </a:br>
            <a:r>
              <a:rPr lang="en-US" sz="1400">
                <a:latin typeface="Fira Sans"/>
                <a:ea typeface="+mn-lt"/>
                <a:cs typeface="+mn-lt"/>
              </a:rPr>
              <a:t>✔ Encoded categorical features (manufacturer, category).</a:t>
            </a:r>
            <a:br>
              <a:rPr lang="en-US" sz="1400">
                <a:latin typeface="Fira Sans"/>
                <a:ea typeface="+mn-lt"/>
                <a:cs typeface="+mn-lt"/>
              </a:rPr>
            </a:br>
            <a:r>
              <a:rPr lang="en-US" sz="1400">
                <a:latin typeface="Fira Sans"/>
                <a:ea typeface="+mn-lt"/>
                <a:cs typeface="+mn-lt"/>
              </a:rPr>
              <a:t>✔ Extracted </a:t>
            </a:r>
            <a:r>
              <a:rPr lang="en-US" sz="1400" b="1">
                <a:latin typeface="Fira Sans"/>
                <a:ea typeface="+mn-lt"/>
                <a:cs typeface="+mn-lt"/>
              </a:rPr>
              <a:t>text-based</a:t>
            </a:r>
            <a:r>
              <a:rPr lang="en-US" sz="1400">
                <a:latin typeface="Fira Sans"/>
                <a:ea typeface="+mn-lt"/>
                <a:cs typeface="+mn-lt"/>
              </a:rPr>
              <a:t> features from customer Q&amp;A.</a:t>
            </a:r>
            <a:br>
              <a:rPr lang="en-US" sz="1400">
                <a:latin typeface="Fira Sans"/>
                <a:ea typeface="+mn-lt"/>
                <a:cs typeface="+mn-lt"/>
              </a:rPr>
            </a:br>
            <a:r>
              <a:rPr lang="en-US" sz="1400">
                <a:latin typeface="Fira Sans"/>
                <a:ea typeface="+mn-lt"/>
                <a:cs typeface="+mn-lt"/>
              </a:rPr>
              <a:t>✔ Applied </a:t>
            </a:r>
            <a:r>
              <a:rPr lang="en-US" sz="1400" b="1">
                <a:latin typeface="Fira Sans"/>
                <a:ea typeface="+mn-lt"/>
                <a:cs typeface="+mn-lt"/>
              </a:rPr>
              <a:t>TF-IDF vectorization</a:t>
            </a:r>
            <a:r>
              <a:rPr lang="en-US" sz="1400">
                <a:latin typeface="Fira Sans"/>
                <a:ea typeface="+mn-lt"/>
                <a:cs typeface="+mn-lt"/>
              </a:rPr>
              <a:t> on combined text data.</a:t>
            </a:r>
            <a:br>
              <a:rPr lang="en-US" sz="1400">
                <a:latin typeface="Fira Sans"/>
                <a:ea typeface="+mn-lt"/>
                <a:cs typeface="+mn-lt"/>
              </a:rPr>
            </a:br>
            <a:r>
              <a:rPr lang="en-US" sz="1400">
                <a:latin typeface="Fira Sans"/>
                <a:ea typeface="+mn-lt"/>
                <a:cs typeface="+mn-lt"/>
              </a:rPr>
              <a:t>✔ </a:t>
            </a:r>
            <a:r>
              <a:rPr lang="en-US" sz="1400" b="1">
                <a:latin typeface="Fira Sans"/>
                <a:ea typeface="+mn-lt"/>
                <a:cs typeface="+mn-lt"/>
              </a:rPr>
              <a:t>SMOTE</a:t>
            </a:r>
            <a:r>
              <a:rPr lang="en-US" sz="1400">
                <a:latin typeface="Fira Sans"/>
                <a:ea typeface="+mn-lt"/>
                <a:cs typeface="+mn-lt"/>
              </a:rPr>
              <a:t> for class balance in training.</a:t>
            </a:r>
            <a:endParaRPr lang="en-US" sz="1400">
              <a:latin typeface="Fira Sans"/>
            </a:endParaRPr>
          </a:p>
          <a:p>
            <a:pPr marL="285750" indent="-285750">
              <a:buFont typeface="Arial"/>
              <a:buChar char="•"/>
            </a:pPr>
            <a:r>
              <a:rPr lang="en-US" sz="1400" b="1">
                <a:latin typeface="Fira Sans"/>
                <a:ea typeface="+mn-lt"/>
                <a:cs typeface="+mn-lt"/>
              </a:rPr>
              <a:t>Model</a:t>
            </a:r>
            <a:r>
              <a:rPr lang="en-US" sz="1400">
                <a:latin typeface="Fira Sans"/>
                <a:ea typeface="+mn-lt"/>
                <a:cs typeface="+mn-lt"/>
              </a:rPr>
              <a:t>: </a:t>
            </a:r>
            <a:r>
              <a:rPr lang="en-US" sz="1400" b="1">
                <a:latin typeface="Fira Sans"/>
                <a:ea typeface="+mn-lt"/>
                <a:cs typeface="+mn-lt"/>
              </a:rPr>
              <a:t>Random Forest Classifier</a:t>
            </a:r>
            <a:r>
              <a:rPr lang="en-US" sz="1400">
                <a:latin typeface="Fira Sans"/>
                <a:ea typeface="+mn-lt"/>
                <a:cs typeface="+mn-lt"/>
              </a:rPr>
              <a:t> (100 estimators).</a:t>
            </a:r>
            <a:endParaRPr lang="en-US" sz="1400">
              <a:latin typeface="Fira Sans"/>
            </a:endParaRPr>
          </a:p>
          <a:p>
            <a:pPr marL="285750" indent="-285750">
              <a:buFont typeface="Arial"/>
              <a:buChar char="•"/>
            </a:pPr>
            <a:r>
              <a:rPr lang="en-US" sz="1400" b="1">
                <a:latin typeface="Fira Sans"/>
                <a:ea typeface="+mn-lt"/>
                <a:cs typeface="+mn-lt"/>
              </a:rPr>
              <a:t>Evaluation</a:t>
            </a:r>
            <a:r>
              <a:rPr lang="en-US" sz="1400">
                <a:latin typeface="Fira Sans"/>
                <a:ea typeface="+mn-lt"/>
                <a:cs typeface="+mn-lt"/>
              </a:rPr>
              <a:t>: </a:t>
            </a:r>
            <a:r>
              <a:rPr lang="en-US" sz="1400" b="1">
                <a:latin typeface="Fira Sans"/>
                <a:ea typeface="+mn-lt"/>
                <a:cs typeface="+mn-lt"/>
              </a:rPr>
              <a:t>Stratified K-Fold (5 splits)</a:t>
            </a:r>
            <a:r>
              <a:rPr lang="en-US" sz="1400">
                <a:latin typeface="Fira Sans"/>
                <a:ea typeface="+mn-lt"/>
                <a:cs typeface="+mn-lt"/>
              </a:rPr>
              <a:t> for stable performance assessment.</a:t>
            </a:r>
            <a:endParaRPr lang="en-US" sz="1400">
              <a:latin typeface="Fira Sans"/>
            </a:endParaRPr>
          </a:p>
          <a:p>
            <a:endParaRPr lang="en-US" sz="1400">
              <a:latin typeface="Fira Sans"/>
              <a:ea typeface="等线"/>
            </a:endParaRPr>
          </a:p>
        </p:txBody>
      </p:sp>
      <p:pic>
        <p:nvPicPr>
          <p:cNvPr id="7" name="Picture 6" descr="A close-up of a message&#10;&#10;AI-generated content may be incorrect.">
            <a:extLst>
              <a:ext uri="{FF2B5EF4-FFF2-40B4-BE49-F238E27FC236}">
                <a16:creationId xmlns:a16="http://schemas.microsoft.com/office/drawing/2014/main" id="{BA477017-440B-B97B-29D7-3BDFBCCB740C}"/>
              </a:ext>
            </a:extLst>
          </p:cNvPr>
          <p:cNvPicPr>
            <a:picLocks noChangeAspect="1"/>
          </p:cNvPicPr>
          <p:nvPr/>
        </p:nvPicPr>
        <p:blipFill>
          <a:blip r:embed="rId3"/>
          <a:stretch>
            <a:fillRect/>
          </a:stretch>
        </p:blipFill>
        <p:spPr>
          <a:xfrm>
            <a:off x="4548577" y="888100"/>
            <a:ext cx="4595423" cy="850915"/>
          </a:xfrm>
          <a:prstGeom prst="rect">
            <a:avLst/>
          </a:prstGeom>
        </p:spPr>
      </p:pic>
      <p:pic>
        <p:nvPicPr>
          <p:cNvPr id="8" name="Picture 7">
            <a:extLst>
              <a:ext uri="{FF2B5EF4-FFF2-40B4-BE49-F238E27FC236}">
                <a16:creationId xmlns:a16="http://schemas.microsoft.com/office/drawing/2014/main" id="{F3707334-C982-CE01-FA2E-EC064687C589}"/>
              </a:ext>
            </a:extLst>
          </p:cNvPr>
          <p:cNvPicPr>
            <a:picLocks noChangeAspect="1"/>
          </p:cNvPicPr>
          <p:nvPr/>
        </p:nvPicPr>
        <p:blipFill>
          <a:blip r:embed="rId4"/>
          <a:stretch>
            <a:fillRect/>
          </a:stretch>
        </p:blipFill>
        <p:spPr>
          <a:xfrm>
            <a:off x="4641851" y="1939747"/>
            <a:ext cx="4232274" cy="3017330"/>
          </a:xfrm>
          <a:prstGeom prst="rect">
            <a:avLst/>
          </a:prstGeom>
        </p:spPr>
      </p:pic>
      <p:pic>
        <p:nvPicPr>
          <p:cNvPr id="10" name="Picture 9">
            <a:extLst>
              <a:ext uri="{FF2B5EF4-FFF2-40B4-BE49-F238E27FC236}">
                <a16:creationId xmlns:a16="http://schemas.microsoft.com/office/drawing/2014/main" id="{60CD31F9-DF01-5CC9-67A8-E9A94CDE2CFD}"/>
              </a:ext>
            </a:extLst>
          </p:cNvPr>
          <p:cNvPicPr>
            <a:picLocks noChangeAspect="1"/>
          </p:cNvPicPr>
          <p:nvPr/>
        </p:nvPicPr>
        <p:blipFill>
          <a:blip r:embed="rId5"/>
          <a:stretch>
            <a:fillRect/>
          </a:stretch>
        </p:blipFill>
        <p:spPr>
          <a:xfrm>
            <a:off x="4572000" y="307682"/>
            <a:ext cx="4270376" cy="339818"/>
          </a:xfrm>
          <a:prstGeom prst="rect">
            <a:avLst/>
          </a:prstGeom>
        </p:spPr>
      </p:pic>
    </p:spTree>
    <p:extLst>
      <p:ext uri="{BB962C8B-B14F-4D97-AF65-F5344CB8AC3E}">
        <p14:creationId xmlns:p14="http://schemas.microsoft.com/office/powerpoint/2010/main" val="182324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2AC15-03D2-874D-306A-3AD6F2BF0F5D}"/>
            </a:ext>
          </a:extLst>
        </p:cNvPr>
        <p:cNvGrpSpPr/>
        <p:nvPr/>
      </p:nvGrpSpPr>
      <p:grpSpPr>
        <a:xfrm>
          <a:off x="0" y="0"/>
          <a:ext cx="0" cy="0"/>
          <a:chOff x="0" y="0"/>
          <a:chExt cx="0" cy="0"/>
        </a:xfrm>
      </p:grpSpPr>
      <p:sp>
        <p:nvSpPr>
          <p:cNvPr id="2" name="Google Shape;418;p15">
            <a:extLst>
              <a:ext uri="{FF2B5EF4-FFF2-40B4-BE49-F238E27FC236}">
                <a16:creationId xmlns:a16="http://schemas.microsoft.com/office/drawing/2014/main" id="{2082A191-0235-8760-80CC-525483D8B047}"/>
              </a:ext>
            </a:extLst>
          </p:cNvPr>
          <p:cNvSpPr txBox="1"/>
          <p:nvPr/>
        </p:nvSpPr>
        <p:spPr>
          <a:xfrm>
            <a:off x="523875" y="406900"/>
            <a:ext cx="4270375" cy="481200"/>
          </a:xfrm>
          <a:prstGeom prst="rect">
            <a:avLst/>
          </a:prstGeom>
          <a:noFill/>
          <a:ln>
            <a:noFill/>
          </a:ln>
        </p:spPr>
        <p:txBody>
          <a:bodyPr spcFirstLastPara="1" wrap="square" lIns="91425" tIns="91425" rIns="91425" bIns="91425" anchor="ctr" anchorCtr="0">
            <a:noAutofit/>
          </a:bodyPr>
          <a:lstStyle/>
          <a:p>
            <a:r>
              <a:rPr lang="en-US" altLang="zh-CN" sz="2400">
                <a:latin typeface="Fira Sans Medium"/>
                <a:ea typeface="等线"/>
              </a:rPr>
              <a:t>SVM and </a:t>
            </a:r>
            <a:r>
              <a:rPr lang="en-US" altLang="zh-CN" sz="2400" err="1">
                <a:latin typeface="Fira Sans Medium"/>
                <a:ea typeface="等线"/>
              </a:rPr>
              <a:t>XGBoost</a:t>
            </a:r>
            <a:r>
              <a:rPr lang="en-US" altLang="zh-CN" sz="2400">
                <a:latin typeface="Fira Sans Medium"/>
                <a:ea typeface="等线"/>
              </a:rPr>
              <a:t> Model</a:t>
            </a:r>
          </a:p>
        </p:txBody>
      </p:sp>
      <p:sp>
        <p:nvSpPr>
          <p:cNvPr id="9" name="TextBox 8">
            <a:extLst>
              <a:ext uri="{FF2B5EF4-FFF2-40B4-BE49-F238E27FC236}">
                <a16:creationId xmlns:a16="http://schemas.microsoft.com/office/drawing/2014/main" id="{B6C445A9-6CCA-A986-9DCE-D3FA31DBC6DD}"/>
              </a:ext>
            </a:extLst>
          </p:cNvPr>
          <p:cNvSpPr txBox="1"/>
          <p:nvPr/>
        </p:nvSpPr>
        <p:spPr>
          <a:xfrm>
            <a:off x="359243" y="1087433"/>
            <a:ext cx="3854450" cy="3339376"/>
          </a:xfrm>
          <a:prstGeom prst="rect">
            <a:avLst/>
          </a:prstGeom>
          <a:noFill/>
        </p:spPr>
        <p:txBody>
          <a:bodyPr wrap="square" lIns="91440" tIns="45720" rIns="91440" bIns="45720" rtlCol="0" anchor="t">
            <a:spAutoFit/>
          </a:bodyPr>
          <a:lstStyle/>
          <a:p>
            <a:r>
              <a:rPr lang="en-US" sz="1400" b="1">
                <a:latin typeface="Fira Sans"/>
                <a:ea typeface="+mn-lt"/>
                <a:cs typeface="+mn-lt"/>
              </a:rPr>
              <a:t>Objective</a:t>
            </a:r>
            <a:r>
              <a:rPr lang="en-US" sz="1400">
                <a:latin typeface="Fira Sans"/>
                <a:ea typeface="+mn-lt"/>
                <a:cs typeface="+mn-lt"/>
              </a:rPr>
              <a:t>: Analyze product descriptions and predict sentiment using machine learning.</a:t>
            </a:r>
            <a:endParaRPr lang="en-US" sz="1400">
              <a:latin typeface="Fira Sans"/>
              <a:ea typeface="等线"/>
            </a:endParaRPr>
          </a:p>
          <a:p>
            <a:endParaRPr lang="en-US" sz="1400">
              <a:latin typeface="Fira Sans"/>
              <a:ea typeface="+mn-lt"/>
              <a:cs typeface="+mn-lt"/>
            </a:endParaRPr>
          </a:p>
          <a:p>
            <a:r>
              <a:rPr lang="en-US" sz="1400" b="1">
                <a:latin typeface="Fira Sans"/>
                <a:ea typeface="+mn-lt"/>
                <a:cs typeface="+mn-lt"/>
              </a:rPr>
              <a:t>Methodology</a:t>
            </a:r>
            <a:r>
              <a:rPr lang="en-US" sz="1400">
                <a:latin typeface="Fira Sans"/>
                <a:ea typeface="+mn-lt"/>
                <a:cs typeface="+mn-lt"/>
              </a:rPr>
              <a:t>:</a:t>
            </a:r>
            <a:endParaRPr lang="en-US" sz="1400">
              <a:latin typeface="Fira Sans"/>
              <a:ea typeface="等线"/>
            </a:endParaRPr>
          </a:p>
          <a:p>
            <a:pPr marL="285750" indent="-285750">
              <a:buFont typeface="Arial"/>
              <a:buChar char="•"/>
            </a:pPr>
            <a:r>
              <a:rPr lang="en-US" sz="1400" b="1">
                <a:latin typeface="Fira Sans"/>
                <a:ea typeface="+mn-lt"/>
                <a:cs typeface="+mn-lt"/>
              </a:rPr>
              <a:t>Sentiment Analysis</a:t>
            </a:r>
            <a:r>
              <a:rPr lang="en-US" sz="1400">
                <a:latin typeface="Fira Sans"/>
                <a:ea typeface="+mn-lt"/>
                <a:cs typeface="+mn-lt"/>
              </a:rPr>
              <a:t>: Used </a:t>
            </a:r>
            <a:r>
              <a:rPr lang="en-US" sz="1400" b="1">
                <a:latin typeface="Fira Sans"/>
                <a:ea typeface="+mn-lt"/>
                <a:cs typeface="+mn-lt"/>
              </a:rPr>
              <a:t>VADER</a:t>
            </a:r>
            <a:r>
              <a:rPr lang="en-US" sz="1400">
                <a:latin typeface="Fira Sans"/>
                <a:ea typeface="+mn-lt"/>
                <a:cs typeface="+mn-lt"/>
              </a:rPr>
              <a:t> to classify reviews as positive (1) or negative (0).</a:t>
            </a:r>
            <a:endParaRPr lang="en-US" sz="1400">
              <a:latin typeface="Fira Sans"/>
              <a:ea typeface="等线"/>
            </a:endParaRPr>
          </a:p>
          <a:p>
            <a:pPr marL="285750" indent="-285750">
              <a:buFont typeface="Arial"/>
              <a:buChar char="•"/>
            </a:pPr>
            <a:r>
              <a:rPr lang="en-US" sz="1400" b="1">
                <a:latin typeface="Fira Sans"/>
                <a:ea typeface="+mn-lt"/>
                <a:cs typeface="+mn-lt"/>
              </a:rPr>
              <a:t>Text Preprocessing</a:t>
            </a:r>
            <a:r>
              <a:rPr lang="en-US" sz="1400">
                <a:latin typeface="Fira Sans"/>
                <a:ea typeface="+mn-lt"/>
                <a:cs typeface="+mn-lt"/>
              </a:rPr>
              <a:t>: </a:t>
            </a:r>
            <a:r>
              <a:rPr lang="en-US" sz="1400" err="1">
                <a:latin typeface="Fira Sans"/>
                <a:ea typeface="+mn-lt"/>
                <a:cs typeface="+mn-lt"/>
              </a:rPr>
              <a:t>Stopword</a:t>
            </a:r>
            <a:r>
              <a:rPr lang="en-US" sz="1400">
                <a:latin typeface="Fira Sans"/>
                <a:ea typeface="+mn-lt"/>
                <a:cs typeface="+mn-lt"/>
              </a:rPr>
              <a:t> removal, lemmatization, and </a:t>
            </a:r>
            <a:r>
              <a:rPr lang="en-US" sz="1400" b="1">
                <a:latin typeface="Fira Sans"/>
                <a:ea typeface="+mn-lt"/>
                <a:cs typeface="+mn-lt"/>
              </a:rPr>
              <a:t>TF-IDF vectorization</a:t>
            </a:r>
            <a:r>
              <a:rPr lang="en-US" sz="1400">
                <a:latin typeface="Fira Sans"/>
                <a:ea typeface="+mn-lt"/>
                <a:cs typeface="+mn-lt"/>
              </a:rPr>
              <a:t>.</a:t>
            </a:r>
            <a:endParaRPr lang="en-US" sz="1400">
              <a:latin typeface="Fira Sans"/>
              <a:ea typeface="等线"/>
            </a:endParaRPr>
          </a:p>
          <a:p>
            <a:pPr marL="285750" indent="-285750">
              <a:buFont typeface="Arial"/>
              <a:buChar char="•"/>
            </a:pPr>
            <a:r>
              <a:rPr lang="en-US" sz="1400" b="1">
                <a:latin typeface="Fira Sans"/>
                <a:ea typeface="+mn-lt"/>
                <a:cs typeface="+mn-lt"/>
              </a:rPr>
              <a:t>Feature Engineering</a:t>
            </a:r>
            <a:r>
              <a:rPr lang="en-US" sz="1400">
                <a:latin typeface="Fira Sans"/>
                <a:ea typeface="+mn-lt"/>
                <a:cs typeface="+mn-lt"/>
              </a:rPr>
              <a:t>: Combined </a:t>
            </a:r>
            <a:r>
              <a:rPr lang="en-US" sz="1400" b="1">
                <a:latin typeface="Fira Sans"/>
                <a:ea typeface="+mn-lt"/>
                <a:cs typeface="+mn-lt"/>
              </a:rPr>
              <a:t>text features (TF-IDF)</a:t>
            </a:r>
            <a:r>
              <a:rPr lang="en-US" sz="1400">
                <a:latin typeface="Fira Sans"/>
                <a:ea typeface="+mn-lt"/>
                <a:cs typeface="+mn-lt"/>
              </a:rPr>
              <a:t> with </a:t>
            </a:r>
            <a:r>
              <a:rPr lang="en-US" sz="1400" b="1">
                <a:latin typeface="Fira Sans"/>
                <a:ea typeface="+mn-lt"/>
                <a:cs typeface="+mn-lt"/>
              </a:rPr>
              <a:t>numerical features</a:t>
            </a:r>
            <a:r>
              <a:rPr lang="en-US" sz="1400">
                <a:latin typeface="Fira Sans"/>
                <a:ea typeface="+mn-lt"/>
                <a:cs typeface="+mn-lt"/>
              </a:rPr>
              <a:t> (price, rating, review length).</a:t>
            </a:r>
            <a:endParaRPr lang="en-US" sz="1400">
              <a:latin typeface="Fira Sans"/>
              <a:ea typeface="等线"/>
            </a:endParaRPr>
          </a:p>
          <a:p>
            <a:pPr marL="285750" indent="-285750">
              <a:buFont typeface="Arial"/>
              <a:buChar char="•"/>
            </a:pPr>
            <a:r>
              <a:rPr lang="en-US" sz="1400" b="1">
                <a:latin typeface="Fira Sans"/>
                <a:ea typeface="+mn-lt"/>
                <a:cs typeface="+mn-lt"/>
              </a:rPr>
              <a:t>Class Imbalance Handling</a:t>
            </a:r>
            <a:r>
              <a:rPr lang="en-US" sz="1400">
                <a:latin typeface="Fira Sans"/>
                <a:ea typeface="+mn-lt"/>
                <a:cs typeface="+mn-lt"/>
              </a:rPr>
              <a:t>: Applied </a:t>
            </a:r>
            <a:r>
              <a:rPr lang="en-US" sz="1400" b="1">
                <a:latin typeface="Fira Sans"/>
                <a:ea typeface="+mn-lt"/>
                <a:cs typeface="+mn-lt"/>
              </a:rPr>
              <a:t>SMOTE</a:t>
            </a:r>
            <a:r>
              <a:rPr lang="en-US" sz="1400">
                <a:latin typeface="Fira Sans"/>
                <a:ea typeface="+mn-lt"/>
                <a:cs typeface="+mn-lt"/>
              </a:rPr>
              <a:t> for balanced training data.</a:t>
            </a:r>
            <a:endParaRPr lang="en-US" sz="1400">
              <a:latin typeface="Fira Sans"/>
              <a:ea typeface="等线"/>
            </a:endParaRPr>
          </a:p>
          <a:p>
            <a:endParaRPr lang="en-US" altLang="zh-CN" sz="1500">
              <a:ea typeface="等线"/>
            </a:endParaRPr>
          </a:p>
        </p:txBody>
      </p:sp>
      <p:pic>
        <p:nvPicPr>
          <p:cNvPr id="3" name="Picture 2" descr="A screenshot of a computer&#10;&#10;AI-generated content may be incorrect.">
            <a:extLst>
              <a:ext uri="{FF2B5EF4-FFF2-40B4-BE49-F238E27FC236}">
                <a16:creationId xmlns:a16="http://schemas.microsoft.com/office/drawing/2014/main" id="{FDA9F842-3195-C797-C57B-1F7494FBA364}"/>
              </a:ext>
            </a:extLst>
          </p:cNvPr>
          <p:cNvPicPr>
            <a:picLocks noChangeAspect="1"/>
          </p:cNvPicPr>
          <p:nvPr/>
        </p:nvPicPr>
        <p:blipFill>
          <a:blip r:embed="rId3"/>
          <a:stretch>
            <a:fillRect/>
          </a:stretch>
        </p:blipFill>
        <p:spPr>
          <a:xfrm>
            <a:off x="4230037" y="1573232"/>
            <a:ext cx="4913963" cy="1997035"/>
          </a:xfrm>
          <a:prstGeom prst="rect">
            <a:avLst/>
          </a:prstGeom>
        </p:spPr>
      </p:pic>
    </p:spTree>
    <p:extLst>
      <p:ext uri="{BB962C8B-B14F-4D97-AF65-F5344CB8AC3E}">
        <p14:creationId xmlns:p14="http://schemas.microsoft.com/office/powerpoint/2010/main" val="1203543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38">
          <a:extLst>
            <a:ext uri="{FF2B5EF4-FFF2-40B4-BE49-F238E27FC236}">
              <a16:creationId xmlns:a16="http://schemas.microsoft.com/office/drawing/2014/main" id="{D892F810-AC80-6DB0-B88A-61F6B3732CA9}"/>
            </a:ext>
          </a:extLst>
        </p:cNvPr>
        <p:cNvGrpSpPr/>
        <p:nvPr/>
      </p:nvGrpSpPr>
      <p:grpSpPr>
        <a:xfrm>
          <a:off x="0" y="0"/>
          <a:ext cx="0" cy="0"/>
          <a:chOff x="0" y="0"/>
          <a:chExt cx="0" cy="0"/>
        </a:xfrm>
      </p:grpSpPr>
      <p:sp>
        <p:nvSpPr>
          <p:cNvPr id="1639" name="Google Shape;1639;p20">
            <a:extLst>
              <a:ext uri="{FF2B5EF4-FFF2-40B4-BE49-F238E27FC236}">
                <a16:creationId xmlns:a16="http://schemas.microsoft.com/office/drawing/2014/main" id="{EFFAAF94-8619-4AE8-DDED-866E9DF8DB02}"/>
              </a:ext>
            </a:extLst>
          </p:cNvPr>
          <p:cNvSpPr/>
          <p:nvPr/>
        </p:nvSpPr>
        <p:spPr>
          <a:xfrm>
            <a:off x="1840139" y="1205511"/>
            <a:ext cx="5632451" cy="2882101"/>
          </a:xfrm>
          <a:custGeom>
            <a:avLst/>
            <a:gdLst/>
            <a:ahLst/>
            <a:cxnLst/>
            <a:rect l="l" t="t" r="r" b="b"/>
            <a:pathLst>
              <a:path w="52888" h="59032" fill="none" extrusionOk="0">
                <a:moveTo>
                  <a:pt x="50259" y="59032"/>
                </a:moveTo>
                <a:lnTo>
                  <a:pt x="2629" y="59032"/>
                </a:lnTo>
                <a:cubicBezTo>
                  <a:pt x="1172" y="59032"/>
                  <a:pt x="0" y="57860"/>
                  <a:pt x="0" y="56403"/>
                </a:cubicBezTo>
                <a:lnTo>
                  <a:pt x="0" y="2629"/>
                </a:lnTo>
                <a:cubicBezTo>
                  <a:pt x="0" y="1173"/>
                  <a:pt x="1172" y="1"/>
                  <a:pt x="2629" y="1"/>
                </a:cubicBezTo>
                <a:lnTo>
                  <a:pt x="50259" y="1"/>
                </a:lnTo>
                <a:cubicBezTo>
                  <a:pt x="51716" y="1"/>
                  <a:pt x="52888" y="1173"/>
                  <a:pt x="52888" y="2629"/>
                </a:cubicBezTo>
                <a:lnTo>
                  <a:pt x="52888" y="56403"/>
                </a:lnTo>
                <a:cubicBezTo>
                  <a:pt x="52888" y="57860"/>
                  <a:pt x="51716" y="59032"/>
                  <a:pt x="50259" y="59032"/>
                </a:cubicBezTo>
                <a:close/>
              </a:path>
            </a:pathLst>
          </a:custGeom>
          <a:noFill/>
          <a:ln w="10300" cap="flat" cmpd="sng">
            <a:solidFill>
              <a:srgbClr val="F2A365"/>
            </a:solidFill>
            <a:prstDash val="solid"/>
            <a:miter lim="31669"/>
            <a:headEnd type="none" w="sm" len="sm"/>
            <a:tailEnd type="none" w="sm" len="sm"/>
          </a:ln>
        </p:spPr>
        <p:txBody>
          <a:bodyPr spcFirstLastPara="1" wrap="square" lIns="91425" tIns="91425" rIns="91425" bIns="91425" anchor="ctr" anchorCtr="0">
            <a:noAutofit/>
          </a:bodyPr>
          <a:lstStyle/>
          <a:p>
            <a:endParaRPr lang="en-US">
              <a:ea typeface="等线"/>
            </a:endParaRPr>
          </a:p>
        </p:txBody>
      </p:sp>
      <p:grpSp>
        <p:nvGrpSpPr>
          <p:cNvPr id="1643" name="Google Shape;1643;p20">
            <a:extLst>
              <a:ext uri="{FF2B5EF4-FFF2-40B4-BE49-F238E27FC236}">
                <a16:creationId xmlns:a16="http://schemas.microsoft.com/office/drawing/2014/main" id="{E6C933AE-35F4-4D1D-A766-000555DB31EA}"/>
              </a:ext>
            </a:extLst>
          </p:cNvPr>
          <p:cNvGrpSpPr/>
          <p:nvPr/>
        </p:nvGrpSpPr>
        <p:grpSpPr>
          <a:xfrm rot="5400000">
            <a:off x="7872084" y="2014694"/>
            <a:ext cx="987877" cy="1111796"/>
            <a:chOff x="7228274" y="1201022"/>
            <a:chExt cx="1260851" cy="1419011"/>
          </a:xfrm>
        </p:grpSpPr>
        <p:sp>
          <p:nvSpPr>
            <p:cNvPr id="1644" name="Google Shape;1644;p20">
              <a:extLst>
                <a:ext uri="{FF2B5EF4-FFF2-40B4-BE49-F238E27FC236}">
                  <a16:creationId xmlns:a16="http://schemas.microsoft.com/office/drawing/2014/main" id="{CC34E1CA-E085-3C04-FD0B-6B324F5F72EE}"/>
                </a:ext>
              </a:extLst>
            </p:cNvPr>
            <p:cNvSpPr/>
            <p:nvPr/>
          </p:nvSpPr>
          <p:spPr>
            <a:xfrm>
              <a:off x="7682044" y="2249445"/>
              <a:ext cx="335007" cy="370588"/>
            </a:xfrm>
            <a:custGeom>
              <a:avLst/>
              <a:gdLst/>
              <a:ahLst/>
              <a:cxnLst/>
              <a:rect l="l" t="t" r="r" b="b"/>
              <a:pathLst>
                <a:path w="10451" h="11561" extrusionOk="0">
                  <a:moveTo>
                    <a:pt x="0" y="1"/>
                  </a:moveTo>
                  <a:lnTo>
                    <a:pt x="5226" y="11560"/>
                  </a:lnTo>
                  <a:lnTo>
                    <a:pt x="10451" y="1"/>
                  </a:ln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20">
              <a:extLst>
                <a:ext uri="{FF2B5EF4-FFF2-40B4-BE49-F238E27FC236}">
                  <a16:creationId xmlns:a16="http://schemas.microsoft.com/office/drawing/2014/main" id="{8C849412-8B9B-FE64-6494-893B41AB6D34}"/>
                </a:ext>
              </a:extLst>
            </p:cNvPr>
            <p:cNvSpPr/>
            <p:nvPr/>
          </p:nvSpPr>
          <p:spPr>
            <a:xfrm>
              <a:off x="7228274" y="1201022"/>
              <a:ext cx="1260851" cy="1152826"/>
            </a:xfrm>
            <a:custGeom>
              <a:avLst/>
              <a:gdLst/>
              <a:ahLst/>
              <a:cxnLst/>
              <a:rect l="l" t="t" r="r" b="b"/>
              <a:pathLst>
                <a:path w="39334" h="35964" extrusionOk="0">
                  <a:moveTo>
                    <a:pt x="18888" y="1"/>
                  </a:moveTo>
                  <a:cubicBezTo>
                    <a:pt x="13304" y="1"/>
                    <a:pt x="7787" y="2456"/>
                    <a:pt x="4149" y="7119"/>
                  </a:cubicBezTo>
                  <a:cubicBezTo>
                    <a:pt x="2217" y="9590"/>
                    <a:pt x="1045" y="12377"/>
                    <a:pt x="602" y="15258"/>
                  </a:cubicBezTo>
                  <a:cubicBezTo>
                    <a:pt x="0" y="19027"/>
                    <a:pt x="633" y="22891"/>
                    <a:pt x="2470" y="26279"/>
                  </a:cubicBezTo>
                  <a:cubicBezTo>
                    <a:pt x="3262" y="27799"/>
                    <a:pt x="4307" y="29224"/>
                    <a:pt x="5606" y="30491"/>
                  </a:cubicBezTo>
                  <a:cubicBezTo>
                    <a:pt x="6239" y="31124"/>
                    <a:pt x="6936" y="31758"/>
                    <a:pt x="7696" y="32296"/>
                  </a:cubicBezTo>
                  <a:cubicBezTo>
                    <a:pt x="11040" y="34769"/>
                    <a:pt x="14967" y="35963"/>
                    <a:pt x="18862" y="35963"/>
                  </a:cubicBezTo>
                  <a:cubicBezTo>
                    <a:pt x="24446" y="35963"/>
                    <a:pt x="29963" y="33508"/>
                    <a:pt x="33601" y="28844"/>
                  </a:cubicBezTo>
                  <a:cubicBezTo>
                    <a:pt x="39333" y="21529"/>
                    <a:pt x="38383" y="11300"/>
                    <a:pt x="31764" y="5061"/>
                  </a:cubicBezTo>
                  <a:lnTo>
                    <a:pt x="31733" y="5061"/>
                  </a:lnTo>
                  <a:cubicBezTo>
                    <a:pt x="31226" y="4554"/>
                    <a:pt x="30656" y="4111"/>
                    <a:pt x="30054" y="3668"/>
                  </a:cubicBezTo>
                  <a:cubicBezTo>
                    <a:pt x="26710" y="1195"/>
                    <a:pt x="22782" y="1"/>
                    <a:pt x="18888" y="1"/>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20">
              <a:extLst>
                <a:ext uri="{FF2B5EF4-FFF2-40B4-BE49-F238E27FC236}">
                  <a16:creationId xmlns:a16="http://schemas.microsoft.com/office/drawing/2014/main" id="{C567E72B-B607-59C0-86C4-38D0BC6B61E8}"/>
                </a:ext>
              </a:extLst>
            </p:cNvPr>
            <p:cNvSpPr/>
            <p:nvPr/>
          </p:nvSpPr>
          <p:spPr>
            <a:xfrm>
              <a:off x="7407942" y="1363221"/>
              <a:ext cx="1081183" cy="990628"/>
            </a:xfrm>
            <a:custGeom>
              <a:avLst/>
              <a:gdLst/>
              <a:ahLst/>
              <a:cxnLst/>
              <a:rect l="l" t="t" r="r" b="b"/>
              <a:pathLst>
                <a:path w="33729" h="30904" extrusionOk="0">
                  <a:moveTo>
                    <a:pt x="26128" y="1"/>
                  </a:moveTo>
                  <a:lnTo>
                    <a:pt x="19224" y="6746"/>
                  </a:lnTo>
                  <a:lnTo>
                    <a:pt x="8678" y="16976"/>
                  </a:lnTo>
                  <a:lnTo>
                    <a:pt x="1077" y="24386"/>
                  </a:lnTo>
                  <a:lnTo>
                    <a:pt x="1" y="25431"/>
                  </a:lnTo>
                  <a:cubicBezTo>
                    <a:pt x="634" y="26064"/>
                    <a:pt x="1331" y="26698"/>
                    <a:pt x="2091" y="27236"/>
                  </a:cubicBezTo>
                  <a:cubicBezTo>
                    <a:pt x="5435" y="29709"/>
                    <a:pt x="9362" y="30903"/>
                    <a:pt x="13257" y="30903"/>
                  </a:cubicBezTo>
                  <a:cubicBezTo>
                    <a:pt x="18841" y="30903"/>
                    <a:pt x="24358" y="28448"/>
                    <a:pt x="27996" y="23784"/>
                  </a:cubicBezTo>
                  <a:cubicBezTo>
                    <a:pt x="33728" y="16469"/>
                    <a:pt x="32778" y="6240"/>
                    <a:pt x="26159" y="1"/>
                  </a:cubicBezTo>
                  <a:close/>
                </a:path>
              </a:pathLst>
            </a:custGeom>
            <a:solidFill>
              <a:srgbClr val="263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20">
              <a:extLst>
                <a:ext uri="{FF2B5EF4-FFF2-40B4-BE49-F238E27FC236}">
                  <a16:creationId xmlns:a16="http://schemas.microsoft.com/office/drawing/2014/main" id="{C7B44832-6C91-7416-52CD-2FC982DEC254}"/>
                </a:ext>
              </a:extLst>
            </p:cNvPr>
            <p:cNvSpPr/>
            <p:nvPr/>
          </p:nvSpPr>
          <p:spPr>
            <a:xfrm>
              <a:off x="7477982" y="1450859"/>
              <a:ext cx="727905" cy="662224"/>
            </a:xfrm>
            <a:custGeom>
              <a:avLst/>
              <a:gdLst/>
              <a:ahLst/>
              <a:cxnLst/>
              <a:rect l="l" t="t" r="r" b="b"/>
              <a:pathLst>
                <a:path w="22708" h="20659" extrusionOk="0">
                  <a:moveTo>
                    <a:pt x="11334" y="0"/>
                  </a:moveTo>
                  <a:cubicBezTo>
                    <a:pt x="6640" y="0"/>
                    <a:pt x="2412" y="3195"/>
                    <a:pt x="1299" y="7971"/>
                  </a:cubicBezTo>
                  <a:cubicBezTo>
                    <a:pt x="1" y="13513"/>
                    <a:pt x="3421" y="19087"/>
                    <a:pt x="8995" y="20385"/>
                  </a:cubicBezTo>
                  <a:cubicBezTo>
                    <a:pt x="9784" y="20570"/>
                    <a:pt x="10573" y="20659"/>
                    <a:pt x="11351" y="20659"/>
                  </a:cubicBezTo>
                  <a:cubicBezTo>
                    <a:pt x="16037" y="20659"/>
                    <a:pt x="20295" y="17443"/>
                    <a:pt x="21409" y="12690"/>
                  </a:cubicBezTo>
                  <a:cubicBezTo>
                    <a:pt x="22707" y="7148"/>
                    <a:pt x="19256" y="1574"/>
                    <a:pt x="13713" y="276"/>
                  </a:cubicBezTo>
                  <a:cubicBezTo>
                    <a:pt x="12916" y="90"/>
                    <a:pt x="12118" y="0"/>
                    <a:pt x="11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20">
              <a:extLst>
                <a:ext uri="{FF2B5EF4-FFF2-40B4-BE49-F238E27FC236}">
                  <a16:creationId xmlns:a16="http://schemas.microsoft.com/office/drawing/2014/main" id="{9F5C8A78-846B-BBE7-A869-EF542A2F673E}"/>
                </a:ext>
              </a:extLst>
            </p:cNvPr>
            <p:cNvSpPr/>
            <p:nvPr/>
          </p:nvSpPr>
          <p:spPr>
            <a:xfrm>
              <a:off x="7692174" y="1657870"/>
              <a:ext cx="287341" cy="274904"/>
            </a:xfrm>
            <a:custGeom>
              <a:avLst/>
              <a:gdLst/>
              <a:ahLst/>
              <a:cxnLst/>
              <a:rect l="l" t="t" r="r" b="b"/>
              <a:pathLst>
                <a:path w="8964" h="8576" extrusionOk="0">
                  <a:moveTo>
                    <a:pt x="2775" y="0"/>
                  </a:moveTo>
                  <a:cubicBezTo>
                    <a:pt x="2704" y="0"/>
                    <a:pt x="2632" y="19"/>
                    <a:pt x="2566" y="56"/>
                  </a:cubicBezTo>
                  <a:cubicBezTo>
                    <a:pt x="1014" y="785"/>
                    <a:pt x="1" y="2368"/>
                    <a:pt x="1" y="4078"/>
                  </a:cubicBezTo>
                  <a:cubicBezTo>
                    <a:pt x="1" y="6548"/>
                    <a:pt x="2028" y="8575"/>
                    <a:pt x="4498" y="8575"/>
                  </a:cubicBezTo>
                  <a:cubicBezTo>
                    <a:pt x="6936" y="8575"/>
                    <a:pt x="8963" y="6548"/>
                    <a:pt x="8963" y="4078"/>
                  </a:cubicBezTo>
                  <a:cubicBezTo>
                    <a:pt x="8963" y="2368"/>
                    <a:pt x="7950" y="785"/>
                    <a:pt x="6398" y="56"/>
                  </a:cubicBezTo>
                  <a:cubicBezTo>
                    <a:pt x="6332" y="19"/>
                    <a:pt x="6260" y="0"/>
                    <a:pt x="6189" y="0"/>
                  </a:cubicBezTo>
                  <a:cubicBezTo>
                    <a:pt x="6023" y="0"/>
                    <a:pt x="5863" y="100"/>
                    <a:pt x="5796" y="278"/>
                  </a:cubicBezTo>
                  <a:cubicBezTo>
                    <a:pt x="5701" y="500"/>
                    <a:pt x="5796" y="753"/>
                    <a:pt x="6018" y="880"/>
                  </a:cubicBezTo>
                  <a:cubicBezTo>
                    <a:pt x="7253" y="1450"/>
                    <a:pt x="8045" y="2716"/>
                    <a:pt x="8045" y="4078"/>
                  </a:cubicBezTo>
                  <a:cubicBezTo>
                    <a:pt x="8045" y="6042"/>
                    <a:pt x="6461" y="7657"/>
                    <a:pt x="4498" y="7657"/>
                  </a:cubicBezTo>
                  <a:cubicBezTo>
                    <a:pt x="2503" y="7657"/>
                    <a:pt x="919" y="6073"/>
                    <a:pt x="919" y="4078"/>
                  </a:cubicBezTo>
                  <a:cubicBezTo>
                    <a:pt x="919" y="2716"/>
                    <a:pt x="1711" y="1450"/>
                    <a:pt x="2946" y="880"/>
                  </a:cubicBezTo>
                  <a:cubicBezTo>
                    <a:pt x="3168" y="753"/>
                    <a:pt x="3294" y="500"/>
                    <a:pt x="3168" y="278"/>
                  </a:cubicBezTo>
                  <a:cubicBezTo>
                    <a:pt x="3101" y="100"/>
                    <a:pt x="2941" y="0"/>
                    <a:pt x="2775"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20">
              <a:extLst>
                <a:ext uri="{FF2B5EF4-FFF2-40B4-BE49-F238E27FC236}">
                  <a16:creationId xmlns:a16="http://schemas.microsoft.com/office/drawing/2014/main" id="{4B7B56FB-60C1-50B7-512F-6A8ABC6F44EC}"/>
                </a:ext>
              </a:extLst>
            </p:cNvPr>
            <p:cNvSpPr/>
            <p:nvPr/>
          </p:nvSpPr>
          <p:spPr>
            <a:xfrm>
              <a:off x="7821099" y="1589625"/>
              <a:ext cx="29491" cy="168545"/>
            </a:xfrm>
            <a:custGeom>
              <a:avLst/>
              <a:gdLst/>
              <a:ahLst/>
              <a:cxnLst/>
              <a:rect l="l" t="t" r="r" b="b"/>
              <a:pathLst>
                <a:path w="920" h="5258" extrusionOk="0">
                  <a:moveTo>
                    <a:pt x="476" y="0"/>
                  </a:moveTo>
                  <a:cubicBezTo>
                    <a:pt x="223" y="0"/>
                    <a:pt x="1" y="190"/>
                    <a:pt x="1" y="444"/>
                  </a:cubicBezTo>
                  <a:lnTo>
                    <a:pt x="1" y="4782"/>
                  </a:lnTo>
                  <a:cubicBezTo>
                    <a:pt x="1" y="5036"/>
                    <a:pt x="223" y="5257"/>
                    <a:pt x="476" y="5257"/>
                  </a:cubicBezTo>
                  <a:cubicBezTo>
                    <a:pt x="698" y="5257"/>
                    <a:pt x="919" y="5036"/>
                    <a:pt x="919" y="4782"/>
                  </a:cubicBezTo>
                  <a:lnTo>
                    <a:pt x="919" y="444"/>
                  </a:lnTo>
                  <a:cubicBezTo>
                    <a:pt x="919" y="190"/>
                    <a:pt x="698" y="0"/>
                    <a:pt x="476" y="0"/>
                  </a:cubicBezTo>
                  <a:close/>
                </a:path>
              </a:pathLst>
            </a:custGeom>
            <a:solidFill>
              <a:srgbClr val="304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9" name="Google Shape;1679;p20">
            <a:extLst>
              <a:ext uri="{FF2B5EF4-FFF2-40B4-BE49-F238E27FC236}">
                <a16:creationId xmlns:a16="http://schemas.microsoft.com/office/drawing/2014/main" id="{6A0B0CDC-40C2-1712-0414-3531C20476A9}"/>
              </a:ext>
            </a:extLst>
          </p:cNvPr>
          <p:cNvSpPr txBox="1"/>
          <p:nvPr/>
        </p:nvSpPr>
        <p:spPr>
          <a:xfrm>
            <a:off x="1762908" y="1287085"/>
            <a:ext cx="5632408" cy="992061"/>
          </a:xfrm>
          <a:prstGeom prst="rect">
            <a:avLst/>
          </a:prstGeom>
          <a:noFill/>
          <a:ln>
            <a:noFill/>
          </a:ln>
        </p:spPr>
        <p:txBody>
          <a:bodyPr spcFirstLastPara="1" wrap="square" lIns="91425" tIns="91425" rIns="91425" bIns="91425" anchor="t" anchorCtr="0">
            <a:noAutofit/>
          </a:bodyPr>
          <a:lstStyle/>
          <a:p>
            <a:pPr marL="285750" indent="-285750">
              <a:buFont typeface="Arial"/>
              <a:buChar char="•"/>
            </a:pPr>
            <a:r>
              <a:rPr lang="en-US" sz="1200" b="1">
                <a:ea typeface="+mn-lt"/>
                <a:cs typeface="+mn-lt"/>
                <a:sym typeface="Fira Sans"/>
              </a:rPr>
              <a:t>Price does not impact ratings</a:t>
            </a:r>
            <a:r>
              <a:rPr lang="en-US" sz="1200">
                <a:ea typeface="+mn-lt"/>
                <a:cs typeface="+mn-lt"/>
                <a:sym typeface="Fira Sans"/>
              </a:rPr>
              <a:t> – Raising or lowering a product’s price alone will not significantly affect its rating. Other factors like quality, brand reputation, and customer experience matter more.</a:t>
            </a:r>
            <a:endParaRPr lang="en-US">
              <a:ea typeface="+mn-lt"/>
              <a:cs typeface="+mn-lt"/>
              <a:sym typeface="Fira Sans"/>
            </a:endParaRPr>
          </a:p>
          <a:p>
            <a:pPr marL="285750" indent="-285750">
              <a:buFont typeface="Arial"/>
              <a:buChar char="•"/>
            </a:pPr>
            <a:r>
              <a:rPr lang="en-US" sz="1200" b="1">
                <a:ea typeface="+mn-lt"/>
                <a:cs typeface="+mn-lt"/>
                <a:sym typeface="Fira Sans"/>
              </a:rPr>
              <a:t>Popular products get slightly lower ratings</a:t>
            </a:r>
            <a:r>
              <a:rPr lang="en-US" sz="1200">
                <a:ea typeface="+mn-lt"/>
                <a:cs typeface="+mn-lt"/>
                <a:sym typeface="Fira Sans"/>
              </a:rPr>
              <a:t> – More reviews lead to greater scrutiny, increasing the likelihood of mixed or negative feedback.</a:t>
            </a:r>
            <a:endParaRPr lang="en-US">
              <a:sym typeface="Fira Sans"/>
            </a:endParaRPr>
          </a:p>
          <a:p>
            <a:pPr marL="285750" indent="-285750">
              <a:buFont typeface="Arial"/>
              <a:buChar char="•"/>
            </a:pPr>
            <a:r>
              <a:rPr lang="en-US" sz="1200" b="1">
                <a:ea typeface="+mn-lt"/>
                <a:cs typeface="+mn-lt"/>
                <a:sym typeface="Fira Sans"/>
              </a:rPr>
              <a:t>Customer engagement does not affect ratings</a:t>
            </a:r>
            <a:r>
              <a:rPr lang="en-US" sz="1200">
                <a:ea typeface="+mn-lt"/>
                <a:cs typeface="+mn-lt"/>
                <a:sym typeface="Fira Sans"/>
              </a:rPr>
              <a:t> – Answered questions and FAQs do not strongly influence product ratings.</a:t>
            </a:r>
            <a:endParaRPr lang="en-US">
              <a:sym typeface="Fira Sans"/>
            </a:endParaRPr>
          </a:p>
          <a:p>
            <a:pPr marL="285750" indent="-285750">
              <a:buFont typeface="Arial"/>
              <a:buChar char="•"/>
            </a:pPr>
            <a:r>
              <a:rPr lang="en-US" sz="1200" b="1">
                <a:ea typeface="+mn-lt"/>
                <a:cs typeface="+mn-lt"/>
                <a:sym typeface="Fira Sans"/>
              </a:rPr>
              <a:t>Linear regression is ineffective for predicting ratings</a:t>
            </a:r>
            <a:r>
              <a:rPr lang="en-US" sz="1200">
                <a:ea typeface="+mn-lt"/>
                <a:cs typeface="+mn-lt"/>
                <a:sym typeface="Fira Sans"/>
              </a:rPr>
              <a:t> – Price, review volume, and answered questions explain only 2.27% of rating variations, suggesting other factors like brand perception and sentiment play a bigger role.</a:t>
            </a:r>
            <a:endParaRPr lang="en-US">
              <a:sym typeface="Fira Sans"/>
            </a:endParaRPr>
          </a:p>
          <a:p>
            <a:pPr marL="285750" indent="-285750">
              <a:buFont typeface="Arial"/>
              <a:buChar char="•"/>
            </a:pPr>
            <a:r>
              <a:rPr lang="en-US" sz="1200" b="1">
                <a:ea typeface="+mn-lt"/>
                <a:cs typeface="+mn-lt"/>
                <a:sym typeface="Fira Sans"/>
              </a:rPr>
              <a:t>Mid-range review volumes are unpredictable</a:t>
            </a:r>
            <a:r>
              <a:rPr lang="en-US" sz="1200">
                <a:ea typeface="+mn-lt"/>
                <a:cs typeface="+mn-lt"/>
                <a:sym typeface="Fira Sans"/>
              </a:rPr>
              <a:t> – It’s easier to classify products with high or low review counts, while mid-range products show overlapping characteristics.</a:t>
            </a:r>
            <a:endParaRPr lang="en-US">
              <a:ea typeface="+mn-lt"/>
              <a:cs typeface="+mn-lt"/>
              <a:sym typeface="Fira Sans"/>
            </a:endParaRPr>
          </a:p>
          <a:p>
            <a:endParaRPr lang="en-US" sz="1200">
              <a:ea typeface="等线"/>
            </a:endParaRPr>
          </a:p>
          <a:p>
            <a:endParaRPr lang="en-US" sz="1200">
              <a:latin typeface="Fira Sans"/>
              <a:ea typeface="Calibri"/>
              <a:cs typeface="Calibri"/>
            </a:endParaRPr>
          </a:p>
          <a:p>
            <a:endParaRPr lang="en-US" sz="1200">
              <a:latin typeface="Calibri"/>
              <a:ea typeface="Calibri"/>
              <a:cs typeface="Calibri"/>
              <a:sym typeface="Fira Sans"/>
            </a:endParaRPr>
          </a:p>
          <a:p>
            <a:pPr algn="ctr"/>
            <a:endParaRPr lang="en" sz="1200">
              <a:latin typeface="Fira Sans"/>
              <a:ea typeface="Fira Sans"/>
              <a:cs typeface="Fira Sans"/>
            </a:endParaRPr>
          </a:p>
        </p:txBody>
      </p:sp>
      <p:sp>
        <p:nvSpPr>
          <p:cNvPr id="1686" name="Google Shape;1686;p20">
            <a:extLst>
              <a:ext uri="{FF2B5EF4-FFF2-40B4-BE49-F238E27FC236}">
                <a16:creationId xmlns:a16="http://schemas.microsoft.com/office/drawing/2014/main" id="{90ACCDE6-BEA6-9EFD-6408-E8AA56252D35}"/>
              </a:ext>
            </a:extLst>
          </p:cNvPr>
          <p:cNvSpPr txBox="1"/>
          <p:nvPr/>
        </p:nvSpPr>
        <p:spPr>
          <a:xfrm>
            <a:off x="717400" y="411475"/>
            <a:ext cx="7723500" cy="481200"/>
          </a:xfrm>
          <a:prstGeom prst="rect">
            <a:avLst/>
          </a:prstGeom>
          <a:noFill/>
          <a:ln>
            <a:noFill/>
          </a:ln>
        </p:spPr>
        <p:txBody>
          <a:bodyPr spcFirstLastPara="1" wrap="square" lIns="91425" tIns="91425" rIns="91425" bIns="91425" anchor="ctr" anchorCtr="0">
            <a:noAutofit/>
          </a:bodyPr>
          <a:lstStyle/>
          <a:p>
            <a:pPr marL="0" lvl="0" indent="0" algn="ctr">
              <a:spcBef>
                <a:spcPts val="0"/>
              </a:spcBef>
              <a:spcAft>
                <a:spcPts val="0"/>
              </a:spcAft>
              <a:buNone/>
            </a:pPr>
            <a:r>
              <a:rPr lang="en" sz="2800">
                <a:latin typeface="Fira Sans Medium"/>
                <a:ea typeface="Fira Sans Medium"/>
                <a:cs typeface="Fira Sans Medium"/>
              </a:rPr>
              <a:t>Summary</a:t>
            </a:r>
          </a:p>
        </p:txBody>
      </p:sp>
    </p:spTree>
    <p:extLst>
      <p:ext uri="{BB962C8B-B14F-4D97-AF65-F5344CB8AC3E}">
        <p14:creationId xmlns:p14="http://schemas.microsoft.com/office/powerpoint/2010/main" val="32250962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a:noFill/>
        </a:ln>
      </a:spPr>
      <a:bodyPr spcFirstLastPara="1" wrap="square" lIns="91425" tIns="91425" rIns="91425" bIns="91425" anchor="ctr" anchorCtr="0">
        <a:noAutofit/>
      </a:bodyPr>
      <a:lstStyle>
        <a:defPPr marL="0" indent="0" algn="l" rtl="0">
          <a:spcBef>
            <a:spcPts val="0"/>
          </a:spcBef>
          <a:spcAft>
            <a:spcPts val="0"/>
          </a:spcAft>
          <a:buNone/>
          <a:defRPr dirty="0"/>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3E491B9C6C8A48BEEEDF6289035CBD" ma:contentTypeVersion="6" ma:contentTypeDescription="Create a new document." ma:contentTypeScope="" ma:versionID="b5a76d0fc1c72a2ba550f072aa9dfa14">
  <xsd:schema xmlns:xsd="http://www.w3.org/2001/XMLSchema" xmlns:xs="http://www.w3.org/2001/XMLSchema" xmlns:p="http://schemas.microsoft.com/office/2006/metadata/properties" xmlns:ns3="5b574ddc-d850-48b5-a178-85672368edca" targetNamespace="http://schemas.microsoft.com/office/2006/metadata/properties" ma:root="true" ma:fieldsID="b6998229930efbedda84fa33ffff3784" ns3:_="">
    <xsd:import namespace="5b574ddc-d850-48b5-a178-85672368edc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574ddc-d850-48b5-a178-85672368edc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b574ddc-d850-48b5-a178-85672368edca" xsi:nil="true"/>
  </documentManagement>
</p:properties>
</file>

<file path=customXml/itemProps1.xml><?xml version="1.0" encoding="utf-8"?>
<ds:datastoreItem xmlns:ds="http://schemas.openxmlformats.org/officeDocument/2006/customXml" ds:itemID="{5AF3B16C-96CE-46CD-AE4F-89C529676AF9}">
  <ds:schemaRefs>
    <ds:schemaRef ds:uri="5b574ddc-d850-48b5-a178-85672368edc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1291A7E-CCBB-47C4-BB3A-739426D1C566}">
  <ds:schemaRefs>
    <ds:schemaRef ds:uri="http://schemas.microsoft.com/sharepoint/v3/contenttype/forms"/>
  </ds:schemaRefs>
</ds:datastoreItem>
</file>

<file path=customXml/itemProps3.xml><?xml version="1.0" encoding="utf-8"?>
<ds:datastoreItem xmlns:ds="http://schemas.openxmlformats.org/officeDocument/2006/customXml" ds:itemID="{50CCA71E-08CE-4EFF-8580-CA28822EC485}">
  <ds:schemaRefs>
    <ds:schemaRef ds:uri="http://schemas.microsoft.com/office/2006/documentManagement/types"/>
    <ds:schemaRef ds:uri="http://www.w3.org/XML/1998/namespace"/>
    <ds:schemaRef ds:uri="http://schemas.microsoft.com/office/2006/metadata/properties"/>
    <ds:schemaRef ds:uri="http://purl.org/dc/terms/"/>
    <ds:schemaRef ds:uri="5b574ddc-d850-48b5-a178-85672368edca"/>
    <ds:schemaRef ds:uri="http://purl.org/dc/dcmitype/"/>
    <ds:schemaRef ds:uri="http://schemas.microsoft.com/office/infopath/2007/PartnerControls"/>
    <ds:schemaRef ds:uri="http://schemas.openxmlformats.org/package/2006/metadata/core-properties"/>
    <ds:schemaRef ds:uri="http://purl.org/dc/elements/1.1/"/>
  </ds:schemaRefs>
</ds:datastoreItem>
</file>

<file path=docMetadata/LabelInfo.xml><?xml version="1.0" encoding="utf-8"?>
<clbl:labelList xmlns:clbl="http://schemas.microsoft.com/office/2020/mipLabelMetadata">
  <clbl:label id="{a8eec281-aaa3-4dae-ac9b-9a398b9215e7}" enabled="0" method="" siteId="{a8eec281-aaa3-4dae-ac9b-9a398b9215e7}" removed="1"/>
</clbl:labelList>
</file>

<file path=docProps/app.xml><?xml version="1.0" encoding="utf-8"?>
<Properties xmlns="http://schemas.openxmlformats.org/officeDocument/2006/extended-properties" xmlns:vt="http://schemas.openxmlformats.org/officeDocument/2006/docPropsVTypes">
  <Template/>
  <TotalTime>0</TotalTime>
  <Words>2895</Words>
  <Application>Microsoft Office PowerPoint</Application>
  <PresentationFormat>On-screen Show (16:9)</PresentationFormat>
  <Paragraphs>167</Paragraphs>
  <Slides>19</Slides>
  <Notes>19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19</vt:i4>
      </vt:variant>
    </vt:vector>
  </HeadingPairs>
  <TitlesOfParts>
    <vt:vector size="32" baseType="lpstr">
      <vt:lpstr>等线</vt:lpstr>
      <vt:lpstr>WordVisi_MSFontService</vt:lpstr>
      <vt:lpstr>Aptos</vt:lpstr>
      <vt:lpstr>Fira Sans Extra Condensed SemiBold</vt:lpstr>
      <vt:lpstr>Arial</vt:lpstr>
      <vt:lpstr>等线 Light</vt:lpstr>
      <vt:lpstr>Arial,Sans-Serif</vt:lpstr>
      <vt:lpstr>Fira Sans</vt:lpstr>
      <vt:lpstr>Calibri</vt:lpstr>
      <vt:lpstr>Fira Sans Extra Condensed Medium</vt:lpstr>
      <vt:lpstr>Fira Sans Medium</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JunhuiHuTEST</dc:creator>
  <cp:lastModifiedBy>Junhui Hu</cp:lastModifiedBy>
  <cp:revision>2</cp:revision>
  <dcterms:modified xsi:type="dcterms:W3CDTF">2025-02-15T03:43:57Z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0x010100E03E491B9C6C8A48BEEEDF6289035CBD</vt:lpwstr>
  </property>
</Properties>
</file>